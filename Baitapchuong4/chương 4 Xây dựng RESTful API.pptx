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87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6518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BUỔI 5: RESTful API &amp; CRUD</a:t>
            </a:r>
          </a:p>
          <a:p>
            <a:endParaRPr/>
          </a:p>
          <a:p>
            <a:r>
              <a:t>LỜI GIẢNG</a:t>
            </a:r>
          </a:p>
          <a:p>
            <a:r>
              <a:t>Các em đã từng gửi request bằng Postman và đã tổ chức project thành Route, Controller, Service. Hôm nay chúng ta nối những phần đó lại thành một bức tranh đầy đủ: người dùng gửi yêu cầu, Backend xử lý yêu cầu, dữ liệu thay đổi và Backend trả kết quả. Đích đến là một bộ API quản lý sinh viên có thêm, xem, sửa, xóa; sau đó có một trang tài liệu để người khác biết cách gọi API của chúng ta.</a:t>
            </a:r>
          </a:p>
          <a:p>
            <a:r>
              <a:t>Các em hãy tưởng tượng một màn hình quản lý lớp học. Nút “Thêm sinh viên” cần gọi API tạo mới. Danh sách trên màn hình cần API đọc dữ liệu. Khi sửa email, màn hình gọi API cập nhật. Khi xóa một hồ sơ thử nghiệm, màn hình gọi API xóa. Bốn nhóm thao tác này được gọi tắt là CRUD.</a:t>
            </a:r>
          </a:p>
          <a:p>
            <a:r>
              <a:t>Trong buổi này, AI hỗ trợ chúng ta phân tích project và viết từng phần code. Tuy nhiên, chính các em phải quyết định yêu cầu, đọc lại code và kiểm tra kết quả. Chạy được server mới chỉ là bước đầu; chúng ta còn cần chứng minh API hoạt động đúng.</a:t>
            </a:r>
          </a:p>
          <a:p>
            <a:endParaRPr/>
          </a:p>
          <a:p>
            <a:r>
              <a:t>GIẢI NGHĨA</a:t>
            </a:r>
          </a:p>
          <a:p>
            <a:r>
              <a:t>REST là viết tắt của Representational State Transfer; CRUD là Create, Read, Update, Delete. API là giao diện để các phần mềm trao đổi với nhau. Bài này tập trung vào quy ước HTTP và tài nguyên, chưa bao quát toàn bộ lý thuyết REST.</a:t>
            </a:r>
          </a:p>
          <a:p>
            <a:endParaRPr/>
          </a:p>
          <a:p>
            <a:r>
              <a:t>TƯƠNG TÁC</a:t>
            </a:r>
          </a:p>
          <a:p>
            <a:r>
              <a:t>Chỉ vào bốn từ GET, POST, PUT, DELETE và hỏi: khi bấm nút Thêm sinh viên, request nào sẽ được gửi?</a:t>
            </a:r>
          </a:p>
          <a:p>
            <a:endParaRPr/>
          </a:p>
          <a:p>
            <a:r>
              <a:t>ĐÁP ÁN / LƯU Ý</a:t>
            </a:r>
          </a:p>
          <a:p>
            <a:r>
              <a:t>Đáp án: POST. Chưa yêu cầu sinh viên viết code; chỉ cần gắn thao tác trên giao diện với một yêu cầu tới Backend.</a:t>
            </a:r>
          </a:p>
          <a:p>
            <a:endParaRPr/>
          </a:p>
          <a:p>
            <a:r>
              <a:t>CHUYỂN SLIDE</a:t>
            </a:r>
          </a:p>
          <a:p>
            <a:r>
              <a:t>Chúng ta bắt đầu bằng việc xác định API nằm ở đâu trong toàn bộ hệ thống.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API nằm ở đâu trong hệ thống?</a:t>
            </a:r>
          </a:p>
          <a:p>
            <a:endParaRPr/>
          </a:p>
          <a:p>
            <a:r>
              <a:t>LỜI GIẢNG</a:t>
            </a:r>
          </a:p>
          <a:p>
            <a:r>
              <a:t>Các em nhìn từ trên xuống. Client là bên gửi yêu cầu, có thể là Frontend, Postman hoặc Swagger UI. Request đi tới Backend; Backend tiếp nhận ở lớp HTTP rồi đưa tới Route, Controller và Service. Nếu project đã kết nối SQL Server, Service làm việc với dữ liệu thông qua Model Sequelize. SQL Server là nơi lưu dữ liệu lâu dài.</a:t>
            </a:r>
          </a:p>
          <a:p>
            <a:r>
              <a:t>API là phần giao tiếp mà Client nhìn thấy. Client biết URL nào, method nào và phải gửi dữ liệu gì; Client không cần biết bên trong Backend dùng Sequelize hay truy vấn SQL trực tiếp. Có thể xem API là quầy tiếp nhận, còn các tầng bên trong là các bộ phận thực hiện công việc.</a:t>
            </a:r>
          </a:p>
          <a:p>
            <a:r>
              <a:t>Sequelize không phải API. Đây là ORM, tức thư viện hỗ trợ ánh xạ dữ liệu giữa đối tượng trong code và bảng trong cơ sở dữ liệu. Sequelize giúp chúng ta đọc và ghi SQL Server; nó không thay SQL Server thành một hệ cơ sở dữ liệu khác.</a:t>
            </a:r>
          </a:p>
          <a:p>
            <a:r>
              <a:t>Nếu em chưa hoàn thành phần kết nối SQL Server, em vẫn có thể học luồng CRUD với mảng trong RAM. Tuy nhiên, dữ liệu RAM sẽ mất khi tắt hoặc khởi động lại chương trình. Em phải ghi rõ project đang dùng nguồn dữ liệu nào.</a:t>
            </a:r>
          </a:p>
          <a:p>
            <a:endParaRPr/>
          </a:p>
          <a:p>
            <a:r>
              <a:t>GIẢI NGHĨA</a:t>
            </a:r>
          </a:p>
          <a:p>
            <a:r>
              <a:t>Client là phía gọi; Backend là phía xử lý. ORM là Object-Relational Mapping. Mô hình ở slide là cách phân tầng của bài học, không phải cấu trúc bắt buộc của mọi hệ thống.</a:t>
            </a:r>
          </a:p>
          <a:p>
            <a:endParaRPr/>
          </a:p>
          <a:p>
            <a:r>
              <a:t>TƯƠNG TÁC</a:t>
            </a:r>
          </a:p>
          <a:p>
            <a:r>
              <a:t>Yêu cầu một sinh viên chỉ vào phần nào nằm trong Backend; một sinh viên khác xác định nơi dữ liệu được lưu lâu dài.</a:t>
            </a:r>
          </a:p>
          <a:p>
            <a:endParaRPr/>
          </a:p>
          <a:p>
            <a:r>
              <a:t>ĐÁP ÁN / LƯU Ý</a:t>
            </a:r>
          </a:p>
          <a:p>
            <a:r>
              <a:t>SQL Server lưu bền vững. Postman chỉ gửi request. Swagger UI chỉ gửi request khi dùng Try it out. Mảng RAM không chứng minh đã kết nối SQL Server.</a:t>
            </a:r>
          </a:p>
          <a:p>
            <a:endParaRPr/>
          </a:p>
          <a:p>
            <a:r>
              <a:t>CHUYỂN SLIDE</a:t>
            </a:r>
          </a:p>
          <a:p>
            <a:r>
              <a:t>Khi đã biết vị trí của API, chúng ta cùng đọc một request cụ thể.</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REST API: request và response</a:t>
            </a:r>
          </a:p>
          <a:p>
            <a:endParaRPr/>
          </a:p>
          <a:p>
            <a:r>
              <a:t>LỜI GIẢNG</a:t>
            </a:r>
          </a:p>
          <a:p>
            <a:r>
              <a:t>Ví dụ GET /api/v1/sinh-vien có thể đọc thành: hãy trả cho tôi danh sách sinh viên. GET nói việc muốn làm, còn đường dẫn nói tài nguyên muốn làm việc cùng. Trong bài này, chúng ta thiết kế API theo tài nguyên, dùng các HTTP method đúng ý nghĩa và trao đổi dữ liệu JSON.</a:t>
            </a:r>
          </a:p>
          <a:p>
            <a:r>
              <a:t>Một request không nhất thiết có đủ mọi thành phần. Method và URL luôn là phần cần xác định. Path parameter là giá trị nằm trong đường dẫn, chẳng hạn SV001. Query là phần sau dấu hỏi, chẳng hạn page=1. Header mang thông tin về request, ví dụ Content-Type cho biết body có định dạng JSON. Body là dữ liệu gửi lên khi thêm hoặc sửa. GET trong bài này không gửi body.</a:t>
            </a:r>
          </a:p>
          <a:p>
            <a:r>
              <a:t>Response có status code, header và có thể có body. Ví dụ 200 là thành công và body chứa danh sách sinh viên. Nếu tìm một mã không tồn tại, Backend có thể trả 404 cùng một thông báo dễ hiểu. Client đọc cả status lẫn body để quyết định hiển thị điều gì.</a:t>
            </a:r>
          </a:p>
          <a:p>
            <a:r>
              <a:t>Đặc điểm quan trọng của REST là stateless: mỗi request phải cung cấp đủ thông tin cần thiết để xử lý. Stateless không có nghĩa Backend không được lưu dữ liệu sinh viên trong database.</a:t>
            </a:r>
          </a:p>
          <a:p>
            <a:endParaRPr/>
          </a:p>
          <a:p>
            <a:r>
              <a:t>GIẢI NGHĨA</a:t>
            </a:r>
          </a:p>
          <a:p>
            <a:r>
              <a:t>Endpoint thường được xác định bằng method cùng đường dẫn. JSON là định dạng biểu diễn dữ liệu, không phải một database. Không phải cứ trả JSON là đã tuân thủ đầy đủ mọi ràng buộc REST.</a:t>
            </a:r>
          </a:p>
          <a:p>
            <a:endParaRPr/>
          </a:p>
          <a:p>
            <a:r>
              <a:t>TƯƠNG TÁC</a:t>
            </a:r>
          </a:p>
          <a:p>
            <a:r>
              <a:t>Viết GET /api/v1/sinh-vien/SV001 lên bảng. Hỏi SV001 nằm ở params hay body?</a:t>
            </a:r>
          </a:p>
          <a:p>
            <a:endParaRPr/>
          </a:p>
          <a:p>
            <a:r>
              <a:t>ĐÁP ÁN / LƯU Ý</a:t>
            </a:r>
          </a:p>
          <a:p>
            <a:r>
              <a:t>SV001 là path parameter. Không nhầm params với query. req.body chỉ có dữ liệu khi Client gửi và Backend có middleware đọc body phù hợp.</a:t>
            </a:r>
          </a:p>
          <a:p>
            <a:endParaRPr/>
          </a:p>
          <a:p>
            <a:r>
              <a:t>CHUYỂN SLIDE</a:t>
            </a:r>
          </a:p>
          <a:p>
            <a:r>
              <a:t>Tiếp theo, chúng ta đặt tên đường dẫn sao cho ai nhìn vào cũng hiểu đang làm việc với tài nguyên nào.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Resource và endpoint</a:t>
            </a:r>
          </a:p>
          <a:p>
            <a:endParaRPr/>
          </a:p>
          <a:p>
            <a:r>
              <a:t>LỜI GIẢNG</a:t>
            </a:r>
          </a:p>
          <a:p>
            <a:r>
              <a:t>Resource nghĩa là tài nguyên mà hệ thống quản lý. Trong project này, SinhVien là tài nguyên. Đường dẫn /api/v1/sinh-vien đại diện cho danh sách sinh viên. Đường dẫn có thêm /SV001 đại diện cho một sinh viên cụ thể.</a:t>
            </a:r>
          </a:p>
          <a:p>
            <a:r>
              <a:t>Chúng ta giữ tên tài nguyên là danh từ rồi để method thể hiện hành động. Vì thế, GET /sinh-vien là đọc và POST /sinh-vien là thêm. Nếu đặt tên /getSinhVien và /createSinhVien, tên URL đã mang cả hành động, trong khi method cũng mô tả hành động; cách đặt tên theo tài nguyên sẽ nhất quán hơn.</a:t>
            </a:r>
          </a:p>
          <a:p>
            <a:r>
              <a:t>/api là tiền tố để nhận diện nhóm API. /v1 biểu thị phiên bản API trong ví dụ. /sinh-vien là tài nguyên. Phần maSV ở cuối là định danh của một phần tử trong tài nguyên. Chúng ta giữ các endpoint cũ để Frontend hay Postman Collection đang có vẫn gọi được.</a:t>
            </a:r>
          </a:p>
          <a:p>
            <a:r>
              <a:t>Đừng đọc dấu hai chấm như một ký tự phải gõ khi test. Trong Express, /:maSV là mẫu Route. Khi gọi thật, các em thay bằng SV001. Trong OpenAPI, biến đó được viết là {maSV}.</a:t>
            </a:r>
          </a:p>
          <a:p>
            <a:endParaRPr/>
          </a:p>
          <a:p>
            <a:r>
              <a:t>GIẢI NGHĨA</a:t>
            </a:r>
          </a:p>
          <a:p>
            <a:r>
              <a:t>Resource là khái niệm nghiệp vụ được công bố qua API, không nhất thiết trùng một bảng SQL. :maSV là cú pháp Express; {maSV} là cú pháp mô tả OpenAPI.</a:t>
            </a:r>
          </a:p>
          <a:p>
            <a:endParaRPr/>
          </a:p>
          <a:p>
            <a:r>
              <a:t>TƯƠNG TÁC</a:t>
            </a:r>
          </a:p>
          <a:p>
            <a:r>
              <a:t>Cho sinh viên nói URL xem chi tiết SV003 và URL thêm một sinh viên.</a:t>
            </a:r>
          </a:p>
          <a:p>
            <a:endParaRPr/>
          </a:p>
          <a:p>
            <a:r>
              <a:t>ĐÁP ÁN / LƯU Ý</a:t>
            </a:r>
          </a:p>
          <a:p>
            <a:r>
              <a:t>GET /api/v1/sinh-vien/SV003; POST /api/v1/sinh-vien. URL giống tài nguyên nhưng method khác thì thao tác khác.</a:t>
            </a:r>
          </a:p>
          <a:p>
            <a:endParaRPr/>
          </a:p>
          <a:p>
            <a:r>
              <a:t>CHUYỂN SLIDE</a:t>
            </a:r>
          </a:p>
          <a:p>
            <a:r>
              <a:t>Bây giờ chúng ta ánh xạ bốn thao tác CRUD sang bốn method HTTP.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CRUD và HTTP method</a:t>
            </a:r>
          </a:p>
          <a:p>
            <a:endParaRPr/>
          </a:p>
          <a:p>
            <a:r>
              <a:t>LỜI GIẢNG</a:t>
            </a:r>
          </a:p>
          <a:p>
            <a:r>
              <a:t>Create là tạo mới, trong bài dùng POST tới đường dẫn danh sách. Read là đọc, dùng GET cho danh sách hoặc một sinh viên. Update là cập nhật, dùng PUT tới đường dẫn một sinh viên. Delete là xóa, dùng DELETE tới đường dẫn một sinh viên.</a:t>
            </a:r>
          </a:p>
          <a:p>
            <a:r>
              <a:t>Các em chú ý: GET, PUT, DELETE có thể cùng gọi /api/v1/sinh-vien/SV001. Backend vẫn phân biệt được vì method khác nhau. Vì vậy, khi báo lỗi hay mô tả API, em phải nói cả method và URL. Chỉ nói “API SV001 bị lỗi” là chưa đủ thông tin.</a:t>
            </a:r>
          </a:p>
          <a:p>
            <a:r>
              <a:t>Với PUT trong bài này, maSV lấy từ URL và giữ nguyên. Các em gửi đủ ba trường có thể cập nhật là hoTen, email, maLop. Không gửi thiếu rồi mong Backend tự giữ lại trường cũ. Nếu thiết kế cập nhật một phần, thường dùng PATCH; PATCH là phần mở rộng ngoài bài chính.</a:t>
            </a:r>
          </a:p>
          <a:p>
            <a:r>
              <a:t>Một khái niệm cần biết là idempotent: thực hiện lại cùng một PUT với cùng dữ liệu phải dẫn tới cùng trạng thái tài nguyên. DELETE lần đầu trả 200, lần sau trả 404 vẫn có thể bảo đảm tính này vì trạng thái cuối cùng đều là sinh viên không còn tồn tại. Status code của các lần gọi không bắt buộc giống nhau.</a:t>
            </a:r>
          </a:p>
          <a:p>
            <a:endParaRPr/>
          </a:p>
          <a:p>
            <a:r>
              <a:t>GIẢI NGHĨA</a:t>
            </a:r>
          </a:p>
          <a:p>
            <a:r>
              <a:t>PUT biểu thị thay thế trạng thái được gửi; bài học quy định đủ các trường cập nhật. GET dành cho đọc. POST tạo mới có thể phát sinh nhiều tài nguyên nếu gọi lặp, trừ khi ứng dụng có cơ chế chống lặp riêng.</a:t>
            </a:r>
          </a:p>
          <a:p>
            <a:endParaRPr/>
          </a:p>
          <a:p>
            <a:r>
              <a:t>TƯƠNG TÁC</a:t>
            </a:r>
          </a:p>
          <a:p>
            <a:r>
              <a:t>Hỏi: sửa riêng email nên nghĩ tới method nào? Trong bài này, muốn dùng PUT phải gửi thêm những trường nào?</a:t>
            </a:r>
          </a:p>
          <a:p>
            <a:endParaRPr/>
          </a:p>
          <a:p>
            <a:r>
              <a:t>ĐÁP ÁN / LƯU Ý</a:t>
            </a:r>
          </a:p>
          <a:p>
            <a:r>
              <a:t>Có thể dùng PATCH cho cập nhật một phần. Với PUT của bài này phải có hoTen, email, maLop. Không sửa maSV qua body.</a:t>
            </a:r>
          </a:p>
          <a:p>
            <a:endParaRPr/>
          </a:p>
          <a:p>
            <a:r>
              <a:t>CHUYỂN SLIDE</a:t>
            </a:r>
          </a:p>
          <a:p>
            <a:r>
              <a:t>Những method này được khai báo ở file Route.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Một API được tạo ở đâu?</a:t>
            </a:r>
          </a:p>
          <a:p>
            <a:endParaRPr/>
          </a:p>
          <a:p>
            <a:r>
              <a:t>LỜI GIẢNG</a:t>
            </a:r>
          </a:p>
          <a:p>
            <a:r>
              <a:t>Đây là file sinhVien.routes.ts. Mỗi dòng nối một method, một path và một hàm xử lý. router.get("/", getDanhSachSinhVien) nghĩa là khi có GET vào đường dẫn gốc của router, Express chuyển request cho hàm getDanhSachSinhVien.</a:t>
            </a:r>
          </a:p>
          <a:p>
            <a:r>
              <a:t>Đường dẫn gốc ở đây không có nghĩa là gốc của toàn bộ website. Trong server.ts, chúng ta gắn router bằng app.use("/api/v1/sinh-vien", sinhVienRoutes). Do đó, dấu gạch chéo trong router kết hợp với tiền tố này thành endpoint danh sách sinh viên. Tương tự, /:maSV kết hợp với tiền tố thành endpoint chi tiết.</a:t>
            </a:r>
          </a:p>
          <a:p>
            <a:r>
              <a:t>Các hàm Controller phải được import từ file Controller đúng tên export. Nếu thiếu import hoặc tên khác nhau, build có thể báo lỗi. Chúng ta không chữa bằng cách chép toàn bộ nghiệp vụ vào Route. Route chỉ điều phối request tới hàm phù hợp.</a:t>
            </a:r>
          </a:p>
          <a:p>
            <a:r>
              <a:t>Khi thêm PUT và DELETE, Route chỉ thêm hai khai báo tương ứng. Controller nhận input, Service xử lý nghiệp vụ và thay đổi dữ liệu. Việc phân tầng này giúp em nhìn tên file đã đoán được trách nhiệm, đồng thời sửa một chức năng mà ít ảnh hưởng các chức năng khác.</a:t>
            </a:r>
          </a:p>
          <a:p>
            <a:endParaRPr/>
          </a:p>
          <a:p>
            <a:r>
              <a:t>GIẢI NGHĨA</a:t>
            </a:r>
          </a:p>
          <a:p>
            <a:r>
              <a:t>Handler là hàm được gọi để xử lý request. Route có thể có middleware trước handler, nhưng đoạn minh họa trên slide chỉ giữ các thành phần chính.</a:t>
            </a:r>
          </a:p>
          <a:p>
            <a:endParaRPr/>
          </a:p>
          <a:p>
            <a:r>
              <a:t>TƯƠNG TÁC</a:t>
            </a:r>
          </a:p>
          <a:p>
            <a:r>
              <a:t>Chỉ vào router.put("/:maSV", capNhatSinhVien). Hỏi đâu là method, đâu là path, đâu là handler?</a:t>
            </a:r>
          </a:p>
          <a:p>
            <a:endParaRPr/>
          </a:p>
          <a:p>
            <a:r>
              <a:t>ĐÁP ÁN / LƯU Ý</a:t>
            </a:r>
          </a:p>
          <a:p>
            <a:r>
              <a:t>Method là put, path là /:maSV, handler là capNhatSinhVien. Mã trên slide là phần khai báo, không phải toàn bộ file có thể chạy độc lập.</a:t>
            </a:r>
          </a:p>
          <a:p>
            <a:endParaRPr/>
          </a:p>
          <a:p>
            <a:r>
              <a:t>CHUYỂN SLIDE</a:t>
            </a:r>
          </a:p>
          <a:p>
            <a:r>
              <a:t>Để hiểu handler làm gì, chúng ta theo dõi một request cập nhật từ đầu tới cuối.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Request đi qua Backend như thế nào?</a:t>
            </a:r>
          </a:p>
          <a:p>
            <a:endParaRPr/>
          </a:p>
          <a:p>
            <a:r>
              <a:t>LỜI GIẢNG</a:t>
            </a:r>
          </a:p>
          <a:p>
            <a:r>
              <a:t>Client gửi PUT /api/v1/sinh-vien/SV003 và một JSON body gồm hoTen, email, maLop. Route khớp method PUT cùng mẫu /:maSV, rồi gọi Controller cập nhật. Controller đọc SV003 từ req.params.maSV và đọc dữ liệu mới từ req.body.</a:t>
            </a:r>
          </a:p>
          <a:p>
            <a:r>
              <a:t>Controller không tự truy vấn database. Controller gọi Service và chờ kết quả. Service kiểm tra dữ liệu hợp lệ, tìm sinh viên, thực hiện cập nhật qua Model Sequelize hoặc nguồn dữ liệu đang dùng. Nếu có SQL Server, dữ liệu được ghi vào bảng phù hợp. Service trả dữ liệu đã cập nhật hoặc báo một lỗi nghiệp vụ.</a:t>
            </a:r>
          </a:p>
          <a:p>
            <a:r>
              <a:t>Controller chuyển kết quả đó thành response HTTP: thành công là 200, body thiếu hay sai là 400, sinh viên không tồn tại là 404. Lỗi ngoài dự kiến được đưa tới cơ chế xử lý lỗi để trả 500. Các em không trả 200 cho tất cả trường hợp rồi nhét chữ “lỗi” trong message.</a:t>
            </a:r>
          </a:p>
          <a:p>
            <a:r>
              <a:t>Thành công cũng không chỉ là message “đã cập nhật”. Chúng ta gọi GET SV003 lần nữa và kiểm tra hoTen, email, maLop có đúng dữ liệu mới hay không. Đó là cách chứng minh thao tác thật sự có hiệu lực. Nếu dùng SQL Server, có thể xác nhận thêm bằng truy vấn hoặc khởi động lại server rồi GET lại.</a:t>
            </a:r>
          </a:p>
          <a:p>
            <a:endParaRPr/>
          </a:p>
          <a:p>
            <a:r>
              <a:t>GIẢI NGHĨA</a:t>
            </a:r>
          </a:p>
          <a:p>
            <a:r>
              <a:t>Validation ở Service kiểm tra quy tắc dữ liệu; Controller giữ trách nhiệm HTTP. express.json() cần chạy trước router để đọc JSON body. Với SQL Server, kết quả phải được await trước khi báo thành công.</a:t>
            </a:r>
          </a:p>
          <a:p>
            <a:endParaRPr/>
          </a:p>
          <a:p>
            <a:r>
              <a:t>TƯƠNG TÁC</a:t>
            </a:r>
          </a:p>
          <a:p>
            <a:r>
              <a:t>Cho một sinh viên đóng vai Route, một bạn đóng vai Controller và một bạn đóng vai Service; mỗi bạn nói đúng một trách nhiệm.</a:t>
            </a:r>
          </a:p>
          <a:p>
            <a:endParaRPr/>
          </a:p>
          <a:p>
            <a:r>
              <a:t>ĐÁP ÁN / LƯU Ý</a:t>
            </a:r>
          </a:p>
          <a:p>
            <a:r>
              <a:t>Route chọn handler; Controller nhận input/trả HTTP; Service xử lý nghiệp vụ. Không truyền req/res sâu vào Service.</a:t>
            </a:r>
          </a:p>
          <a:p>
            <a:endParaRPr/>
          </a:p>
          <a:p>
            <a:r>
              <a:t>CHUYỂN SLIDE</a:t>
            </a:r>
          </a:p>
          <a:p>
            <a:r>
              <a:t>Kết quả HTTP vừa nhắc tới chính là các status code ở slide tiếp theo.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Status code: đọc kết quả đúng</a:t>
            </a:r>
          </a:p>
          <a:p>
            <a:endParaRPr/>
          </a:p>
          <a:p>
            <a:r>
              <a:t>LỜI GIẢNG</a:t>
            </a:r>
          </a:p>
          <a:p>
            <a:r>
              <a:t>Status code là mã kết quả của HTTP request. Nó không phải điểm số. Client dùng mã này để biết nên xử lý response theo hướng nào. Trong bài, 200 dùng khi GET, PUT hoặc DELETE thành công. POST tạo mới trả 201.</a:t>
            </a:r>
          </a:p>
          <a:p>
            <a:r>
              <a:t>400 nghĩa là request sai theo quy tắc đã thống nhất, chẳng hạn thiếu hoTen hoặc email không hợp lệ. 404 nghĩa là không tìm thấy sinh viên được yêu cầu. 409 nghĩa là xung đột, trong bài là tạo trùng maSV. 500 dành cho lỗi server ngoài dự kiến, không dùng để thay thế các lỗi nghiệp vụ đã biết.</a:t>
            </a:r>
          </a:p>
          <a:p>
            <a:r>
              <a:t>Ví dụ, nếu em cố ý gửi GET mã không tồn tại và Backend trả 404, test đó là đạt. Bởi vì mục tiêu của test là xem Backend có xử lý tình huống không tồn tại đúng không. Ngược lại, nếu gửi dữ liệu hợp lệ để tạo mới mà nhận 200 thay cho 201 đã cam kết trong bài, em phải xem lại hợp đồng API.</a:t>
            </a:r>
          </a:p>
          <a:p>
            <a:r>
              <a:t>DELETE có thể được thiết kế trả 204 nếu không có response body, nhưng bài này chọn 200 với JSON thông báo để mọi phần thống nhất. Vì vậy, đừng đổi DELETE sang 204 nhưng vẫn gửi JSON. Quan trọng là code, tài liệu Swagger và bảng test phải mô tả cùng một hành vi.</a:t>
            </a:r>
          </a:p>
          <a:p>
            <a:endParaRPr/>
          </a:p>
          <a:p>
            <a:r>
              <a:t>GIẢI NGHĨA</a:t>
            </a:r>
          </a:p>
          <a:p>
            <a:r>
              <a:t>2xx: xử lý thành công; 4xx: vấn đề thuộc yêu cầu/tình huống Client; 5xx: server không thực hiện được yêu cầu do lỗi phía server. Danh sách này là các mã cần dùng trong bài, chưa phải toàn bộ HTTP.</a:t>
            </a:r>
          </a:p>
          <a:p>
            <a:endParaRPr/>
          </a:p>
          <a:p>
            <a:r>
              <a:t>TƯƠNG TÁC</a:t>
            </a:r>
          </a:p>
          <a:p>
            <a:r>
              <a:t>Hỏi: tạo trùng mã thì 400 hay 409? GET một mã không tồn tại nhận 404 thì test có thất bại không?</a:t>
            </a:r>
          </a:p>
          <a:p>
            <a:endParaRPr/>
          </a:p>
          <a:p>
            <a:r>
              <a:t>ĐÁP ÁN / LƯU Ý</a:t>
            </a:r>
          </a:p>
          <a:p>
            <a:r>
              <a:t>Bài quy định trùng mã là 409. GET không tồn tại trả 404 là PASS nếu đó là status mong đợi. Cần kiểm tra body và trạng thái dữ liệu nữa.</a:t>
            </a:r>
          </a:p>
          <a:p>
            <a:endParaRPr/>
          </a:p>
          <a:p>
            <a:r>
              <a:t>CHUYỂN SLIDE</a:t>
            </a:r>
          </a:p>
          <a:p>
            <a:r>
              <a:t>Chúng ta sẽ kiểm tra những kết quả này bằng Postman và Swagger UI.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Postman và Swagger khác nhau thế nào?</a:t>
            </a:r>
          </a:p>
          <a:p>
            <a:endParaRPr/>
          </a:p>
          <a:p>
            <a:r>
              <a:t>LỜI GIẢNG</a:t>
            </a:r>
          </a:p>
          <a:p>
            <a:r>
              <a:t>Postman giúp chúng ta tự xây request, lưu thành Collection và viết các assertion để kiểm tra kết quả. Em có thể gửi body đúng, body thiếu hoặc mã không tồn tại để xem API phản hồi thế nào.</a:t>
            </a:r>
          </a:p>
          <a:p>
            <a:r>
              <a:t>OpenAPI là đặc tả mô tả API. Swagger là hệ công cụ làm việc với đặc tả đó; trong bài dùng Swagger UI để hiển thị tài liệu tại /api-docs. Swagger UI liệt kê method, path, body và response. Khi bấm Try it out rồi Execute, nó cũng gửi request thật tới Backend. Vì vậy, Try it out có thể thêm, sửa hoặc xóa dữ liệu thử nghiệm.</a:t>
            </a:r>
          </a:p>
          <a:p>
            <a:r>
              <a:t>Hai công cụ có phần chức năng giao nhau. Postman cũng có tài liệu; Swagger UI cũng thử gọi API. Cách dùng trong bài là Swagger UI cho việc đọc hợp đồng và thử nhanh, Postman cho việc lưu chuỗi request và kiểm thử có bằng chứng.</a:t>
            </a:r>
          </a:p>
          <a:p>
            <a:r>
              <a:t>Tạo được trang Swagger đẹp không có nghĩa đã tạo xong API. Nếu mô tả một PUT nhưng Backend chưa có Route tương ứng, bấm Execute vẫn lỗi. Ngược lại, API có thể chạy đúng trong Postman nhưng tài liệu Swagger ghi sai body. Khi đó, người dùng tài liệu vẫn khó tích hợp. Chúng ta phải kiểm tra cả hai.</a:t>
            </a:r>
          </a:p>
          <a:p>
            <a:endParaRPr/>
          </a:p>
          <a:p>
            <a:r>
              <a:t>GIẢI NGHĨA</a:t>
            </a:r>
          </a:p>
          <a:p>
            <a:r>
              <a:t>Collection là nhóm request được lưu. Assertion là điều kiện phải đúng để test đạt. Swagger UI là giao diện, OpenAPI là bản mô tả máy đọc được.</a:t>
            </a:r>
          </a:p>
          <a:p>
            <a:endParaRPr/>
          </a:p>
          <a:p>
            <a:r>
              <a:t>TƯƠNG TÁC</a:t>
            </a:r>
          </a:p>
          <a:p>
            <a:r>
              <a:t>Cho sinh viên mở một endpoint trong Swagger và chỉ vị trí body, status response. Sau đó mở request tương ứng ở Postman.</a:t>
            </a:r>
          </a:p>
          <a:p>
            <a:endParaRPr/>
          </a:p>
          <a:p>
            <a:r>
              <a:t>ĐÁP ÁN / LƯU Ý</a:t>
            </a:r>
          </a:p>
          <a:p>
            <a:r>
              <a:t>Tài liệu không tự tạo nghiệp vụ hay tự kiểm tra dữ liệu đầu vào. Cần giữ server chạy khi dùng cả hai công cụ.</a:t>
            </a:r>
          </a:p>
          <a:p>
            <a:endParaRPr/>
          </a:p>
          <a:p>
            <a:r>
              <a:t>CHUYỂN SLIDE</a:t>
            </a:r>
          </a:p>
          <a:p>
            <a:r>
              <a:t>Để tài liệu chính xác, chúng ta phải mô tả những thông tin nào trong OpenAPI?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Swagger / OpenAPI</a:t>
            </a:r>
          </a:p>
          <a:p>
            <a:endParaRPr/>
          </a:p>
          <a:p>
            <a:r>
              <a:t>LỜI GIẢNG</a:t>
            </a:r>
          </a:p>
          <a:p>
            <a:r>
              <a:t>Nhóm SinhVien trong Swagger cần có đủ năm operation: GET danh sách, GET theo mã, POST, PUT và DELETE. Mỗi operation là một cặp method và path; hai GET là hai thao tác khác nhau.</a:t>
            </a:r>
          </a:p>
          <a:p>
            <a:r>
              <a:t>Trong OpenAPI, path theo mã được viết là /api/v1/sinh-vien/{maSV}. Chúng ta khai báo parameter tên maSV, nằm ở path và required là true. POST có body gồm maSV, hoTen, email, maLop. PUT chỉ nhận đủ hoTen, email, maLop vì maSV được lấy từ URL.</a:t>
            </a:r>
          </a:p>
          <a:p>
            <a:r>
              <a:t>Schema mô tả hình dạng và kiểu dữ liệu. Response không chỉ mô tả SinhVien trần; cần mô tả cả cấu trúc { success, message, data } mà API trả. Riêng DELETE trong bài dùng success và message, không có data. Khi mô tả error response, success là false.</a:t>
            </a:r>
          </a:p>
          <a:p>
            <a:r>
              <a:t>Sau khi đọc tài liệu, em bấm Try it out, nhập mã hoặc body, rồi Execute. Quan sát Request URL, status và Response body. Nếu /api-docs mở được nhưng không có operation, hãy kiểm tra phần apis của swagger-jsdoc có trỏ tới đúng file chứa chú thích hay không.</a:t>
            </a:r>
          </a:p>
          <a:p>
            <a:r>
              <a:t>Bài dùng OpenAPI 3.0.3. Nếu bài sau thêm JWT, cấu hình securitySchemes nằm trong components. Buổi này chưa thêm cơ chế đăng nhập; không đặt security bắt buộc khi Backend chưa kiểm tra token.</a:t>
            </a:r>
          </a:p>
          <a:p>
            <a:endParaRPr/>
          </a:p>
          <a:p>
            <a:r>
              <a:t>GIẢI NGHĨA</a:t>
            </a:r>
          </a:p>
          <a:p>
            <a:r>
              <a:t>swagger-jsdoc đọc các chú thích @openapi rồi tạo đặc tả; swagger-ui-express hiển thị đặc tả đó. Khai báo required trong tài liệu không thay việc validation ở Backend.</a:t>
            </a:r>
          </a:p>
          <a:p>
            <a:endParaRPr/>
          </a:p>
          <a:p>
            <a:r>
              <a:t>TƯƠNG TÁC</a:t>
            </a:r>
          </a:p>
          <a:p>
            <a:r>
              <a:t>Hướng dẫn thử một GET không tồn tại bằng Swagger; sau đó so response thực tế với phần response 404 đã mô tả.</a:t>
            </a:r>
          </a:p>
          <a:p>
            <a:endParaRPr/>
          </a:p>
          <a:p>
            <a:r>
              <a:t>ĐÁP ÁN / LƯU Ý</a:t>
            </a:r>
          </a:p>
          <a:p>
            <a:r>
              <a:t>Swagger phải dùng đúng host/port của server. Express dùng :maSV, OpenAPI dùng {maSV}. Không nhầm securityDefinitions của OpenAPI 2 với cấu trúc OpenAPI 3.</a:t>
            </a:r>
          </a:p>
          <a:p>
            <a:endParaRPr/>
          </a:p>
          <a:p>
            <a:r>
              <a:t>CHUYỂN SLIDE</a:t>
            </a:r>
          </a:p>
          <a:p>
            <a:r>
              <a:t>Bây giờ chúng ta dùng AI để hỗ trợ hoàn thiện code và tài liệu theo từng bước.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Vibe Coding: hiểu, làm, kiểm chứng</a:t>
            </a:r>
          </a:p>
          <a:p>
            <a:endParaRPr/>
          </a:p>
          <a:p>
            <a:r>
              <a:t>LỜI GIẢNG</a:t>
            </a:r>
          </a:p>
          <a:p>
            <a:r>
              <a:t>Đầu tiên là hiểu yêu cầu. Các em phải biết mình muốn thêm endpoint nào, input nào và status nào. Tiếp theo là đọc project để biết file cần sửa. Chỉ sau đó mới viết prompt. Nếu project đã có GET và POST, nhiệm vụ lần này chỉ là bổ sung PUT; không cần yêu cầu AI dựng lại cả hệ thống.</a:t>
            </a:r>
          </a:p>
          <a:p>
            <a:r>
              <a:t>AI trả code, chúng ta đọc phần thay đổi. Em hãy hỏi: Route có còn chỉ định tuyến không? Controller có truy vấn database trực tiếp không? Service có dùng req hay res không? Tên Model và trường dữ liệu có đúng project không?</a:t>
            </a:r>
          </a:p>
          <a:p>
            <a:r>
              <a:t>Tiếp theo là build để phát hiện lỗi TypeScript. Build thành công chưa chứng minh đúng nghiệp vụ. Chúng ta chạy server và test cả trường hợp thành công lẫn thất bại. Sau PUT phải GET lại để xác nhận; sau DELETE phải GET lại để nhận 404. Các endpoint cũ cũng phải được gọi lại để chắc rằng thay đổi mới không làm chúng hỏng.</a:t>
            </a:r>
          </a:p>
          <a:p>
            <a:r>
              <a:t>Cuối cùng, đối chiếu từng kết quả với yêu cầu và ghi prompt log. Prompt log không chỉ chép prompt; cần có phần em chấp nhận hay sửa kết quả của AI và bằng chứng kiểm tra. Nếu gặp lỗi, gửi cho AI thông báo lỗi, file liên quan và điều đã thử; không yêu cầu “sửa hết project” mà thiếu dữ kiện.</a:t>
            </a:r>
          </a:p>
          <a:p>
            <a:endParaRPr/>
          </a:p>
          <a:p>
            <a:r>
              <a:t>GIẢI NGHĨA</a:t>
            </a:r>
          </a:p>
          <a:p>
            <a:r>
              <a:t>Build kiểm tra khả năng biên dịch; test kiểm tra hành vi. Hai việc bổ sung nhau. AI trong chat chỉ đọc những gì em cung cấp, không tự thấy toàn bộ thư mục máy em.</a:t>
            </a:r>
          </a:p>
          <a:p>
            <a:endParaRPr/>
          </a:p>
          <a:p>
            <a:r>
              <a:t>TƯƠNG TÁC</a:t>
            </a:r>
          </a:p>
          <a:p>
            <a:r>
              <a:t>Cho sinh viên nêu một điểm cần kiểm tra khi AI vừa tạo xong PUT. Yêu cầu trả lời bằng hành động cụ thể.</a:t>
            </a:r>
          </a:p>
          <a:p>
            <a:endParaRPr/>
          </a:p>
          <a:p>
            <a:r>
              <a:t>ĐÁP ÁN / LƯU Ý</a:t>
            </a:r>
          </a:p>
          <a:p>
            <a:r>
              <a:t>Ví dụ: chạy pnpm build, gọi PUT dữ liệu hợp lệ, GET lại để đối chiếu, test body thiếu. “Nhìn có vẻ đúng” không phải bằng chứng.</a:t>
            </a:r>
          </a:p>
          <a:p>
            <a:endParaRPr/>
          </a:p>
          <a:p>
            <a:r>
              <a:t>CHUYỂN SLIDE</a:t>
            </a:r>
          </a:p>
          <a:p>
            <a:r>
              <a:t>Slide cuối giúp các em viết một prompt đủ rõ để AI thực hiện đúng nhiệm vụ.</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Công thức prompt Backend</a:t>
            </a:r>
          </a:p>
          <a:p>
            <a:endParaRPr/>
          </a:p>
          <a:p>
            <a:r>
              <a:t>LỜI GIẢNG</a:t>
            </a:r>
          </a:p>
          <a:p>
            <a:r>
              <a:t>ROLE nói AI đang đóng vai gì, ví dụ lập trình viên Backend hướng dẫn sinh viên. CONTEXT nói project thực tế: Node.js, Express, TypeScript, dữ liệu SQL Server hoặc RAM và các endpoint đã chạy. TASK nói việc lần này: bổ sung PUT cho SinhVien.</a:t>
            </a:r>
          </a:p>
          <a:p>
            <a:r>
              <a:t>CONSTRAINT là các ràng buộc cần giữ, chẳng hạn không đổi endpoint cũ, Route chỉ định tuyến, Service xử lý nghiệp vụ, không thêm JWT. OUTPUT yêu cầu đầu ra cụ thể: liệt kê file cần sửa, code đầy đủ từng file, giải thích phần mới và cách chạy. CHECK yêu cầu cách chứng minh hoàn thành: ba test có dữ liệu và status mong đợi.</a:t>
            </a:r>
          </a:p>
          <a:p>
            <a:r>
              <a:t>Các em không cần viết prompt dài vô hạn. Quan trọng là đúng thông tin. Nếu dự án dùng import có đuôi .js theo NodeNext, hãy nói và gửi tsconfig.json cùng package.json. Nếu AI chưa có file Controller, hãy cung cấp file đó. Đừng để AI đoán tên hàm và cấu trúc dữ liệu.</a:t>
            </a:r>
          </a:p>
          <a:p>
            <a:r>
              <a:t>Trong thực hành, các em lần lượt đọc project, làm PUT, làm DELETE, tổng hợp CRUD, tích hợp Swagger và kiểm thử. Mỗi nhiệm vụ xong đều kiểm tra trước khi chuyển sang nhiệm vụ tiếp theo. Kết thúc, em phải tự giải thích được request đi qua những file nào, vì sao test 404 là đạt và dữ liệu được lưu ở đâu.</a:t>
            </a:r>
          </a:p>
          <a:p>
            <a:r>
              <a:t>Câu cần nhớ là: hiểu yêu cầu, viết prompt, đọc code, chạy test, giải thích kết quả.</a:t>
            </a:r>
          </a:p>
          <a:p>
            <a:endParaRPr/>
          </a:p>
          <a:p>
            <a:r>
              <a:t>GIẢI NGHĨA</a:t>
            </a:r>
          </a:p>
          <a:p>
            <a:r>
              <a:t>Role không thay thế context. Constraint là quy tắc mà code phải giữ. Check là tiêu chí kiểm chứng có thể quan sát, không chỉ lời hứa của AI.</a:t>
            </a:r>
          </a:p>
          <a:p>
            <a:endParaRPr/>
          </a:p>
          <a:p>
            <a:r>
              <a:t>TƯƠNG TÁC</a:t>
            </a:r>
          </a:p>
          <a:p>
            <a:r>
              <a:t>Yêu cầu sinh viên viết TASK và CHECK cho DELETE. Mời một bạn đọc prompt và cả lớp xem đã đủ thông tin chưa.</a:t>
            </a:r>
          </a:p>
          <a:p>
            <a:endParaRPr/>
          </a:p>
          <a:p>
            <a:r>
              <a:t>ĐÁP ÁN / LƯU Ý</a:t>
            </a:r>
          </a:p>
          <a:p>
            <a:r>
              <a:t>TASK: thêm DELETE /api/v1/sinh-vien/:maSV. CHECK: xóa có thật trả 200, GET lại trả 404, xóa lần nữa trả 404 và các GET/POST cũ vẫn hoạt động.</a:t>
            </a:r>
          </a:p>
          <a:p>
            <a:endParaRPr/>
          </a:p>
          <a:p>
            <a:r>
              <a:t>CHUYỂN SLIDE</a:t>
            </a:r>
          </a:p>
          <a:p>
            <a:r>
              <a:t>Chuyển sang PDF thực hành. Sinh viên bắt đầu ở Bước 0, kiểm tra project đang chạy rồi mới gửi Prompt 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Xây dựng RESTful API</a:t>
            </a:r>
          </a:p>
          <a:p>
            <a:pPr>
              <a:lnSpc>
                <a:spcPts val="4000"/>
              </a:lnSpc>
              <a:spcAft>
                <a:spcPts val="0"/>
              </a:spcAft>
              <a:defRPr sz="3200" b="1">
                <a:solidFill>
                  <a:srgbClr val="18354D"/>
                </a:solidFill>
                <a:latin typeface="DejaVu Sans"/>
              </a:defRPr>
            </a:pPr>
            <a:r>
              <a:t>&amp; CRUD cơ bản</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GET • POST • PUT • DELETE | Status code | Swagger / OpenAPI</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01</a:t>
            </a:r>
          </a:p>
        </p:txBody>
      </p:sp>
      <p:sp>
        <p:nvSpPr>
          <p:cNvPr id="13" name="Rounded Rectangle 12"/>
          <p:cNvSpPr/>
          <p:nvPr/>
        </p:nvSpPr>
        <p:spPr>
          <a:xfrm>
            <a:off x="548640" y="2436876"/>
            <a:ext cx="3236976" cy="2724912"/>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05256" y="2711196"/>
            <a:ext cx="1423467" cy="1149930"/>
          </a:xfrm>
          <a:prstGeom prst="rect">
            <a:avLst/>
          </a:prstGeom>
          <a:noFill/>
        </p:spPr>
        <p:txBody>
          <a:bodyPr wrap="none" lIns="0" tIns="0" rIns="0" bIns="0">
            <a:spAutoFit/>
          </a:bodyPr>
          <a:lstStyle/>
          <a:p>
            <a:pPr>
              <a:lnSpc>
                <a:spcPts val="9750"/>
              </a:lnSpc>
              <a:spcAft>
                <a:spcPts val="0"/>
              </a:spcAft>
              <a:defRPr sz="7800" b="1">
                <a:solidFill>
                  <a:srgbClr val="007E99"/>
                </a:solidFill>
                <a:latin typeface="DejaVu Sans"/>
              </a:defRPr>
            </a:pPr>
            <a:r>
              <a:t>0</a:t>
            </a:r>
            <a:r>
              <a:rPr lang="en-US"/>
              <a:t>4</a:t>
            </a:r>
            <a:endParaRPr/>
          </a:p>
        </p:txBody>
      </p:sp>
      <p:sp>
        <p:nvSpPr>
          <p:cNvPr id="15" name="TextBox 14"/>
          <p:cNvSpPr txBox="1"/>
          <p:nvPr/>
        </p:nvSpPr>
        <p:spPr>
          <a:xfrm>
            <a:off x="905256" y="4238244"/>
            <a:ext cx="2560320" cy="585216"/>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HIỂU → LÀM</a:t>
            </a:r>
          </a:p>
          <a:p>
            <a:pPr>
              <a:lnSpc>
                <a:spcPts val="2000"/>
              </a:lnSpc>
              <a:spcAft>
                <a:spcPts val="0"/>
              </a:spcAft>
              <a:defRPr sz="1600" b="1">
                <a:solidFill>
                  <a:srgbClr val="007E99"/>
                </a:solidFill>
                <a:latin typeface="DejaVu Sans"/>
              </a:defRPr>
            </a:pPr>
            <a:r>
              <a:t>→ KIỂM CHỨNG</a:t>
            </a:r>
          </a:p>
        </p:txBody>
      </p:sp>
      <p:sp>
        <p:nvSpPr>
          <p:cNvPr id="16" name="Rounded Rectangle 15"/>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Đích đến: CRUD đầy đủ • tài liệu API • kiểm thử có bằng chứng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API nằm ở đâu trong hệ thống?</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API là lớp giao tiếp giữa Client và Backend.</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02</a:t>
            </a:r>
          </a:p>
        </p:txBody>
      </p:sp>
      <p:sp>
        <p:nvSpPr>
          <p:cNvPr id="10" name="Rounded Rectangle 9"/>
          <p:cNvSpPr/>
          <p:nvPr/>
        </p:nvSpPr>
        <p:spPr>
          <a:xfrm>
            <a:off x="548640" y="2423160"/>
            <a:ext cx="3108960" cy="214884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587752"/>
            <a:ext cx="2688336"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CLIENT</a:t>
            </a:r>
          </a:p>
        </p:txBody>
      </p:sp>
      <p:sp>
        <p:nvSpPr>
          <p:cNvPr id="12" name="TextBox 11"/>
          <p:cNvSpPr txBox="1"/>
          <p:nvPr/>
        </p:nvSpPr>
        <p:spPr>
          <a:xfrm>
            <a:off x="758952" y="3136391"/>
            <a:ext cx="2688336" cy="1362456"/>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Frontend</a:t>
            </a:r>
          </a:p>
          <a:p>
            <a:pPr>
              <a:lnSpc>
                <a:spcPts val="2500"/>
              </a:lnSpc>
              <a:spcAft>
                <a:spcPts val="0"/>
              </a:spcAft>
              <a:defRPr sz="2000" b="0">
                <a:solidFill>
                  <a:srgbClr val="18354D"/>
                </a:solidFill>
                <a:latin typeface="DejaVu Sans"/>
              </a:defRPr>
            </a:pPr>
            <a:r>
              <a:t>Postman</a:t>
            </a:r>
          </a:p>
          <a:p>
            <a:pPr>
              <a:lnSpc>
                <a:spcPts val="2500"/>
              </a:lnSpc>
              <a:spcAft>
                <a:spcPts val="0"/>
              </a:spcAft>
              <a:defRPr sz="2000" b="0">
                <a:solidFill>
                  <a:srgbClr val="18354D"/>
                </a:solidFill>
                <a:latin typeface="DejaVu Sans"/>
              </a:defRPr>
            </a:pPr>
            <a:r>
              <a:t>Swagger UI</a:t>
            </a:r>
          </a:p>
        </p:txBody>
      </p:sp>
      <p:sp>
        <p:nvSpPr>
          <p:cNvPr id="13" name="Rounded Rectangle 12"/>
          <p:cNvSpPr/>
          <p:nvPr/>
        </p:nvSpPr>
        <p:spPr>
          <a:xfrm>
            <a:off x="4096512" y="2423160"/>
            <a:ext cx="4297680" cy="214884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06824" y="2587752"/>
            <a:ext cx="3877056"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BACKEND</a:t>
            </a:r>
          </a:p>
        </p:txBody>
      </p:sp>
      <p:sp>
        <p:nvSpPr>
          <p:cNvPr id="15" name="TextBox 14"/>
          <p:cNvSpPr txBox="1"/>
          <p:nvPr/>
        </p:nvSpPr>
        <p:spPr>
          <a:xfrm>
            <a:off x="4306824" y="3136391"/>
            <a:ext cx="3877056" cy="1362456"/>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Route → Controller</a:t>
            </a:r>
          </a:p>
          <a:p>
            <a:pPr>
              <a:lnSpc>
                <a:spcPts val="2500"/>
              </a:lnSpc>
              <a:spcAft>
                <a:spcPts val="0"/>
              </a:spcAft>
              <a:defRPr sz="2000" b="0">
                <a:solidFill>
                  <a:srgbClr val="18354D"/>
                </a:solidFill>
                <a:latin typeface="DejaVu Sans"/>
              </a:defRPr>
            </a:pPr>
            <a:r>
              <a:t>→ Service</a:t>
            </a:r>
          </a:p>
          <a:p>
            <a:pPr>
              <a:lnSpc>
                <a:spcPts val="2500"/>
              </a:lnSpc>
              <a:spcAft>
                <a:spcPts val="0"/>
              </a:spcAft>
              <a:defRPr sz="2000" b="0">
                <a:solidFill>
                  <a:srgbClr val="18354D"/>
                </a:solidFill>
                <a:latin typeface="DejaVu Sans"/>
              </a:defRPr>
            </a:pPr>
            <a:r>
              <a:t>→ Model Sequelize</a:t>
            </a:r>
          </a:p>
        </p:txBody>
      </p:sp>
      <p:sp>
        <p:nvSpPr>
          <p:cNvPr id="16" name="Rounded Rectangle 15"/>
          <p:cNvSpPr/>
          <p:nvPr/>
        </p:nvSpPr>
        <p:spPr>
          <a:xfrm>
            <a:off x="8805672" y="2423160"/>
            <a:ext cx="2807208" cy="214884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15984" y="2587752"/>
            <a:ext cx="2386584"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DỮ LIỆU</a:t>
            </a:r>
          </a:p>
        </p:txBody>
      </p:sp>
      <p:sp>
        <p:nvSpPr>
          <p:cNvPr id="18" name="TextBox 17"/>
          <p:cNvSpPr txBox="1"/>
          <p:nvPr/>
        </p:nvSpPr>
        <p:spPr>
          <a:xfrm>
            <a:off x="9015984" y="3136391"/>
            <a:ext cx="2386584" cy="1362456"/>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SQL Server</a:t>
            </a:r>
          </a:p>
          <a:p>
            <a:pPr>
              <a:lnSpc>
                <a:spcPts val="2500"/>
              </a:lnSpc>
              <a:spcAft>
                <a:spcPts val="0"/>
              </a:spcAft>
              <a:defRPr sz="2000" b="0">
                <a:solidFill>
                  <a:srgbClr val="18354D"/>
                </a:solidFill>
                <a:latin typeface="DejaVu Sans"/>
              </a:defRPr>
            </a:pPr>
            <a:r>
              <a:t>Lưu bền vững</a:t>
            </a:r>
          </a:p>
        </p:txBody>
      </p:sp>
      <p:sp>
        <p:nvSpPr>
          <p:cNvPr id="19" name="TextBox 18"/>
          <p:cNvSpPr txBox="1"/>
          <p:nvPr/>
        </p:nvSpPr>
        <p:spPr>
          <a:xfrm>
            <a:off x="3703320" y="3246120"/>
            <a:ext cx="365760" cy="457200"/>
          </a:xfrm>
          <a:prstGeom prst="rect">
            <a:avLst/>
          </a:prstGeom>
          <a:noFill/>
        </p:spPr>
        <p:txBody>
          <a:bodyPr wrap="none" lIns="0" tIns="0" rIns="0" bIns="0">
            <a:spAutoFit/>
          </a:bodyPr>
          <a:lstStyle/>
          <a:p>
            <a:pPr>
              <a:lnSpc>
                <a:spcPts val="2750"/>
              </a:lnSpc>
              <a:spcAft>
                <a:spcPts val="0"/>
              </a:spcAft>
              <a:defRPr sz="2200" b="0">
                <a:solidFill>
                  <a:srgbClr val="007E99"/>
                </a:solidFill>
                <a:latin typeface="DejaVu Sans"/>
              </a:defRPr>
            </a:pPr>
            <a:r>
              <a:t>→</a:t>
            </a:r>
          </a:p>
        </p:txBody>
      </p:sp>
      <p:sp>
        <p:nvSpPr>
          <p:cNvPr id="20" name="TextBox 19"/>
          <p:cNvSpPr txBox="1"/>
          <p:nvPr/>
        </p:nvSpPr>
        <p:spPr>
          <a:xfrm>
            <a:off x="8430768" y="3246120"/>
            <a:ext cx="365760" cy="457200"/>
          </a:xfrm>
          <a:prstGeom prst="rect">
            <a:avLst/>
          </a:prstGeom>
          <a:noFill/>
        </p:spPr>
        <p:txBody>
          <a:bodyPr wrap="none" lIns="0" tIns="0" rIns="0" bIns="0">
            <a:spAutoFit/>
          </a:bodyPr>
          <a:lstStyle/>
          <a:p>
            <a:pPr>
              <a:lnSpc>
                <a:spcPts val="2750"/>
              </a:lnSpc>
              <a:spcAft>
                <a:spcPts val="0"/>
              </a:spcAft>
              <a:defRPr sz="2200" b="0">
                <a:solidFill>
                  <a:srgbClr val="007E99"/>
                </a:solidFill>
                <a:latin typeface="DejaVu Sans"/>
              </a:defRPr>
            </a:pPr>
            <a:r>
              <a:t>→</a:t>
            </a:r>
          </a:p>
        </p:txBody>
      </p:sp>
      <p:sp>
        <p:nvSpPr>
          <p:cNvPr id="21" name="TextBox 20"/>
          <p:cNvSpPr txBox="1"/>
          <p:nvPr/>
        </p:nvSpPr>
        <p:spPr>
          <a:xfrm>
            <a:off x="640080" y="4910328"/>
            <a:ext cx="10881360" cy="502920"/>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Chưa có SQL Server: Service → mảng RAM (mất khi restart).</a:t>
            </a:r>
          </a:p>
        </p:txBody>
      </p:sp>
      <p:sp>
        <p:nvSpPr>
          <p:cNvPr id="22" name="Rounded Rectangle 21"/>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Sequelize là ORM; SQL Server là database; API là giao diện giao tiếp.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REST API: request và response</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Thiết kế theo tài nguyên, dùng HTTP method và trao đổi dữ liệu JSON.</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03</a:t>
            </a:r>
          </a:p>
        </p:txBody>
      </p:sp>
      <p:sp>
        <p:nvSpPr>
          <p:cNvPr id="10" name="Rounded Rectangle 9"/>
          <p:cNvSpPr/>
          <p:nvPr/>
        </p:nvSpPr>
        <p:spPr>
          <a:xfrm>
            <a:off x="548640" y="2377440"/>
            <a:ext cx="5367528" cy="259689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542032"/>
            <a:ext cx="4946904"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REQUEST</a:t>
            </a:r>
          </a:p>
        </p:txBody>
      </p:sp>
      <p:sp>
        <p:nvSpPr>
          <p:cNvPr id="12" name="TextBox 11"/>
          <p:cNvSpPr txBox="1"/>
          <p:nvPr/>
        </p:nvSpPr>
        <p:spPr>
          <a:xfrm>
            <a:off x="758952" y="3090672"/>
            <a:ext cx="4946904" cy="181051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Method + URL</a:t>
            </a:r>
          </a:p>
          <a:p>
            <a:pPr>
              <a:lnSpc>
                <a:spcPts val="2500"/>
              </a:lnSpc>
              <a:spcAft>
                <a:spcPts val="0"/>
              </a:spcAft>
              <a:defRPr sz="2000" b="0">
                <a:solidFill>
                  <a:srgbClr val="18354D"/>
                </a:solidFill>
                <a:latin typeface="DejaVu Sans"/>
              </a:defRPr>
            </a:pPr>
            <a:r>
              <a:t>Path params / Query</a:t>
            </a:r>
          </a:p>
          <a:p>
            <a:pPr>
              <a:lnSpc>
                <a:spcPts val="2500"/>
              </a:lnSpc>
              <a:spcAft>
                <a:spcPts val="0"/>
              </a:spcAft>
              <a:defRPr sz="2000" b="0">
                <a:solidFill>
                  <a:srgbClr val="18354D"/>
                </a:solidFill>
                <a:latin typeface="DejaVu Sans"/>
              </a:defRPr>
            </a:pPr>
            <a:r>
              <a:t>Headers / Body (nếu có)</a:t>
            </a:r>
          </a:p>
        </p:txBody>
      </p:sp>
      <p:sp>
        <p:nvSpPr>
          <p:cNvPr id="13" name="Rounded Rectangle 12"/>
          <p:cNvSpPr/>
          <p:nvPr/>
        </p:nvSpPr>
        <p:spPr>
          <a:xfrm>
            <a:off x="6236208" y="2377440"/>
            <a:ext cx="5367528" cy="259689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2542032"/>
            <a:ext cx="4946904"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RESPONSE</a:t>
            </a:r>
          </a:p>
        </p:txBody>
      </p:sp>
      <p:sp>
        <p:nvSpPr>
          <p:cNvPr id="15" name="TextBox 14"/>
          <p:cNvSpPr txBox="1"/>
          <p:nvPr/>
        </p:nvSpPr>
        <p:spPr>
          <a:xfrm>
            <a:off x="6446520" y="3090672"/>
            <a:ext cx="4946904" cy="181051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Status code</a:t>
            </a:r>
          </a:p>
          <a:p>
            <a:pPr>
              <a:lnSpc>
                <a:spcPts val="2500"/>
              </a:lnSpc>
              <a:spcAft>
                <a:spcPts val="0"/>
              </a:spcAft>
              <a:defRPr sz="2000" b="0">
                <a:solidFill>
                  <a:srgbClr val="18354D"/>
                </a:solidFill>
                <a:latin typeface="DejaVu Sans"/>
              </a:defRPr>
            </a:pPr>
            <a:r>
              <a:t>Headers</a:t>
            </a:r>
          </a:p>
          <a:p>
            <a:pPr>
              <a:lnSpc>
                <a:spcPts val="2500"/>
              </a:lnSpc>
              <a:spcAft>
                <a:spcPts val="0"/>
              </a:spcAft>
              <a:defRPr sz="2000" b="0">
                <a:solidFill>
                  <a:srgbClr val="18354D"/>
                </a:solidFill>
                <a:latin typeface="DejaVu Sans"/>
              </a:defRPr>
            </a:pPr>
            <a:r>
              <a:t>Body (nếu có)</a:t>
            </a:r>
          </a:p>
        </p:txBody>
      </p:sp>
      <p:sp>
        <p:nvSpPr>
          <p:cNvPr id="16" name="Rounded Rectangle 15"/>
          <p:cNvSpPr/>
          <p:nvPr/>
        </p:nvSpPr>
        <p:spPr>
          <a:xfrm>
            <a:off x="548640" y="5129784"/>
            <a:ext cx="11064240" cy="429768"/>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5212080"/>
            <a:ext cx="10515600" cy="274320"/>
          </a:xfrm>
          <a:prstGeom prst="rect">
            <a:avLst/>
          </a:prstGeom>
          <a:noFill/>
        </p:spPr>
        <p:txBody>
          <a:bodyPr wrap="none" lIns="0" tIns="0" rIns="0" bIns="0">
            <a:spAutoFit/>
          </a:bodyPr>
          <a:lstStyle/>
          <a:p>
            <a:pPr>
              <a:lnSpc>
                <a:spcPts val="2125"/>
              </a:lnSpc>
              <a:spcAft>
                <a:spcPts val="0"/>
              </a:spcAft>
              <a:defRPr sz="1700" b="0">
                <a:solidFill>
                  <a:srgbClr val="FFFFFF"/>
                </a:solidFill>
                <a:latin typeface="DejaVu Sans Mono"/>
              </a:defRPr>
            </a:pPr>
            <a:r>
              <a:t>GET /api/v1/sinh-vien → “Cho tôi danh sách sinh viên.”</a:t>
            </a:r>
          </a:p>
        </p:txBody>
      </p:sp>
      <p:sp>
        <p:nvSpPr>
          <p:cNvPr id="18" name="Rounded Rectangle 17"/>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Stateless: mỗi request cung cấp đủ thông tin cần thiết để xử lý.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Resource và endpoint</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Resource là tài nguyên nghiệp vụ mà API công bố.</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04</a:t>
            </a:r>
          </a:p>
        </p:txBody>
      </p:sp>
      <p:sp>
        <p:nvSpPr>
          <p:cNvPr id="10" name="Rounded Rectangle 9"/>
          <p:cNvSpPr/>
          <p:nvPr/>
        </p:nvSpPr>
        <p:spPr>
          <a:xfrm>
            <a:off x="548640" y="2395728"/>
            <a:ext cx="3858768" cy="260604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560320"/>
            <a:ext cx="3438144"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RESOURCE</a:t>
            </a:r>
          </a:p>
        </p:txBody>
      </p:sp>
      <p:sp>
        <p:nvSpPr>
          <p:cNvPr id="12" name="TextBox 11"/>
          <p:cNvSpPr txBox="1"/>
          <p:nvPr/>
        </p:nvSpPr>
        <p:spPr>
          <a:xfrm>
            <a:off x="758952" y="3108960"/>
            <a:ext cx="3438144" cy="1819656"/>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SinhVien</a:t>
            </a:r>
          </a:p>
          <a:p>
            <a:pPr>
              <a:lnSpc>
                <a:spcPts val="2500"/>
              </a:lnSpc>
              <a:spcAft>
                <a:spcPts val="0"/>
              </a:spcAft>
              <a:defRPr sz="2000" b="0">
                <a:solidFill>
                  <a:srgbClr val="18354D"/>
                </a:solidFill>
                <a:latin typeface="DejaVu Sans"/>
              </a:defRPr>
            </a:pPr>
            <a:endParaRPr/>
          </a:p>
          <a:p>
            <a:pPr>
              <a:lnSpc>
                <a:spcPts val="2500"/>
              </a:lnSpc>
              <a:spcAft>
                <a:spcPts val="0"/>
              </a:spcAft>
              <a:defRPr sz="2000" b="0">
                <a:solidFill>
                  <a:srgbClr val="18354D"/>
                </a:solidFill>
                <a:latin typeface="DejaVu Sans"/>
              </a:defRPr>
            </a:pPr>
            <a:r>
              <a:t>Danh sách hoặc</a:t>
            </a:r>
          </a:p>
          <a:p>
            <a:pPr>
              <a:lnSpc>
                <a:spcPts val="2500"/>
              </a:lnSpc>
              <a:spcAft>
                <a:spcPts val="0"/>
              </a:spcAft>
              <a:defRPr sz="2000" b="0">
                <a:solidFill>
                  <a:srgbClr val="18354D"/>
                </a:solidFill>
                <a:latin typeface="DejaVu Sans"/>
              </a:defRPr>
            </a:pPr>
            <a:r>
              <a:t>một sinh viên cụ thể</a:t>
            </a:r>
          </a:p>
        </p:txBody>
      </p:sp>
      <p:sp>
        <p:nvSpPr>
          <p:cNvPr id="13" name="Rounded Rectangle 12"/>
          <p:cNvSpPr/>
          <p:nvPr/>
        </p:nvSpPr>
        <p:spPr>
          <a:xfrm>
            <a:off x="4709160" y="2395728"/>
            <a:ext cx="6903720" cy="2606040"/>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37760" y="2606040"/>
            <a:ext cx="6446520" cy="457200"/>
          </a:xfrm>
          <a:prstGeom prst="rect">
            <a:avLst/>
          </a:prstGeom>
          <a:noFill/>
        </p:spPr>
        <p:txBody>
          <a:bodyPr wrap="none" lIns="0" tIns="0" rIns="0" bIns="0">
            <a:spAutoFit/>
          </a:bodyPr>
          <a:lstStyle/>
          <a:p>
            <a:pPr>
              <a:lnSpc>
                <a:spcPts val="3125"/>
              </a:lnSpc>
              <a:spcAft>
                <a:spcPts val="0"/>
              </a:spcAft>
              <a:defRPr sz="2500" b="1">
                <a:solidFill>
                  <a:srgbClr val="007E99"/>
                </a:solidFill>
                <a:latin typeface="DejaVu Sans Mono"/>
              </a:defRPr>
            </a:pPr>
            <a:r>
              <a:t>/api/v1/sinh-vien</a:t>
            </a:r>
          </a:p>
        </p:txBody>
      </p:sp>
      <p:sp>
        <p:nvSpPr>
          <p:cNvPr id="15" name="TextBox 14"/>
          <p:cNvSpPr txBox="1"/>
          <p:nvPr/>
        </p:nvSpPr>
        <p:spPr>
          <a:xfrm>
            <a:off x="4937760" y="3291840"/>
            <a:ext cx="6446520" cy="1389888"/>
          </a:xfrm>
          <a:prstGeom prst="rect">
            <a:avLst/>
          </a:prstGeom>
          <a:noFill/>
        </p:spPr>
        <p:txBody>
          <a:bodyPr wrap="none" lIns="0" tIns="0" rIns="0" bIns="0">
            <a:spAutoFit/>
          </a:bodyPr>
          <a:lstStyle/>
          <a:p>
            <a:pPr>
              <a:lnSpc>
                <a:spcPts val="2250"/>
              </a:lnSpc>
              <a:spcAft>
                <a:spcPts val="0"/>
              </a:spcAft>
              <a:defRPr sz="1800" b="0">
                <a:solidFill>
                  <a:srgbClr val="18354D"/>
                </a:solidFill>
                <a:latin typeface="DejaVu Sans Mono"/>
              </a:defRPr>
            </a:pPr>
            <a:r>
              <a:t>/api Nhóm API</a:t>
            </a:r>
          </a:p>
          <a:p>
            <a:pPr>
              <a:lnSpc>
                <a:spcPts val="2250"/>
              </a:lnSpc>
              <a:spcAft>
                <a:spcPts val="0"/>
              </a:spcAft>
              <a:defRPr sz="1800" b="0">
                <a:solidFill>
                  <a:srgbClr val="18354D"/>
                </a:solidFill>
                <a:latin typeface="DejaVu Sans Mono"/>
              </a:defRPr>
            </a:pPr>
            <a:r>
              <a:t>/v1 Phiên bản</a:t>
            </a:r>
          </a:p>
          <a:p>
            <a:pPr>
              <a:lnSpc>
                <a:spcPts val="2250"/>
              </a:lnSpc>
              <a:spcAft>
                <a:spcPts val="0"/>
              </a:spcAft>
              <a:defRPr sz="1800" b="0">
                <a:solidFill>
                  <a:srgbClr val="18354D"/>
                </a:solidFill>
                <a:latin typeface="DejaVu Sans Mono"/>
              </a:defRPr>
            </a:pPr>
            <a:r>
              <a:t>/sinh-vien Tài nguyên</a:t>
            </a:r>
          </a:p>
          <a:p>
            <a:pPr>
              <a:lnSpc>
                <a:spcPts val="2250"/>
              </a:lnSpc>
              <a:spcAft>
                <a:spcPts val="0"/>
              </a:spcAft>
              <a:defRPr sz="1800" b="0">
                <a:solidFill>
                  <a:srgbClr val="18354D"/>
                </a:solidFill>
                <a:latin typeface="DejaVu Sans Mono"/>
              </a:defRPr>
            </a:pPr>
            <a:r>
              <a:t>/SV001 Một sinh viên</a:t>
            </a:r>
          </a:p>
        </p:txBody>
      </p:sp>
      <p:sp>
        <p:nvSpPr>
          <p:cNvPr id="16" name="TextBox 15"/>
          <p:cNvSpPr txBox="1"/>
          <p:nvPr/>
        </p:nvSpPr>
        <p:spPr>
          <a:xfrm>
            <a:off x="640080" y="5138928"/>
            <a:ext cx="10835640" cy="402336"/>
          </a:xfrm>
          <a:prstGeom prst="rect">
            <a:avLst/>
          </a:prstGeom>
          <a:noFill/>
        </p:spPr>
        <p:txBody>
          <a:bodyPr wrap="none" lIns="0" tIns="0" rIns="0" bIns="0">
            <a:spAutoFit/>
          </a:bodyPr>
          <a:lstStyle/>
          <a:p>
            <a:pPr>
              <a:lnSpc>
                <a:spcPts val="2625"/>
              </a:lnSpc>
              <a:spcAft>
                <a:spcPts val="0"/>
              </a:spcAft>
              <a:defRPr sz="2100" b="1">
                <a:solidFill>
                  <a:srgbClr val="18354D"/>
                </a:solidFill>
                <a:latin typeface="DejaVu Sans"/>
              </a:defRPr>
            </a:pPr>
            <a:r>
              <a:t>Quy ước: danh từ cho resource; method cho hành động.</a:t>
            </a:r>
          </a:p>
        </p:txBody>
      </p:sp>
      <p:sp>
        <p:nvSpPr>
          <p:cNvPr id="17" name="Rounded Rectangle 16"/>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Express: /:maSV • OpenAPI: /{maSV} • URL thật: /SV001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CRUD và HTTP method</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Cùng đường dẫn, khác method → khác thao tác.</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05</a:t>
            </a:r>
          </a:p>
        </p:txBody>
      </p:sp>
      <p:sp>
        <p:nvSpPr>
          <p:cNvPr id="10" name="Rectangle 9"/>
          <p:cNvSpPr/>
          <p:nvPr/>
        </p:nvSpPr>
        <p:spPr>
          <a:xfrm>
            <a:off x="548640" y="2331720"/>
            <a:ext cx="1645920" cy="498347"/>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441448"/>
            <a:ext cx="1426464" cy="384047"/>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CRUD</a:t>
            </a:r>
          </a:p>
        </p:txBody>
      </p:sp>
      <p:sp>
        <p:nvSpPr>
          <p:cNvPr id="12" name="Rectangle 11"/>
          <p:cNvSpPr/>
          <p:nvPr/>
        </p:nvSpPr>
        <p:spPr>
          <a:xfrm>
            <a:off x="2194560" y="2331720"/>
            <a:ext cx="1508760" cy="498347"/>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04288" y="2441448"/>
            <a:ext cx="1289304" cy="384047"/>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Method</a:t>
            </a:r>
          </a:p>
        </p:txBody>
      </p:sp>
      <p:sp>
        <p:nvSpPr>
          <p:cNvPr id="14" name="Rectangle 13"/>
          <p:cNvSpPr/>
          <p:nvPr/>
        </p:nvSpPr>
        <p:spPr>
          <a:xfrm>
            <a:off x="3703320" y="2331720"/>
            <a:ext cx="5897880" cy="498347"/>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13048" y="2441448"/>
            <a:ext cx="5678424" cy="384047"/>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Endpoint (tiền tố /api/v1)</a:t>
            </a:r>
          </a:p>
        </p:txBody>
      </p:sp>
      <p:sp>
        <p:nvSpPr>
          <p:cNvPr id="16" name="Rectangle 15"/>
          <p:cNvSpPr/>
          <p:nvPr/>
        </p:nvSpPr>
        <p:spPr>
          <a:xfrm>
            <a:off x="9601200" y="2331720"/>
            <a:ext cx="2011680" cy="498347"/>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710928" y="2441448"/>
            <a:ext cx="1792224" cy="384047"/>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Kết quả</a:t>
            </a:r>
          </a:p>
        </p:txBody>
      </p:sp>
      <p:sp>
        <p:nvSpPr>
          <p:cNvPr id="18" name="Rectangle 17"/>
          <p:cNvSpPr/>
          <p:nvPr/>
        </p:nvSpPr>
        <p:spPr>
          <a:xfrm>
            <a:off x="548640" y="2852927"/>
            <a:ext cx="164592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2962656"/>
            <a:ext cx="142646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Thêm</a:t>
            </a:r>
          </a:p>
        </p:txBody>
      </p:sp>
      <p:sp>
        <p:nvSpPr>
          <p:cNvPr id="20" name="Rectangle 19"/>
          <p:cNvSpPr/>
          <p:nvPr/>
        </p:nvSpPr>
        <p:spPr>
          <a:xfrm>
            <a:off x="2194560" y="2852927"/>
            <a:ext cx="150876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04288" y="2962656"/>
            <a:ext cx="128930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POST</a:t>
            </a:r>
          </a:p>
        </p:txBody>
      </p:sp>
      <p:sp>
        <p:nvSpPr>
          <p:cNvPr id="22" name="Rectangle 21"/>
          <p:cNvSpPr/>
          <p:nvPr/>
        </p:nvSpPr>
        <p:spPr>
          <a:xfrm>
            <a:off x="3703320" y="2852927"/>
            <a:ext cx="589788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13048" y="2962656"/>
            <a:ext cx="56784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/sinh-vien</a:t>
            </a:r>
          </a:p>
        </p:txBody>
      </p:sp>
      <p:sp>
        <p:nvSpPr>
          <p:cNvPr id="24" name="Rectangle 23"/>
          <p:cNvSpPr/>
          <p:nvPr/>
        </p:nvSpPr>
        <p:spPr>
          <a:xfrm>
            <a:off x="9601200" y="2852927"/>
            <a:ext cx="201168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10928" y="2962656"/>
            <a:ext cx="17922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201</a:t>
            </a:r>
          </a:p>
        </p:txBody>
      </p:sp>
      <p:sp>
        <p:nvSpPr>
          <p:cNvPr id="26" name="Rectangle 25"/>
          <p:cNvSpPr/>
          <p:nvPr/>
        </p:nvSpPr>
        <p:spPr>
          <a:xfrm>
            <a:off x="548640" y="3374135"/>
            <a:ext cx="164592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 y="3483863"/>
            <a:ext cx="142646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Xem</a:t>
            </a:r>
          </a:p>
        </p:txBody>
      </p:sp>
      <p:sp>
        <p:nvSpPr>
          <p:cNvPr id="28" name="Rectangle 27"/>
          <p:cNvSpPr/>
          <p:nvPr/>
        </p:nvSpPr>
        <p:spPr>
          <a:xfrm>
            <a:off x="2194560" y="3374135"/>
            <a:ext cx="150876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304288" y="3483863"/>
            <a:ext cx="128930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GET</a:t>
            </a:r>
          </a:p>
        </p:txBody>
      </p:sp>
      <p:sp>
        <p:nvSpPr>
          <p:cNvPr id="30" name="Rectangle 29"/>
          <p:cNvSpPr/>
          <p:nvPr/>
        </p:nvSpPr>
        <p:spPr>
          <a:xfrm>
            <a:off x="3703320" y="3374135"/>
            <a:ext cx="589788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13048" y="3483863"/>
            <a:ext cx="56784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/sinh-vien hoặc /sinh-vien/SV001</a:t>
            </a:r>
          </a:p>
        </p:txBody>
      </p:sp>
      <p:sp>
        <p:nvSpPr>
          <p:cNvPr id="32" name="Rectangle 31"/>
          <p:cNvSpPr/>
          <p:nvPr/>
        </p:nvSpPr>
        <p:spPr>
          <a:xfrm>
            <a:off x="9601200" y="3374135"/>
            <a:ext cx="201168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10928" y="3483863"/>
            <a:ext cx="17922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200</a:t>
            </a:r>
          </a:p>
        </p:txBody>
      </p:sp>
      <p:sp>
        <p:nvSpPr>
          <p:cNvPr id="34" name="Rectangle 33"/>
          <p:cNvSpPr/>
          <p:nvPr/>
        </p:nvSpPr>
        <p:spPr>
          <a:xfrm>
            <a:off x="548640" y="3895344"/>
            <a:ext cx="164592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 y="4005072"/>
            <a:ext cx="142646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Sửa</a:t>
            </a:r>
          </a:p>
        </p:txBody>
      </p:sp>
      <p:sp>
        <p:nvSpPr>
          <p:cNvPr id="36" name="Rectangle 35"/>
          <p:cNvSpPr/>
          <p:nvPr/>
        </p:nvSpPr>
        <p:spPr>
          <a:xfrm>
            <a:off x="2194560" y="3895344"/>
            <a:ext cx="150876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304288" y="4005072"/>
            <a:ext cx="128930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PUT</a:t>
            </a:r>
          </a:p>
        </p:txBody>
      </p:sp>
      <p:sp>
        <p:nvSpPr>
          <p:cNvPr id="38" name="Rectangle 37"/>
          <p:cNvSpPr/>
          <p:nvPr/>
        </p:nvSpPr>
        <p:spPr>
          <a:xfrm>
            <a:off x="3703320" y="3895344"/>
            <a:ext cx="589788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13048" y="4005072"/>
            <a:ext cx="56784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/sinh-vien/SV001</a:t>
            </a:r>
          </a:p>
        </p:txBody>
      </p:sp>
      <p:sp>
        <p:nvSpPr>
          <p:cNvPr id="40" name="Rectangle 39"/>
          <p:cNvSpPr/>
          <p:nvPr/>
        </p:nvSpPr>
        <p:spPr>
          <a:xfrm>
            <a:off x="9601200" y="3895344"/>
            <a:ext cx="2011680" cy="498347"/>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710928" y="4005072"/>
            <a:ext cx="17922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200</a:t>
            </a:r>
          </a:p>
        </p:txBody>
      </p:sp>
      <p:sp>
        <p:nvSpPr>
          <p:cNvPr id="42" name="Rectangle 41"/>
          <p:cNvSpPr/>
          <p:nvPr/>
        </p:nvSpPr>
        <p:spPr>
          <a:xfrm>
            <a:off x="548640" y="4416552"/>
            <a:ext cx="164592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8368" y="4526280"/>
            <a:ext cx="142646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Xóa</a:t>
            </a:r>
          </a:p>
        </p:txBody>
      </p:sp>
      <p:sp>
        <p:nvSpPr>
          <p:cNvPr id="44" name="Rectangle 43"/>
          <p:cNvSpPr/>
          <p:nvPr/>
        </p:nvSpPr>
        <p:spPr>
          <a:xfrm>
            <a:off x="2194560" y="4416552"/>
            <a:ext cx="150876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04288" y="4526280"/>
            <a:ext cx="128930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DELETE</a:t>
            </a:r>
          </a:p>
        </p:txBody>
      </p:sp>
      <p:sp>
        <p:nvSpPr>
          <p:cNvPr id="46" name="Rectangle 45"/>
          <p:cNvSpPr/>
          <p:nvPr/>
        </p:nvSpPr>
        <p:spPr>
          <a:xfrm>
            <a:off x="3703320" y="4416552"/>
            <a:ext cx="589788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813048" y="4526280"/>
            <a:ext cx="56784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/sinh-vien/SV001</a:t>
            </a:r>
          </a:p>
        </p:txBody>
      </p:sp>
      <p:sp>
        <p:nvSpPr>
          <p:cNvPr id="48" name="Rectangle 47"/>
          <p:cNvSpPr/>
          <p:nvPr/>
        </p:nvSpPr>
        <p:spPr>
          <a:xfrm>
            <a:off x="9601200" y="4416552"/>
            <a:ext cx="2011680" cy="498347"/>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710928" y="4526280"/>
            <a:ext cx="1792224" cy="384047"/>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200</a:t>
            </a:r>
          </a:p>
        </p:txBody>
      </p:sp>
      <p:sp>
        <p:nvSpPr>
          <p:cNvPr id="50" name="TextBox 49"/>
          <p:cNvSpPr txBox="1"/>
          <p:nvPr/>
        </p:nvSpPr>
        <p:spPr>
          <a:xfrm>
            <a:off x="640080" y="5157216"/>
            <a:ext cx="10789920" cy="374904"/>
          </a:xfrm>
          <a:prstGeom prst="rect">
            <a:avLst/>
          </a:prstGeom>
          <a:noFill/>
        </p:spPr>
        <p:txBody>
          <a:bodyPr wrap="none" lIns="0" tIns="0" rIns="0" bIns="0">
            <a:spAutoFit/>
          </a:bodyPr>
          <a:lstStyle/>
          <a:p>
            <a:pPr>
              <a:lnSpc>
                <a:spcPts val="2250"/>
              </a:lnSpc>
              <a:spcAft>
                <a:spcPts val="0"/>
              </a:spcAft>
              <a:defRPr sz="1800" b="0">
                <a:solidFill>
                  <a:srgbClr val="18354D"/>
                </a:solidFill>
                <a:latin typeface="DejaVu Sans"/>
              </a:defRPr>
            </a:pPr>
            <a:r>
              <a:t>PUT của bài: gửi đủ hoTen, email, maLop; giữ nguyên maSV.</a:t>
            </a:r>
          </a:p>
        </p:txBody>
      </p:sp>
      <p:sp>
        <p:nvSpPr>
          <p:cNvPr id="51" name="Rounded Rectangle 50"/>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PATCH thường dùng cập nhật một phần; bài này tập trung PUT.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Một API được tạo ở đâu?</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Route = Method + Path + Handler (hàm Controller).</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06</a:t>
            </a:r>
          </a:p>
        </p:txBody>
      </p:sp>
      <p:sp>
        <p:nvSpPr>
          <p:cNvPr id="10" name="Rounded Rectangle 9"/>
          <p:cNvSpPr/>
          <p:nvPr/>
        </p:nvSpPr>
        <p:spPr>
          <a:xfrm>
            <a:off x="548640" y="2377440"/>
            <a:ext cx="7726679" cy="3035808"/>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633472"/>
            <a:ext cx="7223760" cy="2560320"/>
          </a:xfrm>
          <a:prstGeom prst="rect">
            <a:avLst/>
          </a:prstGeom>
          <a:noFill/>
        </p:spPr>
        <p:txBody>
          <a:bodyPr wrap="none" lIns="0" tIns="0" rIns="0" bIns="0">
            <a:spAutoFit/>
          </a:bodyPr>
          <a:lstStyle/>
          <a:p>
            <a:pPr>
              <a:lnSpc>
                <a:spcPts val="2125"/>
              </a:lnSpc>
              <a:spcAft>
                <a:spcPts val="0"/>
              </a:spcAft>
              <a:defRPr sz="1700" b="0">
                <a:solidFill>
                  <a:srgbClr val="FFFFFF"/>
                </a:solidFill>
                <a:latin typeface="DejaVu Sans Mono"/>
              </a:defRPr>
            </a:pPr>
            <a:r>
              <a:t>router.get("/", getDanhSachSinhVien);</a:t>
            </a:r>
          </a:p>
          <a:p>
            <a:pPr>
              <a:lnSpc>
                <a:spcPts val="2125"/>
              </a:lnSpc>
              <a:spcAft>
                <a:spcPts val="0"/>
              </a:spcAft>
              <a:defRPr sz="1700" b="0">
                <a:solidFill>
                  <a:srgbClr val="FFFFFF"/>
                </a:solidFill>
                <a:latin typeface="DejaVu Sans Mono"/>
              </a:defRPr>
            </a:pPr>
            <a:r>
              <a:t>router.get("/:maSV", getSinhVienTheoMa);</a:t>
            </a:r>
          </a:p>
          <a:p>
            <a:pPr>
              <a:lnSpc>
                <a:spcPts val="2125"/>
              </a:lnSpc>
              <a:spcAft>
                <a:spcPts val="0"/>
              </a:spcAft>
              <a:defRPr sz="1700" b="0">
                <a:solidFill>
                  <a:srgbClr val="FFFFFF"/>
                </a:solidFill>
                <a:latin typeface="DejaVu Sans Mono"/>
              </a:defRPr>
            </a:pPr>
            <a:r>
              <a:t>router.post("/", taoSinhVien);</a:t>
            </a:r>
          </a:p>
          <a:p>
            <a:pPr>
              <a:lnSpc>
                <a:spcPts val="2125"/>
              </a:lnSpc>
              <a:spcAft>
                <a:spcPts val="0"/>
              </a:spcAft>
              <a:defRPr sz="1700" b="0">
                <a:solidFill>
                  <a:srgbClr val="FFFFFF"/>
                </a:solidFill>
                <a:latin typeface="DejaVu Sans Mono"/>
              </a:defRPr>
            </a:pPr>
            <a:r>
              <a:t>router.put("/:maSV", capNhatSinhVien);</a:t>
            </a:r>
          </a:p>
          <a:p>
            <a:pPr>
              <a:lnSpc>
                <a:spcPts val="2125"/>
              </a:lnSpc>
              <a:spcAft>
                <a:spcPts val="0"/>
              </a:spcAft>
              <a:defRPr sz="1700" b="0">
                <a:solidFill>
                  <a:srgbClr val="FFFFFF"/>
                </a:solidFill>
                <a:latin typeface="DejaVu Sans Mono"/>
              </a:defRPr>
            </a:pPr>
            <a:r>
              <a:t>router.delete("/:maSV", xoaSinhVien);</a:t>
            </a:r>
          </a:p>
        </p:txBody>
      </p:sp>
      <p:sp>
        <p:nvSpPr>
          <p:cNvPr id="12" name="Rounded Rectangle 11"/>
          <p:cNvSpPr/>
          <p:nvPr/>
        </p:nvSpPr>
        <p:spPr>
          <a:xfrm>
            <a:off x="8577072" y="2377440"/>
            <a:ext cx="3035808" cy="303580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87384" y="2542032"/>
            <a:ext cx="2615184"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ĐỌC MỘT ROUTE</a:t>
            </a:r>
          </a:p>
        </p:txBody>
      </p:sp>
      <p:sp>
        <p:nvSpPr>
          <p:cNvPr id="14" name="TextBox 13"/>
          <p:cNvSpPr txBox="1"/>
          <p:nvPr/>
        </p:nvSpPr>
        <p:spPr>
          <a:xfrm>
            <a:off x="8787384" y="3090672"/>
            <a:ext cx="2615184" cy="2249424"/>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put → method</a:t>
            </a:r>
          </a:p>
          <a:p>
            <a:pPr>
              <a:lnSpc>
                <a:spcPts val="2500"/>
              </a:lnSpc>
              <a:spcAft>
                <a:spcPts val="0"/>
              </a:spcAft>
              <a:defRPr sz="2000" b="0">
                <a:solidFill>
                  <a:srgbClr val="18354D"/>
                </a:solidFill>
                <a:latin typeface="DejaVu Sans"/>
              </a:defRPr>
            </a:pPr>
            <a:r>
              <a:t>/:maSV → path</a:t>
            </a:r>
          </a:p>
          <a:p>
            <a:pPr>
              <a:lnSpc>
                <a:spcPts val="2500"/>
              </a:lnSpc>
              <a:spcAft>
                <a:spcPts val="0"/>
              </a:spcAft>
              <a:defRPr sz="2000" b="0">
                <a:solidFill>
                  <a:srgbClr val="18354D"/>
                </a:solidFill>
                <a:latin typeface="DejaVu Sans"/>
              </a:defRPr>
            </a:pPr>
            <a:r>
              <a:t>capNhat…</a:t>
            </a:r>
          </a:p>
          <a:p>
            <a:pPr>
              <a:lnSpc>
                <a:spcPts val="2500"/>
              </a:lnSpc>
              <a:spcAft>
                <a:spcPts val="0"/>
              </a:spcAft>
              <a:defRPr sz="2000" b="0">
                <a:solidFill>
                  <a:srgbClr val="18354D"/>
                </a:solidFill>
                <a:latin typeface="DejaVu Sans"/>
              </a:defRPr>
            </a:pPr>
            <a:r>
              <a:t>→ handler</a:t>
            </a:r>
          </a:p>
        </p:txBody>
      </p:sp>
      <p:sp>
        <p:nvSpPr>
          <p:cNvPr id="15" name="Rounded Rectangle 14"/>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server.ts gắn router tại /api/v1/sinh-vien; Route chỉ định tuyến.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Request đi qua Backend như thế nào?</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Ví dụ: PUT /api/v1/sinh-vien/SV003</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07</a:t>
            </a:r>
          </a:p>
        </p:txBody>
      </p:sp>
      <p:sp>
        <p:nvSpPr>
          <p:cNvPr id="10" name="Rounded Rectangle 9"/>
          <p:cNvSpPr/>
          <p:nvPr/>
        </p:nvSpPr>
        <p:spPr>
          <a:xfrm>
            <a:off x="548640" y="2340864"/>
            <a:ext cx="4828032" cy="2578608"/>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587752"/>
            <a:ext cx="4389120" cy="2084831"/>
          </a:xfrm>
          <a:prstGeom prst="rect">
            <a:avLst/>
          </a:prstGeom>
          <a:noFill/>
        </p:spPr>
        <p:txBody>
          <a:bodyPr wrap="none" lIns="0" tIns="0" rIns="0" bIns="0">
            <a:spAutoFit/>
          </a:bodyPr>
          <a:lstStyle/>
          <a:p>
            <a:pPr>
              <a:lnSpc>
                <a:spcPts val="2000"/>
              </a:lnSpc>
              <a:spcAft>
                <a:spcPts val="0"/>
              </a:spcAft>
              <a:defRPr sz="1600" b="0">
                <a:solidFill>
                  <a:srgbClr val="FFFFFF"/>
                </a:solidFill>
                <a:latin typeface="DejaVu Sans Mono"/>
              </a:defRPr>
            </a:pPr>
            <a:r>
              <a:t>{</a:t>
            </a:r>
          </a:p>
          <a:p>
            <a:pPr>
              <a:lnSpc>
                <a:spcPts val="2000"/>
              </a:lnSpc>
              <a:spcAft>
                <a:spcPts val="0"/>
              </a:spcAft>
              <a:defRPr sz="1600" b="0">
                <a:solidFill>
                  <a:srgbClr val="FFFFFF"/>
                </a:solidFill>
                <a:latin typeface="DejaVu Sans Mono"/>
              </a:defRPr>
            </a:pPr>
            <a:r>
              <a:t>"hoTen": "Ngọc Mai Updated",</a:t>
            </a:r>
          </a:p>
          <a:p>
            <a:pPr>
              <a:lnSpc>
                <a:spcPts val="2000"/>
              </a:lnSpc>
              <a:spcAft>
                <a:spcPts val="0"/>
              </a:spcAft>
              <a:defRPr sz="1600" b="0">
                <a:solidFill>
                  <a:srgbClr val="FFFFFF"/>
                </a:solidFill>
                <a:latin typeface="DejaVu Sans Mono"/>
              </a:defRPr>
            </a:pPr>
            <a:r>
              <a:t>"email": "ngocmai@example.com",</a:t>
            </a:r>
          </a:p>
          <a:p>
            <a:pPr>
              <a:lnSpc>
                <a:spcPts val="2000"/>
              </a:lnSpc>
              <a:spcAft>
                <a:spcPts val="0"/>
              </a:spcAft>
              <a:defRPr sz="1600" b="0">
                <a:solidFill>
                  <a:srgbClr val="FFFFFF"/>
                </a:solidFill>
                <a:latin typeface="DejaVu Sans Mono"/>
              </a:defRPr>
            </a:pPr>
            <a:r>
              <a:t>"maLop": "25CT114"</a:t>
            </a:r>
          </a:p>
          <a:p>
            <a:pPr>
              <a:lnSpc>
                <a:spcPts val="2000"/>
              </a:lnSpc>
              <a:spcAft>
                <a:spcPts val="0"/>
              </a:spcAft>
              <a:defRPr sz="1600" b="0">
                <a:solidFill>
                  <a:srgbClr val="FFFFFF"/>
                </a:solidFill>
                <a:latin typeface="DejaVu Sans Mono"/>
              </a:defRPr>
            </a:pPr>
            <a:r>
              <a:t>}</a:t>
            </a:r>
          </a:p>
        </p:txBody>
      </p:sp>
      <p:sp>
        <p:nvSpPr>
          <p:cNvPr id="12" name="Rounded Rectangle 11"/>
          <p:cNvSpPr/>
          <p:nvPr/>
        </p:nvSpPr>
        <p:spPr>
          <a:xfrm>
            <a:off x="5687568" y="2340864"/>
            <a:ext cx="5916168" cy="257860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0" y="2532888"/>
            <a:ext cx="5431536" cy="22677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Route: chọn hàm xử lý</a:t>
            </a:r>
          </a:p>
          <a:p>
            <a:pPr>
              <a:lnSpc>
                <a:spcPts val="2375"/>
              </a:lnSpc>
              <a:spcAft>
                <a:spcPts val="0"/>
              </a:spcAft>
              <a:defRPr sz="1900" b="0">
                <a:solidFill>
                  <a:srgbClr val="18354D"/>
                </a:solidFill>
                <a:latin typeface="DejaVu Sans"/>
              </a:defRPr>
            </a:pPr>
            <a:r>
              <a:t>Controller: nhận / trả HTTP</a:t>
            </a:r>
          </a:p>
          <a:p>
            <a:pPr>
              <a:lnSpc>
                <a:spcPts val="2375"/>
              </a:lnSpc>
              <a:spcAft>
                <a:spcPts val="0"/>
              </a:spcAft>
              <a:defRPr sz="1900" b="0">
                <a:solidFill>
                  <a:srgbClr val="18354D"/>
                </a:solidFill>
                <a:latin typeface="DejaVu Sans"/>
              </a:defRPr>
            </a:pPr>
            <a:r>
              <a:t>Service: kiểm tra, cập nhật</a:t>
            </a:r>
          </a:p>
          <a:p>
            <a:pPr>
              <a:lnSpc>
                <a:spcPts val="2375"/>
              </a:lnSpc>
              <a:spcAft>
                <a:spcPts val="0"/>
              </a:spcAft>
              <a:defRPr sz="1900" b="0">
                <a:solidFill>
                  <a:srgbClr val="18354D"/>
                </a:solidFill>
                <a:latin typeface="DejaVu Sans"/>
              </a:defRPr>
            </a:pPr>
            <a:r>
              <a:t>Sequelize: thao tác dữ liệu</a:t>
            </a:r>
          </a:p>
          <a:p>
            <a:pPr>
              <a:lnSpc>
                <a:spcPts val="2375"/>
              </a:lnSpc>
              <a:spcAft>
                <a:spcPts val="0"/>
              </a:spcAft>
              <a:defRPr sz="1900" b="0">
                <a:solidFill>
                  <a:srgbClr val="18354D"/>
                </a:solidFill>
                <a:latin typeface="DejaVu Sans"/>
              </a:defRPr>
            </a:pPr>
            <a:r>
              <a:t>SQL Server: lưu dữ liệu</a:t>
            </a:r>
          </a:p>
        </p:txBody>
      </p:sp>
      <p:sp>
        <p:nvSpPr>
          <p:cNvPr id="14" name="TextBox 13"/>
          <p:cNvSpPr txBox="1"/>
          <p:nvPr/>
        </p:nvSpPr>
        <p:spPr>
          <a:xfrm>
            <a:off x="640080" y="5093208"/>
            <a:ext cx="10789920" cy="457200"/>
          </a:xfrm>
          <a:prstGeom prst="rect">
            <a:avLst/>
          </a:prstGeom>
          <a:noFill/>
        </p:spPr>
        <p:txBody>
          <a:bodyPr wrap="none" lIns="0" tIns="0" rIns="0" bIns="0">
            <a:spAutoFit/>
          </a:bodyPr>
          <a:lstStyle/>
          <a:p>
            <a:pPr>
              <a:lnSpc>
                <a:spcPts val="2500"/>
              </a:lnSpc>
              <a:spcAft>
                <a:spcPts val="0"/>
              </a:spcAft>
              <a:defRPr sz="2000" b="1">
                <a:solidFill>
                  <a:srgbClr val="18354D"/>
                </a:solidFill>
                <a:latin typeface="DejaVu Sans"/>
              </a:defRPr>
            </a:pPr>
            <a:r>
              <a:t>Controller trả JSON → Client gọi GET lại để xác nhận dữ liệu.</a:t>
            </a:r>
          </a:p>
        </p:txBody>
      </p:sp>
      <p:sp>
        <p:nvSpPr>
          <p:cNvPr id="15" name="Rounded Rectangle 14"/>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req.params.maSV = “SV003” • req.body = dữ liệu mới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Status code: đọc kết quả đúng</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Status cho biết kết quả request thuộc nhóm nào.</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08</a:t>
            </a:r>
          </a:p>
        </p:txBody>
      </p:sp>
      <p:sp>
        <p:nvSpPr>
          <p:cNvPr id="10" name="Rectangle 9"/>
          <p:cNvSpPr/>
          <p:nvPr/>
        </p:nvSpPr>
        <p:spPr>
          <a:xfrm>
            <a:off x="548640" y="2331720"/>
            <a:ext cx="1143000" cy="425196"/>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441448"/>
            <a:ext cx="923544" cy="310896"/>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Code</a:t>
            </a:r>
          </a:p>
        </p:txBody>
      </p:sp>
      <p:sp>
        <p:nvSpPr>
          <p:cNvPr id="12" name="Rectangle 11"/>
          <p:cNvSpPr/>
          <p:nvPr/>
        </p:nvSpPr>
        <p:spPr>
          <a:xfrm>
            <a:off x="1691640" y="2331720"/>
            <a:ext cx="3995928" cy="425196"/>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01368" y="2441448"/>
            <a:ext cx="3776472" cy="310896"/>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Ý nghĩa</a:t>
            </a:r>
          </a:p>
        </p:txBody>
      </p:sp>
      <p:sp>
        <p:nvSpPr>
          <p:cNvPr id="14" name="Rectangle 13"/>
          <p:cNvSpPr/>
          <p:nvPr/>
        </p:nvSpPr>
        <p:spPr>
          <a:xfrm>
            <a:off x="5687568" y="2331720"/>
            <a:ext cx="5925312" cy="425196"/>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97296" y="2441448"/>
            <a:ext cx="5705856" cy="310896"/>
          </a:xfrm>
          <a:prstGeom prst="rect">
            <a:avLst/>
          </a:prstGeom>
          <a:noFill/>
        </p:spPr>
        <p:txBody>
          <a:bodyPr wrap="none" lIns="0" tIns="0" rIns="0" bIns="0">
            <a:spAutoFit/>
          </a:bodyPr>
          <a:lstStyle/>
          <a:p>
            <a:pPr>
              <a:lnSpc>
                <a:spcPts val="2125"/>
              </a:lnSpc>
              <a:spcAft>
                <a:spcPts val="0"/>
              </a:spcAft>
              <a:defRPr sz="1700" b="1">
                <a:solidFill>
                  <a:srgbClr val="FFFFFF"/>
                </a:solidFill>
                <a:latin typeface="DejaVu Sans"/>
              </a:defRPr>
            </a:pPr>
            <a:r>
              <a:t>Ví dụ trong bài</a:t>
            </a:r>
          </a:p>
        </p:txBody>
      </p:sp>
      <p:sp>
        <p:nvSpPr>
          <p:cNvPr id="16" name="Rectangle 15"/>
          <p:cNvSpPr/>
          <p:nvPr/>
        </p:nvSpPr>
        <p:spPr>
          <a:xfrm>
            <a:off x="548640" y="2779776"/>
            <a:ext cx="1143000"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 y="2889504"/>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200</a:t>
            </a:r>
          </a:p>
        </p:txBody>
      </p:sp>
      <p:sp>
        <p:nvSpPr>
          <p:cNvPr id="18" name="Rectangle 17"/>
          <p:cNvSpPr/>
          <p:nvPr/>
        </p:nvSpPr>
        <p:spPr>
          <a:xfrm>
            <a:off x="1691640" y="2779776"/>
            <a:ext cx="3995928"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01368" y="2889504"/>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Thành công</a:t>
            </a:r>
          </a:p>
        </p:txBody>
      </p:sp>
      <p:sp>
        <p:nvSpPr>
          <p:cNvPr id="20" name="Rectangle 19"/>
          <p:cNvSpPr/>
          <p:nvPr/>
        </p:nvSpPr>
        <p:spPr>
          <a:xfrm>
            <a:off x="5687568" y="2779776"/>
            <a:ext cx="5925312"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97296" y="2889504"/>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GET / PUT / DELETE</a:t>
            </a:r>
          </a:p>
        </p:txBody>
      </p:sp>
      <p:sp>
        <p:nvSpPr>
          <p:cNvPr id="22" name="Rectangle 21"/>
          <p:cNvSpPr/>
          <p:nvPr/>
        </p:nvSpPr>
        <p:spPr>
          <a:xfrm>
            <a:off x="548640" y="3227832"/>
            <a:ext cx="1143000"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3337560"/>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201</a:t>
            </a:r>
          </a:p>
        </p:txBody>
      </p:sp>
      <p:sp>
        <p:nvSpPr>
          <p:cNvPr id="24" name="Rectangle 23"/>
          <p:cNvSpPr/>
          <p:nvPr/>
        </p:nvSpPr>
        <p:spPr>
          <a:xfrm>
            <a:off x="1691640" y="3227832"/>
            <a:ext cx="3995928"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01368" y="3337560"/>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Tạo mới thành công</a:t>
            </a:r>
          </a:p>
        </p:txBody>
      </p:sp>
      <p:sp>
        <p:nvSpPr>
          <p:cNvPr id="26" name="Rectangle 25"/>
          <p:cNvSpPr/>
          <p:nvPr/>
        </p:nvSpPr>
        <p:spPr>
          <a:xfrm>
            <a:off x="5687568" y="3227832"/>
            <a:ext cx="5925312"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97296" y="3337560"/>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POST hợp lệ</a:t>
            </a:r>
          </a:p>
        </p:txBody>
      </p:sp>
      <p:sp>
        <p:nvSpPr>
          <p:cNvPr id="28" name="Rectangle 27"/>
          <p:cNvSpPr/>
          <p:nvPr/>
        </p:nvSpPr>
        <p:spPr>
          <a:xfrm>
            <a:off x="548640" y="3675887"/>
            <a:ext cx="1143000"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3785615"/>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400</a:t>
            </a:r>
          </a:p>
        </p:txBody>
      </p:sp>
      <p:sp>
        <p:nvSpPr>
          <p:cNvPr id="30" name="Rectangle 29"/>
          <p:cNvSpPr/>
          <p:nvPr/>
        </p:nvSpPr>
        <p:spPr>
          <a:xfrm>
            <a:off x="1691640" y="3675887"/>
            <a:ext cx="3995928"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01368" y="3785615"/>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Request sai</a:t>
            </a:r>
          </a:p>
        </p:txBody>
      </p:sp>
      <p:sp>
        <p:nvSpPr>
          <p:cNvPr id="32" name="Rectangle 31"/>
          <p:cNvSpPr/>
          <p:nvPr/>
        </p:nvSpPr>
        <p:spPr>
          <a:xfrm>
            <a:off x="5687568" y="3675887"/>
            <a:ext cx="5925312"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97296" y="3785615"/>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Thiếu hoTen / sai email</a:t>
            </a:r>
          </a:p>
        </p:txBody>
      </p:sp>
      <p:sp>
        <p:nvSpPr>
          <p:cNvPr id="34" name="Rectangle 33"/>
          <p:cNvSpPr/>
          <p:nvPr/>
        </p:nvSpPr>
        <p:spPr>
          <a:xfrm>
            <a:off x="548640" y="4123944"/>
            <a:ext cx="1143000"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8368" y="4233672"/>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404</a:t>
            </a:r>
          </a:p>
        </p:txBody>
      </p:sp>
      <p:sp>
        <p:nvSpPr>
          <p:cNvPr id="36" name="Rectangle 35"/>
          <p:cNvSpPr/>
          <p:nvPr/>
        </p:nvSpPr>
        <p:spPr>
          <a:xfrm>
            <a:off x="1691640" y="4123944"/>
            <a:ext cx="3995928"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801368" y="4233672"/>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Không tìm thấy</a:t>
            </a:r>
          </a:p>
        </p:txBody>
      </p:sp>
      <p:sp>
        <p:nvSpPr>
          <p:cNvPr id="38" name="Rectangle 37"/>
          <p:cNvSpPr/>
          <p:nvPr/>
        </p:nvSpPr>
        <p:spPr>
          <a:xfrm>
            <a:off x="5687568" y="4123944"/>
            <a:ext cx="5925312"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797296" y="4233672"/>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Mã sinh viên không tồn tại</a:t>
            </a:r>
          </a:p>
        </p:txBody>
      </p:sp>
      <p:sp>
        <p:nvSpPr>
          <p:cNvPr id="40" name="Rectangle 39"/>
          <p:cNvSpPr/>
          <p:nvPr/>
        </p:nvSpPr>
        <p:spPr>
          <a:xfrm>
            <a:off x="548640" y="4572000"/>
            <a:ext cx="1143000"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58368" y="4681728"/>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409</a:t>
            </a:r>
          </a:p>
        </p:txBody>
      </p:sp>
      <p:sp>
        <p:nvSpPr>
          <p:cNvPr id="42" name="Rectangle 41"/>
          <p:cNvSpPr/>
          <p:nvPr/>
        </p:nvSpPr>
        <p:spPr>
          <a:xfrm>
            <a:off x="1691640" y="4572000"/>
            <a:ext cx="3995928"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801368" y="4681728"/>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Xung đột</a:t>
            </a:r>
          </a:p>
        </p:txBody>
      </p:sp>
      <p:sp>
        <p:nvSpPr>
          <p:cNvPr id="44" name="Rectangle 43"/>
          <p:cNvSpPr/>
          <p:nvPr/>
        </p:nvSpPr>
        <p:spPr>
          <a:xfrm>
            <a:off x="5687568" y="4572000"/>
            <a:ext cx="5925312" cy="425196"/>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97296" y="4681728"/>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POST trùng maSV</a:t>
            </a:r>
          </a:p>
        </p:txBody>
      </p:sp>
      <p:sp>
        <p:nvSpPr>
          <p:cNvPr id="46" name="Rectangle 45"/>
          <p:cNvSpPr/>
          <p:nvPr/>
        </p:nvSpPr>
        <p:spPr>
          <a:xfrm>
            <a:off x="548640" y="5020056"/>
            <a:ext cx="1143000"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8368" y="5129784"/>
            <a:ext cx="923544"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500</a:t>
            </a:r>
          </a:p>
        </p:txBody>
      </p:sp>
      <p:sp>
        <p:nvSpPr>
          <p:cNvPr id="48" name="Rectangle 47"/>
          <p:cNvSpPr/>
          <p:nvPr/>
        </p:nvSpPr>
        <p:spPr>
          <a:xfrm>
            <a:off x="1691640" y="5020056"/>
            <a:ext cx="3995928"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801368" y="5129784"/>
            <a:ext cx="3776472"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Lỗi server ngoài dự kiến</a:t>
            </a:r>
          </a:p>
        </p:txBody>
      </p:sp>
      <p:sp>
        <p:nvSpPr>
          <p:cNvPr id="50" name="Rectangle 49"/>
          <p:cNvSpPr/>
          <p:nvPr/>
        </p:nvSpPr>
        <p:spPr>
          <a:xfrm>
            <a:off x="5687568" y="5020056"/>
            <a:ext cx="5925312" cy="425196"/>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797296" y="5129784"/>
            <a:ext cx="5705856" cy="310896"/>
          </a:xfrm>
          <a:prstGeom prst="rect">
            <a:avLst/>
          </a:prstGeom>
          <a:noFill/>
        </p:spPr>
        <p:txBody>
          <a:bodyPr wrap="none" lIns="0" tIns="0" rIns="0" bIns="0">
            <a:spAutoFit/>
          </a:bodyPr>
          <a:lstStyle/>
          <a:p>
            <a:pPr>
              <a:lnSpc>
                <a:spcPts val="2125"/>
              </a:lnSpc>
              <a:spcAft>
                <a:spcPts val="0"/>
              </a:spcAft>
              <a:defRPr sz="1700" b="0">
                <a:solidFill>
                  <a:srgbClr val="18354D"/>
                </a:solidFill>
                <a:latin typeface="DejaVu Sans"/>
              </a:defRPr>
            </a:pPr>
            <a:r>
              <a:t>Lỗi chưa xử lý được</a:t>
            </a:r>
          </a:p>
        </p:txBody>
      </p:sp>
      <p:sp>
        <p:nvSpPr>
          <p:cNvPr id="52" name="Rounded Rectangle 51"/>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Test 404 hoặc 400 vẫn PASS khi đúng kết quả mong đợi.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Postman và Swagger khác nhau thế nào?</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Hai công cụ hỗ trợ những mục đích chính khác nhau trong bài.</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09</a:t>
            </a:r>
          </a:p>
        </p:txBody>
      </p:sp>
      <p:sp>
        <p:nvSpPr>
          <p:cNvPr id="10" name="Rectangle 9"/>
          <p:cNvSpPr/>
          <p:nvPr/>
        </p:nvSpPr>
        <p:spPr>
          <a:xfrm>
            <a:off x="548640" y="2331720"/>
            <a:ext cx="5532120" cy="553212"/>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441448"/>
            <a:ext cx="5312664" cy="438912"/>
          </a:xfrm>
          <a:prstGeom prst="rect">
            <a:avLst/>
          </a:prstGeom>
          <a:noFill/>
        </p:spPr>
        <p:txBody>
          <a:bodyPr wrap="none" lIns="0" tIns="0" rIns="0" bIns="0">
            <a:spAutoFit/>
          </a:bodyPr>
          <a:lstStyle/>
          <a:p>
            <a:pPr>
              <a:lnSpc>
                <a:spcPts val="2375"/>
              </a:lnSpc>
              <a:spcAft>
                <a:spcPts val="0"/>
              </a:spcAft>
              <a:defRPr sz="1900" b="1">
                <a:solidFill>
                  <a:srgbClr val="FFFFFF"/>
                </a:solidFill>
                <a:latin typeface="DejaVu Sans"/>
              </a:defRPr>
            </a:pPr>
            <a:r>
              <a:t>Postman</a:t>
            </a:r>
          </a:p>
        </p:txBody>
      </p:sp>
      <p:sp>
        <p:nvSpPr>
          <p:cNvPr id="12" name="Rectangle 11"/>
          <p:cNvSpPr/>
          <p:nvPr/>
        </p:nvSpPr>
        <p:spPr>
          <a:xfrm>
            <a:off x="6080759" y="2331720"/>
            <a:ext cx="5532120" cy="553212"/>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0488" y="2441448"/>
            <a:ext cx="5312664" cy="438912"/>
          </a:xfrm>
          <a:prstGeom prst="rect">
            <a:avLst/>
          </a:prstGeom>
          <a:noFill/>
        </p:spPr>
        <p:txBody>
          <a:bodyPr wrap="none" lIns="0" tIns="0" rIns="0" bIns="0">
            <a:spAutoFit/>
          </a:bodyPr>
          <a:lstStyle/>
          <a:p>
            <a:pPr>
              <a:lnSpc>
                <a:spcPts val="2375"/>
              </a:lnSpc>
              <a:spcAft>
                <a:spcPts val="0"/>
              </a:spcAft>
              <a:defRPr sz="1900" b="1">
                <a:solidFill>
                  <a:srgbClr val="FFFFFF"/>
                </a:solidFill>
                <a:latin typeface="DejaVu Sans"/>
              </a:defRPr>
            </a:pPr>
            <a:r>
              <a:t>Swagger UI + OpenAPI</a:t>
            </a:r>
          </a:p>
        </p:txBody>
      </p:sp>
      <p:sp>
        <p:nvSpPr>
          <p:cNvPr id="14" name="Rectangle 13"/>
          <p:cNvSpPr/>
          <p:nvPr/>
        </p:nvSpPr>
        <p:spPr>
          <a:xfrm>
            <a:off x="548640" y="2907791"/>
            <a:ext cx="5532120" cy="553212"/>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3017520"/>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Tự tạo và lưu request</a:t>
            </a:r>
          </a:p>
        </p:txBody>
      </p:sp>
      <p:sp>
        <p:nvSpPr>
          <p:cNvPr id="16" name="Rectangle 15"/>
          <p:cNvSpPr/>
          <p:nvPr/>
        </p:nvSpPr>
        <p:spPr>
          <a:xfrm>
            <a:off x="6080759" y="2907791"/>
            <a:ext cx="5532120" cy="553212"/>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90488" y="3017520"/>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Đọc mô tả endpoint / schema</a:t>
            </a:r>
          </a:p>
        </p:txBody>
      </p:sp>
      <p:sp>
        <p:nvSpPr>
          <p:cNvPr id="18" name="Rectangle 17"/>
          <p:cNvSpPr/>
          <p:nvPr/>
        </p:nvSpPr>
        <p:spPr>
          <a:xfrm>
            <a:off x="548640" y="3483863"/>
            <a:ext cx="5532120" cy="553212"/>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3593591"/>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Collection: lưu chuỗi CRUD</a:t>
            </a:r>
          </a:p>
        </p:txBody>
      </p:sp>
      <p:sp>
        <p:nvSpPr>
          <p:cNvPr id="20" name="Rectangle 19"/>
          <p:cNvSpPr/>
          <p:nvPr/>
        </p:nvSpPr>
        <p:spPr>
          <a:xfrm>
            <a:off x="6080759" y="3483863"/>
            <a:ext cx="5532120" cy="553212"/>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90488" y="3593591"/>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Trang tài liệu /api-docs</a:t>
            </a:r>
          </a:p>
        </p:txBody>
      </p:sp>
      <p:sp>
        <p:nvSpPr>
          <p:cNvPr id="22" name="Rectangle 21"/>
          <p:cNvSpPr/>
          <p:nvPr/>
        </p:nvSpPr>
        <p:spPr>
          <a:xfrm>
            <a:off x="548640" y="4059935"/>
            <a:ext cx="5532120" cy="553212"/>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169663"/>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Assertion: kiểm tra kết quả</a:t>
            </a:r>
          </a:p>
        </p:txBody>
      </p:sp>
      <p:sp>
        <p:nvSpPr>
          <p:cNvPr id="24" name="Rectangle 23"/>
          <p:cNvSpPr/>
          <p:nvPr/>
        </p:nvSpPr>
        <p:spPr>
          <a:xfrm>
            <a:off x="6080759" y="4059935"/>
            <a:ext cx="5532120" cy="553212"/>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90488" y="4169663"/>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Try it out: gọi API thật</a:t>
            </a:r>
          </a:p>
        </p:txBody>
      </p:sp>
      <p:sp>
        <p:nvSpPr>
          <p:cNvPr id="26" name="Rectangle 25"/>
          <p:cNvSpPr/>
          <p:nvPr/>
        </p:nvSpPr>
        <p:spPr>
          <a:xfrm>
            <a:off x="548640" y="4636008"/>
            <a:ext cx="5532120" cy="553212"/>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 y="4745736"/>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Dùng để kiểm thử có bằng chứng</a:t>
            </a:r>
          </a:p>
        </p:txBody>
      </p:sp>
      <p:sp>
        <p:nvSpPr>
          <p:cNvPr id="28" name="Rectangle 27"/>
          <p:cNvSpPr/>
          <p:nvPr/>
        </p:nvSpPr>
        <p:spPr>
          <a:xfrm>
            <a:off x="6080759" y="4636008"/>
            <a:ext cx="5532120" cy="553212"/>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0488" y="4745736"/>
            <a:ext cx="5312664" cy="438912"/>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Dùng để tra cứu và thử nhanh</a:t>
            </a:r>
          </a:p>
        </p:txBody>
      </p:sp>
      <p:sp>
        <p:nvSpPr>
          <p:cNvPr id="30" name="Rounded Rectangle 29"/>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Swagger mô tả API; code Backend thực hiện nghiệp vụ và validation.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Swagger / OpenAPI</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Đặc tả cần khớp với hành vi thực tế của Backend.</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10</a:t>
            </a:r>
          </a:p>
        </p:txBody>
      </p:sp>
      <p:sp>
        <p:nvSpPr>
          <p:cNvPr id="10" name="Rounded Rectangle 9"/>
          <p:cNvSpPr/>
          <p:nvPr/>
        </p:nvSpPr>
        <p:spPr>
          <a:xfrm>
            <a:off x="548640" y="2377440"/>
            <a:ext cx="5559552" cy="3054096"/>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24328"/>
            <a:ext cx="5138928" cy="2596896"/>
          </a:xfrm>
          <a:prstGeom prst="rect">
            <a:avLst/>
          </a:prstGeom>
          <a:noFill/>
        </p:spPr>
        <p:txBody>
          <a:bodyPr wrap="none" lIns="0" tIns="0" rIns="0" bIns="0">
            <a:spAutoFit/>
          </a:bodyPr>
          <a:lstStyle/>
          <a:p>
            <a:pPr>
              <a:lnSpc>
                <a:spcPts val="2125"/>
              </a:lnSpc>
              <a:spcAft>
                <a:spcPts val="0"/>
              </a:spcAft>
              <a:defRPr sz="1700" b="0">
                <a:solidFill>
                  <a:srgbClr val="FFFFFF"/>
                </a:solidFill>
                <a:latin typeface="DejaVu Sans Mono"/>
              </a:defRPr>
            </a:pPr>
            <a:r>
              <a:t>GET /sinh-vien</a:t>
            </a:r>
          </a:p>
          <a:p>
            <a:pPr>
              <a:lnSpc>
                <a:spcPts val="2125"/>
              </a:lnSpc>
              <a:spcAft>
                <a:spcPts val="0"/>
              </a:spcAft>
              <a:defRPr sz="1700" b="0">
                <a:solidFill>
                  <a:srgbClr val="FFFFFF"/>
                </a:solidFill>
                <a:latin typeface="DejaVu Sans Mono"/>
              </a:defRPr>
            </a:pPr>
            <a:r>
              <a:t>GET /sinh-vien/{maSV}</a:t>
            </a:r>
          </a:p>
          <a:p>
            <a:pPr>
              <a:lnSpc>
                <a:spcPts val="2125"/>
              </a:lnSpc>
              <a:spcAft>
                <a:spcPts val="0"/>
              </a:spcAft>
              <a:defRPr sz="1700" b="0">
                <a:solidFill>
                  <a:srgbClr val="FFFFFF"/>
                </a:solidFill>
                <a:latin typeface="DejaVu Sans Mono"/>
              </a:defRPr>
            </a:pPr>
            <a:r>
              <a:t>POST /sinh-vien</a:t>
            </a:r>
          </a:p>
          <a:p>
            <a:pPr>
              <a:lnSpc>
                <a:spcPts val="2125"/>
              </a:lnSpc>
              <a:spcAft>
                <a:spcPts val="0"/>
              </a:spcAft>
              <a:defRPr sz="1700" b="0">
                <a:solidFill>
                  <a:srgbClr val="FFFFFF"/>
                </a:solidFill>
                <a:latin typeface="DejaVu Sans Mono"/>
              </a:defRPr>
            </a:pPr>
            <a:r>
              <a:t>PUT /sinh-vien/{maSV}</a:t>
            </a:r>
          </a:p>
          <a:p>
            <a:pPr>
              <a:lnSpc>
                <a:spcPts val="2125"/>
              </a:lnSpc>
              <a:spcAft>
                <a:spcPts val="0"/>
              </a:spcAft>
              <a:defRPr sz="1700" b="0">
                <a:solidFill>
                  <a:srgbClr val="FFFFFF"/>
                </a:solidFill>
                <a:latin typeface="DejaVu Sans Mono"/>
              </a:defRPr>
            </a:pPr>
            <a:r>
              <a:t>DELETE /sinh-vien/{maSV}</a:t>
            </a:r>
          </a:p>
          <a:p>
            <a:pPr>
              <a:lnSpc>
                <a:spcPts val="2125"/>
              </a:lnSpc>
              <a:spcAft>
                <a:spcPts val="0"/>
              </a:spcAft>
              <a:defRPr sz="1700" b="0">
                <a:solidFill>
                  <a:srgbClr val="FFFFFF"/>
                </a:solidFill>
                <a:latin typeface="DejaVu Sans Mono"/>
              </a:defRPr>
            </a:pPr>
            <a:endParaRPr/>
          </a:p>
          <a:p>
            <a:pPr>
              <a:lnSpc>
                <a:spcPts val="2125"/>
              </a:lnSpc>
              <a:spcAft>
                <a:spcPts val="0"/>
              </a:spcAft>
              <a:defRPr sz="1700" b="0">
                <a:solidFill>
                  <a:srgbClr val="FFFFFF"/>
                </a:solidFill>
                <a:latin typeface="DejaVu Sans Mono"/>
              </a:defRPr>
            </a:pPr>
            <a:r>
              <a:t>Tiền tố: /api/v1</a:t>
            </a:r>
          </a:p>
        </p:txBody>
      </p:sp>
      <p:sp>
        <p:nvSpPr>
          <p:cNvPr id="12" name="Rounded Rectangle 11"/>
          <p:cNvSpPr/>
          <p:nvPr/>
        </p:nvSpPr>
        <p:spPr>
          <a:xfrm>
            <a:off x="6419088" y="2377440"/>
            <a:ext cx="5193792" cy="305409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542032"/>
            <a:ext cx="4773168"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MÔ TẢ ĐỦ</a:t>
            </a:r>
          </a:p>
        </p:txBody>
      </p:sp>
      <p:sp>
        <p:nvSpPr>
          <p:cNvPr id="14" name="TextBox 13"/>
          <p:cNvSpPr txBox="1"/>
          <p:nvPr/>
        </p:nvSpPr>
        <p:spPr>
          <a:xfrm>
            <a:off x="6629400" y="3090672"/>
            <a:ext cx="4773168" cy="226771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Path parameter maSV</a:t>
            </a:r>
          </a:p>
          <a:p>
            <a:pPr>
              <a:lnSpc>
                <a:spcPts val="2500"/>
              </a:lnSpc>
              <a:spcAft>
                <a:spcPts val="0"/>
              </a:spcAft>
              <a:defRPr sz="2000" b="0">
                <a:solidFill>
                  <a:srgbClr val="18354D"/>
                </a:solidFill>
                <a:latin typeface="DejaVu Sans"/>
              </a:defRPr>
            </a:pPr>
            <a:r>
              <a:t>Body POST / PUT</a:t>
            </a:r>
          </a:p>
          <a:p>
            <a:pPr>
              <a:lnSpc>
                <a:spcPts val="2500"/>
              </a:lnSpc>
              <a:spcAft>
                <a:spcPts val="0"/>
              </a:spcAft>
              <a:defRPr sz="2000" b="0">
                <a:solidFill>
                  <a:srgbClr val="18354D"/>
                </a:solidFill>
                <a:latin typeface="DejaVu Sans"/>
              </a:defRPr>
            </a:pPr>
            <a:r>
              <a:t>Schema + response JSON</a:t>
            </a:r>
          </a:p>
          <a:p>
            <a:pPr>
              <a:lnSpc>
                <a:spcPts val="2500"/>
              </a:lnSpc>
              <a:spcAft>
                <a:spcPts val="0"/>
              </a:spcAft>
              <a:defRPr sz="2000" b="0">
                <a:solidFill>
                  <a:srgbClr val="18354D"/>
                </a:solidFill>
                <a:latin typeface="DejaVu Sans"/>
              </a:defRPr>
            </a:pPr>
            <a:r>
              <a:t>Status thành công / thất bại</a:t>
            </a:r>
          </a:p>
        </p:txBody>
      </p:sp>
      <p:sp>
        <p:nvSpPr>
          <p:cNvPr id="15" name="Rounded Rectangle 14"/>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Try it out → Execute → request thật → status + response body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Vibe Coding: hiểu, làm, kiểm chứng</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Chia nhiệm vụ nhỏ; xác nhận kết quả trước khi chuyển bước.</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11</a:t>
            </a:r>
          </a:p>
        </p:txBody>
      </p:sp>
      <p:sp>
        <p:nvSpPr>
          <p:cNvPr id="10" name="Rounded Rectangle 9"/>
          <p:cNvSpPr/>
          <p:nvPr/>
        </p:nvSpPr>
        <p:spPr>
          <a:xfrm>
            <a:off x="548640" y="2377440"/>
            <a:ext cx="3474720" cy="245973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2542032"/>
            <a:ext cx="3054096"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01 HIỂU</a:t>
            </a:r>
          </a:p>
        </p:txBody>
      </p:sp>
      <p:sp>
        <p:nvSpPr>
          <p:cNvPr id="12" name="TextBox 11"/>
          <p:cNvSpPr txBox="1"/>
          <p:nvPr/>
        </p:nvSpPr>
        <p:spPr>
          <a:xfrm>
            <a:off x="758952" y="3090672"/>
            <a:ext cx="3054096" cy="167335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Yêu cầu + endpoint</a:t>
            </a:r>
          </a:p>
          <a:p>
            <a:pPr>
              <a:lnSpc>
                <a:spcPts val="2500"/>
              </a:lnSpc>
              <a:spcAft>
                <a:spcPts val="0"/>
              </a:spcAft>
              <a:defRPr sz="2000" b="0">
                <a:solidFill>
                  <a:srgbClr val="18354D"/>
                </a:solidFill>
                <a:latin typeface="DejaVu Sans"/>
              </a:defRPr>
            </a:pPr>
            <a:r>
              <a:t>File cần sửa</a:t>
            </a:r>
          </a:p>
        </p:txBody>
      </p:sp>
      <p:sp>
        <p:nvSpPr>
          <p:cNvPr id="13" name="Rounded Rectangle 12"/>
          <p:cNvSpPr/>
          <p:nvPr/>
        </p:nvSpPr>
        <p:spPr>
          <a:xfrm>
            <a:off x="4343400" y="2377440"/>
            <a:ext cx="3474720" cy="245973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2542032"/>
            <a:ext cx="3054096"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02 PROMPT / CODE</a:t>
            </a:r>
          </a:p>
        </p:txBody>
      </p:sp>
      <p:sp>
        <p:nvSpPr>
          <p:cNvPr id="15" name="TextBox 14"/>
          <p:cNvSpPr txBox="1"/>
          <p:nvPr/>
        </p:nvSpPr>
        <p:spPr>
          <a:xfrm>
            <a:off x="4553712" y="3090672"/>
            <a:ext cx="3054096" cy="167335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AI hỗ trợ từng việc</a:t>
            </a:r>
          </a:p>
          <a:p>
            <a:pPr>
              <a:lnSpc>
                <a:spcPts val="2500"/>
              </a:lnSpc>
              <a:spcAft>
                <a:spcPts val="0"/>
              </a:spcAft>
              <a:defRPr sz="2000" b="0">
                <a:solidFill>
                  <a:srgbClr val="18354D"/>
                </a:solidFill>
                <a:latin typeface="DejaVu Sans"/>
              </a:defRPr>
            </a:pPr>
            <a:r>
              <a:t>Đọc code thay đổi</a:t>
            </a:r>
          </a:p>
        </p:txBody>
      </p:sp>
      <p:sp>
        <p:nvSpPr>
          <p:cNvPr id="16" name="Rounded Rectangle 15"/>
          <p:cNvSpPr/>
          <p:nvPr/>
        </p:nvSpPr>
        <p:spPr>
          <a:xfrm>
            <a:off x="8138160" y="2377440"/>
            <a:ext cx="3474720" cy="2459736"/>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48472" y="2542032"/>
            <a:ext cx="3054096" cy="393192"/>
          </a:xfrm>
          <a:prstGeom prst="rect">
            <a:avLst/>
          </a:prstGeom>
          <a:noFill/>
        </p:spPr>
        <p:txBody>
          <a:bodyPr wrap="none" lIns="0" tIns="0" rIns="0" bIns="0">
            <a:spAutoFit/>
          </a:bodyPr>
          <a:lstStyle/>
          <a:p>
            <a:pPr>
              <a:lnSpc>
                <a:spcPts val="2375"/>
              </a:lnSpc>
              <a:spcAft>
                <a:spcPts val="0"/>
              </a:spcAft>
              <a:defRPr sz="1900" b="1">
                <a:solidFill>
                  <a:srgbClr val="007E99"/>
                </a:solidFill>
                <a:latin typeface="DejaVu Sans"/>
              </a:defRPr>
            </a:pPr>
            <a:r>
              <a:t>03 KIỂM CHỨNG</a:t>
            </a:r>
          </a:p>
        </p:txBody>
      </p:sp>
      <p:sp>
        <p:nvSpPr>
          <p:cNvPr id="18" name="TextBox 17"/>
          <p:cNvSpPr txBox="1"/>
          <p:nvPr/>
        </p:nvSpPr>
        <p:spPr>
          <a:xfrm>
            <a:off x="8348472" y="3090672"/>
            <a:ext cx="3054096" cy="1673352"/>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Build → chạy → test</a:t>
            </a:r>
          </a:p>
          <a:p>
            <a:pPr>
              <a:lnSpc>
                <a:spcPts val="2500"/>
              </a:lnSpc>
              <a:spcAft>
                <a:spcPts val="0"/>
              </a:spcAft>
              <a:defRPr sz="2000" b="0">
                <a:solidFill>
                  <a:srgbClr val="18354D"/>
                </a:solidFill>
                <a:latin typeface="DejaVu Sans"/>
              </a:defRPr>
            </a:pPr>
            <a:r>
              <a:t>Đối chiếu yêu cầu</a:t>
            </a:r>
          </a:p>
        </p:txBody>
      </p:sp>
      <p:sp>
        <p:nvSpPr>
          <p:cNvPr id="19" name="TextBox 18"/>
          <p:cNvSpPr txBox="1"/>
          <p:nvPr/>
        </p:nvSpPr>
        <p:spPr>
          <a:xfrm>
            <a:off x="658368" y="5111496"/>
            <a:ext cx="10698480" cy="365760"/>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Prompt log: yêu cầu → thay đổi → bằng chứng → điều đã học.</a:t>
            </a:r>
          </a:p>
        </p:txBody>
      </p:sp>
      <p:sp>
        <p:nvSpPr>
          <p:cNvPr id="20" name="Rounded Rectangle 19"/>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Build thành công chưa chứng minh API đúng nghiệp vụ.</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55448" cy="6858000"/>
          </a:xfrm>
          <a:prstGeom prst="rect">
            <a:avLst/>
          </a:prstGeom>
          <a:solidFill>
            <a:srgbClr val="007E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246888"/>
            <a:ext cx="10058400" cy="256032"/>
          </a:xfrm>
          <a:prstGeom prst="rect">
            <a:avLst/>
          </a:prstGeom>
          <a:noFill/>
        </p:spPr>
        <p:txBody>
          <a:bodyPr wrap="none" lIns="0" tIns="0" rIns="0" bIns="0">
            <a:spAutoFit/>
          </a:bodyPr>
          <a:lstStyle/>
          <a:p>
            <a:pPr>
              <a:lnSpc>
                <a:spcPts val="1250"/>
              </a:lnSpc>
              <a:spcAft>
                <a:spcPts val="0"/>
              </a:spcAft>
              <a:defRPr sz="1000" b="1">
                <a:solidFill>
                  <a:srgbClr val="007E99"/>
                </a:solidFill>
                <a:latin typeface="DejaVu Sans"/>
              </a:defRPr>
            </a:pPr>
            <a:r>
              <a:t>LẬP TRÌNH BACKEND / BUỔI 5</a:t>
            </a:r>
          </a:p>
        </p:txBody>
      </p:sp>
      <p:sp>
        <p:nvSpPr>
          <p:cNvPr id="5" name="TextBox 4"/>
          <p:cNvSpPr txBox="1"/>
          <p:nvPr/>
        </p:nvSpPr>
        <p:spPr>
          <a:xfrm>
            <a:off x="530352" y="713232"/>
            <a:ext cx="11018520" cy="1024128"/>
          </a:xfrm>
          <a:prstGeom prst="rect">
            <a:avLst/>
          </a:prstGeom>
          <a:noFill/>
        </p:spPr>
        <p:txBody>
          <a:bodyPr wrap="none" lIns="0" tIns="0" rIns="0" bIns="0">
            <a:spAutoFit/>
          </a:bodyPr>
          <a:lstStyle/>
          <a:p>
            <a:pPr>
              <a:lnSpc>
                <a:spcPts val="4000"/>
              </a:lnSpc>
              <a:spcAft>
                <a:spcPts val="0"/>
              </a:spcAft>
              <a:defRPr sz="3200" b="1">
                <a:solidFill>
                  <a:srgbClr val="18354D"/>
                </a:solidFill>
                <a:latin typeface="DejaVu Sans"/>
              </a:defRPr>
            </a:pPr>
            <a:r>
              <a:t>Công thức prompt Backend</a:t>
            </a:r>
          </a:p>
        </p:txBody>
      </p:sp>
      <p:sp>
        <p:nvSpPr>
          <p:cNvPr id="6" name="TextBox 5"/>
          <p:cNvSpPr txBox="1"/>
          <p:nvPr/>
        </p:nvSpPr>
        <p:spPr>
          <a:xfrm>
            <a:off x="548640" y="1746504"/>
            <a:ext cx="10972800" cy="457200"/>
          </a:xfrm>
          <a:prstGeom prst="rect">
            <a:avLst/>
          </a:prstGeom>
          <a:noFill/>
        </p:spPr>
        <p:txBody>
          <a:bodyPr wrap="none" lIns="0" tIns="0" rIns="0" bIns="0">
            <a:spAutoFit/>
          </a:bodyPr>
          <a:lstStyle/>
          <a:p>
            <a:pPr>
              <a:lnSpc>
                <a:spcPts val="2000"/>
              </a:lnSpc>
              <a:spcAft>
                <a:spcPts val="0"/>
              </a:spcAft>
              <a:defRPr sz="1600" b="0">
                <a:solidFill>
                  <a:srgbClr val="52697B"/>
                </a:solidFill>
                <a:latin typeface="DejaVu Sans"/>
              </a:defRPr>
            </a:pPr>
            <a:r>
              <a:t>ROLE • CONTEXT • TASK • CONSTRAINT • OUTPUT • CHECK</a:t>
            </a:r>
          </a:p>
        </p:txBody>
      </p:sp>
      <p:sp>
        <p:nvSpPr>
          <p:cNvPr id="7" name="Rectangle 6"/>
          <p:cNvSpPr/>
          <p:nvPr/>
        </p:nvSpPr>
        <p:spPr>
          <a:xfrm>
            <a:off x="548640" y="6428232"/>
            <a:ext cx="11064240" cy="18288"/>
          </a:xfrm>
          <a:prstGeom prst="rect">
            <a:avLst/>
          </a:prstGeom>
          <a:solidFill>
            <a:srgbClr val="D6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6519672"/>
            <a:ext cx="9144000" cy="182880"/>
          </a:xfrm>
          <a:prstGeom prst="rect">
            <a:avLst/>
          </a:prstGeom>
          <a:noFill/>
        </p:spPr>
        <p:txBody>
          <a:bodyPr wrap="none" lIns="0" tIns="0" rIns="0" bIns="0">
            <a:spAutoFit/>
          </a:bodyPr>
          <a:lstStyle/>
          <a:p>
            <a:pPr>
              <a:lnSpc>
                <a:spcPts val="1125"/>
              </a:lnSpc>
              <a:spcAft>
                <a:spcPts val="0"/>
              </a:spcAft>
              <a:defRPr sz="900" b="0">
                <a:solidFill>
                  <a:srgbClr val="52697B"/>
                </a:solidFill>
                <a:latin typeface="DejaVu Sans"/>
              </a:defRPr>
            </a:pPr>
            <a:r>
              <a:t>RESTful API &amp; CRUD • SinhVien</a:t>
            </a:r>
          </a:p>
        </p:txBody>
      </p:sp>
      <p:sp>
        <p:nvSpPr>
          <p:cNvPr id="9" name="TextBox 8"/>
          <p:cNvSpPr txBox="1"/>
          <p:nvPr/>
        </p:nvSpPr>
        <p:spPr>
          <a:xfrm>
            <a:off x="11064240" y="6492240"/>
            <a:ext cx="548640" cy="274320"/>
          </a:xfrm>
          <a:prstGeom prst="rect">
            <a:avLst/>
          </a:prstGeom>
          <a:noFill/>
        </p:spPr>
        <p:txBody>
          <a:bodyPr wrap="none" lIns="0" tIns="0" rIns="0" bIns="0">
            <a:spAutoFit/>
          </a:bodyPr>
          <a:lstStyle/>
          <a:p>
            <a:pPr>
              <a:lnSpc>
                <a:spcPts val="1375"/>
              </a:lnSpc>
              <a:spcAft>
                <a:spcPts val="0"/>
              </a:spcAft>
              <a:defRPr sz="1100" b="1">
                <a:solidFill>
                  <a:srgbClr val="007E99"/>
                </a:solidFill>
                <a:latin typeface="DejaVu Sans"/>
              </a:defRPr>
            </a:pPr>
            <a:r>
              <a:t>12</a:t>
            </a:r>
          </a:p>
        </p:txBody>
      </p:sp>
      <p:sp>
        <p:nvSpPr>
          <p:cNvPr id="10" name="Rectangle 9"/>
          <p:cNvSpPr/>
          <p:nvPr/>
        </p:nvSpPr>
        <p:spPr>
          <a:xfrm>
            <a:off x="548640" y="2331720"/>
            <a:ext cx="3657600" cy="608075"/>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2441448"/>
            <a:ext cx="3438144" cy="493775"/>
          </a:xfrm>
          <a:prstGeom prst="rect">
            <a:avLst/>
          </a:prstGeom>
          <a:noFill/>
        </p:spPr>
        <p:txBody>
          <a:bodyPr wrap="none" lIns="0" tIns="0" rIns="0" bIns="0">
            <a:spAutoFit/>
          </a:bodyPr>
          <a:lstStyle/>
          <a:p>
            <a:pPr>
              <a:lnSpc>
                <a:spcPts val="2500"/>
              </a:lnSpc>
              <a:spcAft>
                <a:spcPts val="0"/>
              </a:spcAft>
              <a:defRPr sz="2000" b="1">
                <a:solidFill>
                  <a:srgbClr val="FFFFFF"/>
                </a:solidFill>
                <a:latin typeface="DejaVu Sans"/>
              </a:defRPr>
            </a:pPr>
            <a:r>
              <a:t>Thành phần</a:t>
            </a:r>
          </a:p>
        </p:txBody>
      </p:sp>
      <p:sp>
        <p:nvSpPr>
          <p:cNvPr id="12" name="Rectangle 11"/>
          <p:cNvSpPr/>
          <p:nvPr/>
        </p:nvSpPr>
        <p:spPr>
          <a:xfrm>
            <a:off x="4206240" y="2331720"/>
            <a:ext cx="7406640" cy="608075"/>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15968" y="2441448"/>
            <a:ext cx="7187183" cy="493775"/>
          </a:xfrm>
          <a:prstGeom prst="rect">
            <a:avLst/>
          </a:prstGeom>
          <a:noFill/>
        </p:spPr>
        <p:txBody>
          <a:bodyPr wrap="none" lIns="0" tIns="0" rIns="0" bIns="0">
            <a:spAutoFit/>
          </a:bodyPr>
          <a:lstStyle/>
          <a:p>
            <a:pPr>
              <a:lnSpc>
                <a:spcPts val="2500"/>
              </a:lnSpc>
              <a:spcAft>
                <a:spcPts val="0"/>
              </a:spcAft>
              <a:defRPr sz="2000" b="1">
                <a:solidFill>
                  <a:srgbClr val="FFFFFF"/>
                </a:solidFill>
                <a:latin typeface="DejaVu Sans"/>
              </a:defRPr>
            </a:pPr>
            <a:r>
              <a:t>Cần nói rõ</a:t>
            </a:r>
          </a:p>
        </p:txBody>
      </p:sp>
      <p:sp>
        <p:nvSpPr>
          <p:cNvPr id="14" name="Rectangle 13"/>
          <p:cNvSpPr/>
          <p:nvPr/>
        </p:nvSpPr>
        <p:spPr>
          <a:xfrm>
            <a:off x="548640" y="2962656"/>
            <a:ext cx="3657600" cy="608075"/>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3072384"/>
            <a:ext cx="3438144"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ROLE / CONTEXT</a:t>
            </a:r>
          </a:p>
        </p:txBody>
      </p:sp>
      <p:sp>
        <p:nvSpPr>
          <p:cNvPr id="16" name="Rectangle 15"/>
          <p:cNvSpPr/>
          <p:nvPr/>
        </p:nvSpPr>
        <p:spPr>
          <a:xfrm>
            <a:off x="4206240" y="2962656"/>
            <a:ext cx="7406640" cy="608075"/>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315968" y="3072384"/>
            <a:ext cx="7187183"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AI đóng vai gì? Project thực tế có gì?</a:t>
            </a:r>
          </a:p>
        </p:txBody>
      </p:sp>
      <p:sp>
        <p:nvSpPr>
          <p:cNvPr id="18" name="Rectangle 17"/>
          <p:cNvSpPr/>
          <p:nvPr/>
        </p:nvSpPr>
        <p:spPr>
          <a:xfrm>
            <a:off x="548640" y="3593591"/>
            <a:ext cx="3657600" cy="608075"/>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3703320"/>
            <a:ext cx="3438144"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TASK / CONSTRAINT</a:t>
            </a:r>
          </a:p>
        </p:txBody>
      </p:sp>
      <p:sp>
        <p:nvSpPr>
          <p:cNvPr id="20" name="Rectangle 19"/>
          <p:cNvSpPr/>
          <p:nvPr/>
        </p:nvSpPr>
        <p:spPr>
          <a:xfrm>
            <a:off x="4206240" y="3593591"/>
            <a:ext cx="7406640" cy="608075"/>
          </a:xfrm>
          <a:prstGeom prst="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15968" y="3703320"/>
            <a:ext cx="7187183"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Làm gì lần này? Quy tắc nào phải giữ?</a:t>
            </a:r>
          </a:p>
        </p:txBody>
      </p:sp>
      <p:sp>
        <p:nvSpPr>
          <p:cNvPr id="22" name="Rectangle 21"/>
          <p:cNvSpPr/>
          <p:nvPr/>
        </p:nvSpPr>
        <p:spPr>
          <a:xfrm>
            <a:off x="548640" y="4224527"/>
            <a:ext cx="3657600" cy="608075"/>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4334255"/>
            <a:ext cx="3438144"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OUTPUT / CHECK</a:t>
            </a:r>
          </a:p>
        </p:txBody>
      </p:sp>
      <p:sp>
        <p:nvSpPr>
          <p:cNvPr id="24" name="Rectangle 23"/>
          <p:cNvSpPr/>
          <p:nvPr/>
        </p:nvSpPr>
        <p:spPr>
          <a:xfrm>
            <a:off x="4206240" y="4224527"/>
            <a:ext cx="7406640" cy="608075"/>
          </a:xfrm>
          <a:prstGeom prst="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15968" y="4334255"/>
            <a:ext cx="7187183" cy="493775"/>
          </a:xfrm>
          <a:prstGeom prst="rect">
            <a:avLst/>
          </a:prstGeom>
          <a:noFill/>
        </p:spPr>
        <p:txBody>
          <a:bodyPr wrap="none" lIns="0" tIns="0" rIns="0" bIns="0">
            <a:spAutoFit/>
          </a:bodyPr>
          <a:lstStyle/>
          <a:p>
            <a:pPr>
              <a:lnSpc>
                <a:spcPts val="2500"/>
              </a:lnSpc>
              <a:spcAft>
                <a:spcPts val="0"/>
              </a:spcAft>
              <a:defRPr sz="2000" b="0">
                <a:solidFill>
                  <a:srgbClr val="18354D"/>
                </a:solidFill>
                <a:latin typeface="DejaVu Sans"/>
              </a:defRPr>
            </a:pPr>
            <a:r>
              <a:t>Trả file nào? Kiểm chứng kết quả ra sao?</a:t>
            </a:r>
          </a:p>
        </p:txBody>
      </p:sp>
      <p:sp>
        <p:nvSpPr>
          <p:cNvPr id="26" name="TextBox 25"/>
          <p:cNvSpPr txBox="1"/>
          <p:nvPr/>
        </p:nvSpPr>
        <p:spPr>
          <a:xfrm>
            <a:off x="694944" y="4901184"/>
            <a:ext cx="10789920" cy="557784"/>
          </a:xfrm>
          <a:prstGeom prst="rect">
            <a:avLst/>
          </a:prstGeom>
          <a:noFill/>
        </p:spPr>
        <p:txBody>
          <a:bodyPr wrap="none" lIns="0" tIns="0" rIns="0" bIns="0">
            <a:spAutoFit/>
          </a:bodyPr>
          <a:lstStyle/>
          <a:p>
            <a:pPr>
              <a:lnSpc>
                <a:spcPts val="2375"/>
              </a:lnSpc>
              <a:spcAft>
                <a:spcPts val="0"/>
              </a:spcAft>
              <a:defRPr sz="1900" b="0">
                <a:solidFill>
                  <a:srgbClr val="18354D"/>
                </a:solidFill>
                <a:latin typeface="DejaVu Sans"/>
              </a:defRPr>
            </a:pPr>
            <a:r>
              <a:t>Ví dụ CHECK cho PUT: thành công 200 • mã lạ 404 • body sai 400.</a:t>
            </a:r>
          </a:p>
        </p:txBody>
      </p:sp>
      <p:sp>
        <p:nvSpPr>
          <p:cNvPr id="27" name="Rounded Rectangle 26"/>
          <p:cNvSpPr/>
          <p:nvPr/>
        </p:nvSpPr>
        <p:spPr>
          <a:xfrm>
            <a:off x="548640" y="5696712"/>
            <a:ext cx="11064240" cy="557784"/>
          </a:xfrm>
          <a:prstGeom prst="roundRect">
            <a:avLst/>
          </a:prstGeom>
          <a:solidFill>
            <a:srgbClr val="EA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77240" y="5824728"/>
            <a:ext cx="10561320" cy="301752"/>
          </a:xfrm>
          <a:prstGeom prst="rect">
            <a:avLst/>
          </a:prstGeom>
          <a:noFill/>
        </p:spPr>
        <p:txBody>
          <a:bodyPr wrap="none" lIns="0" tIns="0" rIns="0" bIns="0">
            <a:spAutoFit/>
          </a:bodyPr>
          <a:lstStyle/>
          <a:p>
            <a:pPr>
              <a:lnSpc>
                <a:spcPts val="2000"/>
              </a:lnSpc>
              <a:spcAft>
                <a:spcPts val="0"/>
              </a:spcAft>
              <a:defRPr sz="1600" b="1">
                <a:solidFill>
                  <a:srgbClr val="007E99"/>
                </a:solidFill>
                <a:latin typeface="DejaVu Sans"/>
              </a:defRPr>
            </a:pPr>
            <a:r>
              <a:t>HIỂU → PROMPT → ĐỌC CODE → TEST → GIẢI THÍCH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5747</Words>
  <Application>Microsoft Office PowerPoint</Application>
  <PresentationFormat>Widescreen</PresentationFormat>
  <Paragraphs>443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NhatPot</cp:lastModifiedBy>
  <cp:revision>2</cp:revision>
  <dcterms:created xsi:type="dcterms:W3CDTF">2013-01-27T09:14:16Z</dcterms:created>
  <dcterms:modified xsi:type="dcterms:W3CDTF">2026-10-06T11:29:07Z</dcterms:modified>
  <cp:category/>
</cp:coreProperties>
</file>