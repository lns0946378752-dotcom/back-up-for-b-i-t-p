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79" d="100"/>
          <a:sy n="79" d="100"/>
        </p:scale>
        <p:origin x="77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6989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7 nằm trong chương trình Liên thông. Hôm nay ta học xác thực đăng nhập bằng JWT và mở rộng phân quyền Admin/User ở mức nền tảng.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mục tiêu đều gắn với một chức năng Backend thật: không học công thức riêng lẻ mà hiểu hệ thống vận hành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sinh viên: ai cũng có một tài khoản nhưng không phải ai cũng được sửa dữ liệu hệ thống. Đăng nhập chỉ là bước đầu.</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authentication là xác minh người đang yêu cầu quyền truy cập. Ở bài này dùng email/mật khẩu, ngoài thực tế còn có OTP, khóa bảo mật, SSO.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Giảng viên có thể hỏi: một nhân viên vào được tòa nhà có được vào phòng giám đốc không? Đăng nhập đúng chưa chắc có quyền cho một chức năng.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MỞ RỘNG THAM KHẢO. P1: Bạn là Backend Developer chuyên Node.js và TypeScript; dự án dùng Express, SQL Server, Sequelize, Controller–Service–Model. Hãy hướng dẫn xây dựng Register/Login, kiểm tra dữ liệu, bcrypt, JWT 1 giờ, không trả mật khẩu/hash, không cho chọn Admin, trình bày cây thư mục trước, rồi viết code theo file. P2: Dùng isAuth xác minh Bearer, algorithm và exp, trả 401 nếu lỗi, req.user, isAdmin trả 403, routes mẫu. P3: Reviewer phân tích rõ nguyên nhân, hậu quả, vị trí và cách sửa, không rewrite mọi file nếu không cần.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Đáp án câu hỏi cuối: isAuth xác minh token và cung cấp danh tính/ngữ cảnh người dùng; isAdmin chỉ có thể kiểm tra Role đáng tin sau bước đó. Role không nên lấy từ Request Body do Client tự gán.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8.png"/><Relationship Id="rId7"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0.png"/><Relationship Id="rId10" Type="http://schemas.openxmlformats.org/officeDocument/2006/relationships/image" Target="../media/image16.png"/><Relationship Id="rId4" Type="http://schemas.openxmlformats.org/officeDocument/2006/relationships/image" Target="../media/image29.png"/><Relationship Id="rId9"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9FD"/>
        </a:solidFill>
        <a:effectLst/>
      </p:bgPr>
    </p:bg>
    <p:spTree>
      <p:nvGrpSpPr>
        <p:cNvPr id="1" name=""/>
        <p:cNvGrpSpPr/>
        <p:nvPr/>
      </p:nvGrpSpPr>
      <p:grpSpPr>
        <a:xfrm>
          <a:off x="0" y="0"/>
          <a:ext cx="0" cy="0"/>
          <a:chOff x="0" y="0"/>
          <a:chExt cx="0" cy="0"/>
        </a:xfrm>
      </p:grpSpPr>
      <p:pic>
        <p:nvPicPr>
          <p:cNvPr id="2" name="Image 0" descr="/mnt/data/auth_slide_work/server_racks.jpeg"/>
          <p:cNvPicPr>
            <a:picLocks noChangeAspect="1"/>
          </p:cNvPicPr>
          <p:nvPr/>
        </p:nvPicPr>
        <p:blipFill>
          <a:blip r:embed="rId3"/>
          <a:stretch>
            <a:fillRect/>
          </a:stretch>
        </p:blipFill>
        <p:spPr>
          <a:xfrm>
            <a:off x="6858000" y="0"/>
            <a:ext cx="5333695" cy="6858000"/>
          </a:xfrm>
          <a:prstGeom prst="rect">
            <a:avLst/>
          </a:prstGeom>
        </p:spPr>
      </p:pic>
      <p:sp>
        <p:nvSpPr>
          <p:cNvPr id="3" name="Shape 0"/>
          <p:cNvSpPr/>
          <p:nvPr/>
        </p:nvSpPr>
        <p:spPr>
          <a:xfrm>
            <a:off x="6858000" y="0"/>
            <a:ext cx="5333695" cy="6858000"/>
          </a:xfrm>
          <a:prstGeom prst="rect">
            <a:avLst/>
          </a:prstGeom>
          <a:solidFill>
            <a:srgbClr val="101E35">
              <a:alpha val="58000"/>
            </a:srgbClr>
          </a:solidFill>
          <a:ln w="12700">
            <a:solidFill>
              <a:srgbClr val="101E35">
                <a:alpha val="0"/>
              </a:srgbClr>
            </a:solidFill>
            <a:prstDash val="solid"/>
          </a:ln>
        </p:spPr>
        <p:txBody>
          <a:bodyPr/>
          <a:lstStyle/>
          <a:p>
            <a:endParaRPr lang="en-US"/>
          </a:p>
        </p:txBody>
      </p:sp>
      <p:sp>
        <p:nvSpPr>
          <p:cNvPr id="4" name="Shape 1"/>
          <p:cNvSpPr/>
          <p:nvPr/>
        </p:nvSpPr>
        <p:spPr>
          <a:xfrm>
            <a:off x="0" y="0"/>
            <a:ext cx="109728"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5" name="Text 2"/>
          <p:cNvSpPr/>
          <p:nvPr/>
        </p:nvSpPr>
        <p:spPr>
          <a:xfrm>
            <a:off x="640080" y="960120"/>
            <a:ext cx="5669280" cy="265176"/>
          </a:xfrm>
          <a:prstGeom prst="rect">
            <a:avLst/>
          </a:prstGeom>
          <a:noFill/>
          <a:ln/>
        </p:spPr>
        <p:txBody>
          <a:bodyPr wrap="square" lIns="0" tIns="0" rIns="0" bIns="0" rtlCol="0" anchor="ctr">
            <a:normAutofit/>
          </a:bodyPr>
          <a:lstStyle/>
          <a:p>
            <a:pPr marL="0" indent="0">
              <a:buNone/>
            </a:pPr>
            <a:r>
              <a:rPr lang="vi-VN" altLang="en-US" sz="1210" b="1" kern="0" spc="110" dirty="0">
                <a:solidFill>
                  <a:srgbClr val="B38A20"/>
                </a:solidFill>
                <a:latin typeface="Inter" pitchFamily="34" charset="0"/>
                <a:ea typeface="Inter" pitchFamily="34" charset="-122"/>
                <a:cs typeface="Inter" pitchFamily="34" charset="-120"/>
              </a:rPr>
              <a:t>HỌC PHẦN LẬP TRÌNH BACKEND</a:t>
            </a:r>
            <a:endParaRPr lang="vi-VN" sz="1210" dirty="0"/>
          </a:p>
        </p:txBody>
      </p:sp>
      <p:sp>
        <p:nvSpPr>
          <p:cNvPr id="6" name="Text 3"/>
          <p:cNvSpPr/>
          <p:nvPr/>
        </p:nvSpPr>
        <p:spPr>
          <a:xfrm>
            <a:off x="640080" y="1737360"/>
            <a:ext cx="6172200" cy="1481328"/>
          </a:xfrm>
          <a:prstGeom prst="rect">
            <a:avLst/>
          </a:prstGeom>
          <a:noFill/>
          <a:ln/>
        </p:spPr>
        <p:txBody>
          <a:bodyPr wrap="square" lIns="0" tIns="0" rIns="0" bIns="0" rtlCol="0" anchor="t">
            <a:normAutofit/>
          </a:bodyPr>
          <a:lstStyle/>
          <a:p>
            <a:pPr marL="0" indent="0">
              <a:buNone/>
            </a:pPr>
            <a:r>
              <a:rPr lang="vi-VN" altLang="en-US" sz="3700" b="1" dirty="0">
                <a:solidFill>
                  <a:srgbClr val="B38A20"/>
                </a:solidFill>
                <a:latin typeface="Inter Display" pitchFamily="34" charset="0"/>
                <a:ea typeface="Inter Display" pitchFamily="34" charset="-122"/>
                <a:cs typeface="Inter Display" pitchFamily="34" charset="-120"/>
              </a:rPr>
              <a:t>AUTHENTICATION</a:t>
            </a:r>
            <a:endParaRPr lang="vi-VN" sz="3700" dirty="0"/>
          </a:p>
          <a:p>
            <a:pPr marL="0" indent="0">
              <a:buNone/>
            </a:pPr>
            <a:r>
              <a:rPr lang="vi-VN" altLang="en-US" sz="3700" b="1" dirty="0">
                <a:solidFill>
                  <a:srgbClr val="B38A20"/>
                </a:solidFill>
                <a:latin typeface="Inter Display" pitchFamily="34" charset="0"/>
                <a:ea typeface="Inter Display" pitchFamily="34" charset="-122"/>
                <a:cs typeface="Inter Display" pitchFamily="34" charset="-120"/>
              </a:rPr>
              <a:t>&amp; AUTHORIZATION</a:t>
            </a:r>
            <a:endParaRPr lang="vi-VN" sz="3700" dirty="0"/>
          </a:p>
        </p:txBody>
      </p:sp>
      <p:sp>
        <p:nvSpPr>
          <p:cNvPr id="7" name="Text 4"/>
          <p:cNvSpPr/>
          <p:nvPr/>
        </p:nvSpPr>
        <p:spPr>
          <a:xfrm>
            <a:off x="640080" y="3584448"/>
            <a:ext cx="5577840" cy="786384"/>
          </a:xfrm>
          <a:prstGeom prst="rect">
            <a:avLst/>
          </a:prstGeom>
          <a:noFill/>
          <a:ln/>
        </p:spPr>
        <p:txBody>
          <a:bodyPr wrap="square" lIns="0" tIns="0" rIns="0" bIns="0" rtlCol="0" anchor="t">
            <a:normAutofit/>
          </a:bodyPr>
          <a:lstStyle/>
          <a:p>
            <a:pPr marL="0" indent="0">
              <a:buNone/>
            </a:pPr>
            <a:r>
              <a:rPr lang="vi-VN" altLang="en-US" sz="2000" b="1" dirty="0">
                <a:solidFill>
                  <a:srgbClr val="183B63"/>
                </a:solidFill>
                <a:latin typeface="Inter" pitchFamily="34" charset="0"/>
                <a:ea typeface="Inter" pitchFamily="34" charset="-122"/>
                <a:cs typeface="Inter" pitchFamily="34" charset="-120"/>
              </a:rPr>
              <a:t>XÁC THỰC VÀ PHÂN QUYỀN</a:t>
            </a:r>
            <a:endParaRPr lang="vi-VN" sz="2000" dirty="0"/>
          </a:p>
          <a:p>
            <a:pPr marL="0" indent="0">
              <a:buNone/>
            </a:pPr>
            <a:r>
              <a:rPr lang="vi-VN" altLang="en-US" sz="2000" b="1" dirty="0">
                <a:solidFill>
                  <a:srgbClr val="183B63"/>
                </a:solidFill>
                <a:latin typeface="Inter" pitchFamily="34" charset="0"/>
                <a:ea typeface="Inter" pitchFamily="34" charset="-122"/>
                <a:cs typeface="Inter" pitchFamily="34" charset="-120"/>
              </a:rPr>
              <a:t>VỚI JWT TRONG NODE.JS</a:t>
            </a:r>
            <a:endParaRPr lang="vi-VN" sz="2000" dirty="0"/>
          </a:p>
        </p:txBody>
      </p:sp>
      <p:sp>
        <p:nvSpPr>
          <p:cNvPr id="8" name="Text 5"/>
          <p:cNvSpPr/>
          <p:nvPr/>
        </p:nvSpPr>
        <p:spPr>
          <a:xfrm>
            <a:off x="649224" y="4736592"/>
            <a:ext cx="5440680" cy="310896"/>
          </a:xfrm>
          <a:prstGeom prst="rect">
            <a:avLst/>
          </a:prstGeom>
          <a:noFill/>
          <a:ln/>
        </p:spPr>
        <p:txBody>
          <a:bodyPr wrap="square" lIns="0" tIns="0" rIns="0" bIns="0" rtlCol="0" anchor="ctr">
            <a:normAutofit/>
          </a:bodyPr>
          <a:lstStyle/>
          <a:p>
            <a:pPr marL="0" indent="0">
              <a:buNone/>
            </a:pPr>
            <a:r>
              <a:rPr lang="vi-VN" altLang="en-US" sz="1500" dirty="0">
                <a:solidFill>
                  <a:srgbClr val="667389"/>
                </a:solidFill>
                <a:latin typeface="Inter" pitchFamily="34" charset="0"/>
                <a:ea typeface="Inter" pitchFamily="34" charset="-122"/>
                <a:cs typeface="Inter" pitchFamily="34" charset="-120"/>
              </a:rPr>
              <a:t>JWT · bcrypt · Middleware · RBAC</a:t>
            </a:r>
            <a:endParaRPr lang="vi-VN" sz="1500" dirty="0"/>
          </a:p>
        </p:txBody>
      </p:sp>
      <p:sp>
        <p:nvSpPr>
          <p:cNvPr id="9" name="Shape 6"/>
          <p:cNvSpPr/>
          <p:nvPr/>
        </p:nvSpPr>
        <p:spPr>
          <a:xfrm>
            <a:off x="649224" y="5440680"/>
            <a:ext cx="2048256" cy="292608"/>
          </a:xfrm>
          <a:prstGeom prst="roundRect">
            <a:avLst>
              <a:gd name="adj" fmla="val 37500"/>
            </a:avLst>
          </a:prstGeom>
          <a:solidFill>
            <a:srgbClr val="EBF2FE"/>
          </a:solidFill>
          <a:ln w="12700">
            <a:solidFill>
              <a:srgbClr val="EBF2FE">
                <a:alpha val="0"/>
              </a:srgbClr>
            </a:solidFill>
            <a:prstDash val="solid"/>
          </a:ln>
        </p:spPr>
        <p:txBody>
          <a:bodyPr/>
          <a:lstStyle/>
          <a:p>
            <a:endParaRPr lang="en-US"/>
          </a:p>
        </p:txBody>
      </p:sp>
      <p:sp>
        <p:nvSpPr>
          <p:cNvPr id="10" name="Text 7"/>
          <p:cNvSpPr/>
          <p:nvPr/>
        </p:nvSpPr>
        <p:spPr>
          <a:xfrm>
            <a:off x="731520" y="5463540"/>
            <a:ext cx="1883664" cy="237744"/>
          </a:xfrm>
          <a:prstGeom prst="rect">
            <a:avLst/>
          </a:prstGeom>
          <a:noFill/>
          <a:ln/>
        </p:spPr>
        <p:txBody>
          <a:bodyPr wrap="square" lIns="0" tIns="0" rIns="0" bIns="0" rtlCol="0" anchor="ctr">
            <a:normAutofit/>
          </a:bodyPr>
          <a:lstStyle/>
          <a:p>
            <a:pPr marL="0" indent="0" algn="ctr">
              <a:buNone/>
            </a:pPr>
            <a:r>
              <a:rPr lang="vi-VN" altLang="en-US" sz="1050" b="1" dirty="0">
                <a:solidFill>
                  <a:srgbClr val="2A5DAD"/>
                </a:solidFill>
                <a:latin typeface="Inter" pitchFamily="34" charset="0"/>
                <a:ea typeface="Inter" pitchFamily="34" charset="-122"/>
                <a:cs typeface="Inter" pitchFamily="34" charset="-120"/>
              </a:rPr>
              <a:t>NODE.JS + TYPESCRIPT</a:t>
            </a:r>
            <a:endParaRPr lang="vi-VN" sz="1050" dirty="0"/>
          </a:p>
        </p:txBody>
      </p:sp>
      <p:sp>
        <p:nvSpPr>
          <p:cNvPr id="11" name="Shape 8"/>
          <p:cNvSpPr/>
          <p:nvPr/>
        </p:nvSpPr>
        <p:spPr>
          <a:xfrm>
            <a:off x="2807208" y="5440680"/>
            <a:ext cx="1143000" cy="292608"/>
          </a:xfrm>
          <a:prstGeom prst="roundRect">
            <a:avLst>
              <a:gd name="adj" fmla="val 37500"/>
            </a:avLst>
          </a:prstGeom>
          <a:solidFill>
            <a:srgbClr val="FFF5D5"/>
          </a:solidFill>
          <a:ln w="12700">
            <a:solidFill>
              <a:srgbClr val="FFF5D5">
                <a:alpha val="0"/>
              </a:srgbClr>
            </a:solidFill>
            <a:prstDash val="solid"/>
          </a:ln>
        </p:spPr>
        <p:txBody>
          <a:bodyPr/>
          <a:lstStyle/>
          <a:p>
            <a:endParaRPr lang="en-US"/>
          </a:p>
        </p:txBody>
      </p:sp>
      <p:sp>
        <p:nvSpPr>
          <p:cNvPr id="12" name="Text 9"/>
          <p:cNvSpPr/>
          <p:nvPr/>
        </p:nvSpPr>
        <p:spPr>
          <a:xfrm>
            <a:off x="2889504" y="5463540"/>
            <a:ext cx="978408" cy="237744"/>
          </a:xfrm>
          <a:prstGeom prst="rect">
            <a:avLst/>
          </a:prstGeom>
          <a:noFill/>
          <a:ln/>
        </p:spPr>
        <p:txBody>
          <a:bodyPr wrap="square" lIns="0" tIns="0" rIns="0" bIns="0" rtlCol="0" anchor="ctr">
            <a:normAutofit/>
          </a:bodyPr>
          <a:lstStyle/>
          <a:p>
            <a:pPr marL="0" indent="0" algn="ctr">
              <a:buNone/>
            </a:pPr>
            <a:r>
              <a:rPr lang="vi-VN" altLang="en-US" sz="1050" b="1" dirty="0">
                <a:solidFill>
                  <a:srgbClr val="B38A20"/>
                </a:solidFill>
                <a:latin typeface="Inter" pitchFamily="34" charset="0"/>
                <a:ea typeface="Inter" pitchFamily="34" charset="-122"/>
                <a:cs typeface="Inter" pitchFamily="34" charset="-120"/>
              </a:rPr>
              <a:t>BUỔI 7</a:t>
            </a:r>
            <a:endParaRPr lang="vi-VN" sz="1050" dirty="0"/>
          </a:p>
        </p:txBody>
      </p:sp>
      <p:sp>
        <p:nvSpPr>
          <p:cNvPr id="13" name="Shape 10"/>
          <p:cNvSpPr/>
          <p:nvPr/>
        </p:nvSpPr>
        <p:spPr>
          <a:xfrm>
            <a:off x="8275320" y="1975104"/>
            <a:ext cx="2377440" cy="2377440"/>
          </a:xfrm>
          <a:prstGeom prst="ellipse">
            <a:avLst/>
          </a:prstGeom>
          <a:solidFill>
            <a:srgbClr val="183B63">
              <a:alpha val="83000"/>
            </a:srgbClr>
          </a:solidFill>
          <a:ln w="19050">
            <a:solidFill>
              <a:srgbClr val="CDAF4D">
                <a:alpha val="90000"/>
              </a:srgbClr>
            </a:solidFill>
            <a:prstDash val="solid"/>
          </a:ln>
        </p:spPr>
        <p:txBody>
          <a:bodyPr/>
          <a:lstStyle/>
          <a:p>
            <a:endParaRPr lang="en-US"/>
          </a:p>
        </p:txBody>
      </p:sp>
      <p:pic>
        <p:nvPicPr>
          <p:cNvPr id="14" name="Image 1" descr="/mnt/data/auth_slide_work/icon_cache/3c7d0d4f77efee8ca78bd65b1efef8fc.png"/>
          <p:cNvPicPr>
            <a:picLocks noChangeAspect="1"/>
          </p:cNvPicPr>
          <p:nvPr/>
        </p:nvPicPr>
        <p:blipFill>
          <a:blip r:embed="rId4"/>
          <a:stretch>
            <a:fillRect/>
          </a:stretch>
        </p:blipFill>
        <p:spPr>
          <a:xfrm>
            <a:off x="8878824" y="2523744"/>
            <a:ext cx="1161288" cy="1161288"/>
          </a:xfrm>
          <a:prstGeom prst="rect">
            <a:avLst/>
          </a:prstGeom>
        </p:spPr>
      </p:pic>
      <p:pic>
        <p:nvPicPr>
          <p:cNvPr id="15" name="Image 2" descr="/mnt/data/auth_slide_work/icon_cache/5bd0c48f7f50c4a5d0c0275bcabe1d26.png"/>
          <p:cNvPicPr>
            <a:picLocks noChangeAspect="1"/>
          </p:cNvPicPr>
          <p:nvPr/>
        </p:nvPicPr>
        <p:blipFill>
          <a:blip r:embed="rId5"/>
          <a:stretch>
            <a:fillRect/>
          </a:stretch>
        </p:blipFill>
        <p:spPr>
          <a:xfrm>
            <a:off x="10222992" y="3630168"/>
            <a:ext cx="292608" cy="2926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GIỚI THIỆU</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Mục tiêu bài học</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Sau bài học, sinh viên có thể hiểu và kiểm tra cách bảo vệ một REST API.</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02 / 24</a:t>
            </a:r>
            <a:endParaRPr lang="vi-VN" sz="850" dirty="0"/>
          </a:p>
        </p:txBody>
      </p:sp>
      <p:sp>
        <p:nvSpPr>
          <p:cNvPr id="10" name="Shape 8"/>
          <p:cNvSpPr/>
          <p:nvPr/>
        </p:nvSpPr>
        <p:spPr>
          <a:xfrm>
            <a:off x="502920" y="1792224"/>
            <a:ext cx="3712464" cy="1664208"/>
          </a:xfrm>
          <a:prstGeom prst="roundRect">
            <a:avLst>
              <a:gd name="adj" fmla="val 6593"/>
            </a:avLst>
          </a:prstGeom>
          <a:solidFill>
            <a:srgbClr val="FFFFFF"/>
          </a:solidFill>
          <a:ln w="12700">
            <a:solidFill>
              <a:srgbClr val="E0E6EF"/>
            </a:solidFill>
            <a:prstDash val="solid"/>
          </a:ln>
        </p:spPr>
        <p:txBody>
          <a:bodyPr/>
          <a:lstStyle/>
          <a:p>
            <a:endParaRPr lang="en-US"/>
          </a:p>
        </p:txBody>
      </p:sp>
      <p:sp>
        <p:nvSpPr>
          <p:cNvPr id="11" name="Shape 9"/>
          <p:cNvSpPr/>
          <p:nvPr/>
        </p:nvSpPr>
        <p:spPr>
          <a:xfrm>
            <a:off x="713232" y="1993392"/>
            <a:ext cx="484632" cy="484632"/>
          </a:xfrm>
          <a:prstGeom prst="ellipse">
            <a:avLst/>
          </a:prstGeom>
          <a:solidFill>
            <a:srgbClr val="EBF2FE"/>
          </a:solidFill>
          <a:ln w="12700">
            <a:solidFill>
              <a:srgbClr val="EBF2FE">
                <a:alpha val="0"/>
              </a:srgbClr>
            </a:solidFill>
            <a:prstDash val="solid"/>
          </a:ln>
        </p:spPr>
        <p:txBody>
          <a:bodyPr/>
          <a:lstStyle/>
          <a:p>
            <a:endParaRPr lang="en-US"/>
          </a:p>
        </p:txBody>
      </p:sp>
      <p:pic>
        <p:nvPicPr>
          <p:cNvPr id="12" name="Image 0" descr="/mnt/data/auth_slide_work/icon_cache/9c30cd7036a8c73da19dd2a684f83394.png"/>
          <p:cNvPicPr>
            <a:picLocks noChangeAspect="1"/>
          </p:cNvPicPr>
          <p:nvPr/>
        </p:nvPicPr>
        <p:blipFill>
          <a:blip r:embed="rId3"/>
          <a:stretch>
            <a:fillRect/>
          </a:stretch>
        </p:blipFill>
        <p:spPr>
          <a:xfrm>
            <a:off x="848929" y="2119396"/>
            <a:ext cx="208392" cy="208392"/>
          </a:xfrm>
          <a:prstGeom prst="rect">
            <a:avLst/>
          </a:prstGeom>
        </p:spPr>
      </p:pic>
      <p:sp>
        <p:nvSpPr>
          <p:cNvPr id="13" name="Text 10"/>
          <p:cNvSpPr/>
          <p:nvPr/>
        </p:nvSpPr>
        <p:spPr>
          <a:xfrm>
            <a:off x="3675888" y="2020824"/>
            <a:ext cx="320040" cy="283464"/>
          </a:xfrm>
          <a:prstGeom prst="rect">
            <a:avLst/>
          </a:prstGeom>
          <a:noFill/>
          <a:ln/>
        </p:spPr>
        <p:txBody>
          <a:bodyPr wrap="square" lIns="0" tIns="0" rIns="0" bIns="0" rtlCol="0" anchor="ctr">
            <a:normAutofit/>
          </a:bodyPr>
          <a:lstStyle/>
          <a:p>
            <a:pPr marL="0" indent="0" algn="r">
              <a:buNone/>
            </a:pPr>
            <a:r>
              <a:rPr lang="vi-VN" altLang="en-US" sz="1100" b="1" dirty="0">
                <a:solidFill>
                  <a:srgbClr val="B38A20"/>
                </a:solidFill>
                <a:latin typeface="Inter" pitchFamily="34" charset="0"/>
                <a:ea typeface="Inter" pitchFamily="34" charset="-122"/>
                <a:cs typeface="Inter" pitchFamily="34" charset="-120"/>
              </a:rPr>
              <a:t>01</a:t>
            </a:r>
            <a:endParaRPr lang="vi-VN" sz="1100" dirty="0"/>
          </a:p>
        </p:txBody>
      </p:sp>
      <p:sp>
        <p:nvSpPr>
          <p:cNvPr id="14" name="Text 11"/>
          <p:cNvSpPr/>
          <p:nvPr/>
        </p:nvSpPr>
        <p:spPr>
          <a:xfrm>
            <a:off x="722376" y="2660904"/>
            <a:ext cx="3264408" cy="576072"/>
          </a:xfrm>
          <a:prstGeom prst="rect">
            <a:avLst/>
          </a:prstGeom>
          <a:noFill/>
          <a:ln/>
        </p:spPr>
        <p:txBody>
          <a:bodyPr wrap="square" lIns="0" tIns="0" rIns="0" bIns="0" rtlCol="0" anchor="t">
            <a:normAutofit/>
          </a:bodyPr>
          <a:lstStyle/>
          <a:p>
            <a:pPr marL="0" indent="0">
              <a:buNone/>
            </a:pPr>
            <a:r>
              <a:rPr lang="vi-VN" altLang="en-US" sz="1610" b="1" dirty="0">
                <a:solidFill>
                  <a:srgbClr val="183B63"/>
                </a:solidFill>
                <a:latin typeface="Inter" pitchFamily="34" charset="0"/>
                <a:ea typeface="Inter" pitchFamily="34" charset="-122"/>
                <a:cs typeface="Inter" pitchFamily="34" charset="-120"/>
              </a:rPr>
              <a:t>Phân biệt Authentication và Authorization</a:t>
            </a:r>
            <a:endParaRPr lang="vi-VN" sz="1610" dirty="0"/>
          </a:p>
        </p:txBody>
      </p:sp>
      <p:sp>
        <p:nvSpPr>
          <p:cNvPr id="15" name="Shape 12"/>
          <p:cNvSpPr/>
          <p:nvPr/>
        </p:nvSpPr>
        <p:spPr>
          <a:xfrm>
            <a:off x="502920" y="1792224"/>
            <a:ext cx="3712464" cy="1664208"/>
          </a:xfrm>
          <a:prstGeom prst="roundRect">
            <a:avLst>
              <a:gd name="adj" fmla="val 6593"/>
            </a:avLst>
          </a:prstGeom>
          <a:solidFill>
            <a:srgbClr val="FFFFFF"/>
          </a:solidFill>
          <a:ln w="12700">
            <a:solidFill>
              <a:srgbClr val="E0E6EF"/>
            </a:solidFill>
            <a:prstDash val="solid"/>
          </a:ln>
        </p:spPr>
        <p:txBody>
          <a:bodyPr/>
          <a:lstStyle/>
          <a:p>
            <a:endParaRPr lang="en-US"/>
          </a:p>
        </p:txBody>
      </p:sp>
      <p:sp>
        <p:nvSpPr>
          <p:cNvPr id="16" name="Shape 13"/>
          <p:cNvSpPr/>
          <p:nvPr/>
        </p:nvSpPr>
        <p:spPr>
          <a:xfrm>
            <a:off x="713232" y="1993392"/>
            <a:ext cx="484632" cy="484632"/>
          </a:xfrm>
          <a:prstGeom prst="ellipse">
            <a:avLst/>
          </a:prstGeom>
          <a:solidFill>
            <a:srgbClr val="EBF2FE"/>
          </a:solidFill>
          <a:ln w="12700">
            <a:solidFill>
              <a:srgbClr val="EBF2FE">
                <a:alpha val="0"/>
              </a:srgbClr>
            </a:solidFill>
            <a:prstDash val="solid"/>
          </a:ln>
        </p:spPr>
        <p:txBody>
          <a:bodyPr/>
          <a:lstStyle/>
          <a:p>
            <a:endParaRPr lang="en-US"/>
          </a:p>
        </p:txBody>
      </p:sp>
      <p:pic>
        <p:nvPicPr>
          <p:cNvPr id="17" name="Image 1" descr="/mnt/data/auth_slide_work/icon_cache/96f27d837cede5cff76a6427e462c5fe.png"/>
          <p:cNvPicPr>
            <a:picLocks noChangeAspect="1"/>
          </p:cNvPicPr>
          <p:nvPr/>
        </p:nvPicPr>
        <p:blipFill>
          <a:blip r:embed="rId4"/>
          <a:stretch>
            <a:fillRect/>
          </a:stretch>
        </p:blipFill>
        <p:spPr>
          <a:xfrm>
            <a:off x="848929" y="2119396"/>
            <a:ext cx="208392" cy="208392"/>
          </a:xfrm>
          <a:prstGeom prst="rect">
            <a:avLst/>
          </a:prstGeom>
        </p:spPr>
      </p:pic>
      <p:sp>
        <p:nvSpPr>
          <p:cNvPr id="18" name="Text 14"/>
          <p:cNvSpPr/>
          <p:nvPr/>
        </p:nvSpPr>
        <p:spPr>
          <a:xfrm>
            <a:off x="3675888" y="2020824"/>
            <a:ext cx="320040" cy="283464"/>
          </a:xfrm>
          <a:prstGeom prst="rect">
            <a:avLst/>
          </a:prstGeom>
          <a:noFill/>
          <a:ln/>
        </p:spPr>
        <p:txBody>
          <a:bodyPr wrap="square" lIns="0" tIns="0" rIns="0" bIns="0" rtlCol="0" anchor="ctr">
            <a:normAutofit/>
          </a:bodyPr>
          <a:lstStyle/>
          <a:p>
            <a:pPr marL="0" indent="0" algn="r">
              <a:buNone/>
            </a:pPr>
            <a:r>
              <a:rPr lang="vi-VN" altLang="en-US" sz="1100" b="1" dirty="0">
                <a:solidFill>
                  <a:srgbClr val="B38A20"/>
                </a:solidFill>
                <a:latin typeface="Inter" pitchFamily="34" charset="0"/>
                <a:ea typeface="Inter" pitchFamily="34" charset="-122"/>
                <a:cs typeface="Inter" pitchFamily="34" charset="-120"/>
              </a:rPr>
              <a:t>02</a:t>
            </a:r>
            <a:endParaRPr lang="vi-VN" sz="1100" dirty="0"/>
          </a:p>
        </p:txBody>
      </p:sp>
      <p:sp>
        <p:nvSpPr>
          <p:cNvPr id="19" name="Text 15"/>
          <p:cNvSpPr/>
          <p:nvPr/>
        </p:nvSpPr>
        <p:spPr>
          <a:xfrm>
            <a:off x="722376" y="2660904"/>
            <a:ext cx="3264408" cy="576072"/>
          </a:xfrm>
          <a:prstGeom prst="rect">
            <a:avLst/>
          </a:prstGeom>
          <a:noFill/>
          <a:ln/>
        </p:spPr>
        <p:txBody>
          <a:bodyPr wrap="square" lIns="0" tIns="0" rIns="0" bIns="0" rtlCol="0" anchor="t">
            <a:normAutofit/>
          </a:bodyPr>
          <a:lstStyle/>
          <a:p>
            <a:pPr marL="0" indent="0">
              <a:buNone/>
            </a:pPr>
            <a:r>
              <a:rPr lang="vi-VN" altLang="en-US" sz="1610" b="1" dirty="0">
                <a:solidFill>
                  <a:srgbClr val="183B63"/>
                </a:solidFill>
                <a:latin typeface="Inter" pitchFamily="34" charset="0"/>
                <a:ea typeface="Inter" pitchFamily="34" charset="-122"/>
                <a:cs typeface="Inter" pitchFamily="34" charset="-120"/>
              </a:rPr>
              <a:t>Giải thích Session, Token và JWT</a:t>
            </a:r>
            <a:endParaRPr lang="vi-VN" sz="1610" dirty="0"/>
          </a:p>
        </p:txBody>
      </p:sp>
      <p:sp>
        <p:nvSpPr>
          <p:cNvPr id="20" name="Shape 16"/>
          <p:cNvSpPr/>
          <p:nvPr/>
        </p:nvSpPr>
        <p:spPr>
          <a:xfrm>
            <a:off x="502920" y="1792224"/>
            <a:ext cx="3712464" cy="1664208"/>
          </a:xfrm>
          <a:prstGeom prst="roundRect">
            <a:avLst>
              <a:gd name="adj" fmla="val 6593"/>
            </a:avLst>
          </a:prstGeom>
          <a:solidFill>
            <a:srgbClr val="FFFFFF"/>
          </a:solidFill>
          <a:ln w="12700">
            <a:solidFill>
              <a:srgbClr val="E0E6EF"/>
            </a:solidFill>
            <a:prstDash val="solid"/>
          </a:ln>
        </p:spPr>
        <p:txBody>
          <a:bodyPr/>
          <a:lstStyle/>
          <a:p>
            <a:endParaRPr lang="en-US"/>
          </a:p>
        </p:txBody>
      </p:sp>
      <p:sp>
        <p:nvSpPr>
          <p:cNvPr id="21" name="Shape 17"/>
          <p:cNvSpPr/>
          <p:nvPr/>
        </p:nvSpPr>
        <p:spPr>
          <a:xfrm>
            <a:off x="713232" y="1993392"/>
            <a:ext cx="484632" cy="484632"/>
          </a:xfrm>
          <a:prstGeom prst="ellipse">
            <a:avLst/>
          </a:prstGeom>
          <a:solidFill>
            <a:srgbClr val="EBF2FE"/>
          </a:solidFill>
          <a:ln w="12700">
            <a:solidFill>
              <a:srgbClr val="EBF2FE">
                <a:alpha val="0"/>
              </a:srgbClr>
            </a:solidFill>
            <a:prstDash val="solid"/>
          </a:ln>
        </p:spPr>
        <p:txBody>
          <a:bodyPr/>
          <a:lstStyle/>
          <a:p>
            <a:endParaRPr lang="en-US"/>
          </a:p>
        </p:txBody>
      </p:sp>
      <p:pic>
        <p:nvPicPr>
          <p:cNvPr id="22" name="Image 2" descr="/mnt/data/auth_slide_work/icon_cache/7713ce3b3bc9faf0b0d2807d1ec66288.png"/>
          <p:cNvPicPr>
            <a:picLocks noChangeAspect="1"/>
          </p:cNvPicPr>
          <p:nvPr/>
        </p:nvPicPr>
        <p:blipFill>
          <a:blip r:embed="rId5"/>
          <a:stretch>
            <a:fillRect/>
          </a:stretch>
        </p:blipFill>
        <p:spPr>
          <a:xfrm>
            <a:off x="848929" y="2119396"/>
            <a:ext cx="208392" cy="208392"/>
          </a:xfrm>
          <a:prstGeom prst="rect">
            <a:avLst/>
          </a:prstGeom>
        </p:spPr>
      </p:pic>
      <p:sp>
        <p:nvSpPr>
          <p:cNvPr id="23" name="Text 18"/>
          <p:cNvSpPr/>
          <p:nvPr/>
        </p:nvSpPr>
        <p:spPr>
          <a:xfrm>
            <a:off x="3675888" y="2020824"/>
            <a:ext cx="320040" cy="283464"/>
          </a:xfrm>
          <a:prstGeom prst="rect">
            <a:avLst/>
          </a:prstGeom>
          <a:noFill/>
          <a:ln/>
        </p:spPr>
        <p:txBody>
          <a:bodyPr wrap="square" lIns="0" tIns="0" rIns="0" bIns="0" rtlCol="0" anchor="ctr">
            <a:normAutofit/>
          </a:bodyPr>
          <a:lstStyle/>
          <a:p>
            <a:pPr marL="0" indent="0" algn="r">
              <a:buNone/>
            </a:pPr>
            <a:r>
              <a:rPr lang="vi-VN" altLang="en-US" sz="1100" b="1" dirty="0">
                <a:solidFill>
                  <a:srgbClr val="B38A20"/>
                </a:solidFill>
                <a:latin typeface="Inter" pitchFamily="34" charset="0"/>
                <a:ea typeface="Inter" pitchFamily="34" charset="-122"/>
                <a:cs typeface="Inter" pitchFamily="34" charset="-120"/>
              </a:rPr>
              <a:t>03</a:t>
            </a:r>
            <a:endParaRPr lang="vi-VN" sz="1100" dirty="0"/>
          </a:p>
        </p:txBody>
      </p:sp>
      <p:sp>
        <p:nvSpPr>
          <p:cNvPr id="24" name="Text 19"/>
          <p:cNvSpPr/>
          <p:nvPr/>
        </p:nvSpPr>
        <p:spPr>
          <a:xfrm>
            <a:off x="722376" y="2660904"/>
            <a:ext cx="3264408" cy="576072"/>
          </a:xfrm>
          <a:prstGeom prst="rect">
            <a:avLst/>
          </a:prstGeom>
          <a:noFill/>
          <a:ln/>
        </p:spPr>
        <p:txBody>
          <a:bodyPr wrap="square" lIns="0" tIns="0" rIns="0" bIns="0" rtlCol="0" anchor="t">
            <a:normAutofit/>
          </a:bodyPr>
          <a:lstStyle/>
          <a:p>
            <a:pPr marL="0" indent="0">
              <a:buNone/>
            </a:pPr>
            <a:r>
              <a:rPr lang="vi-VN" altLang="en-US" sz="1610" b="1" dirty="0">
                <a:solidFill>
                  <a:srgbClr val="183B63"/>
                </a:solidFill>
                <a:latin typeface="Inter" pitchFamily="34" charset="0"/>
                <a:ea typeface="Inter" pitchFamily="34" charset="-122"/>
                <a:cs typeface="Inter" pitchFamily="34" charset="-120"/>
              </a:rPr>
              <a:t>Hiểu cách băm mật khẩu với bcrypt</a:t>
            </a:r>
            <a:endParaRPr lang="vi-VN" sz="1610" dirty="0"/>
          </a:p>
        </p:txBody>
      </p:sp>
      <p:sp>
        <p:nvSpPr>
          <p:cNvPr id="25" name="Shape 20"/>
          <p:cNvSpPr/>
          <p:nvPr/>
        </p:nvSpPr>
        <p:spPr>
          <a:xfrm>
            <a:off x="2377440" y="3776472"/>
            <a:ext cx="3749040" cy="1664208"/>
          </a:xfrm>
          <a:prstGeom prst="roundRect">
            <a:avLst>
              <a:gd name="adj" fmla="val 6593"/>
            </a:avLst>
          </a:prstGeom>
          <a:solidFill>
            <a:srgbClr val="FFFFFF"/>
          </a:solidFill>
          <a:ln w="12700">
            <a:solidFill>
              <a:srgbClr val="E0E6EF"/>
            </a:solidFill>
            <a:prstDash val="solid"/>
          </a:ln>
        </p:spPr>
        <p:txBody>
          <a:bodyPr/>
          <a:lstStyle/>
          <a:p>
            <a:endParaRPr lang="en-US"/>
          </a:p>
        </p:txBody>
      </p:sp>
      <p:sp>
        <p:nvSpPr>
          <p:cNvPr id="26" name="Shape 21"/>
          <p:cNvSpPr/>
          <p:nvPr/>
        </p:nvSpPr>
        <p:spPr>
          <a:xfrm>
            <a:off x="2587752" y="3977640"/>
            <a:ext cx="484632" cy="484632"/>
          </a:xfrm>
          <a:prstGeom prst="ellipse">
            <a:avLst/>
          </a:prstGeom>
          <a:solidFill>
            <a:srgbClr val="EBF2FE"/>
          </a:solidFill>
          <a:ln w="12700">
            <a:solidFill>
              <a:srgbClr val="EBF2FE">
                <a:alpha val="0"/>
              </a:srgbClr>
            </a:solidFill>
            <a:prstDash val="solid"/>
          </a:ln>
        </p:spPr>
        <p:txBody>
          <a:bodyPr/>
          <a:lstStyle/>
          <a:p>
            <a:endParaRPr lang="en-US"/>
          </a:p>
        </p:txBody>
      </p:sp>
      <p:pic>
        <p:nvPicPr>
          <p:cNvPr id="27" name="Image 3" descr="/mnt/data/auth_slide_work/icon_cache/86477fe53ac2f99643256a26cba980b1.png"/>
          <p:cNvPicPr>
            <a:picLocks noChangeAspect="1"/>
          </p:cNvPicPr>
          <p:nvPr/>
        </p:nvPicPr>
        <p:blipFill>
          <a:blip r:embed="rId6"/>
          <a:stretch>
            <a:fillRect/>
          </a:stretch>
        </p:blipFill>
        <p:spPr>
          <a:xfrm>
            <a:off x="2723449" y="4103644"/>
            <a:ext cx="208392" cy="208392"/>
          </a:xfrm>
          <a:prstGeom prst="rect">
            <a:avLst/>
          </a:prstGeom>
        </p:spPr>
      </p:pic>
      <p:sp>
        <p:nvSpPr>
          <p:cNvPr id="28" name="Text 22"/>
          <p:cNvSpPr/>
          <p:nvPr/>
        </p:nvSpPr>
        <p:spPr>
          <a:xfrm>
            <a:off x="5586984" y="4005072"/>
            <a:ext cx="320040" cy="283464"/>
          </a:xfrm>
          <a:prstGeom prst="rect">
            <a:avLst/>
          </a:prstGeom>
          <a:noFill/>
          <a:ln/>
        </p:spPr>
        <p:txBody>
          <a:bodyPr wrap="square" lIns="0" tIns="0" rIns="0" bIns="0" rtlCol="0" anchor="ctr">
            <a:normAutofit/>
          </a:bodyPr>
          <a:lstStyle/>
          <a:p>
            <a:pPr marL="0" indent="0" algn="r">
              <a:buNone/>
            </a:pPr>
            <a:r>
              <a:rPr lang="vi-VN" altLang="en-US" sz="1100" b="1" dirty="0">
                <a:solidFill>
                  <a:srgbClr val="B38A20"/>
                </a:solidFill>
                <a:latin typeface="Inter" pitchFamily="34" charset="0"/>
                <a:ea typeface="Inter" pitchFamily="34" charset="-122"/>
                <a:cs typeface="Inter" pitchFamily="34" charset="-120"/>
              </a:rPr>
              <a:t>04</a:t>
            </a:r>
            <a:endParaRPr lang="vi-VN" sz="1100" dirty="0"/>
          </a:p>
        </p:txBody>
      </p:sp>
      <p:sp>
        <p:nvSpPr>
          <p:cNvPr id="29" name="Text 23"/>
          <p:cNvSpPr/>
          <p:nvPr/>
        </p:nvSpPr>
        <p:spPr>
          <a:xfrm>
            <a:off x="2596896" y="4645152"/>
            <a:ext cx="3300984" cy="576072"/>
          </a:xfrm>
          <a:prstGeom prst="rect">
            <a:avLst/>
          </a:prstGeom>
          <a:noFill/>
          <a:ln/>
        </p:spPr>
        <p:txBody>
          <a:bodyPr wrap="square" lIns="0" tIns="0" rIns="0" bIns="0" rtlCol="0" anchor="t">
            <a:normAutofit/>
          </a:bodyPr>
          <a:lstStyle/>
          <a:p>
            <a:pPr marL="0" indent="0">
              <a:buNone/>
            </a:pPr>
            <a:r>
              <a:rPr lang="vi-VN" altLang="en-US" sz="1610" b="1" dirty="0">
                <a:solidFill>
                  <a:srgbClr val="183B63"/>
                </a:solidFill>
                <a:latin typeface="Inter" pitchFamily="34" charset="0"/>
                <a:ea typeface="Inter" pitchFamily="34" charset="-122"/>
                <a:cs typeface="Inter" pitchFamily="34" charset="-120"/>
              </a:rPr>
              <a:t>Đọc code Middleware isAuth, isAdmin</a:t>
            </a:r>
            <a:endParaRPr lang="vi-VN" sz="1610" dirty="0"/>
          </a:p>
        </p:txBody>
      </p:sp>
      <p:sp>
        <p:nvSpPr>
          <p:cNvPr id="30" name="Shape 24"/>
          <p:cNvSpPr/>
          <p:nvPr/>
        </p:nvSpPr>
        <p:spPr>
          <a:xfrm>
            <a:off x="6355080" y="3776472"/>
            <a:ext cx="3749040" cy="1664208"/>
          </a:xfrm>
          <a:prstGeom prst="roundRect">
            <a:avLst>
              <a:gd name="adj" fmla="val 6593"/>
            </a:avLst>
          </a:prstGeom>
          <a:solidFill>
            <a:srgbClr val="FFFFFF"/>
          </a:solidFill>
          <a:ln w="12700">
            <a:solidFill>
              <a:srgbClr val="E0E6EF"/>
            </a:solidFill>
            <a:prstDash val="solid"/>
          </a:ln>
        </p:spPr>
        <p:txBody>
          <a:bodyPr/>
          <a:lstStyle/>
          <a:p>
            <a:endParaRPr lang="en-US"/>
          </a:p>
        </p:txBody>
      </p:sp>
      <p:sp>
        <p:nvSpPr>
          <p:cNvPr id="31" name="Shape 25"/>
          <p:cNvSpPr/>
          <p:nvPr/>
        </p:nvSpPr>
        <p:spPr>
          <a:xfrm>
            <a:off x="6565392" y="3977640"/>
            <a:ext cx="484632" cy="484632"/>
          </a:xfrm>
          <a:prstGeom prst="ellipse">
            <a:avLst/>
          </a:prstGeom>
          <a:solidFill>
            <a:srgbClr val="EBF2FE"/>
          </a:solidFill>
          <a:ln w="12700">
            <a:solidFill>
              <a:srgbClr val="EBF2FE">
                <a:alpha val="0"/>
              </a:srgbClr>
            </a:solidFill>
            <a:prstDash val="solid"/>
          </a:ln>
        </p:spPr>
        <p:txBody>
          <a:bodyPr/>
          <a:lstStyle/>
          <a:p>
            <a:endParaRPr lang="en-US"/>
          </a:p>
        </p:txBody>
      </p:sp>
      <p:pic>
        <p:nvPicPr>
          <p:cNvPr id="32" name="Image 4" descr="/mnt/data/auth_slide_work/icon_cache/3be15075dd7fc36f93e9e9226961fef5.png"/>
          <p:cNvPicPr>
            <a:picLocks noChangeAspect="1"/>
          </p:cNvPicPr>
          <p:nvPr/>
        </p:nvPicPr>
        <p:blipFill>
          <a:blip r:embed="rId7"/>
          <a:stretch>
            <a:fillRect/>
          </a:stretch>
        </p:blipFill>
        <p:spPr>
          <a:xfrm>
            <a:off x="6701089" y="4103644"/>
            <a:ext cx="208392" cy="208392"/>
          </a:xfrm>
          <a:prstGeom prst="rect">
            <a:avLst/>
          </a:prstGeom>
        </p:spPr>
      </p:pic>
      <p:sp>
        <p:nvSpPr>
          <p:cNvPr id="33" name="Text 26"/>
          <p:cNvSpPr/>
          <p:nvPr/>
        </p:nvSpPr>
        <p:spPr>
          <a:xfrm>
            <a:off x="9564624" y="4005072"/>
            <a:ext cx="320040" cy="283464"/>
          </a:xfrm>
          <a:prstGeom prst="rect">
            <a:avLst/>
          </a:prstGeom>
          <a:noFill/>
          <a:ln/>
        </p:spPr>
        <p:txBody>
          <a:bodyPr wrap="square" lIns="0" tIns="0" rIns="0" bIns="0" rtlCol="0" anchor="ctr">
            <a:normAutofit/>
          </a:bodyPr>
          <a:lstStyle/>
          <a:p>
            <a:pPr marL="0" indent="0" algn="r">
              <a:buNone/>
            </a:pPr>
            <a:r>
              <a:rPr lang="vi-VN" altLang="en-US" sz="1100" b="1" dirty="0">
                <a:solidFill>
                  <a:srgbClr val="B38A20"/>
                </a:solidFill>
                <a:latin typeface="Inter" pitchFamily="34" charset="0"/>
                <a:ea typeface="Inter" pitchFamily="34" charset="-122"/>
                <a:cs typeface="Inter" pitchFamily="34" charset="-120"/>
              </a:rPr>
              <a:t>05</a:t>
            </a:r>
            <a:endParaRPr lang="vi-VN" sz="1100" dirty="0"/>
          </a:p>
        </p:txBody>
      </p:sp>
      <p:sp>
        <p:nvSpPr>
          <p:cNvPr id="34" name="Text 27"/>
          <p:cNvSpPr/>
          <p:nvPr/>
        </p:nvSpPr>
        <p:spPr>
          <a:xfrm>
            <a:off x="6574536" y="4645152"/>
            <a:ext cx="3300984" cy="576072"/>
          </a:xfrm>
          <a:prstGeom prst="rect">
            <a:avLst/>
          </a:prstGeom>
          <a:noFill/>
          <a:ln/>
        </p:spPr>
        <p:txBody>
          <a:bodyPr wrap="square" lIns="0" tIns="0" rIns="0" bIns="0" rtlCol="0" anchor="t">
            <a:normAutofit/>
          </a:bodyPr>
          <a:lstStyle/>
          <a:p>
            <a:pPr marL="0" indent="0">
              <a:buNone/>
            </a:pPr>
            <a:r>
              <a:rPr lang="vi-VN" altLang="en-US" sz="1610" b="1" dirty="0">
                <a:solidFill>
                  <a:srgbClr val="183B63"/>
                </a:solidFill>
                <a:latin typeface="Inter" pitchFamily="34" charset="0"/>
                <a:ea typeface="Inter" pitchFamily="34" charset="-122"/>
                <a:cs typeface="Inter" pitchFamily="34" charset="-120"/>
              </a:rPr>
              <a:t>Prompt AI và review lỗi bảo mật</a:t>
            </a:r>
            <a:endParaRPr lang="vi-VN" sz="1610" dirty="0"/>
          </a:p>
        </p:txBody>
      </p:sp>
      <p:sp>
        <p:nvSpPr>
          <p:cNvPr id="35" name="Shape 28"/>
          <p:cNvSpPr/>
          <p:nvPr/>
        </p:nvSpPr>
        <p:spPr>
          <a:xfrm>
            <a:off x="475488" y="5897880"/>
            <a:ext cx="11247120" cy="448056"/>
          </a:xfrm>
          <a:prstGeom prst="roundRect">
            <a:avLst>
              <a:gd name="adj" fmla="val 24490"/>
            </a:avLst>
          </a:prstGeom>
          <a:solidFill>
            <a:srgbClr val="E6F6EF"/>
          </a:solidFill>
          <a:ln w="12700">
            <a:solidFill>
              <a:srgbClr val="E6F6EF">
                <a:alpha val="0"/>
              </a:srgbClr>
            </a:solidFill>
            <a:prstDash val="solid"/>
          </a:ln>
        </p:spPr>
        <p:txBody>
          <a:bodyPr/>
          <a:lstStyle/>
          <a:p>
            <a:endParaRPr lang="en-US"/>
          </a:p>
        </p:txBody>
      </p:sp>
      <p:pic>
        <p:nvPicPr>
          <p:cNvPr id="36" name="Image 5" descr="/mnt/data/auth_slide_work/icon_cache/741d30448bca28dcee58791317662124.png"/>
          <p:cNvPicPr>
            <a:picLocks noChangeAspect="1"/>
          </p:cNvPicPr>
          <p:nvPr/>
        </p:nvPicPr>
        <p:blipFill>
          <a:blip r:embed="rId8"/>
          <a:stretch>
            <a:fillRect/>
          </a:stretch>
        </p:blipFill>
        <p:spPr>
          <a:xfrm>
            <a:off x="658368" y="6025896"/>
            <a:ext cx="173736" cy="173736"/>
          </a:xfrm>
          <a:prstGeom prst="rect">
            <a:avLst/>
          </a:prstGeom>
        </p:spPr>
      </p:pic>
      <p:sp>
        <p:nvSpPr>
          <p:cNvPr id="37" name="Text 29"/>
          <p:cNvSpPr/>
          <p:nvPr/>
        </p:nvSpPr>
        <p:spPr>
          <a:xfrm>
            <a:off x="932688" y="5984748"/>
            <a:ext cx="10515600" cy="283464"/>
          </a:xfrm>
          <a:prstGeom prst="rect">
            <a:avLst/>
          </a:prstGeom>
          <a:noFill/>
          <a:ln/>
        </p:spPr>
        <p:txBody>
          <a:bodyPr wrap="square" lIns="0" tIns="0" rIns="0" bIns="0" rtlCol="0" anchor="ctr">
            <a:normAutofit/>
          </a:bodyPr>
          <a:lstStyle/>
          <a:p>
            <a:pPr marL="0" indent="0">
              <a:buNone/>
            </a:pPr>
            <a:r>
              <a:rPr lang="vi-VN" altLang="en-US" sz="1220" dirty="0">
                <a:solidFill>
                  <a:srgbClr val="263345"/>
                </a:solidFill>
                <a:latin typeface="Inter" pitchFamily="34" charset="0"/>
                <a:ea typeface="Inter" pitchFamily="34" charset="-122"/>
                <a:cs typeface="Inter" pitchFamily="34" charset="-120"/>
              </a:rPr>
              <a:t>Đầu ra: Đăng ký được, đăng nhập nhận JWT và chỉ truy cập API khi có quyền.</a:t>
            </a:r>
            <a:endParaRPr lang="vi-VN" sz="12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TÌNH HUỐNG</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Tại sao phải đăng nhập và phân quyền?</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Ví dụ: Hệ thống Quản lý Học vụ có nhiều nhóm người dùng và quyền truy cập khác nhau.</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03 / 24</a:t>
            </a:r>
            <a:endParaRPr lang="vi-VN" sz="850" dirty="0"/>
          </a:p>
        </p:txBody>
      </p:sp>
      <p:sp>
        <p:nvSpPr>
          <p:cNvPr id="10" name="Shape 8"/>
          <p:cNvSpPr/>
          <p:nvPr/>
        </p:nvSpPr>
        <p:spPr>
          <a:xfrm>
            <a:off x="548640" y="1892808"/>
            <a:ext cx="3611880" cy="3017520"/>
          </a:xfrm>
          <a:prstGeom prst="roundRect">
            <a:avLst>
              <a:gd name="adj" fmla="val 3636"/>
            </a:avLst>
          </a:prstGeom>
          <a:solidFill>
            <a:srgbClr val="FFFFFF"/>
          </a:solidFill>
          <a:ln w="12700">
            <a:solidFill>
              <a:srgbClr val="E0E6EF"/>
            </a:solidFill>
            <a:prstDash val="solid"/>
          </a:ln>
        </p:spPr>
        <p:txBody>
          <a:bodyPr/>
          <a:lstStyle/>
          <a:p>
            <a:endParaRPr lang="en-US"/>
          </a:p>
        </p:txBody>
      </p:sp>
      <p:sp>
        <p:nvSpPr>
          <p:cNvPr id="11" name="Shape 9"/>
          <p:cNvSpPr/>
          <p:nvPr/>
        </p:nvSpPr>
        <p:spPr>
          <a:xfrm>
            <a:off x="1947672" y="2148840"/>
            <a:ext cx="841248" cy="841248"/>
          </a:xfrm>
          <a:prstGeom prst="ellipse">
            <a:avLst/>
          </a:prstGeom>
          <a:solidFill>
            <a:srgbClr val="EBF2FE"/>
          </a:solidFill>
          <a:ln w="12700">
            <a:solidFill>
              <a:srgbClr val="EBF2FE">
                <a:alpha val="0"/>
              </a:srgbClr>
            </a:solidFill>
            <a:prstDash val="solid"/>
          </a:ln>
        </p:spPr>
        <p:txBody>
          <a:bodyPr/>
          <a:lstStyle/>
          <a:p>
            <a:endParaRPr lang="en-US"/>
          </a:p>
        </p:txBody>
      </p:sp>
      <p:pic>
        <p:nvPicPr>
          <p:cNvPr id="12" name="Image 0" descr="/mnt/data/auth_slide_work/icon_cache/97f89ed654458a6b4491bae41c28310e.png"/>
          <p:cNvPicPr>
            <a:picLocks noChangeAspect="1"/>
          </p:cNvPicPr>
          <p:nvPr/>
        </p:nvPicPr>
        <p:blipFill>
          <a:blip r:embed="rId3"/>
          <a:stretch>
            <a:fillRect/>
          </a:stretch>
        </p:blipFill>
        <p:spPr>
          <a:xfrm>
            <a:off x="2183221" y="2367564"/>
            <a:ext cx="361737" cy="361737"/>
          </a:xfrm>
          <a:prstGeom prst="rect">
            <a:avLst/>
          </a:prstGeom>
        </p:spPr>
      </p:pic>
      <p:sp>
        <p:nvSpPr>
          <p:cNvPr id="13" name="Text 10"/>
          <p:cNvSpPr/>
          <p:nvPr/>
        </p:nvSpPr>
        <p:spPr>
          <a:xfrm>
            <a:off x="713232" y="3255264"/>
            <a:ext cx="3291840" cy="411480"/>
          </a:xfrm>
          <a:prstGeom prst="rect">
            <a:avLst/>
          </a:prstGeom>
          <a:noFill/>
          <a:ln/>
        </p:spPr>
        <p:txBody>
          <a:bodyPr wrap="square" lIns="0" tIns="0" rIns="0" bIns="0" rtlCol="0" anchor="ctr">
            <a:normAutofit/>
          </a:bodyPr>
          <a:lstStyle/>
          <a:p>
            <a:pPr marL="0" indent="0" algn="ctr">
              <a:buNone/>
            </a:pPr>
            <a:r>
              <a:rPr lang="vi-VN" altLang="en-US" sz="1810" b="1" dirty="0">
                <a:solidFill>
                  <a:srgbClr val="183B63"/>
                </a:solidFill>
                <a:latin typeface="Inter" pitchFamily="34" charset="0"/>
                <a:ea typeface="Inter" pitchFamily="34" charset="-122"/>
                <a:cs typeface="Inter" pitchFamily="34" charset="-120"/>
              </a:rPr>
              <a:t>SINH VIÊN</a:t>
            </a:r>
            <a:endParaRPr lang="vi-VN" sz="1810" dirty="0"/>
          </a:p>
        </p:txBody>
      </p:sp>
      <p:sp>
        <p:nvSpPr>
          <p:cNvPr id="14" name="Text 11"/>
          <p:cNvSpPr/>
          <p:nvPr/>
        </p:nvSpPr>
        <p:spPr>
          <a:xfrm>
            <a:off x="932688" y="3895344"/>
            <a:ext cx="2834640" cy="594360"/>
          </a:xfrm>
          <a:prstGeom prst="rect">
            <a:avLst/>
          </a:prstGeom>
          <a:noFill/>
          <a:ln/>
        </p:spPr>
        <p:txBody>
          <a:bodyPr wrap="square" lIns="0" tIns="0" rIns="0" bIns="0" rtlCol="0" anchor="ctr">
            <a:normAutofit/>
          </a:bodyPr>
          <a:lstStyle/>
          <a:p>
            <a:pPr marL="0" indent="0" algn="ctr">
              <a:buNone/>
            </a:pPr>
            <a:r>
              <a:rPr lang="vi-VN" altLang="en-US" sz="1310" dirty="0">
                <a:solidFill>
                  <a:srgbClr val="667389"/>
                </a:solidFill>
                <a:latin typeface="Inter" pitchFamily="34" charset="0"/>
                <a:ea typeface="Inter" pitchFamily="34" charset="-122"/>
                <a:cs typeface="Inter" pitchFamily="34" charset="-120"/>
              </a:rPr>
              <a:t>Xem điểm</a:t>
            </a:r>
            <a:endParaRPr lang="vi-VN" sz="1310" dirty="0"/>
          </a:p>
          <a:p>
            <a:pPr marL="0" indent="0" algn="ctr">
              <a:buNone/>
            </a:pPr>
            <a:r>
              <a:rPr lang="vi-VN" altLang="en-US" sz="1310" dirty="0">
                <a:solidFill>
                  <a:srgbClr val="667389"/>
                </a:solidFill>
                <a:latin typeface="Inter" pitchFamily="34" charset="0"/>
                <a:ea typeface="Inter" pitchFamily="34" charset="-122"/>
                <a:cs typeface="Inter" pitchFamily="34" charset="-120"/>
              </a:rPr>
              <a:t>Đăng ký học phần</a:t>
            </a:r>
            <a:endParaRPr lang="vi-VN" sz="1310" dirty="0"/>
          </a:p>
        </p:txBody>
      </p:sp>
      <p:sp>
        <p:nvSpPr>
          <p:cNvPr id="15" name="Shape 12"/>
          <p:cNvSpPr/>
          <p:nvPr/>
        </p:nvSpPr>
        <p:spPr>
          <a:xfrm>
            <a:off x="4407408" y="1892808"/>
            <a:ext cx="3611880" cy="3017520"/>
          </a:xfrm>
          <a:prstGeom prst="roundRect">
            <a:avLst>
              <a:gd name="adj" fmla="val 3636"/>
            </a:avLst>
          </a:prstGeom>
          <a:solidFill>
            <a:srgbClr val="FFFFFF"/>
          </a:solidFill>
          <a:ln w="12700">
            <a:solidFill>
              <a:srgbClr val="E0E6EF"/>
            </a:solidFill>
            <a:prstDash val="solid"/>
          </a:ln>
        </p:spPr>
        <p:txBody>
          <a:bodyPr/>
          <a:lstStyle/>
          <a:p>
            <a:endParaRPr lang="en-US"/>
          </a:p>
        </p:txBody>
      </p:sp>
      <p:sp>
        <p:nvSpPr>
          <p:cNvPr id="16" name="Shape 13"/>
          <p:cNvSpPr/>
          <p:nvPr/>
        </p:nvSpPr>
        <p:spPr>
          <a:xfrm>
            <a:off x="5806440" y="2148840"/>
            <a:ext cx="841248" cy="841248"/>
          </a:xfrm>
          <a:prstGeom prst="ellipse">
            <a:avLst/>
          </a:prstGeom>
          <a:solidFill>
            <a:srgbClr val="F0ECFD"/>
          </a:solidFill>
          <a:ln w="12700">
            <a:solidFill>
              <a:srgbClr val="F0ECFD">
                <a:alpha val="0"/>
              </a:srgbClr>
            </a:solidFill>
            <a:prstDash val="solid"/>
          </a:ln>
        </p:spPr>
        <p:txBody>
          <a:bodyPr/>
          <a:lstStyle/>
          <a:p>
            <a:endParaRPr lang="en-US"/>
          </a:p>
        </p:txBody>
      </p:sp>
      <p:pic>
        <p:nvPicPr>
          <p:cNvPr id="17" name="Image 1" descr="/mnt/data/auth_slide_work/icon_cache/bb3dea3d816257b71cc644427c35112a.png"/>
          <p:cNvPicPr>
            <a:picLocks noChangeAspect="1"/>
          </p:cNvPicPr>
          <p:nvPr/>
        </p:nvPicPr>
        <p:blipFill>
          <a:blip r:embed="rId4"/>
          <a:stretch>
            <a:fillRect/>
          </a:stretch>
        </p:blipFill>
        <p:spPr>
          <a:xfrm>
            <a:off x="6041989" y="2367564"/>
            <a:ext cx="361737" cy="361737"/>
          </a:xfrm>
          <a:prstGeom prst="rect">
            <a:avLst/>
          </a:prstGeom>
        </p:spPr>
      </p:pic>
      <p:sp>
        <p:nvSpPr>
          <p:cNvPr id="18" name="Text 14"/>
          <p:cNvSpPr/>
          <p:nvPr/>
        </p:nvSpPr>
        <p:spPr>
          <a:xfrm>
            <a:off x="4572000" y="3255264"/>
            <a:ext cx="3291840" cy="411480"/>
          </a:xfrm>
          <a:prstGeom prst="rect">
            <a:avLst/>
          </a:prstGeom>
          <a:noFill/>
          <a:ln/>
        </p:spPr>
        <p:txBody>
          <a:bodyPr wrap="square" lIns="0" tIns="0" rIns="0" bIns="0" rtlCol="0" anchor="ctr">
            <a:normAutofit/>
          </a:bodyPr>
          <a:lstStyle/>
          <a:p>
            <a:pPr marL="0" indent="0" algn="ctr">
              <a:buNone/>
            </a:pPr>
            <a:r>
              <a:rPr lang="vi-VN" altLang="en-US" sz="1810" b="1" dirty="0">
                <a:solidFill>
                  <a:srgbClr val="183B63"/>
                </a:solidFill>
                <a:latin typeface="Inter" pitchFamily="34" charset="0"/>
                <a:ea typeface="Inter" pitchFamily="34" charset="-122"/>
                <a:cs typeface="Inter" pitchFamily="34" charset="-120"/>
              </a:rPr>
              <a:t>GIẢNG VIÊN</a:t>
            </a:r>
            <a:endParaRPr lang="vi-VN" sz="1810" dirty="0"/>
          </a:p>
        </p:txBody>
      </p:sp>
      <p:sp>
        <p:nvSpPr>
          <p:cNvPr id="19" name="Text 15"/>
          <p:cNvSpPr/>
          <p:nvPr/>
        </p:nvSpPr>
        <p:spPr>
          <a:xfrm>
            <a:off x="4791456" y="3895344"/>
            <a:ext cx="2834640" cy="594360"/>
          </a:xfrm>
          <a:prstGeom prst="rect">
            <a:avLst/>
          </a:prstGeom>
          <a:noFill/>
          <a:ln/>
        </p:spPr>
        <p:txBody>
          <a:bodyPr wrap="square" lIns="0" tIns="0" rIns="0" bIns="0" rtlCol="0" anchor="ctr">
            <a:normAutofit/>
          </a:bodyPr>
          <a:lstStyle/>
          <a:p>
            <a:pPr marL="0" indent="0" algn="ctr">
              <a:buNone/>
            </a:pPr>
            <a:r>
              <a:rPr lang="vi-VN" altLang="en-US" sz="1310" dirty="0">
                <a:solidFill>
                  <a:srgbClr val="667389"/>
                </a:solidFill>
                <a:latin typeface="Inter" pitchFamily="34" charset="0"/>
                <a:ea typeface="Inter" pitchFamily="34" charset="-122"/>
                <a:cs typeface="Inter" pitchFamily="34" charset="-120"/>
              </a:rPr>
              <a:t>Quản lý lớp</a:t>
            </a:r>
            <a:endParaRPr lang="vi-VN" sz="1310" dirty="0"/>
          </a:p>
          <a:p>
            <a:pPr marL="0" indent="0" algn="ctr">
              <a:buNone/>
            </a:pPr>
            <a:r>
              <a:rPr lang="vi-VN" altLang="en-US" sz="1310" dirty="0">
                <a:solidFill>
                  <a:srgbClr val="667389"/>
                </a:solidFill>
                <a:latin typeface="Inter" pitchFamily="34" charset="0"/>
                <a:ea typeface="Inter" pitchFamily="34" charset="-122"/>
                <a:cs typeface="Inter" pitchFamily="34" charset="-120"/>
              </a:rPr>
              <a:t>Nhập điểm phụ trách</a:t>
            </a:r>
            <a:endParaRPr lang="vi-VN" sz="1310" dirty="0"/>
          </a:p>
        </p:txBody>
      </p:sp>
      <p:sp>
        <p:nvSpPr>
          <p:cNvPr id="20" name="Shape 16"/>
          <p:cNvSpPr/>
          <p:nvPr/>
        </p:nvSpPr>
        <p:spPr>
          <a:xfrm>
            <a:off x="8266176" y="1892808"/>
            <a:ext cx="3611880" cy="3017520"/>
          </a:xfrm>
          <a:prstGeom prst="roundRect">
            <a:avLst>
              <a:gd name="adj" fmla="val 3636"/>
            </a:avLst>
          </a:prstGeom>
          <a:solidFill>
            <a:srgbClr val="FFFFFF"/>
          </a:solidFill>
          <a:ln w="12700">
            <a:solidFill>
              <a:srgbClr val="E0E6EF"/>
            </a:solidFill>
            <a:prstDash val="solid"/>
          </a:ln>
        </p:spPr>
        <p:txBody>
          <a:bodyPr/>
          <a:lstStyle/>
          <a:p>
            <a:endParaRPr lang="en-US"/>
          </a:p>
        </p:txBody>
      </p:sp>
      <p:sp>
        <p:nvSpPr>
          <p:cNvPr id="21" name="Shape 17"/>
          <p:cNvSpPr/>
          <p:nvPr/>
        </p:nvSpPr>
        <p:spPr>
          <a:xfrm>
            <a:off x="9665208" y="2148840"/>
            <a:ext cx="841248" cy="841248"/>
          </a:xfrm>
          <a:prstGeom prst="ellipse">
            <a:avLst/>
          </a:prstGeom>
          <a:solidFill>
            <a:srgbClr val="E6F6EF"/>
          </a:solidFill>
          <a:ln w="12700">
            <a:solidFill>
              <a:srgbClr val="E6F6EF">
                <a:alpha val="0"/>
              </a:srgbClr>
            </a:solidFill>
            <a:prstDash val="solid"/>
          </a:ln>
        </p:spPr>
        <p:txBody>
          <a:bodyPr/>
          <a:lstStyle/>
          <a:p>
            <a:endParaRPr lang="en-US"/>
          </a:p>
        </p:txBody>
      </p:sp>
      <p:pic>
        <p:nvPicPr>
          <p:cNvPr id="22" name="Image 2" descr="/mnt/data/auth_slide_work/icon_cache/5fb80a21ebe01d695947e1f0386206f9.png"/>
          <p:cNvPicPr>
            <a:picLocks noChangeAspect="1"/>
          </p:cNvPicPr>
          <p:nvPr/>
        </p:nvPicPr>
        <p:blipFill>
          <a:blip r:embed="rId5"/>
          <a:stretch>
            <a:fillRect/>
          </a:stretch>
        </p:blipFill>
        <p:spPr>
          <a:xfrm>
            <a:off x="9900757" y="2367564"/>
            <a:ext cx="361737" cy="361737"/>
          </a:xfrm>
          <a:prstGeom prst="rect">
            <a:avLst/>
          </a:prstGeom>
        </p:spPr>
      </p:pic>
      <p:sp>
        <p:nvSpPr>
          <p:cNvPr id="23" name="Text 18"/>
          <p:cNvSpPr/>
          <p:nvPr/>
        </p:nvSpPr>
        <p:spPr>
          <a:xfrm>
            <a:off x="8430768" y="3255264"/>
            <a:ext cx="3291840" cy="411480"/>
          </a:xfrm>
          <a:prstGeom prst="rect">
            <a:avLst/>
          </a:prstGeom>
          <a:noFill/>
          <a:ln/>
        </p:spPr>
        <p:txBody>
          <a:bodyPr wrap="square" lIns="0" tIns="0" rIns="0" bIns="0" rtlCol="0" anchor="ctr">
            <a:normAutofit/>
          </a:bodyPr>
          <a:lstStyle/>
          <a:p>
            <a:pPr marL="0" indent="0" algn="ctr">
              <a:buNone/>
            </a:pPr>
            <a:r>
              <a:rPr lang="vi-VN" altLang="en-US" sz="1810" b="1" dirty="0">
                <a:solidFill>
                  <a:srgbClr val="183B63"/>
                </a:solidFill>
                <a:latin typeface="Inter" pitchFamily="34" charset="0"/>
                <a:ea typeface="Inter" pitchFamily="34" charset="-122"/>
                <a:cs typeface="Inter" pitchFamily="34" charset="-120"/>
              </a:rPr>
              <a:t>QUẢN TRỊ VIÊN</a:t>
            </a:r>
            <a:endParaRPr lang="vi-VN" sz="1810" dirty="0"/>
          </a:p>
        </p:txBody>
      </p:sp>
      <p:sp>
        <p:nvSpPr>
          <p:cNvPr id="24" name="Text 19"/>
          <p:cNvSpPr/>
          <p:nvPr/>
        </p:nvSpPr>
        <p:spPr>
          <a:xfrm>
            <a:off x="8650224" y="3895344"/>
            <a:ext cx="2834640" cy="594360"/>
          </a:xfrm>
          <a:prstGeom prst="rect">
            <a:avLst/>
          </a:prstGeom>
          <a:noFill/>
          <a:ln/>
        </p:spPr>
        <p:txBody>
          <a:bodyPr wrap="square" lIns="0" tIns="0" rIns="0" bIns="0" rtlCol="0" anchor="ctr">
            <a:normAutofit/>
          </a:bodyPr>
          <a:lstStyle/>
          <a:p>
            <a:pPr marL="0" indent="0" algn="ctr">
              <a:buNone/>
            </a:pPr>
            <a:r>
              <a:rPr lang="vi-VN" altLang="en-US" sz="1310" dirty="0">
                <a:solidFill>
                  <a:srgbClr val="667389"/>
                </a:solidFill>
                <a:latin typeface="Inter" pitchFamily="34" charset="0"/>
                <a:ea typeface="Inter" pitchFamily="34" charset="-122"/>
                <a:cs typeface="Inter" pitchFamily="34" charset="-120"/>
              </a:rPr>
              <a:t>Quản lý tài khoản</a:t>
            </a:r>
            <a:endParaRPr lang="vi-VN" sz="1310" dirty="0"/>
          </a:p>
          <a:p>
            <a:pPr marL="0" indent="0" algn="ctr">
              <a:buNone/>
            </a:pPr>
            <a:r>
              <a:rPr lang="vi-VN" altLang="en-US" sz="1310" dirty="0">
                <a:solidFill>
                  <a:srgbClr val="667389"/>
                </a:solidFill>
                <a:latin typeface="Inter" pitchFamily="34" charset="0"/>
                <a:ea typeface="Inter" pitchFamily="34" charset="-122"/>
                <a:cs typeface="Inter" pitchFamily="34" charset="-120"/>
              </a:rPr>
              <a:t>Quản lý môn học</a:t>
            </a:r>
            <a:endParaRPr lang="vi-VN" sz="1310" dirty="0"/>
          </a:p>
        </p:txBody>
      </p:sp>
      <p:sp>
        <p:nvSpPr>
          <p:cNvPr id="25" name="Shape 20"/>
          <p:cNvSpPr/>
          <p:nvPr/>
        </p:nvSpPr>
        <p:spPr>
          <a:xfrm>
            <a:off x="539496" y="5166360"/>
            <a:ext cx="11064240" cy="640080"/>
          </a:xfrm>
          <a:prstGeom prst="roundRect">
            <a:avLst>
              <a:gd name="adj" fmla="val 17143"/>
            </a:avLst>
          </a:prstGeom>
          <a:solidFill>
            <a:srgbClr val="FFF5D5"/>
          </a:solidFill>
          <a:ln w="12700">
            <a:solidFill>
              <a:srgbClr val="FFF5D5">
                <a:alpha val="0"/>
              </a:srgbClr>
            </a:solidFill>
            <a:prstDash val="solid"/>
          </a:ln>
        </p:spPr>
        <p:txBody>
          <a:bodyPr/>
          <a:lstStyle/>
          <a:p>
            <a:endParaRPr lang="en-US"/>
          </a:p>
        </p:txBody>
      </p:sp>
      <p:pic>
        <p:nvPicPr>
          <p:cNvPr id="26" name="Image 3" descr="/mnt/data/auth_slide_work/icon_cache/6b893fcba0548b473e8617e9462c3f06.png"/>
          <p:cNvPicPr>
            <a:picLocks noChangeAspect="1"/>
          </p:cNvPicPr>
          <p:nvPr/>
        </p:nvPicPr>
        <p:blipFill>
          <a:blip r:embed="rId6"/>
          <a:stretch>
            <a:fillRect/>
          </a:stretch>
        </p:blipFill>
        <p:spPr>
          <a:xfrm>
            <a:off x="786384" y="5404104"/>
            <a:ext cx="192024" cy="192024"/>
          </a:xfrm>
          <a:prstGeom prst="rect">
            <a:avLst/>
          </a:prstGeom>
        </p:spPr>
      </p:pic>
      <p:sp>
        <p:nvSpPr>
          <p:cNvPr id="27" name="Text 21"/>
          <p:cNvSpPr/>
          <p:nvPr/>
        </p:nvSpPr>
        <p:spPr>
          <a:xfrm>
            <a:off x="1179576" y="5303520"/>
            <a:ext cx="9966960" cy="356616"/>
          </a:xfrm>
          <a:prstGeom prst="rect">
            <a:avLst/>
          </a:prstGeom>
          <a:noFill/>
          <a:ln/>
        </p:spPr>
        <p:txBody>
          <a:bodyPr wrap="square" lIns="0" tIns="0" rIns="0" bIns="0" rtlCol="0" anchor="ctr">
            <a:normAutofit/>
          </a:bodyPr>
          <a:lstStyle/>
          <a:p>
            <a:pPr marL="0" indent="0">
              <a:buNone/>
            </a:pPr>
            <a:r>
              <a:rPr lang="vi-VN" altLang="en-US" sz="1710" b="1" dirty="0">
                <a:solidFill>
                  <a:srgbClr val="183B63"/>
                </a:solidFill>
                <a:latin typeface="Inter" pitchFamily="34" charset="0"/>
                <a:ea typeface="Inter" pitchFamily="34" charset="-122"/>
                <a:cs typeface="Inter" pitchFamily="34" charset="-120"/>
              </a:rPr>
              <a:t>Nếu sinh viên đăng nhập rồi có thể tự sửa điểm của mình thì sao?</a:t>
            </a:r>
            <a:endParaRPr lang="vi-VN" sz="171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AUTHENTICATION</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Authentication – Xác thực danh tính</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Câu hỏi trung tâm: “Bạn là ai? Bạn đã đăng nhập hợp lệ chưa?”</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04 / 24</a:t>
            </a:r>
            <a:endParaRPr lang="vi-VN" sz="850" dirty="0"/>
          </a:p>
        </p:txBody>
      </p:sp>
      <p:sp>
        <p:nvSpPr>
          <p:cNvPr id="10" name="Shape 8"/>
          <p:cNvSpPr/>
          <p:nvPr/>
        </p:nvSpPr>
        <p:spPr>
          <a:xfrm>
            <a:off x="576072" y="1883664"/>
            <a:ext cx="4572000" cy="3447288"/>
          </a:xfrm>
          <a:prstGeom prst="roundRect">
            <a:avLst>
              <a:gd name="adj" fmla="val 3183"/>
            </a:avLst>
          </a:prstGeom>
          <a:solidFill>
            <a:srgbClr val="FFFFFF"/>
          </a:solidFill>
          <a:ln w="12700">
            <a:solidFill>
              <a:srgbClr val="E0E6EF"/>
            </a:solidFill>
            <a:prstDash val="solid"/>
          </a:ln>
        </p:spPr>
        <p:txBody>
          <a:bodyPr/>
          <a:lstStyle/>
          <a:p>
            <a:endParaRPr lang="en-US"/>
          </a:p>
        </p:txBody>
      </p:sp>
      <p:sp>
        <p:nvSpPr>
          <p:cNvPr id="11" name="Shape 9"/>
          <p:cNvSpPr/>
          <p:nvPr/>
        </p:nvSpPr>
        <p:spPr>
          <a:xfrm>
            <a:off x="777240" y="2084832"/>
            <a:ext cx="475488" cy="475488"/>
          </a:xfrm>
          <a:prstGeom prst="ellipse">
            <a:avLst/>
          </a:prstGeom>
          <a:solidFill>
            <a:srgbClr val="EBF2FE"/>
          </a:solidFill>
          <a:ln w="12700">
            <a:solidFill>
              <a:srgbClr val="EBF2FE">
                <a:alpha val="0"/>
              </a:srgbClr>
            </a:solidFill>
            <a:prstDash val="solid"/>
          </a:ln>
        </p:spPr>
        <p:txBody>
          <a:bodyPr/>
          <a:lstStyle/>
          <a:p>
            <a:endParaRPr lang="en-US"/>
          </a:p>
        </p:txBody>
      </p:sp>
      <p:pic>
        <p:nvPicPr>
          <p:cNvPr id="12" name="Image 0" descr="/mnt/data/auth_slide_work/icon_cache/7713ce3b3bc9faf0b0d2807d1ec66288.png"/>
          <p:cNvPicPr>
            <a:picLocks noChangeAspect="1"/>
          </p:cNvPicPr>
          <p:nvPr/>
        </p:nvPicPr>
        <p:blipFill>
          <a:blip r:embed="rId3"/>
          <a:stretch>
            <a:fillRect/>
          </a:stretch>
        </p:blipFill>
        <p:spPr>
          <a:xfrm>
            <a:off x="910377" y="2208459"/>
            <a:ext cx="204460" cy="204460"/>
          </a:xfrm>
          <a:prstGeom prst="rect">
            <a:avLst/>
          </a:prstGeom>
        </p:spPr>
      </p:pic>
      <p:sp>
        <p:nvSpPr>
          <p:cNvPr id="13" name="Text 10"/>
          <p:cNvSpPr/>
          <p:nvPr/>
        </p:nvSpPr>
        <p:spPr>
          <a:xfrm>
            <a:off x="777240" y="2697480"/>
            <a:ext cx="4169664" cy="411480"/>
          </a:xfrm>
          <a:prstGeom prst="rect">
            <a:avLst/>
          </a:prstGeom>
          <a:noFill/>
          <a:ln/>
        </p:spPr>
        <p:txBody>
          <a:bodyPr wrap="square" lIns="0" tIns="0" rIns="0" bIns="0" rtlCol="0" anchor="ctr">
            <a:normAutofit/>
          </a:bodyPr>
          <a:lstStyle/>
          <a:p>
            <a:pPr marL="0" indent="0">
              <a:buNone/>
            </a:pPr>
            <a:r>
              <a:rPr lang="vi-VN" altLang="en-US" sz="1820" b="1" dirty="0">
                <a:solidFill>
                  <a:srgbClr val="183B63"/>
                </a:solidFill>
                <a:latin typeface="Inter" pitchFamily="34" charset="0"/>
                <a:ea typeface="Inter" pitchFamily="34" charset="-122"/>
                <a:cs typeface="Inter" pitchFamily="34" charset="-120"/>
              </a:rPr>
              <a:t>ĐỊNH NGHĨA</a:t>
            </a:r>
            <a:endParaRPr lang="vi-VN" sz="1820" dirty="0"/>
          </a:p>
        </p:txBody>
      </p:sp>
      <p:sp>
        <p:nvSpPr>
          <p:cNvPr id="14" name="Text 11"/>
          <p:cNvSpPr/>
          <p:nvPr/>
        </p:nvSpPr>
        <p:spPr>
          <a:xfrm>
            <a:off x="777240" y="3154680"/>
            <a:ext cx="4169664" cy="2075688"/>
          </a:xfrm>
          <a:prstGeom prst="rect">
            <a:avLst/>
          </a:prstGeom>
          <a:noFill/>
          <a:ln/>
        </p:spPr>
        <p:txBody>
          <a:bodyPr wrap="square" lIns="0" tIns="0" rIns="0" bIns="0" rtlCol="0" anchor="t">
            <a:normAutofit/>
          </a:bodyPr>
          <a:lstStyle/>
          <a:p>
            <a:pPr marL="0" indent="0">
              <a:buNone/>
            </a:pPr>
            <a:r>
              <a:rPr lang="vi-VN" altLang="en-US" sz="1700" dirty="0">
                <a:solidFill>
                  <a:srgbClr val="667389"/>
                </a:solidFill>
                <a:latin typeface="Inter" pitchFamily="34" charset="0"/>
                <a:ea typeface="Inter" pitchFamily="34" charset="-122"/>
                <a:cs typeface="Inter" pitchFamily="34" charset="-120"/>
              </a:rPr>
              <a:t>Quá trình kiểm tra và xác nhận danh tính của người dùng trước khi cho phép truy cập những tài nguyên yêu cầu đăng nhập.</a:t>
            </a:r>
            <a:endParaRPr lang="vi-VN" sz="1700" dirty="0"/>
          </a:p>
        </p:txBody>
      </p:sp>
      <p:sp>
        <p:nvSpPr>
          <p:cNvPr id="15" name="Shape 12"/>
          <p:cNvSpPr/>
          <p:nvPr/>
        </p:nvSpPr>
        <p:spPr>
          <a:xfrm>
            <a:off x="5559552" y="2093976"/>
            <a:ext cx="2578608" cy="813816"/>
          </a:xfrm>
          <a:prstGeom prst="roundRect">
            <a:avLst>
              <a:gd name="adj" fmla="val 13483"/>
            </a:avLst>
          </a:prstGeom>
          <a:solidFill>
            <a:srgbClr val="EBF2FE"/>
          </a:solidFill>
          <a:ln w="12700">
            <a:solidFill>
              <a:srgbClr val="EBF2FE">
                <a:alpha val="0"/>
              </a:srgbClr>
            </a:solidFill>
            <a:prstDash val="solid"/>
          </a:ln>
        </p:spPr>
        <p:txBody>
          <a:bodyPr/>
          <a:lstStyle/>
          <a:p>
            <a:endParaRPr lang="en-US"/>
          </a:p>
        </p:txBody>
      </p:sp>
      <p:sp>
        <p:nvSpPr>
          <p:cNvPr id="16" name="Text 13"/>
          <p:cNvSpPr/>
          <p:nvPr/>
        </p:nvSpPr>
        <p:spPr>
          <a:xfrm>
            <a:off x="5650992" y="2194560"/>
            <a:ext cx="2395728" cy="325526"/>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Người dùng</a:t>
            </a:r>
            <a:endParaRPr lang="vi-VN" sz="1360" dirty="0"/>
          </a:p>
        </p:txBody>
      </p:sp>
      <p:sp>
        <p:nvSpPr>
          <p:cNvPr id="17" name="Text 14"/>
          <p:cNvSpPr/>
          <p:nvPr/>
        </p:nvSpPr>
        <p:spPr>
          <a:xfrm>
            <a:off x="5650992" y="2551176"/>
            <a:ext cx="2395728" cy="320040"/>
          </a:xfrm>
          <a:prstGeom prst="rect">
            <a:avLst/>
          </a:prstGeom>
          <a:noFill/>
          <a:ln/>
        </p:spPr>
        <p:txBody>
          <a:bodyPr wrap="square" lIns="0" tIns="0" rIns="0" bIns="0" rtlCol="0" anchor="ctr">
            <a:normAutofit/>
          </a:bodyPr>
          <a:lstStyle/>
          <a:p>
            <a:pPr marL="0" indent="0" algn="ctr">
              <a:buNone/>
            </a:pPr>
            <a:r>
              <a:rPr lang="vi-VN" altLang="en-US" sz="1080" dirty="0">
                <a:solidFill>
                  <a:srgbClr val="667389"/>
                </a:solidFill>
                <a:latin typeface="Inter" pitchFamily="34" charset="0"/>
                <a:ea typeface="Inter" pitchFamily="34" charset="-122"/>
                <a:cs typeface="Inter" pitchFamily="34" charset="-120"/>
              </a:rPr>
              <a:t>Email + Mật khẩu</a:t>
            </a:r>
            <a:endParaRPr lang="vi-VN" sz="1080" dirty="0"/>
          </a:p>
        </p:txBody>
      </p:sp>
      <p:sp>
        <p:nvSpPr>
          <p:cNvPr id="18" name="Shape 15"/>
          <p:cNvSpPr/>
          <p:nvPr/>
        </p:nvSpPr>
        <p:spPr>
          <a:xfrm>
            <a:off x="8138160" y="2505456"/>
            <a:ext cx="512064" cy="0"/>
          </a:xfrm>
          <a:prstGeom prst="line">
            <a:avLst/>
          </a:prstGeom>
          <a:noFill/>
          <a:ln w="30480">
            <a:solidFill>
              <a:srgbClr val="B38A20"/>
            </a:solidFill>
            <a:prstDash val="solid"/>
            <a:headEnd type="none"/>
            <a:tailEnd type="triangle"/>
          </a:ln>
        </p:spPr>
        <p:txBody>
          <a:bodyPr/>
          <a:lstStyle/>
          <a:p>
            <a:endParaRPr lang="en-US"/>
          </a:p>
        </p:txBody>
      </p:sp>
      <p:sp>
        <p:nvSpPr>
          <p:cNvPr id="19" name="Shape 16"/>
          <p:cNvSpPr/>
          <p:nvPr/>
        </p:nvSpPr>
        <p:spPr>
          <a:xfrm>
            <a:off x="8668512" y="2093976"/>
            <a:ext cx="2624328" cy="813816"/>
          </a:xfrm>
          <a:prstGeom prst="roundRect">
            <a:avLst>
              <a:gd name="adj" fmla="val 13483"/>
            </a:avLst>
          </a:prstGeom>
          <a:solidFill>
            <a:srgbClr val="EBF2FE"/>
          </a:solidFill>
          <a:ln w="12700">
            <a:solidFill>
              <a:srgbClr val="EBF2FE">
                <a:alpha val="0"/>
              </a:srgbClr>
            </a:solidFill>
            <a:prstDash val="solid"/>
          </a:ln>
        </p:spPr>
        <p:txBody>
          <a:bodyPr/>
          <a:lstStyle/>
          <a:p>
            <a:endParaRPr lang="en-US"/>
          </a:p>
        </p:txBody>
      </p:sp>
      <p:sp>
        <p:nvSpPr>
          <p:cNvPr id="20" name="Text 17"/>
          <p:cNvSpPr/>
          <p:nvPr/>
        </p:nvSpPr>
        <p:spPr>
          <a:xfrm>
            <a:off x="8759952" y="2194560"/>
            <a:ext cx="2441448" cy="325526"/>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Backend</a:t>
            </a:r>
            <a:endParaRPr lang="vi-VN" sz="1360" dirty="0"/>
          </a:p>
        </p:txBody>
      </p:sp>
      <p:sp>
        <p:nvSpPr>
          <p:cNvPr id="21" name="Text 18"/>
          <p:cNvSpPr/>
          <p:nvPr/>
        </p:nvSpPr>
        <p:spPr>
          <a:xfrm>
            <a:off x="8759952" y="2551176"/>
            <a:ext cx="2441448" cy="320040"/>
          </a:xfrm>
          <a:prstGeom prst="rect">
            <a:avLst/>
          </a:prstGeom>
          <a:noFill/>
          <a:ln/>
        </p:spPr>
        <p:txBody>
          <a:bodyPr wrap="square" lIns="0" tIns="0" rIns="0" bIns="0" rtlCol="0" anchor="ctr">
            <a:normAutofit/>
          </a:bodyPr>
          <a:lstStyle/>
          <a:p>
            <a:pPr marL="0" indent="0" algn="ctr">
              <a:buNone/>
            </a:pPr>
            <a:r>
              <a:rPr lang="vi-VN" altLang="en-US" sz="1080" dirty="0">
                <a:solidFill>
                  <a:srgbClr val="667389"/>
                </a:solidFill>
                <a:latin typeface="Inter" pitchFamily="34" charset="0"/>
                <a:ea typeface="Inter" pitchFamily="34" charset="-122"/>
                <a:cs typeface="Inter" pitchFamily="34" charset="-120"/>
              </a:rPr>
              <a:t>Xác minh tài khoản</a:t>
            </a:r>
            <a:endParaRPr lang="vi-VN" sz="1080" dirty="0"/>
          </a:p>
        </p:txBody>
      </p:sp>
      <p:sp>
        <p:nvSpPr>
          <p:cNvPr id="22" name="Shape 19"/>
          <p:cNvSpPr/>
          <p:nvPr/>
        </p:nvSpPr>
        <p:spPr>
          <a:xfrm>
            <a:off x="9976104" y="2916936"/>
            <a:ext cx="0" cy="466344"/>
          </a:xfrm>
          <a:prstGeom prst="line">
            <a:avLst/>
          </a:prstGeom>
          <a:noFill/>
          <a:ln w="30480">
            <a:solidFill>
              <a:srgbClr val="B38A20"/>
            </a:solidFill>
            <a:prstDash val="solid"/>
            <a:headEnd type="none"/>
            <a:tailEnd type="triangle"/>
          </a:ln>
        </p:spPr>
        <p:txBody>
          <a:bodyPr/>
          <a:lstStyle/>
          <a:p>
            <a:endParaRPr lang="en-US"/>
          </a:p>
        </p:txBody>
      </p:sp>
      <p:sp>
        <p:nvSpPr>
          <p:cNvPr id="23" name="Shape 20"/>
          <p:cNvSpPr/>
          <p:nvPr/>
        </p:nvSpPr>
        <p:spPr>
          <a:xfrm>
            <a:off x="8449056" y="3410712"/>
            <a:ext cx="2999232" cy="832104"/>
          </a:xfrm>
          <a:prstGeom prst="roundRect">
            <a:avLst>
              <a:gd name="adj" fmla="val 13187"/>
            </a:avLst>
          </a:prstGeom>
          <a:solidFill>
            <a:srgbClr val="E6F6EF"/>
          </a:solidFill>
          <a:ln w="12700">
            <a:solidFill>
              <a:srgbClr val="E6F6EF">
                <a:alpha val="0"/>
              </a:srgbClr>
            </a:solidFill>
            <a:prstDash val="solid"/>
          </a:ln>
        </p:spPr>
        <p:txBody>
          <a:bodyPr/>
          <a:lstStyle/>
          <a:p>
            <a:endParaRPr lang="en-US"/>
          </a:p>
        </p:txBody>
      </p:sp>
      <p:sp>
        <p:nvSpPr>
          <p:cNvPr id="24" name="Text 21"/>
          <p:cNvSpPr/>
          <p:nvPr/>
        </p:nvSpPr>
        <p:spPr>
          <a:xfrm>
            <a:off x="8540496" y="3511296"/>
            <a:ext cx="2816352" cy="332842"/>
          </a:xfrm>
          <a:prstGeom prst="rect">
            <a:avLst/>
          </a:prstGeom>
          <a:noFill/>
          <a:ln/>
        </p:spPr>
        <p:txBody>
          <a:bodyPr wrap="square" lIns="0" tIns="0" rIns="0" bIns="0" rtlCol="0" anchor="ctr">
            <a:normAutofit/>
          </a:bodyPr>
          <a:lstStyle/>
          <a:p>
            <a:pPr marL="0" indent="0" algn="ctr">
              <a:buNone/>
            </a:pPr>
            <a:r>
              <a:rPr lang="vi-VN" altLang="en-US" sz="1360" b="1" dirty="0">
                <a:solidFill>
                  <a:srgbClr val="19805B"/>
                </a:solidFill>
                <a:latin typeface="Inter" pitchFamily="34" charset="0"/>
                <a:ea typeface="Inter" pitchFamily="34" charset="-122"/>
                <a:cs typeface="Inter" pitchFamily="34" charset="-120"/>
              </a:rPr>
              <a:t>Xác thực thành công</a:t>
            </a:r>
            <a:endParaRPr lang="vi-VN" sz="1360" dirty="0"/>
          </a:p>
        </p:txBody>
      </p:sp>
      <p:sp>
        <p:nvSpPr>
          <p:cNvPr id="25" name="Text 22"/>
          <p:cNvSpPr/>
          <p:nvPr/>
        </p:nvSpPr>
        <p:spPr>
          <a:xfrm>
            <a:off x="8540496" y="3867912"/>
            <a:ext cx="2816352" cy="338328"/>
          </a:xfrm>
          <a:prstGeom prst="rect">
            <a:avLst/>
          </a:prstGeom>
          <a:noFill/>
          <a:ln/>
        </p:spPr>
        <p:txBody>
          <a:bodyPr wrap="square" lIns="0" tIns="0" rIns="0" bIns="0" rtlCol="0" anchor="ctr">
            <a:normAutofit/>
          </a:bodyPr>
          <a:lstStyle/>
          <a:p>
            <a:pPr marL="0" indent="0" algn="ctr">
              <a:buNone/>
            </a:pPr>
            <a:r>
              <a:rPr lang="vi-VN" altLang="en-US" sz="1080" dirty="0">
                <a:solidFill>
                  <a:srgbClr val="667389"/>
                </a:solidFill>
                <a:latin typeface="Inter" pitchFamily="34" charset="0"/>
                <a:ea typeface="Inter" pitchFamily="34" charset="-122"/>
                <a:cs typeface="Inter" pitchFamily="34" charset="-120"/>
              </a:rPr>
              <a:t>Cho phép nhận JWT</a:t>
            </a:r>
            <a:endParaRPr lang="vi-VN" sz="1080" dirty="0"/>
          </a:p>
        </p:txBody>
      </p:sp>
      <p:sp>
        <p:nvSpPr>
          <p:cNvPr id="26" name="Shape 23"/>
          <p:cNvSpPr/>
          <p:nvPr/>
        </p:nvSpPr>
        <p:spPr>
          <a:xfrm>
            <a:off x="5605272" y="4727448"/>
            <a:ext cx="5669280" cy="557784"/>
          </a:xfrm>
          <a:prstGeom prst="roundRect">
            <a:avLst>
              <a:gd name="adj" fmla="val 19672"/>
            </a:avLst>
          </a:prstGeom>
          <a:solidFill>
            <a:srgbClr val="EBF2FE"/>
          </a:solidFill>
          <a:ln w="12700">
            <a:solidFill>
              <a:srgbClr val="EBF2FE">
                <a:alpha val="0"/>
              </a:srgbClr>
            </a:solidFill>
            <a:prstDash val="solid"/>
          </a:ln>
        </p:spPr>
        <p:txBody>
          <a:bodyPr/>
          <a:lstStyle/>
          <a:p>
            <a:endParaRPr lang="en-US"/>
          </a:p>
        </p:txBody>
      </p:sp>
      <p:pic>
        <p:nvPicPr>
          <p:cNvPr id="27" name="Image 1" descr="/mnt/data/auth_slide_work/icon_cache/8b355e88be77b3b2153eca09e965a683.png"/>
          <p:cNvPicPr>
            <a:picLocks noChangeAspect="1"/>
          </p:cNvPicPr>
          <p:nvPr/>
        </p:nvPicPr>
        <p:blipFill>
          <a:blip r:embed="rId4"/>
          <a:stretch>
            <a:fillRect/>
          </a:stretch>
        </p:blipFill>
        <p:spPr>
          <a:xfrm>
            <a:off x="5870448" y="4919472"/>
            <a:ext cx="173736" cy="173736"/>
          </a:xfrm>
          <a:prstGeom prst="rect">
            <a:avLst/>
          </a:prstGeom>
        </p:spPr>
      </p:pic>
      <p:sp>
        <p:nvSpPr>
          <p:cNvPr id="28" name="Text 24"/>
          <p:cNvSpPr/>
          <p:nvPr/>
        </p:nvSpPr>
        <p:spPr>
          <a:xfrm>
            <a:off x="6153912" y="4855464"/>
            <a:ext cx="4928616" cy="256032"/>
          </a:xfrm>
          <a:prstGeom prst="rect">
            <a:avLst/>
          </a:prstGeom>
          <a:noFill/>
          <a:ln/>
        </p:spPr>
        <p:txBody>
          <a:bodyPr wrap="square" lIns="0" tIns="0" rIns="0" bIns="0" rtlCol="0" anchor="ctr">
            <a:normAutofit/>
          </a:bodyPr>
          <a:lstStyle/>
          <a:p>
            <a:pPr marL="0" indent="0">
              <a:buNone/>
            </a:pPr>
            <a:r>
              <a:rPr lang="vi-VN" altLang="en-US" sz="1330" b="1" dirty="0">
                <a:solidFill>
                  <a:srgbClr val="183B63"/>
                </a:solidFill>
                <a:latin typeface="Inter" pitchFamily="34" charset="0"/>
                <a:ea typeface="Inter" pitchFamily="34" charset="-122"/>
                <a:cs typeface="Inter" pitchFamily="34" charset="-120"/>
              </a:rPr>
              <a:t>Authentication KHÔNG quyết định mọi quyền sử dụng.</a:t>
            </a:r>
            <a:endParaRPr lang="vi-VN" sz="13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AUTHORIZATION</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Authorization – Phân quyền truy cập</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Câu hỏi trung tâm: “Bạn được phép làm gì trong hệ thống?”</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05 / 24</a:t>
            </a:r>
            <a:endParaRPr lang="vi-VN" sz="850" dirty="0"/>
          </a:p>
        </p:txBody>
      </p:sp>
      <p:sp>
        <p:nvSpPr>
          <p:cNvPr id="10" name="Shape 8"/>
          <p:cNvSpPr/>
          <p:nvPr/>
        </p:nvSpPr>
        <p:spPr>
          <a:xfrm>
            <a:off x="566928" y="1901952"/>
            <a:ext cx="4599432" cy="3291840"/>
          </a:xfrm>
          <a:prstGeom prst="roundRect">
            <a:avLst>
              <a:gd name="adj" fmla="val 3333"/>
            </a:avLst>
          </a:prstGeom>
          <a:solidFill>
            <a:srgbClr val="FFFFFF"/>
          </a:solidFill>
          <a:ln w="12700">
            <a:solidFill>
              <a:srgbClr val="E0E6EF"/>
            </a:solidFill>
            <a:prstDash val="solid"/>
          </a:ln>
        </p:spPr>
        <p:txBody>
          <a:bodyPr/>
          <a:lstStyle/>
          <a:p>
            <a:endParaRPr lang="en-US"/>
          </a:p>
        </p:txBody>
      </p:sp>
      <p:sp>
        <p:nvSpPr>
          <p:cNvPr id="11" name="Shape 9"/>
          <p:cNvSpPr/>
          <p:nvPr/>
        </p:nvSpPr>
        <p:spPr>
          <a:xfrm>
            <a:off x="768096" y="2103120"/>
            <a:ext cx="475488" cy="475488"/>
          </a:xfrm>
          <a:prstGeom prst="ellipse">
            <a:avLst/>
          </a:prstGeom>
          <a:solidFill>
            <a:srgbClr val="EBF2FE"/>
          </a:solidFill>
          <a:ln w="12700">
            <a:solidFill>
              <a:srgbClr val="EBF2FE">
                <a:alpha val="0"/>
              </a:srgbClr>
            </a:solidFill>
            <a:prstDash val="solid"/>
          </a:ln>
        </p:spPr>
        <p:txBody>
          <a:bodyPr/>
          <a:lstStyle/>
          <a:p>
            <a:endParaRPr lang="en-US"/>
          </a:p>
        </p:txBody>
      </p:sp>
      <p:pic>
        <p:nvPicPr>
          <p:cNvPr id="12" name="Image 0" descr="/mnt/data/auth_slide_work/icon_cache/40b12958e09768f8eb7fc071c04f771c.png"/>
          <p:cNvPicPr>
            <a:picLocks noChangeAspect="1"/>
          </p:cNvPicPr>
          <p:nvPr/>
        </p:nvPicPr>
        <p:blipFill>
          <a:blip r:embed="rId3"/>
          <a:stretch>
            <a:fillRect/>
          </a:stretch>
        </p:blipFill>
        <p:spPr>
          <a:xfrm>
            <a:off x="901233" y="2226747"/>
            <a:ext cx="204460" cy="204460"/>
          </a:xfrm>
          <a:prstGeom prst="rect">
            <a:avLst/>
          </a:prstGeom>
        </p:spPr>
      </p:pic>
      <p:sp>
        <p:nvSpPr>
          <p:cNvPr id="13" name="Text 10"/>
          <p:cNvSpPr/>
          <p:nvPr/>
        </p:nvSpPr>
        <p:spPr>
          <a:xfrm>
            <a:off x="768096" y="2715768"/>
            <a:ext cx="4197096" cy="411480"/>
          </a:xfrm>
          <a:prstGeom prst="rect">
            <a:avLst/>
          </a:prstGeom>
          <a:noFill/>
          <a:ln/>
        </p:spPr>
        <p:txBody>
          <a:bodyPr wrap="square" lIns="0" tIns="0" rIns="0" bIns="0" rtlCol="0" anchor="ctr">
            <a:normAutofit/>
          </a:bodyPr>
          <a:lstStyle/>
          <a:p>
            <a:pPr marL="0" indent="0">
              <a:buNone/>
            </a:pPr>
            <a:r>
              <a:rPr lang="vi-VN" altLang="en-US" sz="1820" b="1" dirty="0">
                <a:solidFill>
                  <a:srgbClr val="183B63"/>
                </a:solidFill>
                <a:latin typeface="Inter" pitchFamily="34" charset="0"/>
                <a:ea typeface="Inter" pitchFamily="34" charset="-122"/>
                <a:cs typeface="Inter" pitchFamily="34" charset="-120"/>
              </a:rPr>
              <a:t>ĐỊNH NGHĨA</a:t>
            </a:r>
            <a:endParaRPr lang="vi-VN" sz="1820" dirty="0"/>
          </a:p>
        </p:txBody>
      </p:sp>
      <p:sp>
        <p:nvSpPr>
          <p:cNvPr id="14" name="Text 11"/>
          <p:cNvSpPr/>
          <p:nvPr/>
        </p:nvSpPr>
        <p:spPr>
          <a:xfrm>
            <a:off x="768096" y="3172968"/>
            <a:ext cx="4197096" cy="1920240"/>
          </a:xfrm>
          <a:prstGeom prst="rect">
            <a:avLst/>
          </a:prstGeom>
          <a:noFill/>
          <a:ln/>
        </p:spPr>
        <p:txBody>
          <a:bodyPr wrap="square" lIns="0" tIns="0" rIns="0" bIns="0" rtlCol="0" anchor="t">
            <a:normAutofit/>
          </a:bodyPr>
          <a:lstStyle/>
          <a:p>
            <a:pPr marL="0" indent="0">
              <a:buNone/>
            </a:pPr>
            <a:r>
              <a:rPr lang="vi-VN" altLang="en-US" sz="1680" dirty="0">
                <a:solidFill>
                  <a:srgbClr val="667389"/>
                </a:solidFill>
                <a:latin typeface="Inter" pitchFamily="34" charset="0"/>
                <a:ea typeface="Inter" pitchFamily="34" charset="-122"/>
                <a:cs typeface="Inter" pitchFamily="34" charset="-120"/>
              </a:rPr>
              <a:t>Quá trình kiểm tra người dùng đã xác thực có được phép thực hiện một hành động hoặc truy cập một tài nguyên cụ thể hay không.</a:t>
            </a:r>
            <a:endParaRPr lang="vi-VN" sz="1680" dirty="0"/>
          </a:p>
        </p:txBody>
      </p:sp>
      <p:sp>
        <p:nvSpPr>
          <p:cNvPr id="15" name="Text 12"/>
          <p:cNvSpPr/>
          <p:nvPr/>
        </p:nvSpPr>
        <p:spPr>
          <a:xfrm>
            <a:off x="6519672" y="1892808"/>
            <a:ext cx="3840480" cy="256032"/>
          </a:xfrm>
          <a:prstGeom prst="rect">
            <a:avLst/>
          </a:prstGeom>
          <a:noFill/>
          <a:ln/>
        </p:spPr>
        <p:txBody>
          <a:bodyPr wrap="square" lIns="0" tIns="0" rIns="0" bIns="0" rtlCol="0" anchor="ctr">
            <a:normAutofit/>
          </a:bodyPr>
          <a:lstStyle/>
          <a:p>
            <a:pPr marL="0" indent="0" algn="ctr">
              <a:buNone/>
            </a:pPr>
            <a:r>
              <a:rPr lang="vi-VN" altLang="en-US" sz="1200" b="1" dirty="0">
                <a:solidFill>
                  <a:srgbClr val="667389"/>
                </a:solidFill>
                <a:latin typeface="Inter" pitchFamily="34" charset="0"/>
                <a:ea typeface="Inter" pitchFamily="34" charset="-122"/>
                <a:cs typeface="Inter" pitchFamily="34" charset="-120"/>
              </a:rPr>
              <a:t>ĐÃ ĐĂNG NHẬP</a:t>
            </a:r>
            <a:endParaRPr lang="vi-VN" sz="1200" dirty="0"/>
          </a:p>
        </p:txBody>
      </p:sp>
      <p:sp>
        <p:nvSpPr>
          <p:cNvPr id="16" name="Shape 13"/>
          <p:cNvSpPr/>
          <p:nvPr/>
        </p:nvSpPr>
        <p:spPr>
          <a:xfrm>
            <a:off x="6547104" y="2286000"/>
            <a:ext cx="3721608" cy="768096"/>
          </a:xfrm>
          <a:prstGeom prst="roundRect">
            <a:avLst>
              <a:gd name="adj" fmla="val 14286"/>
            </a:avLst>
          </a:prstGeom>
          <a:solidFill>
            <a:srgbClr val="EBF2FE"/>
          </a:solidFill>
          <a:ln w="12700">
            <a:solidFill>
              <a:srgbClr val="EBF2FE">
                <a:alpha val="0"/>
              </a:srgbClr>
            </a:solidFill>
            <a:prstDash val="solid"/>
          </a:ln>
        </p:spPr>
        <p:txBody>
          <a:bodyPr/>
          <a:lstStyle/>
          <a:p>
            <a:endParaRPr lang="en-US"/>
          </a:p>
        </p:txBody>
      </p:sp>
      <p:sp>
        <p:nvSpPr>
          <p:cNvPr id="17" name="Text 14"/>
          <p:cNvSpPr/>
          <p:nvPr/>
        </p:nvSpPr>
        <p:spPr>
          <a:xfrm>
            <a:off x="6638544" y="2386584"/>
            <a:ext cx="3538728" cy="307238"/>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Sinh viên (Student)</a:t>
            </a:r>
            <a:endParaRPr lang="vi-VN" sz="1360" dirty="0"/>
          </a:p>
        </p:txBody>
      </p:sp>
      <p:sp>
        <p:nvSpPr>
          <p:cNvPr id="18" name="Text 15"/>
          <p:cNvSpPr/>
          <p:nvPr/>
        </p:nvSpPr>
        <p:spPr>
          <a:xfrm>
            <a:off x="6638544" y="2743200"/>
            <a:ext cx="3538728" cy="274320"/>
          </a:xfrm>
          <a:prstGeom prst="rect">
            <a:avLst/>
          </a:prstGeom>
          <a:noFill/>
          <a:ln/>
        </p:spPr>
        <p:txBody>
          <a:bodyPr wrap="square" lIns="0" tIns="0" rIns="0" bIns="0" rtlCol="0" anchor="ctr">
            <a:normAutofit/>
          </a:bodyPr>
          <a:lstStyle/>
          <a:p>
            <a:pPr marL="0" indent="0" algn="ctr">
              <a:buNone/>
            </a:pPr>
            <a:r>
              <a:rPr lang="vi-VN" altLang="en-US" sz="1080" dirty="0">
                <a:solidFill>
                  <a:srgbClr val="667389"/>
                </a:solidFill>
                <a:latin typeface="Inter" pitchFamily="34" charset="0"/>
                <a:ea typeface="Inter" pitchFamily="34" charset="-122"/>
                <a:cs typeface="Inter" pitchFamily="34" charset="-120"/>
              </a:rPr>
              <a:t>JWT hợp lệ</a:t>
            </a:r>
            <a:endParaRPr lang="vi-VN" sz="1080" dirty="0"/>
          </a:p>
        </p:txBody>
      </p:sp>
      <p:sp>
        <p:nvSpPr>
          <p:cNvPr id="19" name="Shape 16"/>
          <p:cNvSpPr/>
          <p:nvPr/>
        </p:nvSpPr>
        <p:spPr>
          <a:xfrm>
            <a:off x="8385048" y="3090672"/>
            <a:ext cx="0" cy="329184"/>
          </a:xfrm>
          <a:prstGeom prst="line">
            <a:avLst/>
          </a:prstGeom>
          <a:noFill/>
          <a:ln w="30480">
            <a:solidFill>
              <a:srgbClr val="B38A20"/>
            </a:solidFill>
            <a:prstDash val="solid"/>
            <a:headEnd type="none"/>
            <a:tailEnd type="triangle"/>
          </a:ln>
        </p:spPr>
        <p:txBody>
          <a:bodyPr/>
          <a:lstStyle/>
          <a:p>
            <a:endParaRPr lang="en-US"/>
          </a:p>
        </p:txBody>
      </p:sp>
      <p:sp>
        <p:nvSpPr>
          <p:cNvPr id="20" name="Shape 17"/>
          <p:cNvSpPr/>
          <p:nvPr/>
        </p:nvSpPr>
        <p:spPr>
          <a:xfrm>
            <a:off x="6547104" y="3456432"/>
            <a:ext cx="3721608" cy="758952"/>
          </a:xfrm>
          <a:prstGeom prst="roundRect">
            <a:avLst>
              <a:gd name="adj" fmla="val 14458"/>
            </a:avLst>
          </a:prstGeom>
          <a:solidFill>
            <a:srgbClr val="FDECEE"/>
          </a:solidFill>
          <a:ln w="12700">
            <a:solidFill>
              <a:srgbClr val="FDECEE">
                <a:alpha val="0"/>
              </a:srgbClr>
            </a:solidFill>
            <a:prstDash val="solid"/>
          </a:ln>
        </p:spPr>
        <p:txBody>
          <a:bodyPr/>
          <a:lstStyle/>
          <a:p>
            <a:endParaRPr lang="en-US"/>
          </a:p>
        </p:txBody>
      </p:sp>
      <p:sp>
        <p:nvSpPr>
          <p:cNvPr id="21" name="Text 18"/>
          <p:cNvSpPr/>
          <p:nvPr/>
        </p:nvSpPr>
        <p:spPr>
          <a:xfrm>
            <a:off x="6638544" y="3557016"/>
            <a:ext cx="3538728" cy="303581"/>
          </a:xfrm>
          <a:prstGeom prst="rect">
            <a:avLst/>
          </a:prstGeom>
          <a:noFill/>
          <a:ln/>
        </p:spPr>
        <p:txBody>
          <a:bodyPr wrap="square" lIns="0" tIns="0" rIns="0" bIns="0" rtlCol="0" anchor="ctr">
            <a:normAutofit/>
          </a:bodyPr>
          <a:lstStyle/>
          <a:p>
            <a:pPr marL="0" indent="0" algn="ctr">
              <a:buNone/>
            </a:pPr>
            <a:r>
              <a:rPr lang="vi-VN" altLang="en-US" sz="1360" b="1" dirty="0">
                <a:solidFill>
                  <a:srgbClr val="BB4A55"/>
                </a:solidFill>
                <a:latin typeface="Inter" pitchFamily="34" charset="0"/>
                <a:ea typeface="Inter" pitchFamily="34" charset="-122"/>
                <a:cs typeface="Inter" pitchFamily="34" charset="-120"/>
              </a:rPr>
              <a:t>Thử xóa tài khoản</a:t>
            </a:r>
            <a:endParaRPr lang="vi-VN" sz="1360" dirty="0"/>
          </a:p>
        </p:txBody>
      </p:sp>
      <p:sp>
        <p:nvSpPr>
          <p:cNvPr id="22" name="Text 19"/>
          <p:cNvSpPr/>
          <p:nvPr/>
        </p:nvSpPr>
        <p:spPr>
          <a:xfrm>
            <a:off x="6638544" y="3913632"/>
            <a:ext cx="3538728" cy="265176"/>
          </a:xfrm>
          <a:prstGeom prst="rect">
            <a:avLst/>
          </a:prstGeom>
          <a:noFill/>
          <a:ln/>
        </p:spPr>
        <p:txBody>
          <a:bodyPr wrap="square" lIns="0" tIns="0" rIns="0" bIns="0" rtlCol="0" anchor="ctr">
            <a:normAutofit/>
          </a:bodyPr>
          <a:lstStyle/>
          <a:p>
            <a:pPr marL="0" indent="0" algn="ctr">
              <a:buNone/>
            </a:pPr>
            <a:r>
              <a:rPr lang="vi-VN" altLang="en-US" sz="1080" dirty="0">
                <a:solidFill>
                  <a:srgbClr val="667389"/>
                </a:solidFill>
                <a:latin typeface="Inter" pitchFamily="34" charset="0"/>
                <a:ea typeface="Inter" pitchFamily="34" charset="-122"/>
                <a:cs typeface="Inter" pitchFamily="34" charset="-120"/>
              </a:rPr>
              <a:t>DELETE /api/users/5</a:t>
            </a:r>
            <a:endParaRPr lang="vi-VN" sz="1080" dirty="0"/>
          </a:p>
        </p:txBody>
      </p:sp>
      <p:sp>
        <p:nvSpPr>
          <p:cNvPr id="23" name="Shape 20"/>
          <p:cNvSpPr/>
          <p:nvPr/>
        </p:nvSpPr>
        <p:spPr>
          <a:xfrm>
            <a:off x="8385048" y="4251960"/>
            <a:ext cx="0" cy="292608"/>
          </a:xfrm>
          <a:prstGeom prst="line">
            <a:avLst/>
          </a:prstGeom>
          <a:noFill/>
          <a:ln w="30480">
            <a:solidFill>
              <a:srgbClr val="BB4A55"/>
            </a:solidFill>
            <a:prstDash val="solid"/>
            <a:headEnd type="none"/>
            <a:tailEnd type="triangle"/>
          </a:ln>
        </p:spPr>
        <p:txBody>
          <a:bodyPr/>
          <a:lstStyle/>
          <a:p>
            <a:endParaRPr lang="en-US"/>
          </a:p>
        </p:txBody>
      </p:sp>
      <p:sp>
        <p:nvSpPr>
          <p:cNvPr id="24" name="Shape 21"/>
          <p:cNvSpPr/>
          <p:nvPr/>
        </p:nvSpPr>
        <p:spPr>
          <a:xfrm>
            <a:off x="6793992" y="4617720"/>
            <a:ext cx="3236976" cy="685800"/>
          </a:xfrm>
          <a:prstGeom prst="roundRect">
            <a:avLst>
              <a:gd name="adj" fmla="val 16000"/>
            </a:avLst>
          </a:prstGeom>
          <a:solidFill>
            <a:srgbClr val="FDECEE"/>
          </a:solidFill>
          <a:ln w="12700">
            <a:solidFill>
              <a:srgbClr val="FDECEE">
                <a:alpha val="0"/>
              </a:srgbClr>
            </a:solidFill>
            <a:prstDash val="solid"/>
          </a:ln>
        </p:spPr>
        <p:txBody>
          <a:bodyPr/>
          <a:lstStyle/>
          <a:p>
            <a:endParaRPr lang="en-US"/>
          </a:p>
        </p:txBody>
      </p:sp>
      <p:sp>
        <p:nvSpPr>
          <p:cNvPr id="25" name="Text 22"/>
          <p:cNvSpPr/>
          <p:nvPr/>
        </p:nvSpPr>
        <p:spPr>
          <a:xfrm>
            <a:off x="6885432" y="4718304"/>
            <a:ext cx="3054096" cy="484632"/>
          </a:xfrm>
          <a:prstGeom prst="rect">
            <a:avLst/>
          </a:prstGeom>
          <a:noFill/>
          <a:ln/>
        </p:spPr>
        <p:txBody>
          <a:bodyPr wrap="square" lIns="0" tIns="0" rIns="0" bIns="0" rtlCol="0" anchor="ctr">
            <a:normAutofit/>
          </a:bodyPr>
          <a:lstStyle/>
          <a:p>
            <a:pPr marL="0" indent="0" algn="ctr">
              <a:buNone/>
            </a:pPr>
            <a:r>
              <a:rPr lang="vi-VN" altLang="en-US" sz="1360" b="1" dirty="0">
                <a:solidFill>
                  <a:srgbClr val="BB4A55"/>
                </a:solidFill>
                <a:latin typeface="Inter" pitchFamily="34" charset="0"/>
                <a:ea typeface="Inter" pitchFamily="34" charset="-122"/>
                <a:cs typeface="Inter" pitchFamily="34" charset="-120"/>
              </a:rPr>
              <a:t>403 – Không đủ quyền</a:t>
            </a:r>
            <a:endParaRPr lang="vi-VN" sz="1360" dirty="0"/>
          </a:p>
        </p:txBody>
      </p:sp>
      <p:sp>
        <p:nvSpPr>
          <p:cNvPr id="26" name="Shape 23"/>
          <p:cNvSpPr/>
          <p:nvPr/>
        </p:nvSpPr>
        <p:spPr>
          <a:xfrm>
            <a:off x="475488" y="5852160"/>
            <a:ext cx="11247120" cy="448056"/>
          </a:xfrm>
          <a:prstGeom prst="roundRect">
            <a:avLst>
              <a:gd name="adj" fmla="val 24490"/>
            </a:avLst>
          </a:prstGeom>
          <a:solidFill>
            <a:srgbClr val="FFF5D5"/>
          </a:solidFill>
          <a:ln w="12700">
            <a:solidFill>
              <a:srgbClr val="FFF5D5">
                <a:alpha val="0"/>
              </a:srgbClr>
            </a:solidFill>
            <a:prstDash val="solid"/>
          </a:ln>
        </p:spPr>
        <p:txBody>
          <a:bodyPr/>
          <a:lstStyle/>
          <a:p>
            <a:endParaRPr lang="en-US"/>
          </a:p>
        </p:txBody>
      </p:sp>
      <p:pic>
        <p:nvPicPr>
          <p:cNvPr id="27" name="Image 1" descr="/mnt/data/auth_slide_work/icon_cache/19a4e8a463faa6409c49e67e1231d428.png"/>
          <p:cNvPicPr>
            <a:picLocks noChangeAspect="1"/>
          </p:cNvPicPr>
          <p:nvPr/>
        </p:nvPicPr>
        <p:blipFill>
          <a:blip r:embed="rId4"/>
          <a:stretch>
            <a:fillRect/>
          </a:stretch>
        </p:blipFill>
        <p:spPr>
          <a:xfrm>
            <a:off x="658368" y="5980176"/>
            <a:ext cx="173736" cy="173736"/>
          </a:xfrm>
          <a:prstGeom prst="rect">
            <a:avLst/>
          </a:prstGeom>
        </p:spPr>
      </p:pic>
      <p:sp>
        <p:nvSpPr>
          <p:cNvPr id="28" name="Text 24"/>
          <p:cNvSpPr/>
          <p:nvPr/>
        </p:nvSpPr>
        <p:spPr>
          <a:xfrm>
            <a:off x="932688" y="5939028"/>
            <a:ext cx="10515600" cy="283464"/>
          </a:xfrm>
          <a:prstGeom prst="rect">
            <a:avLst/>
          </a:prstGeom>
          <a:noFill/>
          <a:ln/>
        </p:spPr>
        <p:txBody>
          <a:bodyPr wrap="square" lIns="0" tIns="0" rIns="0" bIns="0" rtlCol="0" anchor="ctr">
            <a:normAutofit/>
          </a:bodyPr>
          <a:lstStyle/>
          <a:p>
            <a:pPr marL="0" indent="0">
              <a:buNone/>
            </a:pPr>
            <a:r>
              <a:rPr lang="vi-VN" altLang="en-US" sz="1220" dirty="0">
                <a:solidFill>
                  <a:srgbClr val="263345"/>
                </a:solidFill>
                <a:latin typeface="Inter" pitchFamily="34" charset="0"/>
                <a:ea typeface="Inter" pitchFamily="34" charset="-122"/>
                <a:cs typeface="Inter" pitchFamily="34" charset="-120"/>
              </a:rPr>
              <a:t>Đăng nhập thành công ≠ được phép thực hiện tất cả chức năng.</a:t>
            </a:r>
            <a:endParaRPr lang="vi-VN"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KHÁI NIỆM</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Authentication và Authorization khác nhau</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Hai lớp bảo vệ được thực hiện theo thứ tự hợp lý.</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06 / 24</a:t>
            </a:r>
            <a:endParaRPr lang="vi-VN" sz="850" dirty="0"/>
          </a:p>
        </p:txBody>
      </p:sp>
      <p:sp>
        <p:nvSpPr>
          <p:cNvPr id="10" name="Shape 8"/>
          <p:cNvSpPr/>
          <p:nvPr/>
        </p:nvSpPr>
        <p:spPr>
          <a:xfrm>
            <a:off x="548640" y="1837944"/>
            <a:ext cx="2697480" cy="557784"/>
          </a:xfrm>
          <a:prstGeom prst="roundRect">
            <a:avLst>
              <a:gd name="adj" fmla="val 19672"/>
            </a:avLst>
          </a:prstGeom>
          <a:solidFill>
            <a:srgbClr val="183B63"/>
          </a:solidFill>
          <a:ln w="12700">
            <a:solidFill>
              <a:srgbClr val="183B63">
                <a:alpha val="0"/>
              </a:srgbClr>
            </a:solidFill>
            <a:prstDash val="solid"/>
          </a:ln>
        </p:spPr>
        <p:txBody>
          <a:bodyPr/>
          <a:lstStyle/>
          <a:p>
            <a:endParaRPr lang="en-US"/>
          </a:p>
        </p:txBody>
      </p:sp>
      <p:sp>
        <p:nvSpPr>
          <p:cNvPr id="11" name="Text 9"/>
          <p:cNvSpPr/>
          <p:nvPr/>
        </p:nvSpPr>
        <p:spPr>
          <a:xfrm>
            <a:off x="658368" y="1984248"/>
            <a:ext cx="2478024" cy="237744"/>
          </a:xfrm>
          <a:prstGeom prst="rect">
            <a:avLst/>
          </a:prstGeom>
          <a:noFill/>
          <a:ln/>
        </p:spPr>
        <p:txBody>
          <a:bodyPr wrap="square" lIns="0" tIns="0" rIns="0" bIns="0" rtlCol="0" anchor="ctr">
            <a:normAutofit/>
          </a:bodyPr>
          <a:lstStyle/>
          <a:p>
            <a:pPr marL="0" indent="0" algn="ctr">
              <a:buNone/>
            </a:pPr>
            <a:r>
              <a:rPr lang="vi-VN" altLang="en-US" sz="1210" b="1" dirty="0">
                <a:solidFill>
                  <a:srgbClr val="FFFFFF"/>
                </a:solidFill>
                <a:latin typeface="Inter" pitchFamily="34" charset="0"/>
                <a:ea typeface="Inter" pitchFamily="34" charset="-122"/>
                <a:cs typeface="Inter" pitchFamily="34" charset="-120"/>
              </a:rPr>
              <a:t>TIÊU CHÍ</a:t>
            </a:r>
            <a:endParaRPr lang="vi-VN" sz="1210" dirty="0"/>
          </a:p>
        </p:txBody>
      </p:sp>
      <p:sp>
        <p:nvSpPr>
          <p:cNvPr id="12" name="Shape 10"/>
          <p:cNvSpPr/>
          <p:nvPr/>
        </p:nvSpPr>
        <p:spPr>
          <a:xfrm>
            <a:off x="3291840" y="1837944"/>
            <a:ext cx="4069080" cy="557784"/>
          </a:xfrm>
          <a:prstGeom prst="roundRect">
            <a:avLst>
              <a:gd name="adj" fmla="val 19672"/>
            </a:avLst>
          </a:prstGeom>
          <a:solidFill>
            <a:srgbClr val="183B63"/>
          </a:solidFill>
          <a:ln w="12700">
            <a:solidFill>
              <a:srgbClr val="183B63">
                <a:alpha val="0"/>
              </a:srgbClr>
            </a:solidFill>
            <a:prstDash val="solid"/>
          </a:ln>
        </p:spPr>
        <p:txBody>
          <a:bodyPr/>
          <a:lstStyle/>
          <a:p>
            <a:endParaRPr lang="en-US"/>
          </a:p>
        </p:txBody>
      </p:sp>
      <p:sp>
        <p:nvSpPr>
          <p:cNvPr id="13" name="Text 11"/>
          <p:cNvSpPr/>
          <p:nvPr/>
        </p:nvSpPr>
        <p:spPr>
          <a:xfrm>
            <a:off x="3401568" y="1984248"/>
            <a:ext cx="3849624" cy="237744"/>
          </a:xfrm>
          <a:prstGeom prst="rect">
            <a:avLst/>
          </a:prstGeom>
          <a:noFill/>
          <a:ln/>
        </p:spPr>
        <p:txBody>
          <a:bodyPr wrap="square" lIns="0" tIns="0" rIns="0" bIns="0" rtlCol="0" anchor="ctr">
            <a:normAutofit/>
          </a:bodyPr>
          <a:lstStyle/>
          <a:p>
            <a:pPr marL="0" indent="0" algn="ctr">
              <a:buNone/>
            </a:pPr>
            <a:r>
              <a:rPr lang="vi-VN" altLang="en-US" sz="1210" b="1" dirty="0">
                <a:solidFill>
                  <a:srgbClr val="FFFFFF"/>
                </a:solidFill>
                <a:latin typeface="Inter" pitchFamily="34" charset="0"/>
                <a:ea typeface="Inter" pitchFamily="34" charset="-122"/>
                <a:cs typeface="Inter" pitchFamily="34" charset="-120"/>
              </a:rPr>
              <a:t>AUTHENTICATION</a:t>
            </a:r>
            <a:endParaRPr lang="vi-VN" sz="1210" dirty="0"/>
          </a:p>
        </p:txBody>
      </p:sp>
      <p:sp>
        <p:nvSpPr>
          <p:cNvPr id="14" name="Shape 12"/>
          <p:cNvSpPr/>
          <p:nvPr/>
        </p:nvSpPr>
        <p:spPr>
          <a:xfrm>
            <a:off x="7406640" y="1837944"/>
            <a:ext cx="4133088" cy="557784"/>
          </a:xfrm>
          <a:prstGeom prst="roundRect">
            <a:avLst>
              <a:gd name="adj" fmla="val 19672"/>
            </a:avLst>
          </a:prstGeom>
          <a:solidFill>
            <a:srgbClr val="183B63"/>
          </a:solidFill>
          <a:ln w="12700">
            <a:solidFill>
              <a:srgbClr val="183B63">
                <a:alpha val="0"/>
              </a:srgbClr>
            </a:solidFill>
            <a:prstDash val="solid"/>
          </a:ln>
        </p:spPr>
        <p:txBody>
          <a:bodyPr/>
          <a:lstStyle/>
          <a:p>
            <a:endParaRPr lang="en-US"/>
          </a:p>
        </p:txBody>
      </p:sp>
      <p:sp>
        <p:nvSpPr>
          <p:cNvPr id="15" name="Text 13"/>
          <p:cNvSpPr/>
          <p:nvPr/>
        </p:nvSpPr>
        <p:spPr>
          <a:xfrm>
            <a:off x="7516368" y="1984248"/>
            <a:ext cx="3913632" cy="237744"/>
          </a:xfrm>
          <a:prstGeom prst="rect">
            <a:avLst/>
          </a:prstGeom>
          <a:noFill/>
          <a:ln/>
        </p:spPr>
        <p:txBody>
          <a:bodyPr wrap="square" lIns="0" tIns="0" rIns="0" bIns="0" rtlCol="0" anchor="ctr">
            <a:normAutofit/>
          </a:bodyPr>
          <a:lstStyle/>
          <a:p>
            <a:pPr marL="0" indent="0" algn="ctr">
              <a:buNone/>
            </a:pPr>
            <a:r>
              <a:rPr lang="vi-VN" altLang="en-US" sz="1210" b="1" dirty="0">
                <a:solidFill>
                  <a:srgbClr val="FFFFFF"/>
                </a:solidFill>
                <a:latin typeface="Inter" pitchFamily="34" charset="0"/>
                <a:ea typeface="Inter" pitchFamily="34" charset="-122"/>
                <a:cs typeface="Inter" pitchFamily="34" charset="-120"/>
              </a:rPr>
              <a:t>AUTHORIZATION</a:t>
            </a:r>
            <a:endParaRPr lang="vi-VN" sz="1210" dirty="0"/>
          </a:p>
        </p:txBody>
      </p:sp>
      <p:sp>
        <p:nvSpPr>
          <p:cNvPr id="16" name="Shape 14"/>
          <p:cNvSpPr/>
          <p:nvPr/>
        </p:nvSpPr>
        <p:spPr>
          <a:xfrm>
            <a:off x="548640" y="2468880"/>
            <a:ext cx="10991088" cy="557784"/>
          </a:xfrm>
          <a:prstGeom prst="rect">
            <a:avLst/>
          </a:prstGeom>
          <a:solidFill>
            <a:srgbClr val="EFF2F7"/>
          </a:solidFill>
          <a:ln w="12700">
            <a:solidFill>
              <a:srgbClr val="EFF2F7">
                <a:alpha val="0"/>
              </a:srgbClr>
            </a:solidFill>
            <a:prstDash val="solid"/>
          </a:ln>
        </p:spPr>
        <p:txBody>
          <a:bodyPr/>
          <a:lstStyle/>
          <a:p>
            <a:endParaRPr lang="en-US"/>
          </a:p>
        </p:txBody>
      </p:sp>
      <p:sp>
        <p:nvSpPr>
          <p:cNvPr id="17" name="Text 15"/>
          <p:cNvSpPr/>
          <p:nvPr/>
        </p:nvSpPr>
        <p:spPr>
          <a:xfrm>
            <a:off x="694944" y="2560320"/>
            <a:ext cx="2404872" cy="374904"/>
          </a:xfrm>
          <a:prstGeom prst="rect">
            <a:avLst/>
          </a:prstGeom>
          <a:noFill/>
          <a:ln/>
        </p:spPr>
        <p:txBody>
          <a:bodyPr wrap="square" lIns="0" tIns="0" rIns="0" bIns="0" rtlCol="0" anchor="ctr">
            <a:normAutofit/>
          </a:bodyPr>
          <a:lstStyle/>
          <a:p>
            <a:pPr marL="0" indent="0" algn="l">
              <a:buNone/>
            </a:pPr>
            <a:r>
              <a:rPr lang="vi-VN" altLang="en-US" sz="1310" b="1" dirty="0">
                <a:solidFill>
                  <a:srgbClr val="183B63"/>
                </a:solidFill>
                <a:latin typeface="Inter" pitchFamily="34" charset="0"/>
                <a:ea typeface="Inter" pitchFamily="34" charset="-122"/>
                <a:cs typeface="Inter" pitchFamily="34" charset="-120"/>
              </a:rPr>
              <a:t>Câu hỏi</a:t>
            </a:r>
            <a:endParaRPr lang="vi-VN" sz="1310" dirty="0"/>
          </a:p>
        </p:txBody>
      </p:sp>
      <p:sp>
        <p:nvSpPr>
          <p:cNvPr id="18" name="Text 16"/>
          <p:cNvSpPr/>
          <p:nvPr/>
        </p:nvSpPr>
        <p:spPr>
          <a:xfrm>
            <a:off x="3438144" y="2560320"/>
            <a:ext cx="3776472" cy="374904"/>
          </a:xfrm>
          <a:prstGeom prst="rect">
            <a:avLst/>
          </a:prstGeom>
          <a:noFill/>
          <a:ln/>
        </p:spPr>
        <p:txBody>
          <a:bodyPr wrap="square" lIns="0" tIns="0" rIns="0" bIns="0" rtlCol="0" anchor="ctr">
            <a:normAutofit/>
          </a:bodyPr>
          <a:lstStyle/>
          <a:p>
            <a:pPr marL="0" indent="0" algn="ctr">
              <a:buNone/>
            </a:pPr>
            <a:r>
              <a:rPr lang="vi-VN" altLang="en-US" sz="1420" dirty="0">
                <a:solidFill>
                  <a:srgbClr val="263345"/>
                </a:solidFill>
                <a:latin typeface="Inter" pitchFamily="34" charset="0"/>
                <a:ea typeface="Inter" pitchFamily="34" charset="-122"/>
                <a:cs typeface="Inter" pitchFamily="34" charset="-120"/>
              </a:rPr>
              <a:t>Bạn là ai?</a:t>
            </a:r>
            <a:endParaRPr lang="vi-VN" sz="1420" dirty="0"/>
          </a:p>
        </p:txBody>
      </p:sp>
      <p:sp>
        <p:nvSpPr>
          <p:cNvPr id="19" name="Text 17"/>
          <p:cNvSpPr/>
          <p:nvPr/>
        </p:nvSpPr>
        <p:spPr>
          <a:xfrm>
            <a:off x="7552944" y="2560320"/>
            <a:ext cx="3840480" cy="374904"/>
          </a:xfrm>
          <a:prstGeom prst="rect">
            <a:avLst/>
          </a:prstGeom>
          <a:noFill/>
          <a:ln/>
        </p:spPr>
        <p:txBody>
          <a:bodyPr wrap="square" lIns="0" tIns="0" rIns="0" bIns="0" rtlCol="0" anchor="ctr">
            <a:normAutofit/>
          </a:bodyPr>
          <a:lstStyle/>
          <a:p>
            <a:pPr marL="0" indent="0" algn="ctr">
              <a:buNone/>
            </a:pPr>
            <a:r>
              <a:rPr lang="vi-VN" altLang="en-US" sz="1420" dirty="0">
                <a:solidFill>
                  <a:srgbClr val="263345"/>
                </a:solidFill>
                <a:latin typeface="Inter" pitchFamily="34" charset="0"/>
                <a:ea typeface="Inter" pitchFamily="34" charset="-122"/>
                <a:cs typeface="Inter" pitchFamily="34" charset="-120"/>
              </a:rPr>
              <a:t>Bạn được làm gì?</a:t>
            </a:r>
            <a:endParaRPr lang="vi-VN" sz="1420" dirty="0"/>
          </a:p>
        </p:txBody>
      </p:sp>
      <p:sp>
        <p:nvSpPr>
          <p:cNvPr id="20" name="Shape 18"/>
          <p:cNvSpPr/>
          <p:nvPr/>
        </p:nvSpPr>
        <p:spPr>
          <a:xfrm>
            <a:off x="548640" y="3035808"/>
            <a:ext cx="10991088" cy="557784"/>
          </a:xfrm>
          <a:prstGeom prst="rect">
            <a:avLst/>
          </a:prstGeom>
          <a:solidFill>
            <a:srgbClr val="FFFFFF"/>
          </a:solidFill>
          <a:ln w="12700">
            <a:solidFill>
              <a:srgbClr val="FFFFFF">
                <a:alpha val="0"/>
              </a:srgbClr>
            </a:solidFill>
            <a:prstDash val="solid"/>
          </a:ln>
        </p:spPr>
        <p:txBody>
          <a:bodyPr/>
          <a:lstStyle/>
          <a:p>
            <a:endParaRPr lang="en-US"/>
          </a:p>
        </p:txBody>
      </p:sp>
      <p:sp>
        <p:nvSpPr>
          <p:cNvPr id="21" name="Text 19"/>
          <p:cNvSpPr/>
          <p:nvPr/>
        </p:nvSpPr>
        <p:spPr>
          <a:xfrm>
            <a:off x="694944" y="3127248"/>
            <a:ext cx="2404872" cy="374904"/>
          </a:xfrm>
          <a:prstGeom prst="rect">
            <a:avLst/>
          </a:prstGeom>
          <a:noFill/>
          <a:ln/>
        </p:spPr>
        <p:txBody>
          <a:bodyPr wrap="square" lIns="0" tIns="0" rIns="0" bIns="0" rtlCol="0" anchor="ctr">
            <a:normAutofit/>
          </a:bodyPr>
          <a:lstStyle/>
          <a:p>
            <a:pPr marL="0" indent="0" algn="l">
              <a:buNone/>
            </a:pPr>
            <a:r>
              <a:rPr lang="vi-VN" altLang="en-US" sz="1310" b="1" dirty="0">
                <a:solidFill>
                  <a:srgbClr val="183B63"/>
                </a:solidFill>
                <a:latin typeface="Inter" pitchFamily="34" charset="0"/>
                <a:ea typeface="Inter" pitchFamily="34" charset="-122"/>
                <a:cs typeface="Inter" pitchFamily="34" charset="-120"/>
              </a:rPr>
              <a:t>Mục đích</a:t>
            </a:r>
            <a:endParaRPr lang="vi-VN" sz="1310" dirty="0"/>
          </a:p>
        </p:txBody>
      </p:sp>
      <p:sp>
        <p:nvSpPr>
          <p:cNvPr id="22" name="Text 20"/>
          <p:cNvSpPr/>
          <p:nvPr/>
        </p:nvSpPr>
        <p:spPr>
          <a:xfrm>
            <a:off x="3438144" y="3127248"/>
            <a:ext cx="3776472" cy="374904"/>
          </a:xfrm>
          <a:prstGeom prst="rect">
            <a:avLst/>
          </a:prstGeom>
          <a:noFill/>
          <a:ln/>
        </p:spPr>
        <p:txBody>
          <a:bodyPr wrap="square" lIns="0" tIns="0" rIns="0" bIns="0" rtlCol="0" anchor="ctr">
            <a:normAutofit/>
          </a:bodyPr>
          <a:lstStyle/>
          <a:p>
            <a:pPr marL="0" indent="0" algn="ctr">
              <a:buNone/>
            </a:pPr>
            <a:r>
              <a:rPr lang="vi-VN" altLang="en-US" sz="1420" dirty="0">
                <a:solidFill>
                  <a:srgbClr val="263345"/>
                </a:solidFill>
                <a:latin typeface="Inter" pitchFamily="34" charset="0"/>
                <a:ea typeface="Inter" pitchFamily="34" charset="-122"/>
                <a:cs typeface="Inter" pitchFamily="34" charset="-120"/>
              </a:rPr>
              <a:t>Xác minh danh tính</a:t>
            </a:r>
            <a:endParaRPr lang="vi-VN" sz="1420" dirty="0"/>
          </a:p>
        </p:txBody>
      </p:sp>
      <p:sp>
        <p:nvSpPr>
          <p:cNvPr id="23" name="Text 21"/>
          <p:cNvSpPr/>
          <p:nvPr/>
        </p:nvSpPr>
        <p:spPr>
          <a:xfrm>
            <a:off x="7552944" y="3127248"/>
            <a:ext cx="3840480" cy="374904"/>
          </a:xfrm>
          <a:prstGeom prst="rect">
            <a:avLst/>
          </a:prstGeom>
          <a:noFill/>
          <a:ln/>
        </p:spPr>
        <p:txBody>
          <a:bodyPr wrap="square" lIns="0" tIns="0" rIns="0" bIns="0" rtlCol="0" anchor="ctr">
            <a:normAutofit/>
          </a:bodyPr>
          <a:lstStyle/>
          <a:p>
            <a:pPr marL="0" indent="0" algn="ctr">
              <a:buNone/>
            </a:pPr>
            <a:r>
              <a:rPr lang="vi-VN" altLang="en-US" sz="1420" dirty="0">
                <a:solidFill>
                  <a:srgbClr val="263345"/>
                </a:solidFill>
                <a:latin typeface="Inter" pitchFamily="34" charset="0"/>
                <a:ea typeface="Inter" pitchFamily="34" charset="-122"/>
                <a:cs typeface="Inter" pitchFamily="34" charset="-120"/>
              </a:rPr>
              <a:t>Kiểm tra quyền truy cập</a:t>
            </a:r>
            <a:endParaRPr lang="vi-VN" sz="1420" dirty="0"/>
          </a:p>
        </p:txBody>
      </p:sp>
      <p:sp>
        <p:nvSpPr>
          <p:cNvPr id="24" name="Shape 22"/>
          <p:cNvSpPr/>
          <p:nvPr/>
        </p:nvSpPr>
        <p:spPr>
          <a:xfrm>
            <a:off x="548640" y="3602736"/>
            <a:ext cx="10991088" cy="557784"/>
          </a:xfrm>
          <a:prstGeom prst="rect">
            <a:avLst/>
          </a:prstGeom>
          <a:solidFill>
            <a:srgbClr val="EFF2F7"/>
          </a:solidFill>
          <a:ln w="12700">
            <a:solidFill>
              <a:srgbClr val="EFF2F7">
                <a:alpha val="0"/>
              </a:srgbClr>
            </a:solidFill>
            <a:prstDash val="solid"/>
          </a:ln>
        </p:spPr>
        <p:txBody>
          <a:bodyPr/>
          <a:lstStyle/>
          <a:p>
            <a:endParaRPr lang="en-US"/>
          </a:p>
        </p:txBody>
      </p:sp>
      <p:sp>
        <p:nvSpPr>
          <p:cNvPr id="25" name="Text 23"/>
          <p:cNvSpPr/>
          <p:nvPr/>
        </p:nvSpPr>
        <p:spPr>
          <a:xfrm>
            <a:off x="694944" y="3694176"/>
            <a:ext cx="2404872" cy="374904"/>
          </a:xfrm>
          <a:prstGeom prst="rect">
            <a:avLst/>
          </a:prstGeom>
          <a:noFill/>
          <a:ln/>
        </p:spPr>
        <p:txBody>
          <a:bodyPr wrap="square" lIns="0" tIns="0" rIns="0" bIns="0" rtlCol="0" anchor="ctr">
            <a:normAutofit/>
          </a:bodyPr>
          <a:lstStyle/>
          <a:p>
            <a:pPr marL="0" indent="0" algn="l">
              <a:buNone/>
            </a:pPr>
            <a:r>
              <a:rPr lang="vi-VN" altLang="en-US" sz="1310" b="1" dirty="0">
                <a:solidFill>
                  <a:srgbClr val="183B63"/>
                </a:solidFill>
                <a:latin typeface="Inter" pitchFamily="34" charset="0"/>
                <a:ea typeface="Inter" pitchFamily="34" charset="-122"/>
                <a:cs typeface="Inter" pitchFamily="34" charset="-120"/>
              </a:rPr>
              <a:t>Ví dụ</a:t>
            </a:r>
            <a:endParaRPr lang="vi-VN" sz="1310" dirty="0"/>
          </a:p>
        </p:txBody>
      </p:sp>
      <p:sp>
        <p:nvSpPr>
          <p:cNvPr id="26" name="Text 24"/>
          <p:cNvSpPr/>
          <p:nvPr/>
        </p:nvSpPr>
        <p:spPr>
          <a:xfrm>
            <a:off x="3438144" y="3694176"/>
            <a:ext cx="3776472" cy="374904"/>
          </a:xfrm>
          <a:prstGeom prst="rect">
            <a:avLst/>
          </a:prstGeom>
          <a:noFill/>
          <a:ln/>
        </p:spPr>
        <p:txBody>
          <a:bodyPr wrap="square" lIns="0" tIns="0" rIns="0" bIns="0" rtlCol="0" anchor="ctr">
            <a:normAutofit/>
          </a:bodyPr>
          <a:lstStyle/>
          <a:p>
            <a:pPr marL="0" indent="0" algn="ctr">
              <a:buNone/>
            </a:pPr>
            <a:r>
              <a:rPr lang="vi-VN" altLang="en-US" sz="1420" dirty="0">
                <a:solidFill>
                  <a:srgbClr val="263345"/>
                </a:solidFill>
                <a:latin typeface="Inter" pitchFamily="34" charset="0"/>
                <a:ea typeface="Inter" pitchFamily="34" charset="-122"/>
                <a:cs typeface="Inter" pitchFamily="34" charset="-120"/>
              </a:rPr>
              <a:t>Login, JWT, mật khẩu</a:t>
            </a:r>
            <a:endParaRPr lang="vi-VN" sz="1420" dirty="0"/>
          </a:p>
        </p:txBody>
      </p:sp>
      <p:sp>
        <p:nvSpPr>
          <p:cNvPr id="27" name="Text 25"/>
          <p:cNvSpPr/>
          <p:nvPr/>
        </p:nvSpPr>
        <p:spPr>
          <a:xfrm>
            <a:off x="7552944" y="3694176"/>
            <a:ext cx="3840480" cy="374904"/>
          </a:xfrm>
          <a:prstGeom prst="rect">
            <a:avLst/>
          </a:prstGeom>
          <a:noFill/>
          <a:ln/>
        </p:spPr>
        <p:txBody>
          <a:bodyPr wrap="square" lIns="0" tIns="0" rIns="0" bIns="0" rtlCol="0" anchor="ctr">
            <a:normAutofit/>
          </a:bodyPr>
          <a:lstStyle/>
          <a:p>
            <a:pPr marL="0" indent="0" algn="ctr">
              <a:buNone/>
            </a:pPr>
            <a:r>
              <a:rPr lang="vi-VN" altLang="en-US" sz="1420" dirty="0">
                <a:solidFill>
                  <a:srgbClr val="263345"/>
                </a:solidFill>
                <a:latin typeface="Inter" pitchFamily="34" charset="0"/>
                <a:ea typeface="Inter" pitchFamily="34" charset="-122"/>
                <a:cs typeface="Inter" pitchFamily="34" charset="-120"/>
              </a:rPr>
              <a:t>Role, Permission, RBAC</a:t>
            </a:r>
            <a:endParaRPr lang="vi-VN" sz="1420" dirty="0"/>
          </a:p>
        </p:txBody>
      </p:sp>
      <p:sp>
        <p:nvSpPr>
          <p:cNvPr id="28" name="Shape 26"/>
          <p:cNvSpPr/>
          <p:nvPr/>
        </p:nvSpPr>
        <p:spPr>
          <a:xfrm>
            <a:off x="548640" y="4169664"/>
            <a:ext cx="10991088" cy="557784"/>
          </a:xfrm>
          <a:prstGeom prst="rect">
            <a:avLst/>
          </a:prstGeom>
          <a:solidFill>
            <a:srgbClr val="FFFFFF"/>
          </a:solidFill>
          <a:ln w="12700">
            <a:solidFill>
              <a:srgbClr val="FFFFFF">
                <a:alpha val="0"/>
              </a:srgbClr>
            </a:solidFill>
            <a:prstDash val="solid"/>
          </a:ln>
        </p:spPr>
        <p:txBody>
          <a:bodyPr/>
          <a:lstStyle/>
          <a:p>
            <a:endParaRPr lang="en-US"/>
          </a:p>
        </p:txBody>
      </p:sp>
      <p:sp>
        <p:nvSpPr>
          <p:cNvPr id="29" name="Text 27"/>
          <p:cNvSpPr/>
          <p:nvPr/>
        </p:nvSpPr>
        <p:spPr>
          <a:xfrm>
            <a:off x="694944" y="4261104"/>
            <a:ext cx="2404872" cy="374904"/>
          </a:xfrm>
          <a:prstGeom prst="rect">
            <a:avLst/>
          </a:prstGeom>
          <a:noFill/>
          <a:ln/>
        </p:spPr>
        <p:txBody>
          <a:bodyPr wrap="square" lIns="0" tIns="0" rIns="0" bIns="0" rtlCol="0" anchor="ctr">
            <a:normAutofit/>
          </a:bodyPr>
          <a:lstStyle/>
          <a:p>
            <a:pPr marL="0" indent="0" algn="l">
              <a:buNone/>
            </a:pPr>
            <a:r>
              <a:rPr lang="vi-VN" altLang="en-US" sz="1310" b="1" dirty="0">
                <a:solidFill>
                  <a:srgbClr val="183B63"/>
                </a:solidFill>
                <a:latin typeface="Inter" pitchFamily="34" charset="0"/>
                <a:ea typeface="Inter" pitchFamily="34" charset="-122"/>
                <a:cs typeface="Inter" pitchFamily="34" charset="-120"/>
              </a:rPr>
              <a:t>Middleware</a:t>
            </a:r>
            <a:endParaRPr lang="vi-VN" sz="1310" dirty="0"/>
          </a:p>
        </p:txBody>
      </p:sp>
      <p:sp>
        <p:nvSpPr>
          <p:cNvPr id="30" name="Text 28"/>
          <p:cNvSpPr/>
          <p:nvPr/>
        </p:nvSpPr>
        <p:spPr>
          <a:xfrm>
            <a:off x="3438144" y="4261104"/>
            <a:ext cx="3776472" cy="374904"/>
          </a:xfrm>
          <a:prstGeom prst="rect">
            <a:avLst/>
          </a:prstGeom>
          <a:noFill/>
          <a:ln/>
        </p:spPr>
        <p:txBody>
          <a:bodyPr wrap="square" lIns="0" tIns="0" rIns="0" bIns="0" rtlCol="0" anchor="ctr">
            <a:normAutofit/>
          </a:bodyPr>
          <a:lstStyle/>
          <a:p>
            <a:pPr marL="0" indent="0" algn="ctr">
              <a:buNone/>
            </a:pPr>
            <a:r>
              <a:rPr lang="vi-VN" altLang="en-US" sz="1420" dirty="0">
                <a:solidFill>
                  <a:srgbClr val="263345"/>
                </a:solidFill>
                <a:latin typeface="Inter" pitchFamily="34" charset="0"/>
                <a:ea typeface="Inter" pitchFamily="34" charset="-122"/>
                <a:cs typeface="Inter" pitchFamily="34" charset="-120"/>
              </a:rPr>
              <a:t>isAuth</a:t>
            </a:r>
            <a:endParaRPr lang="vi-VN" sz="1420" dirty="0"/>
          </a:p>
        </p:txBody>
      </p:sp>
      <p:sp>
        <p:nvSpPr>
          <p:cNvPr id="31" name="Text 29"/>
          <p:cNvSpPr/>
          <p:nvPr/>
        </p:nvSpPr>
        <p:spPr>
          <a:xfrm>
            <a:off x="7552944" y="4261104"/>
            <a:ext cx="3840480" cy="374904"/>
          </a:xfrm>
          <a:prstGeom prst="rect">
            <a:avLst/>
          </a:prstGeom>
          <a:noFill/>
          <a:ln/>
        </p:spPr>
        <p:txBody>
          <a:bodyPr wrap="square" lIns="0" tIns="0" rIns="0" bIns="0" rtlCol="0" anchor="ctr">
            <a:normAutofit/>
          </a:bodyPr>
          <a:lstStyle/>
          <a:p>
            <a:pPr marL="0" indent="0" algn="ctr">
              <a:buNone/>
            </a:pPr>
            <a:r>
              <a:rPr lang="vi-VN" altLang="en-US" sz="1420" dirty="0">
                <a:solidFill>
                  <a:srgbClr val="263345"/>
                </a:solidFill>
                <a:latin typeface="Inter" pitchFamily="34" charset="0"/>
                <a:ea typeface="Inter" pitchFamily="34" charset="-122"/>
                <a:cs typeface="Inter" pitchFamily="34" charset="-120"/>
              </a:rPr>
              <a:t>isAdmin / hasRole</a:t>
            </a:r>
            <a:endParaRPr lang="vi-VN" sz="1420" dirty="0"/>
          </a:p>
        </p:txBody>
      </p:sp>
      <p:sp>
        <p:nvSpPr>
          <p:cNvPr id="32" name="Shape 30"/>
          <p:cNvSpPr/>
          <p:nvPr/>
        </p:nvSpPr>
        <p:spPr>
          <a:xfrm>
            <a:off x="548640" y="4736592"/>
            <a:ext cx="10991088" cy="557784"/>
          </a:xfrm>
          <a:prstGeom prst="rect">
            <a:avLst/>
          </a:prstGeom>
          <a:solidFill>
            <a:srgbClr val="EFF2F7"/>
          </a:solidFill>
          <a:ln w="12700">
            <a:solidFill>
              <a:srgbClr val="EFF2F7">
                <a:alpha val="0"/>
              </a:srgbClr>
            </a:solidFill>
            <a:prstDash val="solid"/>
          </a:ln>
        </p:spPr>
        <p:txBody>
          <a:bodyPr/>
          <a:lstStyle/>
          <a:p>
            <a:endParaRPr lang="en-US"/>
          </a:p>
        </p:txBody>
      </p:sp>
      <p:sp>
        <p:nvSpPr>
          <p:cNvPr id="33" name="Text 31"/>
          <p:cNvSpPr/>
          <p:nvPr/>
        </p:nvSpPr>
        <p:spPr>
          <a:xfrm>
            <a:off x="694944" y="4828032"/>
            <a:ext cx="2404872" cy="374904"/>
          </a:xfrm>
          <a:prstGeom prst="rect">
            <a:avLst/>
          </a:prstGeom>
          <a:noFill/>
          <a:ln/>
        </p:spPr>
        <p:txBody>
          <a:bodyPr wrap="square" lIns="0" tIns="0" rIns="0" bIns="0" rtlCol="0" anchor="ctr">
            <a:normAutofit/>
          </a:bodyPr>
          <a:lstStyle/>
          <a:p>
            <a:pPr marL="0" indent="0" algn="l">
              <a:buNone/>
            </a:pPr>
            <a:r>
              <a:rPr lang="vi-VN" altLang="en-US" sz="1310" b="1" dirty="0">
                <a:solidFill>
                  <a:srgbClr val="183B63"/>
                </a:solidFill>
                <a:latin typeface="Inter" pitchFamily="34" charset="0"/>
                <a:ea typeface="Inter" pitchFamily="34" charset="-122"/>
                <a:cs typeface="Inter" pitchFamily="34" charset="-120"/>
              </a:rPr>
              <a:t>Lỗi thường gặp</a:t>
            </a:r>
            <a:endParaRPr lang="vi-VN" sz="1310" dirty="0"/>
          </a:p>
        </p:txBody>
      </p:sp>
      <p:sp>
        <p:nvSpPr>
          <p:cNvPr id="34" name="Text 32"/>
          <p:cNvSpPr/>
          <p:nvPr/>
        </p:nvSpPr>
        <p:spPr>
          <a:xfrm>
            <a:off x="3438144" y="4828032"/>
            <a:ext cx="3776472" cy="374904"/>
          </a:xfrm>
          <a:prstGeom prst="rect">
            <a:avLst/>
          </a:prstGeom>
          <a:noFill/>
          <a:ln/>
        </p:spPr>
        <p:txBody>
          <a:bodyPr wrap="square" lIns="0" tIns="0" rIns="0" bIns="0" rtlCol="0" anchor="ctr">
            <a:normAutofit/>
          </a:bodyPr>
          <a:lstStyle/>
          <a:p>
            <a:pPr marL="0" indent="0" algn="ctr">
              <a:buNone/>
            </a:pPr>
            <a:r>
              <a:rPr lang="vi-VN" altLang="en-US" sz="1420" dirty="0">
                <a:solidFill>
                  <a:srgbClr val="263345"/>
                </a:solidFill>
                <a:latin typeface="Inter" pitchFamily="34" charset="0"/>
                <a:ea typeface="Inter" pitchFamily="34" charset="-122"/>
                <a:cs typeface="Inter" pitchFamily="34" charset="-120"/>
              </a:rPr>
              <a:t>401 Unauthorized</a:t>
            </a:r>
            <a:endParaRPr lang="vi-VN" sz="1420" dirty="0"/>
          </a:p>
        </p:txBody>
      </p:sp>
      <p:sp>
        <p:nvSpPr>
          <p:cNvPr id="35" name="Text 33"/>
          <p:cNvSpPr/>
          <p:nvPr/>
        </p:nvSpPr>
        <p:spPr>
          <a:xfrm>
            <a:off x="7552944" y="4828032"/>
            <a:ext cx="3840480" cy="374904"/>
          </a:xfrm>
          <a:prstGeom prst="rect">
            <a:avLst/>
          </a:prstGeom>
          <a:noFill/>
          <a:ln/>
        </p:spPr>
        <p:txBody>
          <a:bodyPr wrap="square" lIns="0" tIns="0" rIns="0" bIns="0" rtlCol="0" anchor="ctr">
            <a:normAutofit/>
          </a:bodyPr>
          <a:lstStyle/>
          <a:p>
            <a:pPr marL="0" indent="0" algn="ctr">
              <a:buNone/>
            </a:pPr>
            <a:r>
              <a:rPr lang="vi-VN" altLang="en-US" sz="1420" dirty="0">
                <a:solidFill>
                  <a:srgbClr val="263345"/>
                </a:solidFill>
                <a:latin typeface="Inter" pitchFamily="34" charset="0"/>
                <a:ea typeface="Inter" pitchFamily="34" charset="-122"/>
                <a:cs typeface="Inter" pitchFamily="34" charset="-120"/>
              </a:rPr>
              <a:t>403 Forbidden</a:t>
            </a:r>
            <a:endParaRPr lang="vi-VN" sz="1420" dirty="0"/>
          </a:p>
        </p:txBody>
      </p:sp>
      <p:sp>
        <p:nvSpPr>
          <p:cNvPr id="36" name="Shape 34"/>
          <p:cNvSpPr/>
          <p:nvPr/>
        </p:nvSpPr>
        <p:spPr>
          <a:xfrm>
            <a:off x="475488" y="5907024"/>
            <a:ext cx="11247120" cy="448056"/>
          </a:xfrm>
          <a:prstGeom prst="roundRect">
            <a:avLst>
              <a:gd name="adj" fmla="val 24490"/>
            </a:avLst>
          </a:prstGeom>
          <a:solidFill>
            <a:srgbClr val="FFF5D5"/>
          </a:solidFill>
          <a:ln w="12700">
            <a:solidFill>
              <a:srgbClr val="FFF5D5">
                <a:alpha val="0"/>
              </a:srgbClr>
            </a:solidFill>
            <a:prstDash val="solid"/>
          </a:ln>
        </p:spPr>
        <p:txBody>
          <a:bodyPr/>
          <a:lstStyle/>
          <a:p>
            <a:endParaRPr lang="en-US"/>
          </a:p>
        </p:txBody>
      </p:sp>
      <p:pic>
        <p:nvPicPr>
          <p:cNvPr id="37" name="Image 0" descr="/mnt/data/auth_slide_work/icon_cache/19a4e8a463faa6409c49e67e1231d428.png"/>
          <p:cNvPicPr>
            <a:picLocks noChangeAspect="1"/>
          </p:cNvPicPr>
          <p:nvPr/>
        </p:nvPicPr>
        <p:blipFill>
          <a:blip r:embed="rId3"/>
          <a:stretch>
            <a:fillRect/>
          </a:stretch>
        </p:blipFill>
        <p:spPr>
          <a:xfrm>
            <a:off x="658368" y="6035040"/>
            <a:ext cx="173736" cy="173736"/>
          </a:xfrm>
          <a:prstGeom prst="rect">
            <a:avLst/>
          </a:prstGeom>
        </p:spPr>
      </p:pic>
      <p:sp>
        <p:nvSpPr>
          <p:cNvPr id="38" name="Text 35"/>
          <p:cNvSpPr/>
          <p:nvPr/>
        </p:nvSpPr>
        <p:spPr>
          <a:xfrm>
            <a:off x="932688" y="5993892"/>
            <a:ext cx="10515600" cy="283464"/>
          </a:xfrm>
          <a:prstGeom prst="rect">
            <a:avLst/>
          </a:prstGeom>
          <a:noFill/>
          <a:ln/>
        </p:spPr>
        <p:txBody>
          <a:bodyPr wrap="square" lIns="0" tIns="0" rIns="0" bIns="0" rtlCol="0" anchor="ctr">
            <a:normAutofit/>
          </a:bodyPr>
          <a:lstStyle/>
          <a:p>
            <a:pPr marL="0" indent="0">
              <a:buNone/>
            </a:pPr>
            <a:r>
              <a:rPr lang="vi-VN" altLang="en-US" sz="1220" dirty="0">
                <a:solidFill>
                  <a:srgbClr val="263345"/>
                </a:solidFill>
                <a:latin typeface="Inter" pitchFamily="34" charset="0"/>
                <a:ea typeface="Inter" pitchFamily="34" charset="-122"/>
                <a:cs typeface="Inter" pitchFamily="34" charset="-120"/>
              </a:rPr>
              <a:t>Ví dụ: Kiểm tra vé vào cổng (Authentication) → kiểm tra quyền vào phòng (Authorization).</a:t>
            </a:r>
            <a:endParaRPr lang="vi-VN"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CƠ CHẾ ĐĂNG NHẬP</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Session-based Authentication là gì?</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Server tạo và lưu trạng thái phiên; Client thường lưu Session ID trong Cookie.</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07 / 24</a:t>
            </a:r>
            <a:endParaRPr lang="vi-VN" sz="850" dirty="0"/>
          </a:p>
        </p:txBody>
      </p:sp>
      <p:sp>
        <p:nvSpPr>
          <p:cNvPr id="10" name="Shape 8"/>
          <p:cNvSpPr/>
          <p:nvPr/>
        </p:nvSpPr>
        <p:spPr>
          <a:xfrm>
            <a:off x="667512" y="2075688"/>
            <a:ext cx="2761488" cy="1051560"/>
          </a:xfrm>
          <a:prstGeom prst="roundRect">
            <a:avLst>
              <a:gd name="adj" fmla="val 10435"/>
            </a:avLst>
          </a:prstGeom>
          <a:solidFill>
            <a:srgbClr val="EBF2FE"/>
          </a:solidFill>
          <a:ln w="12700">
            <a:solidFill>
              <a:srgbClr val="EBF2FE">
                <a:alpha val="0"/>
              </a:srgbClr>
            </a:solidFill>
            <a:prstDash val="solid"/>
          </a:ln>
        </p:spPr>
        <p:txBody>
          <a:bodyPr/>
          <a:lstStyle/>
          <a:p>
            <a:endParaRPr lang="en-US"/>
          </a:p>
        </p:txBody>
      </p:sp>
      <p:sp>
        <p:nvSpPr>
          <p:cNvPr id="11" name="Text 9"/>
          <p:cNvSpPr/>
          <p:nvPr/>
        </p:nvSpPr>
        <p:spPr>
          <a:xfrm>
            <a:off x="758952" y="2176272"/>
            <a:ext cx="2578608" cy="420624"/>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CLIENT (BROWSER)</a:t>
            </a:r>
            <a:endParaRPr lang="vi-VN" sz="1360" dirty="0"/>
          </a:p>
        </p:txBody>
      </p:sp>
      <p:sp>
        <p:nvSpPr>
          <p:cNvPr id="12" name="Text 10"/>
          <p:cNvSpPr/>
          <p:nvPr/>
        </p:nvSpPr>
        <p:spPr>
          <a:xfrm>
            <a:off x="758952" y="2532888"/>
            <a:ext cx="2578608" cy="557784"/>
          </a:xfrm>
          <a:prstGeom prst="rect">
            <a:avLst/>
          </a:prstGeom>
          <a:noFill/>
          <a:ln/>
        </p:spPr>
        <p:txBody>
          <a:bodyPr wrap="square" lIns="0" tIns="0" rIns="0" bIns="0" rtlCol="0" anchor="ctr">
            <a:normAutofit/>
          </a:bodyPr>
          <a:lstStyle/>
          <a:p>
            <a:pPr marL="0" indent="0" algn="ctr">
              <a:buNone/>
            </a:pPr>
            <a:r>
              <a:rPr lang="vi-VN" altLang="en-US" sz="1080" dirty="0">
                <a:solidFill>
                  <a:srgbClr val="667389"/>
                </a:solidFill>
                <a:latin typeface="Inter" pitchFamily="34" charset="0"/>
                <a:ea typeface="Inter" pitchFamily="34" charset="-122"/>
                <a:cs typeface="Inter" pitchFamily="34" charset="-120"/>
              </a:rPr>
              <a:t>Nhập email và mật khẩu</a:t>
            </a:r>
            <a:endParaRPr lang="vi-VN" sz="1080" dirty="0"/>
          </a:p>
        </p:txBody>
      </p:sp>
      <p:sp>
        <p:nvSpPr>
          <p:cNvPr id="13" name="Shape 11"/>
          <p:cNvSpPr/>
          <p:nvPr/>
        </p:nvSpPr>
        <p:spPr>
          <a:xfrm>
            <a:off x="4681728" y="2075688"/>
            <a:ext cx="2816352" cy="1051560"/>
          </a:xfrm>
          <a:prstGeom prst="roundRect">
            <a:avLst>
              <a:gd name="adj" fmla="val 10435"/>
            </a:avLst>
          </a:prstGeom>
          <a:solidFill>
            <a:srgbClr val="EBF2FE"/>
          </a:solidFill>
          <a:ln w="12700">
            <a:solidFill>
              <a:srgbClr val="EBF2FE">
                <a:alpha val="0"/>
              </a:srgbClr>
            </a:solidFill>
            <a:prstDash val="solid"/>
          </a:ln>
        </p:spPr>
        <p:txBody>
          <a:bodyPr/>
          <a:lstStyle/>
          <a:p>
            <a:endParaRPr lang="en-US"/>
          </a:p>
        </p:txBody>
      </p:sp>
      <p:sp>
        <p:nvSpPr>
          <p:cNvPr id="14" name="Text 12"/>
          <p:cNvSpPr/>
          <p:nvPr/>
        </p:nvSpPr>
        <p:spPr>
          <a:xfrm>
            <a:off x="4773168" y="2176272"/>
            <a:ext cx="2633472" cy="420624"/>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SERVER</a:t>
            </a:r>
            <a:endParaRPr lang="vi-VN" sz="1360" dirty="0"/>
          </a:p>
        </p:txBody>
      </p:sp>
      <p:sp>
        <p:nvSpPr>
          <p:cNvPr id="15" name="Text 13"/>
          <p:cNvSpPr/>
          <p:nvPr/>
        </p:nvSpPr>
        <p:spPr>
          <a:xfrm>
            <a:off x="4773168" y="2532888"/>
            <a:ext cx="2633472" cy="557784"/>
          </a:xfrm>
          <a:prstGeom prst="rect">
            <a:avLst/>
          </a:prstGeom>
          <a:noFill/>
          <a:ln/>
        </p:spPr>
        <p:txBody>
          <a:bodyPr wrap="square" lIns="0" tIns="0" rIns="0" bIns="0" rtlCol="0" anchor="ctr">
            <a:normAutofit/>
          </a:bodyPr>
          <a:lstStyle/>
          <a:p>
            <a:pPr marL="0" indent="0" algn="ctr">
              <a:buNone/>
            </a:pPr>
            <a:r>
              <a:rPr lang="vi-VN" altLang="en-US" sz="1080" dirty="0">
                <a:solidFill>
                  <a:srgbClr val="667389"/>
                </a:solidFill>
                <a:latin typeface="Inter" pitchFamily="34" charset="0"/>
                <a:ea typeface="Inter" pitchFamily="34" charset="-122"/>
                <a:cs typeface="Inter" pitchFamily="34" charset="-120"/>
              </a:rPr>
              <a:t>Kiểm tra đăng nhập</a:t>
            </a:r>
            <a:endParaRPr lang="vi-VN" sz="1080" dirty="0"/>
          </a:p>
        </p:txBody>
      </p:sp>
      <p:sp>
        <p:nvSpPr>
          <p:cNvPr id="16" name="Shape 14"/>
          <p:cNvSpPr/>
          <p:nvPr/>
        </p:nvSpPr>
        <p:spPr>
          <a:xfrm>
            <a:off x="8769096" y="2075688"/>
            <a:ext cx="2752344" cy="1051560"/>
          </a:xfrm>
          <a:prstGeom prst="roundRect">
            <a:avLst>
              <a:gd name="adj" fmla="val 10435"/>
            </a:avLst>
          </a:prstGeom>
          <a:solidFill>
            <a:srgbClr val="E6F6EF"/>
          </a:solidFill>
          <a:ln w="12700">
            <a:solidFill>
              <a:srgbClr val="E6F6EF">
                <a:alpha val="0"/>
              </a:srgbClr>
            </a:solidFill>
            <a:prstDash val="solid"/>
          </a:ln>
        </p:spPr>
        <p:txBody>
          <a:bodyPr/>
          <a:lstStyle/>
          <a:p>
            <a:endParaRPr lang="en-US"/>
          </a:p>
        </p:txBody>
      </p:sp>
      <p:sp>
        <p:nvSpPr>
          <p:cNvPr id="17" name="Text 15"/>
          <p:cNvSpPr/>
          <p:nvPr/>
        </p:nvSpPr>
        <p:spPr>
          <a:xfrm>
            <a:off x="8860536" y="2176272"/>
            <a:ext cx="2569464" cy="420624"/>
          </a:xfrm>
          <a:prstGeom prst="rect">
            <a:avLst/>
          </a:prstGeom>
          <a:noFill/>
          <a:ln/>
        </p:spPr>
        <p:txBody>
          <a:bodyPr wrap="square" lIns="0" tIns="0" rIns="0" bIns="0" rtlCol="0" anchor="ctr">
            <a:normAutofit/>
          </a:bodyPr>
          <a:lstStyle/>
          <a:p>
            <a:pPr marL="0" indent="0" algn="ctr">
              <a:buNone/>
            </a:pPr>
            <a:r>
              <a:rPr lang="vi-VN" altLang="en-US" sz="1360" b="1" dirty="0">
                <a:solidFill>
                  <a:srgbClr val="19805B"/>
                </a:solidFill>
                <a:latin typeface="Inter" pitchFamily="34" charset="0"/>
                <a:ea typeface="Inter" pitchFamily="34" charset="-122"/>
                <a:cs typeface="Inter" pitchFamily="34" charset="-120"/>
              </a:rPr>
              <a:t>SESSION STORE</a:t>
            </a:r>
            <a:endParaRPr lang="vi-VN" sz="1360" dirty="0"/>
          </a:p>
        </p:txBody>
      </p:sp>
      <p:sp>
        <p:nvSpPr>
          <p:cNvPr id="18" name="Text 16"/>
          <p:cNvSpPr/>
          <p:nvPr/>
        </p:nvSpPr>
        <p:spPr>
          <a:xfrm>
            <a:off x="8860536" y="2532888"/>
            <a:ext cx="2569464" cy="557784"/>
          </a:xfrm>
          <a:prstGeom prst="rect">
            <a:avLst/>
          </a:prstGeom>
          <a:noFill/>
          <a:ln/>
        </p:spPr>
        <p:txBody>
          <a:bodyPr wrap="square" lIns="0" tIns="0" rIns="0" bIns="0" rtlCol="0" anchor="ctr">
            <a:normAutofit/>
          </a:bodyPr>
          <a:lstStyle/>
          <a:p>
            <a:pPr marL="0" indent="0" algn="ctr">
              <a:buNone/>
            </a:pPr>
            <a:r>
              <a:rPr lang="vi-VN" altLang="en-US" sz="1080" dirty="0">
                <a:solidFill>
                  <a:srgbClr val="667389"/>
                </a:solidFill>
                <a:latin typeface="Inter" pitchFamily="34" charset="0"/>
                <a:ea typeface="Inter" pitchFamily="34" charset="-122"/>
                <a:cs typeface="Inter" pitchFamily="34" charset="-120"/>
              </a:rPr>
              <a:t>Lưu thông tin phiên</a:t>
            </a:r>
            <a:endParaRPr lang="vi-VN" sz="1080" dirty="0"/>
          </a:p>
        </p:txBody>
      </p:sp>
      <p:sp>
        <p:nvSpPr>
          <p:cNvPr id="19" name="Shape 17"/>
          <p:cNvSpPr/>
          <p:nvPr/>
        </p:nvSpPr>
        <p:spPr>
          <a:xfrm>
            <a:off x="3447288" y="2587752"/>
            <a:ext cx="1161288" cy="0"/>
          </a:xfrm>
          <a:prstGeom prst="line">
            <a:avLst/>
          </a:prstGeom>
          <a:noFill/>
          <a:ln w="30480">
            <a:solidFill>
              <a:srgbClr val="2A5DAD"/>
            </a:solidFill>
            <a:prstDash val="solid"/>
            <a:headEnd type="none"/>
            <a:tailEnd type="triangle"/>
          </a:ln>
        </p:spPr>
        <p:txBody>
          <a:bodyPr/>
          <a:lstStyle/>
          <a:p>
            <a:endParaRPr lang="en-US"/>
          </a:p>
        </p:txBody>
      </p:sp>
      <p:sp>
        <p:nvSpPr>
          <p:cNvPr id="20" name="Shape 18"/>
          <p:cNvSpPr/>
          <p:nvPr/>
        </p:nvSpPr>
        <p:spPr>
          <a:xfrm>
            <a:off x="7534656" y="2587752"/>
            <a:ext cx="1143000" cy="0"/>
          </a:xfrm>
          <a:prstGeom prst="line">
            <a:avLst/>
          </a:prstGeom>
          <a:noFill/>
          <a:ln w="30480">
            <a:solidFill>
              <a:srgbClr val="B38A20"/>
            </a:solidFill>
            <a:prstDash val="solid"/>
            <a:headEnd type="none"/>
            <a:tailEnd type="triangle"/>
          </a:ln>
        </p:spPr>
        <p:txBody>
          <a:bodyPr/>
          <a:lstStyle/>
          <a:p>
            <a:endParaRPr lang="en-US"/>
          </a:p>
        </p:txBody>
      </p:sp>
      <p:sp>
        <p:nvSpPr>
          <p:cNvPr id="21" name="Shape 19"/>
          <p:cNvSpPr/>
          <p:nvPr/>
        </p:nvSpPr>
        <p:spPr>
          <a:xfrm>
            <a:off x="3986784" y="4059936"/>
            <a:ext cx="4078224" cy="740664"/>
          </a:xfrm>
          <a:prstGeom prst="roundRect">
            <a:avLst>
              <a:gd name="adj" fmla="val 14815"/>
            </a:avLst>
          </a:prstGeom>
          <a:solidFill>
            <a:srgbClr val="E6F6EF"/>
          </a:solidFill>
          <a:ln w="12700">
            <a:solidFill>
              <a:srgbClr val="E6F6EF">
                <a:alpha val="0"/>
              </a:srgbClr>
            </a:solidFill>
            <a:prstDash val="solid"/>
          </a:ln>
        </p:spPr>
        <p:txBody>
          <a:bodyPr/>
          <a:lstStyle/>
          <a:p>
            <a:endParaRPr lang="en-US"/>
          </a:p>
        </p:txBody>
      </p:sp>
      <p:sp>
        <p:nvSpPr>
          <p:cNvPr id="22" name="Text 20"/>
          <p:cNvSpPr/>
          <p:nvPr/>
        </p:nvSpPr>
        <p:spPr>
          <a:xfrm>
            <a:off x="4078224" y="4160520"/>
            <a:ext cx="3895344" cy="539496"/>
          </a:xfrm>
          <a:prstGeom prst="rect">
            <a:avLst/>
          </a:prstGeom>
          <a:noFill/>
          <a:ln/>
        </p:spPr>
        <p:txBody>
          <a:bodyPr wrap="square" lIns="0" tIns="0" rIns="0" bIns="0" rtlCol="0" anchor="ctr">
            <a:normAutofit/>
          </a:bodyPr>
          <a:lstStyle/>
          <a:p>
            <a:pPr marL="0" indent="0" algn="ctr">
              <a:buNone/>
            </a:pPr>
            <a:r>
              <a:rPr lang="vi-VN" altLang="en-US" sz="1360" b="1" dirty="0">
                <a:solidFill>
                  <a:srgbClr val="19805B"/>
                </a:solidFill>
                <a:latin typeface="Inter" pitchFamily="34" charset="0"/>
                <a:ea typeface="Inter" pitchFamily="34" charset="-122"/>
                <a:cs typeface="Inter" pitchFamily="34" charset="-120"/>
              </a:rPr>
              <a:t>Session ID trả về qua Cookie</a:t>
            </a:r>
            <a:endParaRPr lang="vi-VN" sz="1360" dirty="0"/>
          </a:p>
        </p:txBody>
      </p:sp>
      <p:sp>
        <p:nvSpPr>
          <p:cNvPr id="23" name="Shape 21"/>
          <p:cNvSpPr/>
          <p:nvPr/>
        </p:nvSpPr>
        <p:spPr>
          <a:xfrm>
            <a:off x="6062472" y="3172968"/>
            <a:ext cx="0" cy="804672"/>
          </a:xfrm>
          <a:prstGeom prst="line">
            <a:avLst/>
          </a:prstGeom>
          <a:noFill/>
          <a:ln w="30480">
            <a:solidFill>
              <a:srgbClr val="19805B"/>
            </a:solidFill>
            <a:prstDash val="solid"/>
            <a:headEnd type="none"/>
            <a:tailEnd type="triangle"/>
          </a:ln>
        </p:spPr>
        <p:txBody>
          <a:bodyPr/>
          <a:lstStyle/>
          <a:p>
            <a:endParaRPr lang="en-US"/>
          </a:p>
        </p:txBody>
      </p:sp>
      <p:sp>
        <p:nvSpPr>
          <p:cNvPr id="24" name="Shape 22"/>
          <p:cNvSpPr/>
          <p:nvPr/>
        </p:nvSpPr>
        <p:spPr>
          <a:xfrm>
            <a:off x="3895344" y="4416552"/>
            <a:ext cx="0" cy="0"/>
          </a:xfrm>
          <a:prstGeom prst="line">
            <a:avLst/>
          </a:prstGeom>
          <a:noFill/>
          <a:ln w="30480">
            <a:solidFill>
              <a:srgbClr val="2A5DAD"/>
            </a:solidFill>
            <a:prstDash val="solid"/>
            <a:headEnd type="none"/>
            <a:tailEnd type="triangle"/>
          </a:ln>
        </p:spPr>
        <p:txBody>
          <a:bodyPr/>
          <a:lstStyle/>
          <a:p>
            <a:endParaRPr lang="en-US"/>
          </a:p>
        </p:txBody>
      </p:sp>
      <p:sp>
        <p:nvSpPr>
          <p:cNvPr id="25" name="Shape 23"/>
          <p:cNvSpPr/>
          <p:nvPr/>
        </p:nvSpPr>
        <p:spPr>
          <a:xfrm>
            <a:off x="758952" y="5038344"/>
            <a:ext cx="10744200" cy="484632"/>
          </a:xfrm>
          <a:prstGeom prst="roundRect">
            <a:avLst>
              <a:gd name="adj" fmla="val 22642"/>
            </a:avLst>
          </a:prstGeom>
          <a:solidFill>
            <a:srgbClr val="EBF2FE"/>
          </a:solidFill>
          <a:ln w="12700">
            <a:solidFill>
              <a:srgbClr val="EBF2FE">
                <a:alpha val="0"/>
              </a:srgbClr>
            </a:solidFill>
            <a:prstDash val="solid"/>
          </a:ln>
        </p:spPr>
        <p:txBody>
          <a:bodyPr/>
          <a:lstStyle/>
          <a:p>
            <a:endParaRPr lang="en-US"/>
          </a:p>
        </p:txBody>
      </p:sp>
      <p:sp>
        <p:nvSpPr>
          <p:cNvPr id="26" name="Text 24"/>
          <p:cNvSpPr/>
          <p:nvPr/>
        </p:nvSpPr>
        <p:spPr>
          <a:xfrm>
            <a:off x="978408" y="5166360"/>
            <a:ext cx="10232136" cy="256032"/>
          </a:xfrm>
          <a:prstGeom prst="rect">
            <a:avLst/>
          </a:prstGeom>
          <a:noFill/>
          <a:ln/>
        </p:spPr>
        <p:txBody>
          <a:bodyPr wrap="square" lIns="0" tIns="0" rIns="0" bIns="0" rtlCol="0" anchor="ctr">
            <a:normAutofit/>
          </a:bodyPr>
          <a:lstStyle/>
          <a:p>
            <a:pPr marL="0" indent="0" algn="ctr">
              <a:buNone/>
            </a:pPr>
            <a:r>
              <a:rPr lang="vi-VN" altLang="en-US" sz="1420" dirty="0">
                <a:solidFill>
                  <a:srgbClr val="183B63"/>
                </a:solidFill>
                <a:latin typeface="Inter" pitchFamily="34" charset="0"/>
                <a:ea typeface="Inter" pitchFamily="34" charset="-122"/>
                <a:cs typeface="Inter" pitchFamily="34" charset="-120"/>
              </a:rPr>
              <a:t>Những Request sau gửi lại Cookie chứa Session ID để Server tra cứu phiên.</a:t>
            </a:r>
            <a:endParaRPr lang="vi-VN" sz="1420" dirty="0"/>
          </a:p>
        </p:txBody>
      </p:sp>
      <p:sp>
        <p:nvSpPr>
          <p:cNvPr id="27" name="Shape 25"/>
          <p:cNvSpPr/>
          <p:nvPr/>
        </p:nvSpPr>
        <p:spPr>
          <a:xfrm>
            <a:off x="475488" y="5806440"/>
            <a:ext cx="11247120" cy="448056"/>
          </a:xfrm>
          <a:prstGeom prst="roundRect">
            <a:avLst>
              <a:gd name="adj" fmla="val 24490"/>
            </a:avLst>
          </a:prstGeom>
          <a:solidFill>
            <a:srgbClr val="FFF5D5"/>
          </a:solidFill>
          <a:ln w="12700">
            <a:solidFill>
              <a:srgbClr val="FFF5D5">
                <a:alpha val="0"/>
              </a:srgbClr>
            </a:solidFill>
            <a:prstDash val="solid"/>
          </a:ln>
        </p:spPr>
        <p:txBody>
          <a:bodyPr/>
          <a:lstStyle/>
          <a:p>
            <a:endParaRPr lang="en-US"/>
          </a:p>
        </p:txBody>
      </p:sp>
      <p:pic>
        <p:nvPicPr>
          <p:cNvPr id="28" name="Image 0" descr="/mnt/data/auth_slide_work/icon_cache/19a4e8a463faa6409c49e67e1231d428.png"/>
          <p:cNvPicPr>
            <a:picLocks noChangeAspect="1"/>
          </p:cNvPicPr>
          <p:nvPr/>
        </p:nvPicPr>
        <p:blipFill>
          <a:blip r:embed="rId3"/>
          <a:stretch>
            <a:fillRect/>
          </a:stretch>
        </p:blipFill>
        <p:spPr>
          <a:xfrm>
            <a:off x="658368" y="5934456"/>
            <a:ext cx="173736" cy="173736"/>
          </a:xfrm>
          <a:prstGeom prst="rect">
            <a:avLst/>
          </a:prstGeom>
        </p:spPr>
      </p:pic>
      <p:sp>
        <p:nvSpPr>
          <p:cNvPr id="29" name="Text 26"/>
          <p:cNvSpPr/>
          <p:nvPr/>
        </p:nvSpPr>
        <p:spPr>
          <a:xfrm>
            <a:off x="932688" y="5893308"/>
            <a:ext cx="10515600" cy="283464"/>
          </a:xfrm>
          <a:prstGeom prst="rect">
            <a:avLst/>
          </a:prstGeom>
          <a:noFill/>
          <a:ln/>
        </p:spPr>
        <p:txBody>
          <a:bodyPr wrap="square" lIns="0" tIns="0" rIns="0" bIns="0" rtlCol="0" anchor="ctr">
            <a:normAutofit/>
          </a:bodyPr>
          <a:lstStyle/>
          <a:p>
            <a:pPr marL="0" indent="0">
              <a:buNone/>
            </a:pPr>
            <a:r>
              <a:rPr lang="vi-VN" altLang="en-US" sz="1220" dirty="0">
                <a:solidFill>
                  <a:srgbClr val="263345"/>
                </a:solidFill>
                <a:latin typeface="Inter" pitchFamily="34" charset="0"/>
                <a:ea typeface="Inter" pitchFamily="34" charset="-122"/>
                <a:cs typeface="Inter" pitchFamily="34" charset="-120"/>
              </a:rPr>
              <a:t>Ví dụ dễ nhớ: Session ID giống như số vé gửi xe; Server giữ thông tin xe tương ứng.</a:t>
            </a:r>
            <a:endParaRPr lang="vi-VN"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CƠ CHẾ ĐĂNG NHẬP</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JWT và Session khác nhau thế nào?</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Cả hai đều có thể dùng để duy trì trạng thái đăng nhập trong ứng dụng Web.</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08 / 24</a:t>
            </a:r>
            <a:endParaRPr lang="vi-VN" sz="850" dirty="0"/>
          </a:p>
        </p:txBody>
      </p:sp>
      <p:sp>
        <p:nvSpPr>
          <p:cNvPr id="10" name="Shape 8"/>
          <p:cNvSpPr/>
          <p:nvPr/>
        </p:nvSpPr>
        <p:spPr>
          <a:xfrm>
            <a:off x="658368" y="1847088"/>
            <a:ext cx="5330952" cy="3465576"/>
          </a:xfrm>
          <a:prstGeom prst="roundRect">
            <a:avLst>
              <a:gd name="adj" fmla="val 3166"/>
            </a:avLst>
          </a:prstGeom>
          <a:solidFill>
            <a:srgbClr val="FFFFFF"/>
          </a:solidFill>
          <a:ln w="12700">
            <a:solidFill>
              <a:srgbClr val="E0E6EF"/>
            </a:solidFill>
            <a:prstDash val="solid"/>
          </a:ln>
        </p:spPr>
        <p:txBody>
          <a:bodyPr/>
          <a:lstStyle/>
          <a:p>
            <a:endParaRPr lang="en-US"/>
          </a:p>
        </p:txBody>
      </p:sp>
      <p:sp>
        <p:nvSpPr>
          <p:cNvPr id="11" name="Shape 9"/>
          <p:cNvSpPr/>
          <p:nvPr/>
        </p:nvSpPr>
        <p:spPr>
          <a:xfrm>
            <a:off x="941832" y="2121408"/>
            <a:ext cx="694944" cy="694944"/>
          </a:xfrm>
          <a:prstGeom prst="ellipse">
            <a:avLst/>
          </a:prstGeom>
          <a:solidFill>
            <a:srgbClr val="EBF2FE"/>
          </a:solidFill>
          <a:ln w="12700">
            <a:solidFill>
              <a:srgbClr val="EBF2FE">
                <a:alpha val="0"/>
              </a:srgbClr>
            </a:solidFill>
            <a:prstDash val="solid"/>
          </a:ln>
        </p:spPr>
        <p:txBody>
          <a:bodyPr/>
          <a:lstStyle/>
          <a:p>
            <a:endParaRPr lang="en-US"/>
          </a:p>
        </p:txBody>
      </p:sp>
      <p:pic>
        <p:nvPicPr>
          <p:cNvPr id="12" name="Image 0" descr="/mnt/data/auth_slide_work/icon_cache/8469324c9f5d6594986d4fa90d36c90f.png"/>
          <p:cNvPicPr>
            <a:picLocks noChangeAspect="1"/>
          </p:cNvPicPr>
          <p:nvPr/>
        </p:nvPicPr>
        <p:blipFill>
          <a:blip r:embed="rId3"/>
          <a:stretch>
            <a:fillRect/>
          </a:stretch>
        </p:blipFill>
        <p:spPr>
          <a:xfrm>
            <a:off x="1136416" y="2302093"/>
            <a:ext cx="298826" cy="298826"/>
          </a:xfrm>
          <a:prstGeom prst="rect">
            <a:avLst/>
          </a:prstGeom>
        </p:spPr>
      </p:pic>
      <p:sp>
        <p:nvSpPr>
          <p:cNvPr id="13" name="Text 10"/>
          <p:cNvSpPr/>
          <p:nvPr/>
        </p:nvSpPr>
        <p:spPr>
          <a:xfrm>
            <a:off x="1801368" y="2103120"/>
            <a:ext cx="3886200" cy="384048"/>
          </a:xfrm>
          <a:prstGeom prst="rect">
            <a:avLst/>
          </a:prstGeom>
          <a:noFill/>
          <a:ln/>
        </p:spPr>
        <p:txBody>
          <a:bodyPr wrap="square" lIns="0" tIns="0" rIns="0" bIns="0" rtlCol="0" anchor="ctr">
            <a:normAutofit/>
          </a:bodyPr>
          <a:lstStyle/>
          <a:p>
            <a:pPr marL="0" indent="0">
              <a:buNone/>
            </a:pPr>
            <a:r>
              <a:rPr lang="vi-VN" altLang="en-US" sz="2400" b="1" dirty="0">
                <a:solidFill>
                  <a:srgbClr val="2A5DAD"/>
                </a:solidFill>
                <a:latin typeface="Inter" pitchFamily="34" charset="0"/>
                <a:ea typeface="Inter" pitchFamily="34" charset="-122"/>
                <a:cs typeface="Inter" pitchFamily="34" charset="-120"/>
              </a:rPr>
              <a:t>SESSION</a:t>
            </a:r>
            <a:endParaRPr lang="vi-VN" sz="2400" dirty="0"/>
          </a:p>
        </p:txBody>
      </p:sp>
      <p:sp>
        <p:nvSpPr>
          <p:cNvPr id="14" name="Text 11"/>
          <p:cNvSpPr/>
          <p:nvPr/>
        </p:nvSpPr>
        <p:spPr>
          <a:xfrm>
            <a:off x="941832" y="2907792"/>
            <a:ext cx="4773168" cy="365760"/>
          </a:xfrm>
          <a:prstGeom prst="rect">
            <a:avLst/>
          </a:prstGeom>
          <a:noFill/>
          <a:ln/>
        </p:spPr>
        <p:txBody>
          <a:bodyPr wrap="square" lIns="0" tIns="0" rIns="0" bIns="0" rtlCol="0" anchor="ctr">
            <a:normAutofit/>
          </a:bodyPr>
          <a:lstStyle/>
          <a:p>
            <a:pPr marL="0" indent="0">
              <a:buNone/>
            </a:pPr>
            <a:r>
              <a:rPr lang="vi-VN" altLang="en-US" sz="1360" dirty="0">
                <a:solidFill>
                  <a:srgbClr val="667389"/>
                </a:solidFill>
                <a:latin typeface="Inter" pitchFamily="34" charset="0"/>
                <a:ea typeface="Inter" pitchFamily="34" charset="-122"/>
                <a:cs typeface="Inter" pitchFamily="34" charset="-120"/>
              </a:rPr>
              <a:t>Server thường tra cứu Session ID</a:t>
            </a:r>
            <a:endParaRPr lang="vi-VN" sz="1360" dirty="0"/>
          </a:p>
        </p:txBody>
      </p:sp>
      <p:sp>
        <p:nvSpPr>
          <p:cNvPr id="15" name="Shape 12"/>
          <p:cNvSpPr/>
          <p:nvPr/>
        </p:nvSpPr>
        <p:spPr>
          <a:xfrm>
            <a:off x="941832" y="3675888"/>
            <a:ext cx="96012" cy="96012"/>
          </a:xfrm>
          <a:prstGeom prst="ellipse">
            <a:avLst/>
          </a:prstGeom>
          <a:solidFill>
            <a:srgbClr val="2A5DAD"/>
          </a:solidFill>
          <a:ln w="12700">
            <a:solidFill>
              <a:srgbClr val="2A5DAD">
                <a:alpha val="0"/>
              </a:srgbClr>
            </a:solidFill>
            <a:prstDash val="solid"/>
          </a:ln>
        </p:spPr>
        <p:txBody>
          <a:bodyPr/>
          <a:lstStyle/>
          <a:p>
            <a:endParaRPr lang="en-US"/>
          </a:p>
        </p:txBody>
      </p:sp>
      <p:sp>
        <p:nvSpPr>
          <p:cNvPr id="16" name="Text 13"/>
          <p:cNvSpPr/>
          <p:nvPr/>
        </p:nvSpPr>
        <p:spPr>
          <a:xfrm>
            <a:off x="1170432" y="3538728"/>
            <a:ext cx="4507992" cy="438912"/>
          </a:xfrm>
          <a:prstGeom prst="rect">
            <a:avLst/>
          </a:prstGeom>
          <a:noFill/>
          <a:ln/>
        </p:spPr>
        <p:txBody>
          <a:bodyPr wrap="square" lIns="0" tIns="0" rIns="0" bIns="0" rtlCol="0" anchor="t">
            <a:normAutofit/>
          </a:bodyPr>
          <a:lstStyle/>
          <a:p>
            <a:pPr marL="0" indent="0">
              <a:buNone/>
            </a:pPr>
            <a:r>
              <a:rPr lang="vi-VN" altLang="en-US" sz="1310" dirty="0">
                <a:solidFill>
                  <a:srgbClr val="263345"/>
                </a:solidFill>
                <a:latin typeface="Inter" pitchFamily="34" charset="0"/>
                <a:ea typeface="Inter" pitchFamily="34" charset="-122"/>
                <a:cs typeface="Inter" pitchFamily="34" charset="-120"/>
              </a:rPr>
              <a:t>Lưu trạng thái phiên trên Server / kho chung</a:t>
            </a:r>
            <a:endParaRPr lang="vi-VN" sz="1310" dirty="0"/>
          </a:p>
        </p:txBody>
      </p:sp>
      <p:sp>
        <p:nvSpPr>
          <p:cNvPr id="17" name="Shape 14"/>
          <p:cNvSpPr/>
          <p:nvPr/>
        </p:nvSpPr>
        <p:spPr>
          <a:xfrm>
            <a:off x="941832" y="4142232"/>
            <a:ext cx="96012" cy="96012"/>
          </a:xfrm>
          <a:prstGeom prst="ellipse">
            <a:avLst/>
          </a:prstGeom>
          <a:solidFill>
            <a:srgbClr val="2A5DAD"/>
          </a:solidFill>
          <a:ln w="12700">
            <a:solidFill>
              <a:srgbClr val="2A5DAD">
                <a:alpha val="0"/>
              </a:srgbClr>
            </a:solidFill>
            <a:prstDash val="solid"/>
          </a:ln>
        </p:spPr>
        <p:txBody>
          <a:bodyPr/>
          <a:lstStyle/>
          <a:p>
            <a:endParaRPr lang="en-US"/>
          </a:p>
        </p:txBody>
      </p:sp>
      <p:sp>
        <p:nvSpPr>
          <p:cNvPr id="18" name="Text 15"/>
          <p:cNvSpPr/>
          <p:nvPr/>
        </p:nvSpPr>
        <p:spPr>
          <a:xfrm>
            <a:off x="1170432" y="4005072"/>
            <a:ext cx="4507992" cy="438912"/>
          </a:xfrm>
          <a:prstGeom prst="rect">
            <a:avLst/>
          </a:prstGeom>
          <a:noFill/>
          <a:ln/>
        </p:spPr>
        <p:txBody>
          <a:bodyPr wrap="square" lIns="0" tIns="0" rIns="0" bIns="0" rtlCol="0" anchor="t">
            <a:normAutofit/>
          </a:bodyPr>
          <a:lstStyle/>
          <a:p>
            <a:pPr marL="0" indent="0">
              <a:buNone/>
            </a:pPr>
            <a:r>
              <a:rPr lang="vi-VN" altLang="en-US" sz="1310" dirty="0">
                <a:solidFill>
                  <a:srgbClr val="263345"/>
                </a:solidFill>
                <a:latin typeface="Inter" pitchFamily="34" charset="0"/>
                <a:ea typeface="Inter" pitchFamily="34" charset="-122"/>
                <a:cs typeface="Inter" pitchFamily="34" charset="-120"/>
              </a:rPr>
              <a:t>Client thường gửi Session ID qua Cookie</a:t>
            </a:r>
            <a:endParaRPr lang="vi-VN" sz="1310" dirty="0"/>
          </a:p>
        </p:txBody>
      </p:sp>
      <p:sp>
        <p:nvSpPr>
          <p:cNvPr id="19" name="Shape 16"/>
          <p:cNvSpPr/>
          <p:nvPr/>
        </p:nvSpPr>
        <p:spPr>
          <a:xfrm>
            <a:off x="941832" y="4608576"/>
            <a:ext cx="96012" cy="96012"/>
          </a:xfrm>
          <a:prstGeom prst="ellipse">
            <a:avLst/>
          </a:prstGeom>
          <a:solidFill>
            <a:srgbClr val="2A5DAD"/>
          </a:solidFill>
          <a:ln w="12700">
            <a:solidFill>
              <a:srgbClr val="2A5DAD">
                <a:alpha val="0"/>
              </a:srgbClr>
            </a:solidFill>
            <a:prstDash val="solid"/>
          </a:ln>
        </p:spPr>
        <p:txBody>
          <a:bodyPr/>
          <a:lstStyle/>
          <a:p>
            <a:endParaRPr lang="en-US"/>
          </a:p>
        </p:txBody>
      </p:sp>
      <p:sp>
        <p:nvSpPr>
          <p:cNvPr id="20" name="Text 17"/>
          <p:cNvSpPr/>
          <p:nvPr/>
        </p:nvSpPr>
        <p:spPr>
          <a:xfrm>
            <a:off x="1170432" y="4471416"/>
            <a:ext cx="4507992" cy="438912"/>
          </a:xfrm>
          <a:prstGeom prst="rect">
            <a:avLst/>
          </a:prstGeom>
          <a:noFill/>
          <a:ln/>
        </p:spPr>
        <p:txBody>
          <a:bodyPr wrap="square" lIns="0" tIns="0" rIns="0" bIns="0" rtlCol="0" anchor="t">
            <a:normAutofit/>
          </a:bodyPr>
          <a:lstStyle/>
          <a:p>
            <a:pPr marL="0" indent="0">
              <a:buNone/>
            </a:pPr>
            <a:r>
              <a:rPr lang="vi-VN" altLang="en-US" sz="1310" dirty="0">
                <a:solidFill>
                  <a:srgbClr val="263345"/>
                </a:solidFill>
                <a:latin typeface="Inter" pitchFamily="34" charset="0"/>
                <a:ea typeface="Inter" pitchFamily="34" charset="-122"/>
                <a:cs typeface="Inter" pitchFamily="34" charset="-120"/>
              </a:rPr>
              <a:t>Đăng xuất có thể hủy Session phía Server</a:t>
            </a:r>
            <a:endParaRPr lang="vi-VN" sz="1310" dirty="0"/>
          </a:p>
        </p:txBody>
      </p:sp>
      <p:sp>
        <p:nvSpPr>
          <p:cNvPr id="21" name="Shape 18"/>
          <p:cNvSpPr/>
          <p:nvPr/>
        </p:nvSpPr>
        <p:spPr>
          <a:xfrm>
            <a:off x="6199632" y="1847088"/>
            <a:ext cx="5330952" cy="3465576"/>
          </a:xfrm>
          <a:prstGeom prst="roundRect">
            <a:avLst>
              <a:gd name="adj" fmla="val 3166"/>
            </a:avLst>
          </a:prstGeom>
          <a:solidFill>
            <a:srgbClr val="FFFFFF"/>
          </a:solidFill>
          <a:ln w="12700">
            <a:solidFill>
              <a:srgbClr val="E0E6EF"/>
            </a:solidFill>
            <a:prstDash val="solid"/>
          </a:ln>
        </p:spPr>
        <p:txBody>
          <a:bodyPr/>
          <a:lstStyle/>
          <a:p>
            <a:endParaRPr lang="en-US"/>
          </a:p>
        </p:txBody>
      </p:sp>
      <p:sp>
        <p:nvSpPr>
          <p:cNvPr id="22" name="Shape 19"/>
          <p:cNvSpPr/>
          <p:nvPr/>
        </p:nvSpPr>
        <p:spPr>
          <a:xfrm>
            <a:off x="6483096" y="2121408"/>
            <a:ext cx="694944" cy="694944"/>
          </a:xfrm>
          <a:prstGeom prst="ellipse">
            <a:avLst/>
          </a:prstGeom>
          <a:solidFill>
            <a:srgbClr val="E6F6EF"/>
          </a:solidFill>
          <a:ln w="12700">
            <a:solidFill>
              <a:srgbClr val="E6F6EF">
                <a:alpha val="0"/>
              </a:srgbClr>
            </a:solidFill>
            <a:prstDash val="solid"/>
          </a:ln>
        </p:spPr>
        <p:txBody>
          <a:bodyPr/>
          <a:lstStyle/>
          <a:p>
            <a:endParaRPr lang="en-US"/>
          </a:p>
        </p:txBody>
      </p:sp>
      <p:pic>
        <p:nvPicPr>
          <p:cNvPr id="23" name="Image 1" descr="/mnt/data/auth_slide_work/icon_cache/a8ec9e8cdb7408bbb95665aeb155b3c7.png"/>
          <p:cNvPicPr>
            <a:picLocks noChangeAspect="1"/>
          </p:cNvPicPr>
          <p:nvPr/>
        </p:nvPicPr>
        <p:blipFill>
          <a:blip r:embed="rId4"/>
          <a:stretch>
            <a:fillRect/>
          </a:stretch>
        </p:blipFill>
        <p:spPr>
          <a:xfrm>
            <a:off x="6677680" y="2302093"/>
            <a:ext cx="298826" cy="298826"/>
          </a:xfrm>
          <a:prstGeom prst="rect">
            <a:avLst/>
          </a:prstGeom>
        </p:spPr>
      </p:pic>
      <p:sp>
        <p:nvSpPr>
          <p:cNvPr id="24" name="Text 20"/>
          <p:cNvSpPr/>
          <p:nvPr/>
        </p:nvSpPr>
        <p:spPr>
          <a:xfrm>
            <a:off x="7342632" y="2103120"/>
            <a:ext cx="3886200" cy="384048"/>
          </a:xfrm>
          <a:prstGeom prst="rect">
            <a:avLst/>
          </a:prstGeom>
          <a:noFill/>
          <a:ln/>
        </p:spPr>
        <p:txBody>
          <a:bodyPr wrap="square" lIns="0" tIns="0" rIns="0" bIns="0" rtlCol="0" anchor="ctr">
            <a:normAutofit/>
          </a:bodyPr>
          <a:lstStyle/>
          <a:p>
            <a:pPr marL="0" indent="0">
              <a:buNone/>
            </a:pPr>
            <a:r>
              <a:rPr lang="vi-VN" altLang="en-US" sz="2400" b="1" dirty="0">
                <a:solidFill>
                  <a:srgbClr val="19805B"/>
                </a:solidFill>
                <a:latin typeface="Inter" pitchFamily="34" charset="0"/>
                <a:ea typeface="Inter" pitchFamily="34" charset="-122"/>
                <a:cs typeface="Inter" pitchFamily="34" charset="-120"/>
              </a:rPr>
              <a:t>JWT</a:t>
            </a:r>
            <a:endParaRPr lang="vi-VN" sz="2400" dirty="0"/>
          </a:p>
        </p:txBody>
      </p:sp>
      <p:sp>
        <p:nvSpPr>
          <p:cNvPr id="25" name="Text 21"/>
          <p:cNvSpPr/>
          <p:nvPr/>
        </p:nvSpPr>
        <p:spPr>
          <a:xfrm>
            <a:off x="6483096" y="2907792"/>
            <a:ext cx="4773168" cy="365760"/>
          </a:xfrm>
          <a:prstGeom prst="rect">
            <a:avLst/>
          </a:prstGeom>
          <a:noFill/>
          <a:ln/>
        </p:spPr>
        <p:txBody>
          <a:bodyPr wrap="square" lIns="0" tIns="0" rIns="0" bIns="0" rtlCol="0" anchor="ctr">
            <a:normAutofit/>
          </a:bodyPr>
          <a:lstStyle/>
          <a:p>
            <a:pPr marL="0" indent="0">
              <a:buNone/>
            </a:pPr>
            <a:r>
              <a:rPr lang="vi-VN" altLang="en-US" sz="1360" dirty="0">
                <a:solidFill>
                  <a:srgbClr val="667389"/>
                </a:solidFill>
                <a:latin typeface="Inter" pitchFamily="34" charset="0"/>
                <a:ea typeface="Inter" pitchFamily="34" charset="-122"/>
                <a:cs typeface="Inter" pitchFamily="34" charset="-120"/>
              </a:rPr>
              <a:t>Server có thể xác minh Token độc lập</a:t>
            </a:r>
            <a:endParaRPr lang="vi-VN" sz="1360" dirty="0"/>
          </a:p>
        </p:txBody>
      </p:sp>
      <p:sp>
        <p:nvSpPr>
          <p:cNvPr id="26" name="Shape 22"/>
          <p:cNvSpPr/>
          <p:nvPr/>
        </p:nvSpPr>
        <p:spPr>
          <a:xfrm>
            <a:off x="6483096" y="3675888"/>
            <a:ext cx="96012" cy="96012"/>
          </a:xfrm>
          <a:prstGeom prst="ellipse">
            <a:avLst/>
          </a:prstGeom>
          <a:solidFill>
            <a:srgbClr val="19805B"/>
          </a:solidFill>
          <a:ln w="12700">
            <a:solidFill>
              <a:srgbClr val="19805B">
                <a:alpha val="0"/>
              </a:srgbClr>
            </a:solidFill>
            <a:prstDash val="solid"/>
          </a:ln>
        </p:spPr>
        <p:txBody>
          <a:bodyPr/>
          <a:lstStyle/>
          <a:p>
            <a:endParaRPr lang="en-US"/>
          </a:p>
        </p:txBody>
      </p:sp>
      <p:sp>
        <p:nvSpPr>
          <p:cNvPr id="27" name="Text 23"/>
          <p:cNvSpPr/>
          <p:nvPr/>
        </p:nvSpPr>
        <p:spPr>
          <a:xfrm>
            <a:off x="6711696" y="3538728"/>
            <a:ext cx="4507992" cy="438912"/>
          </a:xfrm>
          <a:prstGeom prst="rect">
            <a:avLst/>
          </a:prstGeom>
          <a:noFill/>
          <a:ln/>
        </p:spPr>
        <p:txBody>
          <a:bodyPr wrap="square" lIns="0" tIns="0" rIns="0" bIns="0" rtlCol="0" anchor="t">
            <a:normAutofit/>
          </a:bodyPr>
          <a:lstStyle/>
          <a:p>
            <a:pPr marL="0" indent="0">
              <a:buNone/>
            </a:pPr>
            <a:r>
              <a:rPr lang="vi-VN" altLang="en-US" sz="1310" dirty="0">
                <a:solidFill>
                  <a:srgbClr val="263345"/>
                </a:solidFill>
                <a:latin typeface="Inter" pitchFamily="34" charset="0"/>
                <a:ea typeface="Inter" pitchFamily="34" charset="-122"/>
                <a:cs typeface="Inter" pitchFamily="34" charset="-120"/>
              </a:rPr>
              <a:t>Token chứa claims và chữ ký số</a:t>
            </a:r>
            <a:endParaRPr lang="vi-VN" sz="1310" dirty="0"/>
          </a:p>
        </p:txBody>
      </p:sp>
      <p:sp>
        <p:nvSpPr>
          <p:cNvPr id="28" name="Shape 24"/>
          <p:cNvSpPr/>
          <p:nvPr/>
        </p:nvSpPr>
        <p:spPr>
          <a:xfrm>
            <a:off x="6483096" y="4142232"/>
            <a:ext cx="96012" cy="96012"/>
          </a:xfrm>
          <a:prstGeom prst="ellipse">
            <a:avLst/>
          </a:prstGeom>
          <a:solidFill>
            <a:srgbClr val="19805B"/>
          </a:solidFill>
          <a:ln w="12700">
            <a:solidFill>
              <a:srgbClr val="19805B">
                <a:alpha val="0"/>
              </a:srgbClr>
            </a:solidFill>
            <a:prstDash val="solid"/>
          </a:ln>
        </p:spPr>
        <p:txBody>
          <a:bodyPr/>
          <a:lstStyle/>
          <a:p>
            <a:endParaRPr lang="en-US"/>
          </a:p>
        </p:txBody>
      </p:sp>
      <p:sp>
        <p:nvSpPr>
          <p:cNvPr id="29" name="Text 25"/>
          <p:cNvSpPr/>
          <p:nvPr/>
        </p:nvSpPr>
        <p:spPr>
          <a:xfrm>
            <a:off x="6711696" y="4005072"/>
            <a:ext cx="4507992" cy="438912"/>
          </a:xfrm>
          <a:prstGeom prst="rect">
            <a:avLst/>
          </a:prstGeom>
          <a:noFill/>
          <a:ln/>
        </p:spPr>
        <p:txBody>
          <a:bodyPr wrap="square" lIns="0" tIns="0" rIns="0" bIns="0" rtlCol="0" anchor="t">
            <a:normAutofit/>
          </a:bodyPr>
          <a:lstStyle/>
          <a:p>
            <a:pPr marL="0" indent="0">
              <a:buNone/>
            </a:pPr>
            <a:r>
              <a:rPr lang="vi-VN" altLang="en-US" sz="1310" dirty="0">
                <a:solidFill>
                  <a:srgbClr val="263345"/>
                </a:solidFill>
                <a:latin typeface="Inter" pitchFamily="34" charset="0"/>
                <a:ea typeface="Inter" pitchFamily="34" charset="-122"/>
                <a:cs typeface="Inter" pitchFamily="34" charset="-120"/>
              </a:rPr>
              <a:t>Client gửi JWT kèm mỗi API Request</a:t>
            </a:r>
            <a:endParaRPr lang="vi-VN" sz="1310" dirty="0"/>
          </a:p>
        </p:txBody>
      </p:sp>
      <p:sp>
        <p:nvSpPr>
          <p:cNvPr id="30" name="Shape 26"/>
          <p:cNvSpPr/>
          <p:nvPr/>
        </p:nvSpPr>
        <p:spPr>
          <a:xfrm>
            <a:off x="6483096" y="4608576"/>
            <a:ext cx="96012" cy="96012"/>
          </a:xfrm>
          <a:prstGeom prst="ellipse">
            <a:avLst/>
          </a:prstGeom>
          <a:solidFill>
            <a:srgbClr val="19805B"/>
          </a:solidFill>
          <a:ln w="12700">
            <a:solidFill>
              <a:srgbClr val="19805B">
                <a:alpha val="0"/>
              </a:srgbClr>
            </a:solidFill>
            <a:prstDash val="solid"/>
          </a:ln>
        </p:spPr>
        <p:txBody>
          <a:bodyPr/>
          <a:lstStyle/>
          <a:p>
            <a:endParaRPr lang="en-US"/>
          </a:p>
        </p:txBody>
      </p:sp>
      <p:sp>
        <p:nvSpPr>
          <p:cNvPr id="31" name="Text 27"/>
          <p:cNvSpPr/>
          <p:nvPr/>
        </p:nvSpPr>
        <p:spPr>
          <a:xfrm>
            <a:off x="6711696" y="4471416"/>
            <a:ext cx="4507992" cy="438912"/>
          </a:xfrm>
          <a:prstGeom prst="rect">
            <a:avLst/>
          </a:prstGeom>
          <a:noFill/>
          <a:ln/>
        </p:spPr>
        <p:txBody>
          <a:bodyPr wrap="square" lIns="0" tIns="0" rIns="0" bIns="0" rtlCol="0" anchor="t">
            <a:normAutofit/>
          </a:bodyPr>
          <a:lstStyle/>
          <a:p>
            <a:pPr marL="0" indent="0">
              <a:buNone/>
            </a:pPr>
            <a:r>
              <a:rPr lang="vi-VN" altLang="en-US" sz="1310" dirty="0">
                <a:solidFill>
                  <a:srgbClr val="263345"/>
                </a:solidFill>
                <a:latin typeface="Inter" pitchFamily="34" charset="0"/>
                <a:ea typeface="Inter" pitchFamily="34" charset="-122"/>
                <a:cs typeface="Inter" pitchFamily="34" charset="-120"/>
              </a:rPr>
              <a:t>Thu hồi Token sớm cần cơ chế bổ sung</a:t>
            </a:r>
            <a:endParaRPr lang="vi-VN" sz="1310" dirty="0"/>
          </a:p>
        </p:txBody>
      </p:sp>
      <p:sp>
        <p:nvSpPr>
          <p:cNvPr id="32" name="Shape 28"/>
          <p:cNvSpPr/>
          <p:nvPr/>
        </p:nvSpPr>
        <p:spPr>
          <a:xfrm>
            <a:off x="475488" y="5833872"/>
            <a:ext cx="11247120" cy="448056"/>
          </a:xfrm>
          <a:prstGeom prst="roundRect">
            <a:avLst>
              <a:gd name="adj" fmla="val 24490"/>
            </a:avLst>
          </a:prstGeom>
          <a:solidFill>
            <a:srgbClr val="FFF5D5"/>
          </a:solidFill>
          <a:ln w="12700">
            <a:solidFill>
              <a:srgbClr val="FFF5D5">
                <a:alpha val="0"/>
              </a:srgbClr>
            </a:solidFill>
            <a:prstDash val="solid"/>
          </a:ln>
        </p:spPr>
        <p:txBody>
          <a:bodyPr/>
          <a:lstStyle/>
          <a:p>
            <a:endParaRPr lang="en-US"/>
          </a:p>
        </p:txBody>
      </p:sp>
      <p:pic>
        <p:nvPicPr>
          <p:cNvPr id="33" name="Image 2" descr="/mnt/data/auth_slide_work/icon_cache/19a4e8a463faa6409c49e67e1231d428.png"/>
          <p:cNvPicPr>
            <a:picLocks noChangeAspect="1"/>
          </p:cNvPicPr>
          <p:nvPr/>
        </p:nvPicPr>
        <p:blipFill>
          <a:blip r:embed="rId5"/>
          <a:stretch>
            <a:fillRect/>
          </a:stretch>
        </p:blipFill>
        <p:spPr>
          <a:xfrm>
            <a:off x="658368" y="5961888"/>
            <a:ext cx="173736" cy="173736"/>
          </a:xfrm>
          <a:prstGeom prst="rect">
            <a:avLst/>
          </a:prstGeom>
        </p:spPr>
      </p:pic>
      <p:sp>
        <p:nvSpPr>
          <p:cNvPr id="34" name="Text 29"/>
          <p:cNvSpPr/>
          <p:nvPr/>
        </p:nvSpPr>
        <p:spPr>
          <a:xfrm>
            <a:off x="932688" y="5920740"/>
            <a:ext cx="10515600" cy="283464"/>
          </a:xfrm>
          <a:prstGeom prst="rect">
            <a:avLst/>
          </a:prstGeom>
          <a:noFill/>
          <a:ln/>
        </p:spPr>
        <p:txBody>
          <a:bodyPr wrap="square" lIns="0" tIns="0" rIns="0" bIns="0" rtlCol="0" anchor="ctr">
            <a:normAutofit/>
          </a:bodyPr>
          <a:lstStyle/>
          <a:p>
            <a:pPr marL="0" indent="0">
              <a:buNone/>
            </a:pPr>
            <a:r>
              <a:rPr lang="vi-VN" altLang="en-US" sz="1220" dirty="0">
                <a:solidFill>
                  <a:srgbClr val="263345"/>
                </a:solidFill>
                <a:latin typeface="Inter" pitchFamily="34" charset="0"/>
                <a:ea typeface="Inter" pitchFamily="34" charset="-122"/>
                <a:cs typeface="Inter" pitchFamily="34" charset="-120"/>
              </a:rPr>
              <a:t>JWT không tự động bảo mật hơn Session; lựa chọn tùy vào nhu cầu ứng dụng.</a:t>
            </a:r>
            <a:endParaRPr lang="vi-VN"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JWT</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Token-based Authentication hoạt động thế nào?</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Client sử dụng Token được cấp để xác thực các Request tiếp theo.</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09 / 24</a:t>
            </a:r>
            <a:endParaRPr lang="vi-VN" sz="850" dirty="0"/>
          </a:p>
        </p:txBody>
      </p:sp>
      <p:sp>
        <p:nvSpPr>
          <p:cNvPr id="10" name="Shape 8"/>
          <p:cNvSpPr/>
          <p:nvPr/>
        </p:nvSpPr>
        <p:spPr>
          <a:xfrm>
            <a:off x="512064" y="2011680"/>
            <a:ext cx="2176272" cy="1874520"/>
          </a:xfrm>
          <a:prstGeom prst="roundRect">
            <a:avLst>
              <a:gd name="adj" fmla="val 5854"/>
            </a:avLst>
          </a:prstGeom>
          <a:solidFill>
            <a:srgbClr val="FFFFFF"/>
          </a:solidFill>
          <a:ln w="12700">
            <a:solidFill>
              <a:srgbClr val="E0E6EF"/>
            </a:solidFill>
            <a:prstDash val="solid"/>
          </a:ln>
        </p:spPr>
        <p:txBody>
          <a:bodyPr/>
          <a:lstStyle/>
          <a:p>
            <a:endParaRPr lang="en-US"/>
          </a:p>
        </p:txBody>
      </p:sp>
      <p:sp>
        <p:nvSpPr>
          <p:cNvPr id="11" name="Shape 9"/>
          <p:cNvSpPr/>
          <p:nvPr/>
        </p:nvSpPr>
        <p:spPr>
          <a:xfrm>
            <a:off x="1325880" y="2231136"/>
            <a:ext cx="566928" cy="566928"/>
          </a:xfrm>
          <a:prstGeom prst="ellipse">
            <a:avLst/>
          </a:prstGeom>
          <a:solidFill>
            <a:srgbClr val="EBF2FE"/>
          </a:solidFill>
          <a:ln w="12700">
            <a:solidFill>
              <a:srgbClr val="EBF2FE">
                <a:alpha val="0"/>
              </a:srgbClr>
            </a:solidFill>
            <a:prstDash val="solid"/>
          </a:ln>
        </p:spPr>
        <p:txBody>
          <a:bodyPr/>
          <a:lstStyle/>
          <a:p>
            <a:endParaRPr lang="en-US"/>
          </a:p>
        </p:txBody>
      </p:sp>
      <p:pic>
        <p:nvPicPr>
          <p:cNvPr id="12" name="Image 0" descr="/mnt/data/auth_slide_work/icon_cache/db3d11e8d1e1833b4a0df150e5bb180d.png"/>
          <p:cNvPicPr>
            <a:picLocks noChangeAspect="1"/>
          </p:cNvPicPr>
          <p:nvPr/>
        </p:nvPicPr>
        <p:blipFill>
          <a:blip r:embed="rId3"/>
          <a:stretch>
            <a:fillRect/>
          </a:stretch>
        </p:blipFill>
        <p:spPr>
          <a:xfrm>
            <a:off x="1484620" y="2378537"/>
            <a:ext cx="243779" cy="243779"/>
          </a:xfrm>
          <a:prstGeom prst="rect">
            <a:avLst/>
          </a:prstGeom>
        </p:spPr>
      </p:pic>
      <p:sp>
        <p:nvSpPr>
          <p:cNvPr id="13" name="Text 10"/>
          <p:cNvSpPr/>
          <p:nvPr/>
        </p:nvSpPr>
        <p:spPr>
          <a:xfrm>
            <a:off x="658368" y="2176272"/>
            <a:ext cx="182880" cy="210312"/>
          </a:xfrm>
          <a:prstGeom prst="rect">
            <a:avLst/>
          </a:prstGeom>
          <a:noFill/>
          <a:ln/>
        </p:spPr>
        <p:txBody>
          <a:bodyPr wrap="square" lIns="0" tIns="0" rIns="0" bIns="0" rtlCol="0" anchor="ctr">
            <a:normAutofit/>
          </a:bodyPr>
          <a:lstStyle/>
          <a:p>
            <a:pPr marL="0" indent="0">
              <a:buNone/>
            </a:pPr>
            <a:r>
              <a:rPr lang="vi-VN" altLang="en-US" sz="1000" b="1" dirty="0">
                <a:solidFill>
                  <a:srgbClr val="B38A20"/>
                </a:solidFill>
                <a:latin typeface="Inter" pitchFamily="34" charset="0"/>
                <a:ea typeface="Inter" pitchFamily="34" charset="-122"/>
                <a:cs typeface="Inter" pitchFamily="34" charset="-120"/>
              </a:rPr>
              <a:t>1</a:t>
            </a:r>
            <a:endParaRPr lang="vi-VN" sz="1000" dirty="0"/>
          </a:p>
        </p:txBody>
      </p:sp>
      <p:sp>
        <p:nvSpPr>
          <p:cNvPr id="14" name="Text 11"/>
          <p:cNvSpPr/>
          <p:nvPr/>
        </p:nvSpPr>
        <p:spPr>
          <a:xfrm>
            <a:off x="612648" y="2944368"/>
            <a:ext cx="1975104" cy="338328"/>
          </a:xfrm>
          <a:prstGeom prst="rect">
            <a:avLst/>
          </a:prstGeom>
          <a:noFill/>
          <a:ln/>
        </p:spPr>
        <p:txBody>
          <a:bodyPr wrap="square" lIns="0" tIns="0" rIns="0" bIns="0" rtlCol="0" anchor="ctr">
            <a:normAutofit/>
          </a:bodyPr>
          <a:lstStyle/>
          <a:p>
            <a:pPr marL="0" indent="0" algn="ctr">
              <a:buNone/>
            </a:pPr>
            <a:r>
              <a:rPr lang="vi-VN" altLang="en-US" sz="1450" b="1" dirty="0">
                <a:solidFill>
                  <a:srgbClr val="183B63"/>
                </a:solidFill>
                <a:latin typeface="Inter" pitchFamily="34" charset="0"/>
                <a:ea typeface="Inter" pitchFamily="34" charset="-122"/>
                <a:cs typeface="Inter" pitchFamily="34" charset="-120"/>
              </a:rPr>
              <a:t>Gửi tài khoản</a:t>
            </a:r>
            <a:endParaRPr lang="vi-VN" sz="1450" dirty="0"/>
          </a:p>
        </p:txBody>
      </p:sp>
      <p:sp>
        <p:nvSpPr>
          <p:cNvPr id="15" name="Text 12"/>
          <p:cNvSpPr/>
          <p:nvPr/>
        </p:nvSpPr>
        <p:spPr>
          <a:xfrm>
            <a:off x="603504" y="3364992"/>
            <a:ext cx="1993392" cy="283464"/>
          </a:xfrm>
          <a:prstGeom prst="rect">
            <a:avLst/>
          </a:prstGeom>
          <a:noFill/>
          <a:ln/>
        </p:spPr>
        <p:txBody>
          <a:bodyPr wrap="square" lIns="0" tIns="0" rIns="0" bIns="0" rtlCol="0" anchor="ctr">
            <a:normAutofit/>
          </a:bodyPr>
          <a:lstStyle/>
          <a:p>
            <a:pPr marL="0" indent="0" algn="ctr">
              <a:buNone/>
            </a:pPr>
            <a:r>
              <a:rPr lang="vi-VN" altLang="en-US" sz="1130" dirty="0">
                <a:solidFill>
                  <a:srgbClr val="667389"/>
                </a:solidFill>
                <a:latin typeface="Inter" pitchFamily="34" charset="0"/>
                <a:ea typeface="Inter" pitchFamily="34" charset="-122"/>
                <a:cs typeface="Inter" pitchFamily="34" charset="-120"/>
              </a:rPr>
              <a:t>Email + mật khẩu</a:t>
            </a:r>
            <a:endParaRPr lang="vi-VN" sz="1130" dirty="0"/>
          </a:p>
        </p:txBody>
      </p:sp>
      <p:sp>
        <p:nvSpPr>
          <p:cNvPr id="16" name="Shape 13"/>
          <p:cNvSpPr/>
          <p:nvPr/>
        </p:nvSpPr>
        <p:spPr>
          <a:xfrm>
            <a:off x="2660904" y="2971800"/>
            <a:ext cx="219456" cy="365760"/>
          </a:xfrm>
          <a:prstGeom prst="line">
            <a:avLst/>
          </a:prstGeom>
          <a:noFill/>
          <a:ln w="25400">
            <a:solidFill>
              <a:srgbClr val="B38A20"/>
            </a:solidFill>
            <a:prstDash val="solid"/>
            <a:headEnd type="none"/>
            <a:tailEnd type="triangle"/>
          </a:ln>
        </p:spPr>
        <p:txBody>
          <a:bodyPr/>
          <a:lstStyle/>
          <a:p>
            <a:endParaRPr lang="en-US"/>
          </a:p>
        </p:txBody>
      </p:sp>
      <p:sp>
        <p:nvSpPr>
          <p:cNvPr id="17" name="Shape 14"/>
          <p:cNvSpPr/>
          <p:nvPr/>
        </p:nvSpPr>
        <p:spPr>
          <a:xfrm>
            <a:off x="2852928" y="2331720"/>
            <a:ext cx="2176272" cy="1874520"/>
          </a:xfrm>
          <a:prstGeom prst="roundRect">
            <a:avLst>
              <a:gd name="adj" fmla="val 5854"/>
            </a:avLst>
          </a:prstGeom>
          <a:solidFill>
            <a:srgbClr val="FFFFFF"/>
          </a:solidFill>
          <a:ln w="12700">
            <a:solidFill>
              <a:srgbClr val="E0E6EF"/>
            </a:solidFill>
            <a:prstDash val="solid"/>
          </a:ln>
        </p:spPr>
        <p:txBody>
          <a:bodyPr/>
          <a:lstStyle/>
          <a:p>
            <a:endParaRPr lang="en-US"/>
          </a:p>
        </p:txBody>
      </p:sp>
      <p:sp>
        <p:nvSpPr>
          <p:cNvPr id="18" name="Shape 15"/>
          <p:cNvSpPr/>
          <p:nvPr/>
        </p:nvSpPr>
        <p:spPr>
          <a:xfrm>
            <a:off x="3666744" y="2551176"/>
            <a:ext cx="566928" cy="566928"/>
          </a:xfrm>
          <a:prstGeom prst="ellipse">
            <a:avLst/>
          </a:prstGeom>
          <a:solidFill>
            <a:srgbClr val="EBF2FE"/>
          </a:solidFill>
          <a:ln w="12700">
            <a:solidFill>
              <a:srgbClr val="EBF2FE">
                <a:alpha val="0"/>
              </a:srgbClr>
            </a:solidFill>
            <a:prstDash val="solid"/>
          </a:ln>
        </p:spPr>
        <p:txBody>
          <a:bodyPr/>
          <a:lstStyle/>
          <a:p>
            <a:endParaRPr lang="en-US"/>
          </a:p>
        </p:txBody>
      </p:sp>
      <p:pic>
        <p:nvPicPr>
          <p:cNvPr id="19" name="Image 1" descr="/mnt/data/auth_slide_work/icon_cache/7713ce3b3bc9faf0b0d2807d1ec66288.png"/>
          <p:cNvPicPr>
            <a:picLocks noChangeAspect="1"/>
          </p:cNvPicPr>
          <p:nvPr/>
        </p:nvPicPr>
        <p:blipFill>
          <a:blip r:embed="rId4"/>
          <a:stretch>
            <a:fillRect/>
          </a:stretch>
        </p:blipFill>
        <p:spPr>
          <a:xfrm>
            <a:off x="3825484" y="2698577"/>
            <a:ext cx="243779" cy="243779"/>
          </a:xfrm>
          <a:prstGeom prst="rect">
            <a:avLst/>
          </a:prstGeom>
        </p:spPr>
      </p:pic>
      <p:sp>
        <p:nvSpPr>
          <p:cNvPr id="20" name="Text 16"/>
          <p:cNvSpPr/>
          <p:nvPr/>
        </p:nvSpPr>
        <p:spPr>
          <a:xfrm>
            <a:off x="2999232" y="2496312"/>
            <a:ext cx="182880" cy="210312"/>
          </a:xfrm>
          <a:prstGeom prst="rect">
            <a:avLst/>
          </a:prstGeom>
          <a:noFill/>
          <a:ln/>
        </p:spPr>
        <p:txBody>
          <a:bodyPr wrap="square" lIns="0" tIns="0" rIns="0" bIns="0" rtlCol="0" anchor="ctr">
            <a:normAutofit/>
          </a:bodyPr>
          <a:lstStyle/>
          <a:p>
            <a:pPr marL="0" indent="0">
              <a:buNone/>
            </a:pPr>
            <a:r>
              <a:rPr lang="vi-VN" altLang="en-US" sz="1000" b="1" dirty="0">
                <a:solidFill>
                  <a:srgbClr val="B38A20"/>
                </a:solidFill>
                <a:latin typeface="Inter" pitchFamily="34" charset="0"/>
                <a:ea typeface="Inter" pitchFamily="34" charset="-122"/>
                <a:cs typeface="Inter" pitchFamily="34" charset="-120"/>
              </a:rPr>
              <a:t>2</a:t>
            </a:r>
            <a:endParaRPr lang="vi-VN" sz="1000" dirty="0"/>
          </a:p>
        </p:txBody>
      </p:sp>
      <p:sp>
        <p:nvSpPr>
          <p:cNvPr id="21" name="Text 17"/>
          <p:cNvSpPr/>
          <p:nvPr/>
        </p:nvSpPr>
        <p:spPr>
          <a:xfrm>
            <a:off x="2953512" y="3264408"/>
            <a:ext cx="1975104" cy="338328"/>
          </a:xfrm>
          <a:prstGeom prst="rect">
            <a:avLst/>
          </a:prstGeom>
          <a:noFill/>
          <a:ln/>
        </p:spPr>
        <p:txBody>
          <a:bodyPr wrap="square" lIns="0" tIns="0" rIns="0" bIns="0" rtlCol="0" anchor="ctr">
            <a:normAutofit/>
          </a:bodyPr>
          <a:lstStyle/>
          <a:p>
            <a:pPr marL="0" indent="0" algn="ctr">
              <a:buNone/>
            </a:pPr>
            <a:r>
              <a:rPr lang="vi-VN" altLang="en-US" sz="1450" b="1" dirty="0">
                <a:solidFill>
                  <a:srgbClr val="183B63"/>
                </a:solidFill>
                <a:latin typeface="Inter" pitchFamily="34" charset="0"/>
                <a:ea typeface="Inter" pitchFamily="34" charset="-122"/>
                <a:cs typeface="Inter" pitchFamily="34" charset="-120"/>
              </a:rPr>
              <a:t>Server xác minh</a:t>
            </a:r>
            <a:endParaRPr lang="vi-VN" sz="1450" dirty="0"/>
          </a:p>
        </p:txBody>
      </p:sp>
      <p:sp>
        <p:nvSpPr>
          <p:cNvPr id="22" name="Text 18"/>
          <p:cNvSpPr/>
          <p:nvPr/>
        </p:nvSpPr>
        <p:spPr>
          <a:xfrm>
            <a:off x="2944368" y="3685032"/>
            <a:ext cx="1993392" cy="283464"/>
          </a:xfrm>
          <a:prstGeom prst="rect">
            <a:avLst/>
          </a:prstGeom>
          <a:noFill/>
          <a:ln/>
        </p:spPr>
        <p:txBody>
          <a:bodyPr wrap="square" lIns="0" tIns="0" rIns="0" bIns="0" rtlCol="0" anchor="ctr">
            <a:normAutofit/>
          </a:bodyPr>
          <a:lstStyle/>
          <a:p>
            <a:pPr marL="0" indent="0" algn="ctr">
              <a:buNone/>
            </a:pPr>
            <a:r>
              <a:rPr lang="vi-VN" altLang="en-US" sz="1130" dirty="0">
                <a:solidFill>
                  <a:srgbClr val="667389"/>
                </a:solidFill>
                <a:latin typeface="Inter" pitchFamily="34" charset="0"/>
                <a:ea typeface="Inter" pitchFamily="34" charset="-122"/>
                <a:cs typeface="Inter" pitchFamily="34" charset="-120"/>
              </a:rPr>
              <a:t>bcrypt.compare</a:t>
            </a:r>
            <a:endParaRPr lang="vi-VN" sz="1130" dirty="0"/>
          </a:p>
        </p:txBody>
      </p:sp>
      <p:sp>
        <p:nvSpPr>
          <p:cNvPr id="23" name="Shape 19"/>
          <p:cNvSpPr/>
          <p:nvPr/>
        </p:nvSpPr>
        <p:spPr>
          <a:xfrm>
            <a:off x="5001768" y="3291840"/>
            <a:ext cx="219456" cy="0"/>
          </a:xfrm>
          <a:prstGeom prst="line">
            <a:avLst/>
          </a:prstGeom>
          <a:noFill/>
          <a:ln w="25400">
            <a:solidFill>
              <a:srgbClr val="B38A20"/>
            </a:solidFill>
            <a:prstDash val="solid"/>
            <a:headEnd type="none"/>
            <a:tailEnd type="triangle"/>
          </a:ln>
        </p:spPr>
        <p:txBody>
          <a:bodyPr/>
          <a:lstStyle/>
          <a:p>
            <a:endParaRPr lang="en-US"/>
          </a:p>
        </p:txBody>
      </p:sp>
      <p:sp>
        <p:nvSpPr>
          <p:cNvPr id="24" name="Shape 20"/>
          <p:cNvSpPr/>
          <p:nvPr/>
        </p:nvSpPr>
        <p:spPr>
          <a:xfrm>
            <a:off x="5193792" y="2011680"/>
            <a:ext cx="2176272" cy="1874520"/>
          </a:xfrm>
          <a:prstGeom prst="roundRect">
            <a:avLst>
              <a:gd name="adj" fmla="val 5854"/>
            </a:avLst>
          </a:prstGeom>
          <a:solidFill>
            <a:srgbClr val="FFFFFF"/>
          </a:solidFill>
          <a:ln w="12700">
            <a:solidFill>
              <a:srgbClr val="E0E6EF"/>
            </a:solidFill>
            <a:prstDash val="solid"/>
          </a:ln>
        </p:spPr>
        <p:txBody>
          <a:bodyPr/>
          <a:lstStyle/>
          <a:p>
            <a:endParaRPr lang="en-US"/>
          </a:p>
        </p:txBody>
      </p:sp>
      <p:sp>
        <p:nvSpPr>
          <p:cNvPr id="25" name="Shape 21"/>
          <p:cNvSpPr/>
          <p:nvPr/>
        </p:nvSpPr>
        <p:spPr>
          <a:xfrm>
            <a:off x="6007608" y="2231136"/>
            <a:ext cx="566928" cy="566928"/>
          </a:xfrm>
          <a:prstGeom prst="ellipse">
            <a:avLst/>
          </a:prstGeom>
          <a:solidFill>
            <a:srgbClr val="EBF2FE"/>
          </a:solidFill>
          <a:ln w="12700">
            <a:solidFill>
              <a:srgbClr val="EBF2FE">
                <a:alpha val="0"/>
              </a:srgbClr>
            </a:solidFill>
            <a:prstDash val="solid"/>
          </a:ln>
        </p:spPr>
        <p:txBody>
          <a:bodyPr/>
          <a:lstStyle/>
          <a:p>
            <a:endParaRPr lang="en-US"/>
          </a:p>
        </p:txBody>
      </p:sp>
      <p:pic>
        <p:nvPicPr>
          <p:cNvPr id="26" name="Image 2" descr="/mnt/data/auth_slide_work/icon_cache/96f27d837cede5cff76a6427e462c5fe.png"/>
          <p:cNvPicPr>
            <a:picLocks noChangeAspect="1"/>
          </p:cNvPicPr>
          <p:nvPr/>
        </p:nvPicPr>
        <p:blipFill>
          <a:blip r:embed="rId5"/>
          <a:stretch>
            <a:fillRect/>
          </a:stretch>
        </p:blipFill>
        <p:spPr>
          <a:xfrm>
            <a:off x="6166348" y="2378537"/>
            <a:ext cx="243779" cy="243779"/>
          </a:xfrm>
          <a:prstGeom prst="rect">
            <a:avLst/>
          </a:prstGeom>
        </p:spPr>
      </p:pic>
      <p:sp>
        <p:nvSpPr>
          <p:cNvPr id="27" name="Text 22"/>
          <p:cNvSpPr/>
          <p:nvPr/>
        </p:nvSpPr>
        <p:spPr>
          <a:xfrm>
            <a:off x="5340096" y="2176272"/>
            <a:ext cx="182880" cy="210312"/>
          </a:xfrm>
          <a:prstGeom prst="rect">
            <a:avLst/>
          </a:prstGeom>
          <a:noFill/>
          <a:ln/>
        </p:spPr>
        <p:txBody>
          <a:bodyPr wrap="square" lIns="0" tIns="0" rIns="0" bIns="0" rtlCol="0" anchor="ctr">
            <a:normAutofit/>
          </a:bodyPr>
          <a:lstStyle/>
          <a:p>
            <a:pPr marL="0" indent="0">
              <a:buNone/>
            </a:pPr>
            <a:r>
              <a:rPr lang="vi-VN" altLang="en-US" sz="1000" b="1" dirty="0">
                <a:solidFill>
                  <a:srgbClr val="B38A20"/>
                </a:solidFill>
                <a:latin typeface="Inter" pitchFamily="34" charset="0"/>
                <a:ea typeface="Inter" pitchFamily="34" charset="-122"/>
                <a:cs typeface="Inter" pitchFamily="34" charset="-120"/>
              </a:rPr>
              <a:t>3</a:t>
            </a:r>
            <a:endParaRPr lang="vi-VN" sz="1000" dirty="0"/>
          </a:p>
        </p:txBody>
      </p:sp>
      <p:sp>
        <p:nvSpPr>
          <p:cNvPr id="28" name="Text 23"/>
          <p:cNvSpPr/>
          <p:nvPr/>
        </p:nvSpPr>
        <p:spPr>
          <a:xfrm>
            <a:off x="5294376" y="2944368"/>
            <a:ext cx="1975104" cy="338328"/>
          </a:xfrm>
          <a:prstGeom prst="rect">
            <a:avLst/>
          </a:prstGeom>
          <a:noFill/>
          <a:ln/>
        </p:spPr>
        <p:txBody>
          <a:bodyPr wrap="square" lIns="0" tIns="0" rIns="0" bIns="0" rtlCol="0" anchor="ctr">
            <a:normAutofit/>
          </a:bodyPr>
          <a:lstStyle/>
          <a:p>
            <a:pPr marL="0" indent="0" algn="ctr">
              <a:buNone/>
            </a:pPr>
            <a:r>
              <a:rPr lang="vi-VN" altLang="en-US" sz="1450" b="1" dirty="0">
                <a:solidFill>
                  <a:srgbClr val="183B63"/>
                </a:solidFill>
                <a:latin typeface="Inter" pitchFamily="34" charset="0"/>
                <a:ea typeface="Inter" pitchFamily="34" charset="-122"/>
                <a:cs typeface="Inter" pitchFamily="34" charset="-120"/>
              </a:rPr>
              <a:t>Server cấp JWT</a:t>
            </a:r>
            <a:endParaRPr lang="vi-VN" sz="1450" dirty="0"/>
          </a:p>
        </p:txBody>
      </p:sp>
      <p:sp>
        <p:nvSpPr>
          <p:cNvPr id="29" name="Text 24"/>
          <p:cNvSpPr/>
          <p:nvPr/>
        </p:nvSpPr>
        <p:spPr>
          <a:xfrm>
            <a:off x="5285232" y="3364992"/>
            <a:ext cx="1993392" cy="283464"/>
          </a:xfrm>
          <a:prstGeom prst="rect">
            <a:avLst/>
          </a:prstGeom>
          <a:noFill/>
          <a:ln/>
        </p:spPr>
        <p:txBody>
          <a:bodyPr wrap="square" lIns="0" tIns="0" rIns="0" bIns="0" rtlCol="0" anchor="ctr">
            <a:normAutofit/>
          </a:bodyPr>
          <a:lstStyle/>
          <a:p>
            <a:pPr marL="0" indent="0" algn="ctr">
              <a:buNone/>
            </a:pPr>
            <a:r>
              <a:rPr lang="vi-VN" altLang="en-US" sz="1130" dirty="0">
                <a:solidFill>
                  <a:srgbClr val="667389"/>
                </a:solidFill>
                <a:latin typeface="Inter" pitchFamily="34" charset="0"/>
                <a:ea typeface="Inter" pitchFamily="34" charset="-122"/>
                <a:cs typeface="Inter" pitchFamily="34" charset="-120"/>
              </a:rPr>
              <a:t>jwt.sign</a:t>
            </a:r>
            <a:endParaRPr lang="vi-VN" sz="1130" dirty="0"/>
          </a:p>
        </p:txBody>
      </p:sp>
      <p:sp>
        <p:nvSpPr>
          <p:cNvPr id="30" name="Shape 25"/>
          <p:cNvSpPr/>
          <p:nvPr/>
        </p:nvSpPr>
        <p:spPr>
          <a:xfrm>
            <a:off x="7342632" y="2971800"/>
            <a:ext cx="219456" cy="365760"/>
          </a:xfrm>
          <a:prstGeom prst="line">
            <a:avLst/>
          </a:prstGeom>
          <a:noFill/>
          <a:ln w="25400">
            <a:solidFill>
              <a:srgbClr val="B38A20"/>
            </a:solidFill>
            <a:prstDash val="solid"/>
            <a:headEnd type="none"/>
            <a:tailEnd type="triangle"/>
          </a:ln>
        </p:spPr>
        <p:txBody>
          <a:bodyPr/>
          <a:lstStyle/>
          <a:p>
            <a:endParaRPr lang="en-US"/>
          </a:p>
        </p:txBody>
      </p:sp>
      <p:sp>
        <p:nvSpPr>
          <p:cNvPr id="31" name="Shape 26"/>
          <p:cNvSpPr/>
          <p:nvPr/>
        </p:nvSpPr>
        <p:spPr>
          <a:xfrm>
            <a:off x="7534656" y="2331720"/>
            <a:ext cx="2176272" cy="1874520"/>
          </a:xfrm>
          <a:prstGeom prst="roundRect">
            <a:avLst>
              <a:gd name="adj" fmla="val 5854"/>
            </a:avLst>
          </a:prstGeom>
          <a:solidFill>
            <a:srgbClr val="FFFFFF"/>
          </a:solidFill>
          <a:ln w="12700">
            <a:solidFill>
              <a:srgbClr val="E0E6EF"/>
            </a:solidFill>
            <a:prstDash val="solid"/>
          </a:ln>
        </p:spPr>
        <p:txBody>
          <a:bodyPr/>
          <a:lstStyle/>
          <a:p>
            <a:endParaRPr lang="en-US"/>
          </a:p>
        </p:txBody>
      </p:sp>
      <p:sp>
        <p:nvSpPr>
          <p:cNvPr id="32" name="Shape 27"/>
          <p:cNvSpPr/>
          <p:nvPr/>
        </p:nvSpPr>
        <p:spPr>
          <a:xfrm>
            <a:off x="8348472" y="2551176"/>
            <a:ext cx="566928" cy="566928"/>
          </a:xfrm>
          <a:prstGeom prst="ellipse">
            <a:avLst/>
          </a:prstGeom>
          <a:solidFill>
            <a:srgbClr val="EBF2FE"/>
          </a:solidFill>
          <a:ln w="12700">
            <a:solidFill>
              <a:srgbClr val="EBF2FE">
                <a:alpha val="0"/>
              </a:srgbClr>
            </a:solidFill>
            <a:prstDash val="solid"/>
          </a:ln>
        </p:spPr>
        <p:txBody>
          <a:bodyPr/>
          <a:lstStyle/>
          <a:p>
            <a:endParaRPr lang="en-US"/>
          </a:p>
        </p:txBody>
      </p:sp>
      <p:pic>
        <p:nvPicPr>
          <p:cNvPr id="33" name="Image 3" descr="/mnt/data/auth_slide_work/icon_cache/dcbc6b1776a705f28c1a0fbd153770db.png"/>
          <p:cNvPicPr>
            <a:picLocks noChangeAspect="1"/>
          </p:cNvPicPr>
          <p:nvPr/>
        </p:nvPicPr>
        <p:blipFill>
          <a:blip r:embed="rId6"/>
          <a:stretch>
            <a:fillRect/>
          </a:stretch>
        </p:blipFill>
        <p:spPr>
          <a:xfrm>
            <a:off x="8507212" y="2698577"/>
            <a:ext cx="243779" cy="243779"/>
          </a:xfrm>
          <a:prstGeom prst="rect">
            <a:avLst/>
          </a:prstGeom>
        </p:spPr>
      </p:pic>
      <p:sp>
        <p:nvSpPr>
          <p:cNvPr id="34" name="Text 28"/>
          <p:cNvSpPr/>
          <p:nvPr/>
        </p:nvSpPr>
        <p:spPr>
          <a:xfrm>
            <a:off x="7680960" y="2496312"/>
            <a:ext cx="182880" cy="210312"/>
          </a:xfrm>
          <a:prstGeom prst="rect">
            <a:avLst/>
          </a:prstGeom>
          <a:noFill/>
          <a:ln/>
        </p:spPr>
        <p:txBody>
          <a:bodyPr wrap="square" lIns="0" tIns="0" rIns="0" bIns="0" rtlCol="0" anchor="ctr">
            <a:normAutofit/>
          </a:bodyPr>
          <a:lstStyle/>
          <a:p>
            <a:pPr marL="0" indent="0">
              <a:buNone/>
            </a:pPr>
            <a:r>
              <a:rPr lang="vi-VN" altLang="en-US" sz="1000" b="1" dirty="0">
                <a:solidFill>
                  <a:srgbClr val="B38A20"/>
                </a:solidFill>
                <a:latin typeface="Inter" pitchFamily="34" charset="0"/>
                <a:ea typeface="Inter" pitchFamily="34" charset="-122"/>
                <a:cs typeface="Inter" pitchFamily="34" charset="-120"/>
              </a:rPr>
              <a:t>4</a:t>
            </a:r>
            <a:endParaRPr lang="vi-VN" sz="1000" dirty="0"/>
          </a:p>
        </p:txBody>
      </p:sp>
      <p:sp>
        <p:nvSpPr>
          <p:cNvPr id="35" name="Text 29"/>
          <p:cNvSpPr/>
          <p:nvPr/>
        </p:nvSpPr>
        <p:spPr>
          <a:xfrm>
            <a:off x="7635240" y="3264408"/>
            <a:ext cx="1975104" cy="338328"/>
          </a:xfrm>
          <a:prstGeom prst="rect">
            <a:avLst/>
          </a:prstGeom>
          <a:noFill/>
          <a:ln/>
        </p:spPr>
        <p:txBody>
          <a:bodyPr wrap="square" lIns="0" tIns="0" rIns="0" bIns="0" rtlCol="0" anchor="ctr">
            <a:normAutofit/>
          </a:bodyPr>
          <a:lstStyle/>
          <a:p>
            <a:pPr marL="0" indent="0" algn="ctr">
              <a:buNone/>
            </a:pPr>
            <a:r>
              <a:rPr lang="vi-VN" altLang="en-US" sz="1450" b="1" dirty="0">
                <a:solidFill>
                  <a:srgbClr val="183B63"/>
                </a:solidFill>
                <a:latin typeface="Inter" pitchFamily="34" charset="0"/>
                <a:ea typeface="Inter" pitchFamily="34" charset="-122"/>
                <a:cs typeface="Inter" pitchFamily="34" charset="-120"/>
              </a:rPr>
              <a:t>Gửi JWT</a:t>
            </a:r>
            <a:endParaRPr lang="vi-VN" sz="1450" dirty="0"/>
          </a:p>
        </p:txBody>
      </p:sp>
      <p:sp>
        <p:nvSpPr>
          <p:cNvPr id="36" name="Text 30"/>
          <p:cNvSpPr/>
          <p:nvPr/>
        </p:nvSpPr>
        <p:spPr>
          <a:xfrm>
            <a:off x="7626096" y="3685032"/>
            <a:ext cx="1993392" cy="283464"/>
          </a:xfrm>
          <a:prstGeom prst="rect">
            <a:avLst/>
          </a:prstGeom>
          <a:noFill/>
          <a:ln/>
        </p:spPr>
        <p:txBody>
          <a:bodyPr wrap="square" lIns="0" tIns="0" rIns="0" bIns="0" rtlCol="0" anchor="ctr">
            <a:normAutofit/>
          </a:bodyPr>
          <a:lstStyle/>
          <a:p>
            <a:pPr marL="0" indent="0" algn="ctr">
              <a:buNone/>
            </a:pPr>
            <a:r>
              <a:rPr lang="vi-VN" altLang="en-US" sz="1130" dirty="0">
                <a:solidFill>
                  <a:srgbClr val="667389"/>
                </a:solidFill>
                <a:latin typeface="Inter" pitchFamily="34" charset="0"/>
                <a:ea typeface="Inter" pitchFamily="34" charset="-122"/>
                <a:cs typeface="Inter" pitchFamily="34" charset="-120"/>
              </a:rPr>
              <a:t>Authorization: Bearer</a:t>
            </a:r>
            <a:endParaRPr lang="vi-VN" sz="1130" dirty="0"/>
          </a:p>
        </p:txBody>
      </p:sp>
      <p:sp>
        <p:nvSpPr>
          <p:cNvPr id="37" name="Shape 31"/>
          <p:cNvSpPr/>
          <p:nvPr/>
        </p:nvSpPr>
        <p:spPr>
          <a:xfrm>
            <a:off x="9683496" y="3291840"/>
            <a:ext cx="219456" cy="0"/>
          </a:xfrm>
          <a:prstGeom prst="line">
            <a:avLst/>
          </a:prstGeom>
          <a:noFill/>
          <a:ln w="25400">
            <a:solidFill>
              <a:srgbClr val="B38A20"/>
            </a:solidFill>
            <a:prstDash val="solid"/>
            <a:headEnd type="none"/>
            <a:tailEnd type="triangle"/>
          </a:ln>
        </p:spPr>
        <p:txBody>
          <a:bodyPr/>
          <a:lstStyle/>
          <a:p>
            <a:endParaRPr lang="en-US"/>
          </a:p>
        </p:txBody>
      </p:sp>
      <p:sp>
        <p:nvSpPr>
          <p:cNvPr id="38" name="Shape 32"/>
          <p:cNvSpPr/>
          <p:nvPr/>
        </p:nvSpPr>
        <p:spPr>
          <a:xfrm>
            <a:off x="9875520" y="2011680"/>
            <a:ext cx="2176272" cy="1874520"/>
          </a:xfrm>
          <a:prstGeom prst="roundRect">
            <a:avLst>
              <a:gd name="adj" fmla="val 5854"/>
            </a:avLst>
          </a:prstGeom>
          <a:solidFill>
            <a:srgbClr val="FFFFFF"/>
          </a:solidFill>
          <a:ln w="12700">
            <a:solidFill>
              <a:srgbClr val="E0E6EF"/>
            </a:solidFill>
            <a:prstDash val="solid"/>
          </a:ln>
        </p:spPr>
        <p:txBody>
          <a:bodyPr/>
          <a:lstStyle/>
          <a:p>
            <a:endParaRPr lang="en-US"/>
          </a:p>
        </p:txBody>
      </p:sp>
      <p:sp>
        <p:nvSpPr>
          <p:cNvPr id="39" name="Shape 33"/>
          <p:cNvSpPr/>
          <p:nvPr/>
        </p:nvSpPr>
        <p:spPr>
          <a:xfrm>
            <a:off x="10689336" y="2231136"/>
            <a:ext cx="566928" cy="566928"/>
          </a:xfrm>
          <a:prstGeom prst="ellipse">
            <a:avLst/>
          </a:prstGeom>
          <a:solidFill>
            <a:srgbClr val="E6F6EF"/>
          </a:solidFill>
          <a:ln w="12700">
            <a:solidFill>
              <a:srgbClr val="E6F6EF">
                <a:alpha val="0"/>
              </a:srgbClr>
            </a:solidFill>
            <a:prstDash val="solid"/>
          </a:ln>
        </p:spPr>
        <p:txBody>
          <a:bodyPr/>
          <a:lstStyle/>
          <a:p>
            <a:endParaRPr lang="en-US"/>
          </a:p>
        </p:txBody>
      </p:sp>
      <p:pic>
        <p:nvPicPr>
          <p:cNvPr id="40" name="Image 4" descr="/mnt/data/auth_slide_work/icon_cache/9c46a470b936b5791dca7068cf3084c9.png"/>
          <p:cNvPicPr>
            <a:picLocks noChangeAspect="1"/>
          </p:cNvPicPr>
          <p:nvPr/>
        </p:nvPicPr>
        <p:blipFill>
          <a:blip r:embed="rId7"/>
          <a:stretch>
            <a:fillRect/>
          </a:stretch>
        </p:blipFill>
        <p:spPr>
          <a:xfrm>
            <a:off x="10848076" y="2378537"/>
            <a:ext cx="243779" cy="243779"/>
          </a:xfrm>
          <a:prstGeom prst="rect">
            <a:avLst/>
          </a:prstGeom>
        </p:spPr>
      </p:pic>
      <p:sp>
        <p:nvSpPr>
          <p:cNvPr id="41" name="Text 34"/>
          <p:cNvSpPr/>
          <p:nvPr/>
        </p:nvSpPr>
        <p:spPr>
          <a:xfrm>
            <a:off x="10021824" y="2176272"/>
            <a:ext cx="182880" cy="210312"/>
          </a:xfrm>
          <a:prstGeom prst="rect">
            <a:avLst/>
          </a:prstGeom>
          <a:noFill/>
          <a:ln/>
        </p:spPr>
        <p:txBody>
          <a:bodyPr wrap="square" lIns="0" tIns="0" rIns="0" bIns="0" rtlCol="0" anchor="ctr">
            <a:normAutofit/>
          </a:bodyPr>
          <a:lstStyle/>
          <a:p>
            <a:pPr marL="0" indent="0">
              <a:buNone/>
            </a:pPr>
            <a:r>
              <a:rPr lang="vi-VN" altLang="en-US" sz="1000" b="1" dirty="0">
                <a:solidFill>
                  <a:srgbClr val="B38A20"/>
                </a:solidFill>
                <a:latin typeface="Inter" pitchFamily="34" charset="0"/>
                <a:ea typeface="Inter" pitchFamily="34" charset="-122"/>
                <a:cs typeface="Inter" pitchFamily="34" charset="-120"/>
              </a:rPr>
              <a:t>5</a:t>
            </a:r>
            <a:endParaRPr lang="vi-VN" sz="1000" dirty="0"/>
          </a:p>
        </p:txBody>
      </p:sp>
      <p:sp>
        <p:nvSpPr>
          <p:cNvPr id="42" name="Text 35"/>
          <p:cNvSpPr/>
          <p:nvPr/>
        </p:nvSpPr>
        <p:spPr>
          <a:xfrm>
            <a:off x="9976104" y="2944368"/>
            <a:ext cx="1975104" cy="338328"/>
          </a:xfrm>
          <a:prstGeom prst="rect">
            <a:avLst/>
          </a:prstGeom>
          <a:noFill/>
          <a:ln/>
        </p:spPr>
        <p:txBody>
          <a:bodyPr wrap="square" lIns="0" tIns="0" rIns="0" bIns="0" rtlCol="0" anchor="ctr">
            <a:normAutofit/>
          </a:bodyPr>
          <a:lstStyle/>
          <a:p>
            <a:pPr marL="0" indent="0" algn="ctr">
              <a:buNone/>
            </a:pPr>
            <a:r>
              <a:rPr lang="vi-VN" altLang="en-US" sz="1450" b="1" dirty="0">
                <a:solidFill>
                  <a:srgbClr val="183B63"/>
                </a:solidFill>
                <a:latin typeface="Inter" pitchFamily="34" charset="0"/>
                <a:ea typeface="Inter" pitchFamily="34" charset="-122"/>
                <a:cs typeface="Inter" pitchFamily="34" charset="-120"/>
              </a:rPr>
              <a:t>Server kiểm tra</a:t>
            </a:r>
            <a:endParaRPr lang="vi-VN" sz="1450" dirty="0"/>
          </a:p>
        </p:txBody>
      </p:sp>
      <p:sp>
        <p:nvSpPr>
          <p:cNvPr id="43" name="Text 36"/>
          <p:cNvSpPr/>
          <p:nvPr/>
        </p:nvSpPr>
        <p:spPr>
          <a:xfrm>
            <a:off x="9966960" y="3364992"/>
            <a:ext cx="1993392" cy="283464"/>
          </a:xfrm>
          <a:prstGeom prst="rect">
            <a:avLst/>
          </a:prstGeom>
          <a:noFill/>
          <a:ln/>
        </p:spPr>
        <p:txBody>
          <a:bodyPr wrap="square" lIns="0" tIns="0" rIns="0" bIns="0" rtlCol="0" anchor="ctr">
            <a:normAutofit/>
          </a:bodyPr>
          <a:lstStyle/>
          <a:p>
            <a:pPr marL="0" indent="0" algn="ctr">
              <a:buNone/>
            </a:pPr>
            <a:r>
              <a:rPr lang="vi-VN" altLang="en-US" sz="1130" dirty="0">
                <a:solidFill>
                  <a:srgbClr val="667389"/>
                </a:solidFill>
                <a:latin typeface="Inter" pitchFamily="34" charset="0"/>
                <a:ea typeface="Inter" pitchFamily="34" charset="-122"/>
                <a:cs typeface="Inter" pitchFamily="34" charset="-120"/>
              </a:rPr>
              <a:t>jwt.verify</a:t>
            </a:r>
            <a:endParaRPr lang="vi-VN" sz="1130" dirty="0"/>
          </a:p>
        </p:txBody>
      </p:sp>
      <p:sp>
        <p:nvSpPr>
          <p:cNvPr id="44" name="Shape 37"/>
          <p:cNvSpPr/>
          <p:nvPr/>
        </p:nvSpPr>
        <p:spPr>
          <a:xfrm>
            <a:off x="950976" y="4956048"/>
            <a:ext cx="10305288" cy="612648"/>
          </a:xfrm>
          <a:prstGeom prst="roundRect">
            <a:avLst>
              <a:gd name="adj" fmla="val 17910"/>
            </a:avLst>
          </a:prstGeom>
          <a:solidFill>
            <a:srgbClr val="E6F6EF"/>
          </a:solidFill>
          <a:ln w="12700">
            <a:solidFill>
              <a:srgbClr val="E6F6EF">
                <a:alpha val="0"/>
              </a:srgbClr>
            </a:solidFill>
            <a:prstDash val="solid"/>
          </a:ln>
        </p:spPr>
        <p:txBody>
          <a:bodyPr/>
          <a:lstStyle/>
          <a:p>
            <a:endParaRPr lang="en-US"/>
          </a:p>
        </p:txBody>
      </p:sp>
      <p:sp>
        <p:nvSpPr>
          <p:cNvPr id="45" name="Text 38"/>
          <p:cNvSpPr/>
          <p:nvPr/>
        </p:nvSpPr>
        <p:spPr>
          <a:xfrm>
            <a:off x="1289304" y="5120640"/>
            <a:ext cx="9710928" cy="310896"/>
          </a:xfrm>
          <a:prstGeom prst="rect">
            <a:avLst/>
          </a:prstGeom>
          <a:noFill/>
          <a:ln/>
        </p:spPr>
        <p:txBody>
          <a:bodyPr wrap="square" lIns="0" tIns="0" rIns="0" bIns="0" rtlCol="0" anchor="ctr">
            <a:normAutofit/>
          </a:bodyPr>
          <a:lstStyle/>
          <a:p>
            <a:pPr marL="0" indent="0" algn="ctr">
              <a:buNone/>
            </a:pPr>
            <a:r>
              <a:rPr lang="vi-VN" altLang="en-US" sz="1510" b="1" dirty="0">
                <a:solidFill>
                  <a:srgbClr val="183B63"/>
                </a:solidFill>
                <a:latin typeface="Inter" pitchFamily="34" charset="0"/>
                <a:ea typeface="Inter" pitchFamily="34" charset="-122"/>
                <a:cs typeface="Inter" pitchFamily="34" charset="-120"/>
              </a:rPr>
              <a:t>Sau khi đăng nhập, Client dùng JWT hợp lệ thay vì gửi lại mật khẩu ở mỗi Request.</a:t>
            </a:r>
            <a:endParaRPr lang="vi-VN" sz="151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JWT</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JWT gồm 3 phần: Header – Payload – Signature</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Thông thường ba phần được ngăn cách bằng dấu chấm (.).</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10 / 24</a:t>
            </a:r>
            <a:endParaRPr lang="vi-VN" sz="850" dirty="0"/>
          </a:p>
        </p:txBody>
      </p:sp>
      <p:sp>
        <p:nvSpPr>
          <p:cNvPr id="10" name="Shape 8"/>
          <p:cNvSpPr/>
          <p:nvPr/>
        </p:nvSpPr>
        <p:spPr>
          <a:xfrm>
            <a:off x="640080" y="1828800"/>
            <a:ext cx="3282696" cy="2862072"/>
          </a:xfrm>
          <a:prstGeom prst="roundRect">
            <a:avLst>
              <a:gd name="adj" fmla="val 3834"/>
            </a:avLst>
          </a:prstGeom>
          <a:solidFill>
            <a:srgbClr val="FFFFFF"/>
          </a:solidFill>
          <a:ln w="12700">
            <a:solidFill>
              <a:srgbClr val="E0E6EF"/>
            </a:solidFill>
            <a:prstDash val="solid"/>
          </a:ln>
        </p:spPr>
        <p:txBody>
          <a:bodyPr/>
          <a:lstStyle/>
          <a:p>
            <a:endParaRPr lang="en-US"/>
          </a:p>
        </p:txBody>
      </p:sp>
      <p:sp>
        <p:nvSpPr>
          <p:cNvPr id="11" name="Shape 9"/>
          <p:cNvSpPr/>
          <p:nvPr/>
        </p:nvSpPr>
        <p:spPr>
          <a:xfrm>
            <a:off x="822960" y="2048256"/>
            <a:ext cx="2907792" cy="731520"/>
          </a:xfrm>
          <a:prstGeom prst="roundRect">
            <a:avLst>
              <a:gd name="adj" fmla="val 15000"/>
            </a:avLst>
          </a:prstGeom>
          <a:solidFill>
            <a:srgbClr val="EBF2FE"/>
          </a:solidFill>
          <a:ln w="12700">
            <a:solidFill>
              <a:srgbClr val="EBF2FE">
                <a:alpha val="0"/>
              </a:srgbClr>
            </a:solidFill>
            <a:prstDash val="solid"/>
          </a:ln>
        </p:spPr>
        <p:txBody>
          <a:bodyPr/>
          <a:lstStyle/>
          <a:p>
            <a:endParaRPr lang="en-US"/>
          </a:p>
        </p:txBody>
      </p:sp>
      <p:sp>
        <p:nvSpPr>
          <p:cNvPr id="12" name="Text 10"/>
          <p:cNvSpPr/>
          <p:nvPr/>
        </p:nvSpPr>
        <p:spPr>
          <a:xfrm>
            <a:off x="950976" y="2258568"/>
            <a:ext cx="2651760" cy="283464"/>
          </a:xfrm>
          <a:prstGeom prst="rect">
            <a:avLst/>
          </a:prstGeom>
          <a:noFill/>
          <a:ln/>
        </p:spPr>
        <p:txBody>
          <a:bodyPr wrap="square" lIns="0" tIns="0" rIns="0" bIns="0" rtlCol="0" anchor="ctr">
            <a:normAutofit/>
          </a:bodyPr>
          <a:lstStyle/>
          <a:p>
            <a:pPr marL="0" indent="0" algn="ctr">
              <a:buNone/>
            </a:pPr>
            <a:r>
              <a:rPr lang="vi-VN" altLang="en-US" sz="2020" b="1" dirty="0">
                <a:solidFill>
                  <a:srgbClr val="2A5DAD"/>
                </a:solidFill>
                <a:latin typeface="Inter" pitchFamily="34" charset="0"/>
                <a:ea typeface="Inter" pitchFamily="34" charset="-122"/>
                <a:cs typeface="Inter" pitchFamily="34" charset="-120"/>
              </a:rPr>
              <a:t>HEADER</a:t>
            </a:r>
            <a:endParaRPr lang="vi-VN" sz="2020" dirty="0"/>
          </a:p>
        </p:txBody>
      </p:sp>
      <p:sp>
        <p:nvSpPr>
          <p:cNvPr id="13" name="Text 11"/>
          <p:cNvSpPr/>
          <p:nvPr/>
        </p:nvSpPr>
        <p:spPr>
          <a:xfrm>
            <a:off x="960120" y="3044952"/>
            <a:ext cx="2697480" cy="694944"/>
          </a:xfrm>
          <a:prstGeom prst="rect">
            <a:avLst/>
          </a:prstGeom>
          <a:noFill/>
          <a:ln/>
        </p:spPr>
        <p:txBody>
          <a:bodyPr wrap="square" lIns="0" tIns="0" rIns="0" bIns="0" rtlCol="0" anchor="t">
            <a:normAutofit/>
          </a:bodyPr>
          <a:lstStyle/>
          <a:p>
            <a:pPr marL="0" indent="0" algn="ctr">
              <a:buNone/>
            </a:pPr>
            <a:r>
              <a:rPr lang="vi-VN" altLang="en-US" sz="1420" dirty="0">
                <a:solidFill>
                  <a:srgbClr val="263345"/>
                </a:solidFill>
                <a:latin typeface="Inter" pitchFamily="34" charset="0"/>
                <a:ea typeface="Inter" pitchFamily="34" charset="-122"/>
                <a:cs typeface="Inter" pitchFamily="34" charset="-120"/>
              </a:rPr>
              <a:t>Thông tin loại Token và thuật toán ký</a:t>
            </a:r>
            <a:endParaRPr lang="vi-VN" sz="1420" dirty="0"/>
          </a:p>
        </p:txBody>
      </p:sp>
      <p:sp>
        <p:nvSpPr>
          <p:cNvPr id="14" name="Shape 12"/>
          <p:cNvSpPr/>
          <p:nvPr/>
        </p:nvSpPr>
        <p:spPr>
          <a:xfrm>
            <a:off x="822960" y="3904488"/>
            <a:ext cx="2907792" cy="429768"/>
          </a:xfrm>
          <a:prstGeom prst="roundRect">
            <a:avLst>
              <a:gd name="adj" fmla="val 25532"/>
            </a:avLst>
          </a:prstGeom>
          <a:solidFill>
            <a:srgbClr val="EFF2F7"/>
          </a:solidFill>
          <a:ln w="12700">
            <a:solidFill>
              <a:srgbClr val="EFF2F7">
                <a:alpha val="0"/>
              </a:srgbClr>
            </a:solidFill>
            <a:prstDash val="solid"/>
          </a:ln>
        </p:spPr>
        <p:txBody>
          <a:bodyPr/>
          <a:lstStyle/>
          <a:p>
            <a:endParaRPr lang="en-US"/>
          </a:p>
        </p:txBody>
      </p:sp>
      <p:sp>
        <p:nvSpPr>
          <p:cNvPr id="15" name="Text 13"/>
          <p:cNvSpPr/>
          <p:nvPr/>
        </p:nvSpPr>
        <p:spPr>
          <a:xfrm>
            <a:off x="932688" y="4014216"/>
            <a:ext cx="2697480" cy="192024"/>
          </a:xfrm>
          <a:prstGeom prst="rect">
            <a:avLst/>
          </a:prstGeom>
          <a:noFill/>
          <a:ln/>
        </p:spPr>
        <p:txBody>
          <a:bodyPr wrap="square" lIns="0" tIns="0" rIns="0" bIns="0" rtlCol="0" anchor="ctr">
            <a:normAutofit/>
          </a:bodyPr>
          <a:lstStyle/>
          <a:p>
            <a:pPr marL="0" indent="0" algn="ctr">
              <a:buNone/>
            </a:pPr>
            <a:r>
              <a:rPr lang="vi-VN" altLang="en-US" sz="980" dirty="0">
                <a:solidFill>
                  <a:srgbClr val="667389"/>
                </a:solidFill>
                <a:latin typeface="DejaVu Sans Mono" pitchFamily="34" charset="0"/>
                <a:ea typeface="DejaVu Sans Mono" pitchFamily="34" charset="-122"/>
                <a:cs typeface="DejaVu Sans Mono" pitchFamily="34" charset="-120"/>
              </a:rPr>
              <a:t>{"alg":"HS256","typ":"JWT"}</a:t>
            </a:r>
            <a:endParaRPr lang="vi-VN" sz="980" dirty="0"/>
          </a:p>
        </p:txBody>
      </p:sp>
      <p:sp>
        <p:nvSpPr>
          <p:cNvPr id="16" name="Shape 14"/>
          <p:cNvSpPr/>
          <p:nvPr/>
        </p:nvSpPr>
        <p:spPr>
          <a:xfrm>
            <a:off x="4480560" y="1828800"/>
            <a:ext cx="3282696" cy="2862072"/>
          </a:xfrm>
          <a:prstGeom prst="roundRect">
            <a:avLst>
              <a:gd name="adj" fmla="val 3834"/>
            </a:avLst>
          </a:prstGeom>
          <a:solidFill>
            <a:srgbClr val="FFFFFF"/>
          </a:solidFill>
          <a:ln w="12700">
            <a:solidFill>
              <a:srgbClr val="E0E6EF"/>
            </a:solidFill>
            <a:prstDash val="solid"/>
          </a:ln>
        </p:spPr>
        <p:txBody>
          <a:bodyPr/>
          <a:lstStyle/>
          <a:p>
            <a:endParaRPr lang="en-US"/>
          </a:p>
        </p:txBody>
      </p:sp>
      <p:sp>
        <p:nvSpPr>
          <p:cNvPr id="17" name="Shape 15"/>
          <p:cNvSpPr/>
          <p:nvPr/>
        </p:nvSpPr>
        <p:spPr>
          <a:xfrm>
            <a:off x="4663440" y="2048256"/>
            <a:ext cx="2907792" cy="731520"/>
          </a:xfrm>
          <a:prstGeom prst="roundRect">
            <a:avLst>
              <a:gd name="adj" fmla="val 15000"/>
            </a:avLst>
          </a:prstGeom>
          <a:solidFill>
            <a:srgbClr val="E6F6EF"/>
          </a:solidFill>
          <a:ln w="12700">
            <a:solidFill>
              <a:srgbClr val="E6F6EF">
                <a:alpha val="0"/>
              </a:srgbClr>
            </a:solidFill>
            <a:prstDash val="solid"/>
          </a:ln>
        </p:spPr>
        <p:txBody>
          <a:bodyPr/>
          <a:lstStyle/>
          <a:p>
            <a:endParaRPr lang="en-US"/>
          </a:p>
        </p:txBody>
      </p:sp>
      <p:sp>
        <p:nvSpPr>
          <p:cNvPr id="18" name="Text 16"/>
          <p:cNvSpPr/>
          <p:nvPr/>
        </p:nvSpPr>
        <p:spPr>
          <a:xfrm>
            <a:off x="4791456" y="2258568"/>
            <a:ext cx="2651760" cy="283464"/>
          </a:xfrm>
          <a:prstGeom prst="rect">
            <a:avLst/>
          </a:prstGeom>
          <a:noFill/>
          <a:ln/>
        </p:spPr>
        <p:txBody>
          <a:bodyPr wrap="square" lIns="0" tIns="0" rIns="0" bIns="0" rtlCol="0" anchor="ctr">
            <a:normAutofit/>
          </a:bodyPr>
          <a:lstStyle/>
          <a:p>
            <a:pPr marL="0" indent="0" algn="ctr">
              <a:buNone/>
            </a:pPr>
            <a:r>
              <a:rPr lang="vi-VN" altLang="en-US" sz="2020" b="1" dirty="0">
                <a:solidFill>
                  <a:srgbClr val="19805B"/>
                </a:solidFill>
                <a:latin typeface="Inter" pitchFamily="34" charset="0"/>
                <a:ea typeface="Inter" pitchFamily="34" charset="-122"/>
                <a:cs typeface="Inter" pitchFamily="34" charset="-120"/>
              </a:rPr>
              <a:t>PAYLOAD</a:t>
            </a:r>
            <a:endParaRPr lang="vi-VN" sz="2020" dirty="0"/>
          </a:p>
        </p:txBody>
      </p:sp>
      <p:sp>
        <p:nvSpPr>
          <p:cNvPr id="19" name="Text 17"/>
          <p:cNvSpPr/>
          <p:nvPr/>
        </p:nvSpPr>
        <p:spPr>
          <a:xfrm>
            <a:off x="4800600" y="3044952"/>
            <a:ext cx="2697480" cy="694944"/>
          </a:xfrm>
          <a:prstGeom prst="rect">
            <a:avLst/>
          </a:prstGeom>
          <a:noFill/>
          <a:ln/>
        </p:spPr>
        <p:txBody>
          <a:bodyPr wrap="square" lIns="0" tIns="0" rIns="0" bIns="0" rtlCol="0" anchor="t">
            <a:normAutofit/>
          </a:bodyPr>
          <a:lstStyle/>
          <a:p>
            <a:pPr marL="0" indent="0" algn="ctr">
              <a:buNone/>
            </a:pPr>
            <a:r>
              <a:rPr lang="vi-VN" altLang="en-US" sz="1420" dirty="0">
                <a:solidFill>
                  <a:srgbClr val="263345"/>
                </a:solidFill>
                <a:latin typeface="Inter" pitchFamily="34" charset="0"/>
                <a:ea typeface="Inter" pitchFamily="34" charset="-122"/>
                <a:cs typeface="Inter" pitchFamily="34" charset="-120"/>
              </a:rPr>
              <a:t>Claims: mã người dùng, quyền, thời hạn</a:t>
            </a:r>
            <a:endParaRPr lang="vi-VN" sz="1420" dirty="0"/>
          </a:p>
        </p:txBody>
      </p:sp>
      <p:sp>
        <p:nvSpPr>
          <p:cNvPr id="20" name="Shape 18"/>
          <p:cNvSpPr/>
          <p:nvPr/>
        </p:nvSpPr>
        <p:spPr>
          <a:xfrm>
            <a:off x="4663440" y="3904488"/>
            <a:ext cx="2907792" cy="429768"/>
          </a:xfrm>
          <a:prstGeom prst="roundRect">
            <a:avLst>
              <a:gd name="adj" fmla="val 25532"/>
            </a:avLst>
          </a:prstGeom>
          <a:solidFill>
            <a:srgbClr val="EFF2F7"/>
          </a:solidFill>
          <a:ln w="12700">
            <a:solidFill>
              <a:srgbClr val="EFF2F7">
                <a:alpha val="0"/>
              </a:srgbClr>
            </a:solidFill>
            <a:prstDash val="solid"/>
          </a:ln>
        </p:spPr>
        <p:txBody>
          <a:bodyPr/>
          <a:lstStyle/>
          <a:p>
            <a:endParaRPr lang="en-US"/>
          </a:p>
        </p:txBody>
      </p:sp>
      <p:sp>
        <p:nvSpPr>
          <p:cNvPr id="21" name="Text 19"/>
          <p:cNvSpPr/>
          <p:nvPr/>
        </p:nvSpPr>
        <p:spPr>
          <a:xfrm>
            <a:off x="4773168" y="4014216"/>
            <a:ext cx="2697480" cy="192024"/>
          </a:xfrm>
          <a:prstGeom prst="rect">
            <a:avLst/>
          </a:prstGeom>
          <a:noFill/>
          <a:ln/>
        </p:spPr>
        <p:txBody>
          <a:bodyPr wrap="square" lIns="0" tIns="0" rIns="0" bIns="0" rtlCol="0" anchor="ctr">
            <a:normAutofit/>
          </a:bodyPr>
          <a:lstStyle/>
          <a:p>
            <a:pPr marL="0" indent="0" algn="ctr">
              <a:buNone/>
            </a:pPr>
            <a:r>
              <a:rPr lang="vi-VN" altLang="en-US" sz="980" dirty="0">
                <a:solidFill>
                  <a:srgbClr val="667389"/>
                </a:solidFill>
                <a:latin typeface="DejaVu Sans Mono" pitchFamily="34" charset="0"/>
                <a:ea typeface="DejaVu Sans Mono" pitchFamily="34" charset="-122"/>
                <a:cs typeface="DejaVu Sans Mono" pitchFamily="34" charset="-120"/>
              </a:rPr>
              <a:t>{"sub":"123","role":"student"}</a:t>
            </a:r>
            <a:endParaRPr lang="vi-VN" sz="980" dirty="0"/>
          </a:p>
        </p:txBody>
      </p:sp>
      <p:sp>
        <p:nvSpPr>
          <p:cNvPr id="22" name="Shape 20"/>
          <p:cNvSpPr/>
          <p:nvPr/>
        </p:nvSpPr>
        <p:spPr>
          <a:xfrm>
            <a:off x="8284464" y="1828800"/>
            <a:ext cx="3282696" cy="2862072"/>
          </a:xfrm>
          <a:prstGeom prst="roundRect">
            <a:avLst>
              <a:gd name="adj" fmla="val 3834"/>
            </a:avLst>
          </a:prstGeom>
          <a:solidFill>
            <a:srgbClr val="FFFFFF"/>
          </a:solidFill>
          <a:ln w="12700">
            <a:solidFill>
              <a:srgbClr val="E0E6EF"/>
            </a:solidFill>
            <a:prstDash val="solid"/>
          </a:ln>
        </p:spPr>
        <p:txBody>
          <a:bodyPr/>
          <a:lstStyle/>
          <a:p>
            <a:endParaRPr lang="en-US"/>
          </a:p>
        </p:txBody>
      </p:sp>
      <p:sp>
        <p:nvSpPr>
          <p:cNvPr id="23" name="Shape 21"/>
          <p:cNvSpPr/>
          <p:nvPr/>
        </p:nvSpPr>
        <p:spPr>
          <a:xfrm>
            <a:off x="8467344" y="2048256"/>
            <a:ext cx="2907792" cy="731520"/>
          </a:xfrm>
          <a:prstGeom prst="roundRect">
            <a:avLst>
              <a:gd name="adj" fmla="val 15000"/>
            </a:avLst>
          </a:prstGeom>
          <a:solidFill>
            <a:srgbClr val="FFF5D5"/>
          </a:solidFill>
          <a:ln w="12700">
            <a:solidFill>
              <a:srgbClr val="FFF5D5">
                <a:alpha val="0"/>
              </a:srgbClr>
            </a:solidFill>
            <a:prstDash val="solid"/>
          </a:ln>
        </p:spPr>
        <p:txBody>
          <a:bodyPr/>
          <a:lstStyle/>
          <a:p>
            <a:endParaRPr lang="en-US"/>
          </a:p>
        </p:txBody>
      </p:sp>
      <p:sp>
        <p:nvSpPr>
          <p:cNvPr id="24" name="Text 22"/>
          <p:cNvSpPr/>
          <p:nvPr/>
        </p:nvSpPr>
        <p:spPr>
          <a:xfrm>
            <a:off x="8595360" y="2258568"/>
            <a:ext cx="2651760" cy="283464"/>
          </a:xfrm>
          <a:prstGeom prst="rect">
            <a:avLst/>
          </a:prstGeom>
          <a:noFill/>
          <a:ln/>
        </p:spPr>
        <p:txBody>
          <a:bodyPr wrap="square" lIns="0" tIns="0" rIns="0" bIns="0" rtlCol="0" anchor="ctr">
            <a:normAutofit/>
          </a:bodyPr>
          <a:lstStyle/>
          <a:p>
            <a:pPr marL="0" indent="0" algn="ctr">
              <a:buNone/>
            </a:pPr>
            <a:r>
              <a:rPr lang="vi-VN" altLang="en-US" sz="2020" b="1" dirty="0">
                <a:solidFill>
                  <a:srgbClr val="B38A20"/>
                </a:solidFill>
                <a:latin typeface="Inter" pitchFamily="34" charset="0"/>
                <a:ea typeface="Inter" pitchFamily="34" charset="-122"/>
                <a:cs typeface="Inter" pitchFamily="34" charset="-120"/>
              </a:rPr>
              <a:t>SIGNATURE</a:t>
            </a:r>
            <a:endParaRPr lang="vi-VN" sz="2020" dirty="0"/>
          </a:p>
        </p:txBody>
      </p:sp>
      <p:sp>
        <p:nvSpPr>
          <p:cNvPr id="25" name="Text 23"/>
          <p:cNvSpPr/>
          <p:nvPr/>
        </p:nvSpPr>
        <p:spPr>
          <a:xfrm>
            <a:off x="8604504" y="3044952"/>
            <a:ext cx="2697480" cy="694944"/>
          </a:xfrm>
          <a:prstGeom prst="rect">
            <a:avLst/>
          </a:prstGeom>
          <a:noFill/>
          <a:ln/>
        </p:spPr>
        <p:txBody>
          <a:bodyPr wrap="square" lIns="0" tIns="0" rIns="0" bIns="0" rtlCol="0" anchor="t">
            <a:normAutofit/>
          </a:bodyPr>
          <a:lstStyle/>
          <a:p>
            <a:pPr marL="0" indent="0" algn="ctr">
              <a:buNone/>
            </a:pPr>
            <a:r>
              <a:rPr lang="vi-VN" altLang="en-US" sz="1420" dirty="0">
                <a:solidFill>
                  <a:srgbClr val="263345"/>
                </a:solidFill>
                <a:latin typeface="Inter" pitchFamily="34" charset="0"/>
                <a:ea typeface="Inter" pitchFamily="34" charset="-122"/>
                <a:cs typeface="Inter" pitchFamily="34" charset="-120"/>
              </a:rPr>
              <a:t>Chữ ký để kiểm tra Token bị sửa đổi</a:t>
            </a:r>
            <a:endParaRPr lang="vi-VN" sz="1420" dirty="0"/>
          </a:p>
        </p:txBody>
      </p:sp>
      <p:sp>
        <p:nvSpPr>
          <p:cNvPr id="26" name="Shape 24"/>
          <p:cNvSpPr/>
          <p:nvPr/>
        </p:nvSpPr>
        <p:spPr>
          <a:xfrm>
            <a:off x="8467344" y="3904488"/>
            <a:ext cx="2907792" cy="429768"/>
          </a:xfrm>
          <a:prstGeom prst="roundRect">
            <a:avLst>
              <a:gd name="adj" fmla="val 25532"/>
            </a:avLst>
          </a:prstGeom>
          <a:solidFill>
            <a:srgbClr val="EFF2F7"/>
          </a:solidFill>
          <a:ln w="12700">
            <a:solidFill>
              <a:srgbClr val="EFF2F7">
                <a:alpha val="0"/>
              </a:srgbClr>
            </a:solidFill>
            <a:prstDash val="solid"/>
          </a:ln>
        </p:spPr>
        <p:txBody>
          <a:bodyPr/>
          <a:lstStyle/>
          <a:p>
            <a:endParaRPr lang="en-US"/>
          </a:p>
        </p:txBody>
      </p:sp>
      <p:sp>
        <p:nvSpPr>
          <p:cNvPr id="27" name="Text 25"/>
          <p:cNvSpPr/>
          <p:nvPr/>
        </p:nvSpPr>
        <p:spPr>
          <a:xfrm>
            <a:off x="8577072" y="4014216"/>
            <a:ext cx="2697480" cy="192024"/>
          </a:xfrm>
          <a:prstGeom prst="rect">
            <a:avLst/>
          </a:prstGeom>
          <a:noFill/>
          <a:ln/>
        </p:spPr>
        <p:txBody>
          <a:bodyPr wrap="square" lIns="0" tIns="0" rIns="0" bIns="0" rtlCol="0" anchor="ctr">
            <a:normAutofit/>
          </a:bodyPr>
          <a:lstStyle/>
          <a:p>
            <a:pPr marL="0" indent="0" algn="ctr">
              <a:buNone/>
            </a:pPr>
            <a:r>
              <a:rPr lang="vi-VN" altLang="en-US" sz="980" dirty="0">
                <a:solidFill>
                  <a:srgbClr val="667389"/>
                </a:solidFill>
                <a:latin typeface="DejaVu Sans Mono" pitchFamily="34" charset="0"/>
                <a:ea typeface="DejaVu Sans Mono" pitchFamily="34" charset="-122"/>
                <a:cs typeface="DejaVu Sans Mono" pitchFamily="34" charset="-120"/>
              </a:rPr>
              <a:t>HMAC + JWT_SECRET</a:t>
            </a:r>
            <a:endParaRPr lang="vi-VN" sz="980" dirty="0"/>
          </a:p>
        </p:txBody>
      </p:sp>
      <p:sp>
        <p:nvSpPr>
          <p:cNvPr id="28" name="Text 26"/>
          <p:cNvSpPr/>
          <p:nvPr/>
        </p:nvSpPr>
        <p:spPr>
          <a:xfrm>
            <a:off x="2807208" y="4956048"/>
            <a:ext cx="1938528" cy="329184"/>
          </a:xfrm>
          <a:prstGeom prst="rect">
            <a:avLst/>
          </a:prstGeom>
          <a:noFill/>
          <a:ln/>
        </p:spPr>
        <p:txBody>
          <a:bodyPr wrap="square" lIns="0" tIns="0" rIns="0" bIns="0" rtlCol="0" anchor="ctr">
            <a:normAutofit/>
          </a:bodyPr>
          <a:lstStyle/>
          <a:p>
            <a:pPr marL="0" indent="0" algn="ctr">
              <a:buNone/>
            </a:pPr>
            <a:r>
              <a:rPr lang="vi-VN" altLang="en-US" sz="2200" dirty="0">
                <a:solidFill>
                  <a:srgbClr val="2A5DAD"/>
                </a:solidFill>
                <a:latin typeface="DejaVu Sans Mono" pitchFamily="34" charset="0"/>
                <a:ea typeface="DejaVu Sans Mono" pitchFamily="34" charset="-122"/>
                <a:cs typeface="DejaVu Sans Mono" pitchFamily="34" charset="-120"/>
              </a:rPr>
              <a:t>xxxxx</a:t>
            </a:r>
            <a:endParaRPr lang="vi-VN" sz="2200" dirty="0"/>
          </a:p>
        </p:txBody>
      </p:sp>
      <p:sp>
        <p:nvSpPr>
          <p:cNvPr id="29" name="Text 27"/>
          <p:cNvSpPr/>
          <p:nvPr/>
        </p:nvSpPr>
        <p:spPr>
          <a:xfrm>
            <a:off x="4718304" y="4956048"/>
            <a:ext cx="246888" cy="320040"/>
          </a:xfrm>
          <a:prstGeom prst="rect">
            <a:avLst/>
          </a:prstGeom>
          <a:noFill/>
          <a:ln/>
        </p:spPr>
        <p:txBody>
          <a:bodyPr wrap="square" lIns="0" tIns="0" rIns="0" bIns="0" rtlCol="0" anchor="ctr">
            <a:normAutofit/>
          </a:bodyPr>
          <a:lstStyle/>
          <a:p>
            <a:pPr marL="0" indent="0" algn="ctr">
              <a:buNone/>
            </a:pPr>
            <a:r>
              <a:rPr lang="vi-VN" altLang="en-US" sz="2500" dirty="0">
                <a:solidFill>
                  <a:srgbClr val="183B63"/>
                </a:solidFill>
                <a:latin typeface="Inter" pitchFamily="34" charset="0"/>
                <a:ea typeface="Inter" pitchFamily="34" charset="-122"/>
                <a:cs typeface="Inter" pitchFamily="34" charset="-120"/>
              </a:rPr>
              <a:t>.</a:t>
            </a:r>
            <a:endParaRPr lang="vi-VN" sz="2500" dirty="0"/>
          </a:p>
        </p:txBody>
      </p:sp>
      <p:sp>
        <p:nvSpPr>
          <p:cNvPr id="30" name="Text 28"/>
          <p:cNvSpPr/>
          <p:nvPr/>
        </p:nvSpPr>
        <p:spPr>
          <a:xfrm>
            <a:off x="5001768" y="4956048"/>
            <a:ext cx="1911096" cy="329184"/>
          </a:xfrm>
          <a:prstGeom prst="rect">
            <a:avLst/>
          </a:prstGeom>
          <a:noFill/>
          <a:ln/>
        </p:spPr>
        <p:txBody>
          <a:bodyPr wrap="square" lIns="0" tIns="0" rIns="0" bIns="0" rtlCol="0" anchor="ctr">
            <a:normAutofit/>
          </a:bodyPr>
          <a:lstStyle/>
          <a:p>
            <a:pPr marL="0" indent="0" algn="ctr">
              <a:buNone/>
            </a:pPr>
            <a:r>
              <a:rPr lang="vi-VN" altLang="en-US" sz="2200" dirty="0">
                <a:solidFill>
                  <a:srgbClr val="19805B"/>
                </a:solidFill>
                <a:latin typeface="DejaVu Sans Mono" pitchFamily="34" charset="0"/>
                <a:ea typeface="DejaVu Sans Mono" pitchFamily="34" charset="-122"/>
                <a:cs typeface="DejaVu Sans Mono" pitchFamily="34" charset="-120"/>
              </a:rPr>
              <a:t>yyyyy</a:t>
            </a:r>
            <a:endParaRPr lang="vi-VN" sz="2200" dirty="0"/>
          </a:p>
        </p:txBody>
      </p:sp>
      <p:sp>
        <p:nvSpPr>
          <p:cNvPr id="31" name="Text 29"/>
          <p:cNvSpPr/>
          <p:nvPr/>
        </p:nvSpPr>
        <p:spPr>
          <a:xfrm>
            <a:off x="6949440" y="4956048"/>
            <a:ext cx="246888" cy="320040"/>
          </a:xfrm>
          <a:prstGeom prst="rect">
            <a:avLst/>
          </a:prstGeom>
          <a:noFill/>
          <a:ln/>
        </p:spPr>
        <p:txBody>
          <a:bodyPr wrap="square" lIns="0" tIns="0" rIns="0" bIns="0" rtlCol="0" anchor="ctr">
            <a:normAutofit/>
          </a:bodyPr>
          <a:lstStyle/>
          <a:p>
            <a:pPr marL="0" indent="0" algn="ctr">
              <a:buNone/>
            </a:pPr>
            <a:r>
              <a:rPr lang="vi-VN" altLang="en-US" sz="2500" dirty="0">
                <a:solidFill>
                  <a:srgbClr val="183B63"/>
                </a:solidFill>
                <a:latin typeface="Inter" pitchFamily="34" charset="0"/>
                <a:ea typeface="Inter" pitchFamily="34" charset="-122"/>
                <a:cs typeface="Inter" pitchFamily="34" charset="-120"/>
              </a:rPr>
              <a:t>.</a:t>
            </a:r>
            <a:endParaRPr lang="vi-VN" sz="2500" dirty="0"/>
          </a:p>
        </p:txBody>
      </p:sp>
      <p:sp>
        <p:nvSpPr>
          <p:cNvPr id="32" name="Text 30"/>
          <p:cNvSpPr/>
          <p:nvPr/>
        </p:nvSpPr>
        <p:spPr>
          <a:xfrm>
            <a:off x="7251192" y="4956048"/>
            <a:ext cx="1911096" cy="329184"/>
          </a:xfrm>
          <a:prstGeom prst="rect">
            <a:avLst/>
          </a:prstGeom>
          <a:noFill/>
          <a:ln/>
        </p:spPr>
        <p:txBody>
          <a:bodyPr wrap="square" lIns="0" tIns="0" rIns="0" bIns="0" rtlCol="0" anchor="ctr">
            <a:normAutofit/>
          </a:bodyPr>
          <a:lstStyle/>
          <a:p>
            <a:pPr marL="0" indent="0" algn="ctr">
              <a:buNone/>
            </a:pPr>
            <a:r>
              <a:rPr lang="vi-VN" altLang="en-US" sz="2200" dirty="0">
                <a:solidFill>
                  <a:srgbClr val="B38A20"/>
                </a:solidFill>
                <a:latin typeface="DejaVu Sans Mono" pitchFamily="34" charset="0"/>
                <a:ea typeface="DejaVu Sans Mono" pitchFamily="34" charset="-122"/>
                <a:cs typeface="DejaVu Sans Mono" pitchFamily="34" charset="-120"/>
              </a:rPr>
              <a:t>zzzzz</a:t>
            </a:r>
            <a:endParaRPr lang="vi-VN" sz="2200" dirty="0"/>
          </a:p>
        </p:txBody>
      </p:sp>
      <p:sp>
        <p:nvSpPr>
          <p:cNvPr id="33" name="Shape 31"/>
          <p:cNvSpPr/>
          <p:nvPr/>
        </p:nvSpPr>
        <p:spPr>
          <a:xfrm>
            <a:off x="475488" y="5852160"/>
            <a:ext cx="11247120" cy="448056"/>
          </a:xfrm>
          <a:prstGeom prst="roundRect">
            <a:avLst>
              <a:gd name="adj" fmla="val 24490"/>
            </a:avLst>
          </a:prstGeom>
          <a:solidFill>
            <a:srgbClr val="FDECEE"/>
          </a:solidFill>
          <a:ln w="12700">
            <a:solidFill>
              <a:srgbClr val="FDECEE">
                <a:alpha val="0"/>
              </a:srgbClr>
            </a:solidFill>
            <a:prstDash val="solid"/>
          </a:ln>
        </p:spPr>
        <p:txBody>
          <a:bodyPr/>
          <a:lstStyle/>
          <a:p>
            <a:endParaRPr lang="en-US"/>
          </a:p>
        </p:txBody>
      </p:sp>
      <p:pic>
        <p:nvPicPr>
          <p:cNvPr id="34" name="Image 0" descr="/mnt/data/auth_slide_work/icon_cache/8384932fb506ffad56a7369dcac7469d.png"/>
          <p:cNvPicPr>
            <a:picLocks noChangeAspect="1"/>
          </p:cNvPicPr>
          <p:nvPr/>
        </p:nvPicPr>
        <p:blipFill>
          <a:blip r:embed="rId3"/>
          <a:stretch>
            <a:fillRect/>
          </a:stretch>
        </p:blipFill>
        <p:spPr>
          <a:xfrm>
            <a:off x="658368" y="5980176"/>
            <a:ext cx="173736" cy="173736"/>
          </a:xfrm>
          <a:prstGeom prst="rect">
            <a:avLst/>
          </a:prstGeom>
        </p:spPr>
      </p:pic>
      <p:sp>
        <p:nvSpPr>
          <p:cNvPr id="35" name="Text 32"/>
          <p:cNvSpPr/>
          <p:nvPr/>
        </p:nvSpPr>
        <p:spPr>
          <a:xfrm>
            <a:off x="932688" y="5939028"/>
            <a:ext cx="10515600" cy="283464"/>
          </a:xfrm>
          <a:prstGeom prst="rect">
            <a:avLst/>
          </a:prstGeom>
          <a:noFill/>
          <a:ln/>
        </p:spPr>
        <p:txBody>
          <a:bodyPr wrap="square" lIns="0" tIns="0" rIns="0" bIns="0" rtlCol="0" anchor="ctr">
            <a:normAutofit/>
          </a:bodyPr>
          <a:lstStyle/>
          <a:p>
            <a:pPr marL="0" indent="0">
              <a:buNone/>
            </a:pPr>
            <a:r>
              <a:rPr lang="vi-VN" altLang="en-US" sz="1220" dirty="0">
                <a:solidFill>
                  <a:srgbClr val="263345"/>
                </a:solidFill>
                <a:latin typeface="Inter" pitchFamily="34" charset="0"/>
                <a:ea typeface="Inter" pitchFamily="34" charset="-122"/>
                <a:cs typeface="Inter" pitchFamily="34" charset="-120"/>
              </a:rPr>
              <a:t>JWT được ký không có nghĩa Payload được mã hóa: tuyệt đối không chứa mật khẩu.</a:t>
            </a:r>
            <a:endParaRPr lang="vi-VN"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MẬT KHẨU</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bcrypt – Tại sao phải băm mật khẩu?</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Hashing tạo ra giá trị băm; băm mật khẩu khác với mã hóa có thể giải mã ngược.</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11 / 24</a:t>
            </a:r>
            <a:endParaRPr lang="vi-VN" sz="850" dirty="0"/>
          </a:p>
        </p:txBody>
      </p:sp>
      <p:sp>
        <p:nvSpPr>
          <p:cNvPr id="10" name="Shape 8"/>
          <p:cNvSpPr/>
          <p:nvPr/>
        </p:nvSpPr>
        <p:spPr>
          <a:xfrm>
            <a:off x="658368" y="2002536"/>
            <a:ext cx="3127248" cy="1060704"/>
          </a:xfrm>
          <a:prstGeom prst="roundRect">
            <a:avLst>
              <a:gd name="adj" fmla="val 10345"/>
            </a:avLst>
          </a:prstGeom>
          <a:solidFill>
            <a:srgbClr val="EBF2FE"/>
          </a:solidFill>
          <a:ln w="12700">
            <a:solidFill>
              <a:srgbClr val="EBF2FE">
                <a:alpha val="0"/>
              </a:srgbClr>
            </a:solidFill>
            <a:prstDash val="solid"/>
          </a:ln>
        </p:spPr>
        <p:txBody>
          <a:bodyPr/>
          <a:lstStyle/>
          <a:p>
            <a:endParaRPr lang="en-US"/>
          </a:p>
        </p:txBody>
      </p:sp>
      <p:sp>
        <p:nvSpPr>
          <p:cNvPr id="11" name="Text 9"/>
          <p:cNvSpPr/>
          <p:nvPr/>
        </p:nvSpPr>
        <p:spPr>
          <a:xfrm>
            <a:off x="749808" y="2103120"/>
            <a:ext cx="2944368" cy="424282"/>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MẬT KHẨU GỐC</a:t>
            </a:r>
            <a:endParaRPr lang="vi-VN" sz="1360" dirty="0"/>
          </a:p>
        </p:txBody>
      </p:sp>
      <p:sp>
        <p:nvSpPr>
          <p:cNvPr id="12" name="Text 10"/>
          <p:cNvSpPr/>
          <p:nvPr/>
        </p:nvSpPr>
        <p:spPr>
          <a:xfrm>
            <a:off x="749808" y="2459736"/>
            <a:ext cx="2944368" cy="566928"/>
          </a:xfrm>
          <a:prstGeom prst="rect">
            <a:avLst/>
          </a:prstGeom>
          <a:noFill/>
          <a:ln/>
        </p:spPr>
        <p:txBody>
          <a:bodyPr wrap="square" lIns="0" tIns="0" rIns="0" bIns="0" rtlCol="0" anchor="ctr">
            <a:normAutofit/>
          </a:bodyPr>
          <a:lstStyle/>
          <a:p>
            <a:pPr marL="0" indent="0" algn="ctr">
              <a:buNone/>
            </a:pPr>
            <a:r>
              <a:rPr lang="vi-VN" altLang="en-US" sz="1080" dirty="0">
                <a:solidFill>
                  <a:srgbClr val="667389"/>
                </a:solidFill>
                <a:latin typeface="Inter" pitchFamily="34" charset="0"/>
                <a:ea typeface="Inter" pitchFamily="34" charset="-122"/>
                <a:cs typeface="Inter" pitchFamily="34" charset="-120"/>
              </a:rPr>
              <a:t>SinhVien@123</a:t>
            </a:r>
            <a:endParaRPr lang="vi-VN" sz="1080" dirty="0"/>
          </a:p>
        </p:txBody>
      </p:sp>
      <p:sp>
        <p:nvSpPr>
          <p:cNvPr id="13" name="Shape 11"/>
          <p:cNvSpPr/>
          <p:nvPr/>
        </p:nvSpPr>
        <p:spPr>
          <a:xfrm>
            <a:off x="3831336" y="2532888"/>
            <a:ext cx="484632" cy="0"/>
          </a:xfrm>
          <a:prstGeom prst="line">
            <a:avLst/>
          </a:prstGeom>
          <a:noFill/>
          <a:ln w="30480">
            <a:solidFill>
              <a:srgbClr val="B38A20"/>
            </a:solidFill>
            <a:prstDash val="solid"/>
            <a:headEnd type="none"/>
            <a:tailEnd type="triangle"/>
          </a:ln>
        </p:spPr>
        <p:txBody>
          <a:bodyPr/>
          <a:lstStyle/>
          <a:p>
            <a:endParaRPr lang="en-US"/>
          </a:p>
        </p:txBody>
      </p:sp>
      <p:sp>
        <p:nvSpPr>
          <p:cNvPr id="14" name="Shape 12"/>
          <p:cNvSpPr/>
          <p:nvPr/>
        </p:nvSpPr>
        <p:spPr>
          <a:xfrm>
            <a:off x="4370832" y="2002536"/>
            <a:ext cx="3291840" cy="1060704"/>
          </a:xfrm>
          <a:prstGeom prst="roundRect">
            <a:avLst>
              <a:gd name="adj" fmla="val 10345"/>
            </a:avLst>
          </a:prstGeom>
          <a:solidFill>
            <a:srgbClr val="EBF2FE"/>
          </a:solidFill>
          <a:ln w="12700">
            <a:solidFill>
              <a:srgbClr val="EBF2FE">
                <a:alpha val="0"/>
              </a:srgbClr>
            </a:solidFill>
            <a:prstDash val="solid"/>
          </a:ln>
        </p:spPr>
        <p:txBody>
          <a:bodyPr/>
          <a:lstStyle/>
          <a:p>
            <a:endParaRPr lang="en-US"/>
          </a:p>
        </p:txBody>
      </p:sp>
      <p:sp>
        <p:nvSpPr>
          <p:cNvPr id="15" name="Text 13"/>
          <p:cNvSpPr/>
          <p:nvPr/>
        </p:nvSpPr>
        <p:spPr>
          <a:xfrm>
            <a:off x="4462272" y="2103120"/>
            <a:ext cx="3108960" cy="424282"/>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bcrypt.hash()</a:t>
            </a:r>
            <a:endParaRPr lang="vi-VN" sz="1360" dirty="0"/>
          </a:p>
        </p:txBody>
      </p:sp>
      <p:sp>
        <p:nvSpPr>
          <p:cNvPr id="16" name="Text 14"/>
          <p:cNvSpPr/>
          <p:nvPr/>
        </p:nvSpPr>
        <p:spPr>
          <a:xfrm>
            <a:off x="4462272" y="2459736"/>
            <a:ext cx="3108960" cy="566928"/>
          </a:xfrm>
          <a:prstGeom prst="rect">
            <a:avLst/>
          </a:prstGeom>
          <a:noFill/>
          <a:ln/>
        </p:spPr>
        <p:txBody>
          <a:bodyPr wrap="square" lIns="0" tIns="0" rIns="0" bIns="0" rtlCol="0" anchor="ctr">
            <a:normAutofit/>
          </a:bodyPr>
          <a:lstStyle/>
          <a:p>
            <a:pPr marL="0" indent="0" algn="ctr">
              <a:buNone/>
            </a:pPr>
            <a:r>
              <a:rPr lang="vi-VN" altLang="en-US" sz="1080" dirty="0">
                <a:solidFill>
                  <a:srgbClr val="667389"/>
                </a:solidFill>
                <a:latin typeface="Inter" pitchFamily="34" charset="0"/>
                <a:ea typeface="Inter" pitchFamily="34" charset="-122"/>
                <a:cs typeface="Inter" pitchFamily="34" charset="-120"/>
              </a:rPr>
              <a:t>Có salt và cost factor</a:t>
            </a:r>
            <a:endParaRPr lang="vi-VN" sz="1080" dirty="0"/>
          </a:p>
        </p:txBody>
      </p:sp>
      <p:sp>
        <p:nvSpPr>
          <p:cNvPr id="17" name="Shape 15"/>
          <p:cNvSpPr/>
          <p:nvPr/>
        </p:nvSpPr>
        <p:spPr>
          <a:xfrm>
            <a:off x="7726680" y="2532888"/>
            <a:ext cx="539496" cy="0"/>
          </a:xfrm>
          <a:prstGeom prst="line">
            <a:avLst/>
          </a:prstGeom>
          <a:noFill/>
          <a:ln w="30480">
            <a:solidFill>
              <a:srgbClr val="B38A20"/>
            </a:solidFill>
            <a:prstDash val="solid"/>
            <a:headEnd type="none"/>
            <a:tailEnd type="triangle"/>
          </a:ln>
        </p:spPr>
        <p:txBody>
          <a:bodyPr/>
          <a:lstStyle/>
          <a:p>
            <a:endParaRPr lang="en-US"/>
          </a:p>
        </p:txBody>
      </p:sp>
      <p:sp>
        <p:nvSpPr>
          <p:cNvPr id="18" name="Shape 16"/>
          <p:cNvSpPr/>
          <p:nvPr/>
        </p:nvSpPr>
        <p:spPr>
          <a:xfrm>
            <a:off x="8321040" y="2002536"/>
            <a:ext cx="3163824" cy="1060704"/>
          </a:xfrm>
          <a:prstGeom prst="roundRect">
            <a:avLst>
              <a:gd name="adj" fmla="val 10345"/>
            </a:avLst>
          </a:prstGeom>
          <a:solidFill>
            <a:srgbClr val="E6F6EF"/>
          </a:solidFill>
          <a:ln w="12700">
            <a:solidFill>
              <a:srgbClr val="E6F6EF">
                <a:alpha val="0"/>
              </a:srgbClr>
            </a:solidFill>
            <a:prstDash val="solid"/>
          </a:ln>
        </p:spPr>
        <p:txBody>
          <a:bodyPr/>
          <a:lstStyle/>
          <a:p>
            <a:endParaRPr lang="en-US"/>
          </a:p>
        </p:txBody>
      </p:sp>
      <p:sp>
        <p:nvSpPr>
          <p:cNvPr id="19" name="Text 17"/>
          <p:cNvSpPr/>
          <p:nvPr/>
        </p:nvSpPr>
        <p:spPr>
          <a:xfrm>
            <a:off x="8412480" y="2103120"/>
            <a:ext cx="2980944" cy="424282"/>
          </a:xfrm>
          <a:prstGeom prst="rect">
            <a:avLst/>
          </a:prstGeom>
          <a:noFill/>
          <a:ln/>
        </p:spPr>
        <p:txBody>
          <a:bodyPr wrap="square" lIns="0" tIns="0" rIns="0" bIns="0" rtlCol="0" anchor="ctr">
            <a:normAutofit/>
          </a:bodyPr>
          <a:lstStyle/>
          <a:p>
            <a:pPr marL="0" indent="0" algn="ctr">
              <a:buNone/>
            </a:pPr>
            <a:r>
              <a:rPr lang="vi-VN" altLang="en-US" sz="1360" b="1" dirty="0">
                <a:solidFill>
                  <a:srgbClr val="19805B"/>
                </a:solidFill>
                <a:latin typeface="Inter" pitchFamily="34" charset="0"/>
                <a:ea typeface="Inter" pitchFamily="34" charset="-122"/>
                <a:cs typeface="Inter" pitchFamily="34" charset="-120"/>
              </a:rPr>
              <a:t>DATABASE</a:t>
            </a:r>
            <a:endParaRPr lang="vi-VN" sz="1360" dirty="0"/>
          </a:p>
        </p:txBody>
      </p:sp>
      <p:sp>
        <p:nvSpPr>
          <p:cNvPr id="20" name="Text 18"/>
          <p:cNvSpPr/>
          <p:nvPr/>
        </p:nvSpPr>
        <p:spPr>
          <a:xfrm>
            <a:off x="8412480" y="2459736"/>
            <a:ext cx="2980944" cy="566928"/>
          </a:xfrm>
          <a:prstGeom prst="rect">
            <a:avLst/>
          </a:prstGeom>
          <a:noFill/>
          <a:ln/>
        </p:spPr>
        <p:txBody>
          <a:bodyPr wrap="square" lIns="0" tIns="0" rIns="0" bIns="0" rtlCol="0" anchor="ctr">
            <a:normAutofit/>
          </a:bodyPr>
          <a:lstStyle/>
          <a:p>
            <a:pPr marL="0" indent="0" algn="ctr">
              <a:buNone/>
            </a:pPr>
            <a:r>
              <a:rPr lang="vi-VN" altLang="en-US" sz="1080" dirty="0">
                <a:solidFill>
                  <a:srgbClr val="667389"/>
                </a:solidFill>
                <a:latin typeface="Inter" pitchFamily="34" charset="0"/>
                <a:ea typeface="Inter" pitchFamily="34" charset="-122"/>
                <a:cs typeface="Inter" pitchFamily="34" charset="-120"/>
              </a:rPr>
              <a:t>Lưu passwordHash</a:t>
            </a:r>
            <a:endParaRPr lang="vi-VN" sz="1080" dirty="0"/>
          </a:p>
        </p:txBody>
      </p:sp>
      <p:sp>
        <p:nvSpPr>
          <p:cNvPr id="21" name="Shape 19"/>
          <p:cNvSpPr/>
          <p:nvPr/>
        </p:nvSpPr>
        <p:spPr>
          <a:xfrm>
            <a:off x="950976" y="3685032"/>
            <a:ext cx="10241280" cy="1252728"/>
          </a:xfrm>
          <a:prstGeom prst="roundRect">
            <a:avLst>
              <a:gd name="adj" fmla="val 8759"/>
            </a:avLst>
          </a:prstGeom>
          <a:solidFill>
            <a:srgbClr val="16273C"/>
          </a:solidFill>
          <a:ln w="12700">
            <a:solidFill>
              <a:srgbClr val="16273C">
                <a:alpha val="0"/>
              </a:srgbClr>
            </a:solidFill>
            <a:prstDash val="solid"/>
          </a:ln>
        </p:spPr>
        <p:txBody>
          <a:bodyPr/>
          <a:lstStyle/>
          <a:p>
            <a:endParaRPr lang="en-US"/>
          </a:p>
        </p:txBody>
      </p:sp>
      <p:sp>
        <p:nvSpPr>
          <p:cNvPr id="22" name="Shape 20"/>
          <p:cNvSpPr/>
          <p:nvPr/>
        </p:nvSpPr>
        <p:spPr>
          <a:xfrm>
            <a:off x="1143000" y="3849624"/>
            <a:ext cx="100584" cy="100584"/>
          </a:xfrm>
          <a:prstGeom prst="ellipse">
            <a:avLst/>
          </a:prstGeom>
          <a:solidFill>
            <a:srgbClr val="FF6873"/>
          </a:solidFill>
          <a:ln w="12700">
            <a:solidFill>
              <a:srgbClr val="333333">
                <a:alpha val="0"/>
              </a:srgbClr>
            </a:solidFill>
            <a:prstDash val="solid"/>
          </a:ln>
        </p:spPr>
        <p:txBody>
          <a:bodyPr/>
          <a:lstStyle/>
          <a:p>
            <a:endParaRPr lang="en-US"/>
          </a:p>
        </p:txBody>
      </p:sp>
      <p:sp>
        <p:nvSpPr>
          <p:cNvPr id="23" name="Shape 21"/>
          <p:cNvSpPr/>
          <p:nvPr/>
        </p:nvSpPr>
        <p:spPr>
          <a:xfrm>
            <a:off x="1316736" y="3849624"/>
            <a:ext cx="100584" cy="100584"/>
          </a:xfrm>
          <a:prstGeom prst="ellipse">
            <a:avLst/>
          </a:prstGeom>
          <a:solidFill>
            <a:srgbClr val="FFD069"/>
          </a:solidFill>
          <a:ln w="12700">
            <a:solidFill>
              <a:srgbClr val="333333">
                <a:alpha val="0"/>
              </a:srgbClr>
            </a:solidFill>
            <a:prstDash val="solid"/>
          </a:ln>
        </p:spPr>
        <p:txBody>
          <a:bodyPr/>
          <a:lstStyle/>
          <a:p>
            <a:endParaRPr lang="en-US"/>
          </a:p>
        </p:txBody>
      </p:sp>
      <p:sp>
        <p:nvSpPr>
          <p:cNvPr id="24" name="Shape 22"/>
          <p:cNvSpPr/>
          <p:nvPr/>
        </p:nvSpPr>
        <p:spPr>
          <a:xfrm>
            <a:off x="1490472" y="3849624"/>
            <a:ext cx="100584" cy="100584"/>
          </a:xfrm>
          <a:prstGeom prst="ellipse">
            <a:avLst/>
          </a:prstGeom>
          <a:solidFill>
            <a:srgbClr val="4CD39B"/>
          </a:solidFill>
          <a:ln w="12700">
            <a:solidFill>
              <a:srgbClr val="333333">
                <a:alpha val="0"/>
              </a:srgbClr>
            </a:solidFill>
            <a:prstDash val="solid"/>
          </a:ln>
        </p:spPr>
        <p:txBody>
          <a:bodyPr/>
          <a:lstStyle/>
          <a:p>
            <a:endParaRPr lang="en-US"/>
          </a:p>
        </p:txBody>
      </p:sp>
      <p:sp>
        <p:nvSpPr>
          <p:cNvPr id="25" name="Text 23"/>
          <p:cNvSpPr/>
          <p:nvPr/>
        </p:nvSpPr>
        <p:spPr>
          <a:xfrm>
            <a:off x="8997696" y="3813048"/>
            <a:ext cx="1938528" cy="201168"/>
          </a:xfrm>
          <a:prstGeom prst="rect">
            <a:avLst/>
          </a:prstGeom>
          <a:noFill/>
          <a:ln/>
        </p:spPr>
        <p:txBody>
          <a:bodyPr wrap="square" lIns="0" tIns="0" rIns="0" bIns="0" rtlCol="0" anchor="ctr">
            <a:normAutofit/>
          </a:bodyPr>
          <a:lstStyle/>
          <a:p>
            <a:pPr marL="0" indent="0" algn="r">
              <a:buNone/>
            </a:pPr>
            <a:r>
              <a:rPr lang="vi-VN" altLang="en-US" sz="900" b="1" dirty="0">
                <a:solidFill>
                  <a:srgbClr val="91AECF"/>
                </a:solidFill>
                <a:latin typeface="Inter" pitchFamily="34" charset="0"/>
                <a:ea typeface="Inter" pitchFamily="34" charset="-122"/>
                <a:cs typeface="Inter" pitchFamily="34" charset="-120"/>
              </a:rPr>
              <a:t>TYPESCRIPT</a:t>
            </a:r>
            <a:endParaRPr lang="vi-VN" sz="900" dirty="0"/>
          </a:p>
        </p:txBody>
      </p:sp>
      <p:sp>
        <p:nvSpPr>
          <p:cNvPr id="26" name="Text 24"/>
          <p:cNvSpPr/>
          <p:nvPr/>
        </p:nvSpPr>
        <p:spPr>
          <a:xfrm>
            <a:off x="1188720" y="4151376"/>
            <a:ext cx="9784080" cy="292608"/>
          </a:xfrm>
          <a:prstGeom prst="rect">
            <a:avLst/>
          </a:prstGeom>
          <a:noFill/>
          <a:ln/>
        </p:spPr>
        <p:txBody>
          <a:bodyPr wrap="square" lIns="0" tIns="0" rIns="0" bIns="0" rtlCol="0" anchor="ctr">
            <a:normAutofit/>
          </a:bodyPr>
          <a:lstStyle/>
          <a:p>
            <a:pPr marL="0" indent="0" algn="l">
              <a:buNone/>
            </a:pPr>
            <a:r>
              <a:rPr lang="vi-VN" altLang="en-US" sz="1400" dirty="0">
                <a:solidFill>
                  <a:srgbClr val="E9AEF9"/>
                </a:solidFill>
                <a:latin typeface="DejaVu Sans Mono" pitchFamily="34" charset="0"/>
                <a:ea typeface="DejaVu Sans Mono" pitchFamily="34" charset="-122"/>
                <a:cs typeface="DejaVu Sans Mono" pitchFamily="34" charset="-120"/>
              </a:rPr>
              <a:t>const</a:t>
            </a:r>
            <a:r>
              <a:rPr lang="vi-VN" altLang="en-US" sz="1400" dirty="0">
                <a:solidFill>
                  <a:srgbClr val="E9F0FC"/>
                </a:solidFill>
                <a:latin typeface="DejaVu Sans Mono" pitchFamily="34" charset="0"/>
                <a:ea typeface="DejaVu Sans Mono" pitchFamily="34" charset="-122"/>
                <a:cs typeface="DejaVu Sans Mono" pitchFamily="34" charset="-120"/>
              </a:rPr>
              <a:t> </a:t>
            </a:r>
            <a:r>
              <a:rPr lang="vi-VN" altLang="en-US" sz="1400" dirty="0">
                <a:solidFill>
                  <a:srgbClr val="F7C67F"/>
                </a:solidFill>
                <a:latin typeface="DejaVu Sans Mono" pitchFamily="34" charset="0"/>
                <a:ea typeface="DejaVu Sans Mono" pitchFamily="34" charset="-122"/>
                <a:cs typeface="DejaVu Sans Mono" pitchFamily="34" charset="-120"/>
              </a:rPr>
              <a:t>hash</a:t>
            </a:r>
            <a:r>
              <a:rPr lang="vi-VN" altLang="en-US" sz="1400" dirty="0">
                <a:solidFill>
                  <a:srgbClr val="E9F0FC"/>
                </a:solidFill>
                <a:latin typeface="DejaVu Sans Mono" pitchFamily="34" charset="0"/>
                <a:ea typeface="DejaVu Sans Mono" pitchFamily="34" charset="-122"/>
                <a:cs typeface="DejaVu Sans Mono" pitchFamily="34" charset="-120"/>
              </a:rPr>
              <a:t> = </a:t>
            </a:r>
            <a:r>
              <a:rPr lang="vi-VN" altLang="en-US" sz="1400" dirty="0">
                <a:solidFill>
                  <a:srgbClr val="E9AEF9"/>
                </a:solidFill>
                <a:latin typeface="DejaVu Sans Mono" pitchFamily="34" charset="0"/>
                <a:ea typeface="DejaVu Sans Mono" pitchFamily="34" charset="-122"/>
                <a:cs typeface="DejaVu Sans Mono" pitchFamily="34" charset="-120"/>
              </a:rPr>
              <a:t>await</a:t>
            </a:r>
            <a:r>
              <a:rPr lang="vi-VN" altLang="en-US" sz="1400" dirty="0">
                <a:solidFill>
                  <a:srgbClr val="E9F0FC"/>
                </a:solidFill>
                <a:latin typeface="DejaVu Sans Mono" pitchFamily="34" charset="0"/>
                <a:ea typeface="DejaVu Sans Mono" pitchFamily="34" charset="-122"/>
                <a:cs typeface="DejaVu Sans Mono" pitchFamily="34" charset="-120"/>
              </a:rPr>
              <a:t> </a:t>
            </a:r>
            <a:r>
              <a:rPr lang="vi-VN" altLang="en-US" sz="1400" dirty="0">
                <a:solidFill>
                  <a:srgbClr val="8CCBFF"/>
                </a:solidFill>
                <a:latin typeface="DejaVu Sans Mono" pitchFamily="34" charset="0"/>
                <a:ea typeface="DejaVu Sans Mono" pitchFamily="34" charset="-122"/>
                <a:cs typeface="DejaVu Sans Mono" pitchFamily="34" charset="-120"/>
              </a:rPr>
              <a:t>bcrypt</a:t>
            </a:r>
            <a:r>
              <a:rPr lang="vi-VN" altLang="en-US" sz="1400" dirty="0">
                <a:solidFill>
                  <a:srgbClr val="E9F0FC"/>
                </a:solidFill>
                <a:latin typeface="DejaVu Sans Mono" pitchFamily="34" charset="0"/>
                <a:ea typeface="DejaVu Sans Mono" pitchFamily="34" charset="-122"/>
                <a:cs typeface="DejaVu Sans Mono" pitchFamily="34" charset="-120"/>
              </a:rPr>
              <a:t>.</a:t>
            </a:r>
            <a:r>
              <a:rPr lang="vi-VN" altLang="en-US" sz="1400" dirty="0">
                <a:solidFill>
                  <a:srgbClr val="F7C67F"/>
                </a:solidFill>
                <a:latin typeface="DejaVu Sans Mono" pitchFamily="34" charset="0"/>
                <a:ea typeface="DejaVu Sans Mono" pitchFamily="34" charset="-122"/>
                <a:cs typeface="DejaVu Sans Mono" pitchFamily="34" charset="-120"/>
              </a:rPr>
              <a:t>hash</a:t>
            </a:r>
            <a:r>
              <a:rPr lang="vi-VN" altLang="en-US" sz="1400" dirty="0">
                <a:solidFill>
                  <a:srgbClr val="E9F0FC"/>
                </a:solidFill>
                <a:latin typeface="DejaVu Sans Mono" pitchFamily="34" charset="0"/>
                <a:ea typeface="DejaVu Sans Mono" pitchFamily="34" charset="-122"/>
                <a:cs typeface="DejaVu Sans Mono" pitchFamily="34" charset="-120"/>
              </a:rPr>
              <a:t>(password, </a:t>
            </a:r>
            <a:r>
              <a:rPr lang="vi-VN" altLang="en-US" sz="1400" dirty="0">
                <a:solidFill>
                  <a:srgbClr val="FFE09A"/>
                </a:solidFill>
                <a:latin typeface="DejaVu Sans Mono" pitchFamily="34" charset="0"/>
                <a:ea typeface="DejaVu Sans Mono" pitchFamily="34" charset="-122"/>
                <a:cs typeface="DejaVu Sans Mono" pitchFamily="34" charset="-120"/>
              </a:rPr>
              <a:t>12</a:t>
            </a:r>
            <a:r>
              <a:rPr lang="vi-VN" altLang="en-US" sz="1400" dirty="0">
                <a:solidFill>
                  <a:srgbClr val="E9F0FC"/>
                </a:solidFill>
                <a:latin typeface="DejaVu Sans Mono" pitchFamily="34" charset="0"/>
                <a:ea typeface="DejaVu Sans Mono" pitchFamily="34" charset="-122"/>
                <a:cs typeface="DejaVu Sans Mono" pitchFamily="34" charset="-120"/>
              </a:rPr>
              <a:t>);</a:t>
            </a:r>
            <a:endParaRPr lang="vi-VN" sz="1400" dirty="0"/>
          </a:p>
        </p:txBody>
      </p:sp>
      <p:sp>
        <p:nvSpPr>
          <p:cNvPr id="27" name="Text 25"/>
          <p:cNvSpPr/>
          <p:nvPr/>
        </p:nvSpPr>
        <p:spPr>
          <a:xfrm>
            <a:off x="1188720" y="4443984"/>
            <a:ext cx="9784080" cy="292608"/>
          </a:xfrm>
          <a:prstGeom prst="rect">
            <a:avLst/>
          </a:prstGeom>
          <a:noFill/>
          <a:ln/>
        </p:spPr>
        <p:txBody>
          <a:bodyPr wrap="square" lIns="0" tIns="0" rIns="0" bIns="0" rtlCol="0" anchor="ctr">
            <a:normAutofit/>
          </a:bodyPr>
          <a:lstStyle/>
          <a:p>
            <a:pPr marL="0" indent="0" algn="l">
              <a:buNone/>
            </a:pPr>
            <a:r>
              <a:rPr lang="vi-VN" altLang="en-US" sz="1400" dirty="0">
                <a:solidFill>
                  <a:srgbClr val="E9AEF9"/>
                </a:solidFill>
                <a:latin typeface="DejaVu Sans Mono" pitchFamily="34" charset="0"/>
                <a:ea typeface="DejaVu Sans Mono" pitchFamily="34" charset="-122"/>
                <a:cs typeface="DejaVu Sans Mono" pitchFamily="34" charset="-120"/>
              </a:rPr>
              <a:t>const</a:t>
            </a:r>
            <a:r>
              <a:rPr lang="vi-VN" altLang="en-US" sz="1400" dirty="0">
                <a:solidFill>
                  <a:srgbClr val="E9F0FC"/>
                </a:solidFill>
                <a:latin typeface="DejaVu Sans Mono" pitchFamily="34" charset="0"/>
                <a:ea typeface="DejaVu Sans Mono" pitchFamily="34" charset="-122"/>
                <a:cs typeface="DejaVu Sans Mono" pitchFamily="34" charset="-120"/>
              </a:rPr>
              <a:t> ok = </a:t>
            </a:r>
            <a:r>
              <a:rPr lang="vi-VN" altLang="en-US" sz="1400" dirty="0">
                <a:solidFill>
                  <a:srgbClr val="E9AEF9"/>
                </a:solidFill>
                <a:latin typeface="DejaVu Sans Mono" pitchFamily="34" charset="0"/>
                <a:ea typeface="DejaVu Sans Mono" pitchFamily="34" charset="-122"/>
                <a:cs typeface="DejaVu Sans Mono" pitchFamily="34" charset="-120"/>
              </a:rPr>
              <a:t>await</a:t>
            </a:r>
            <a:r>
              <a:rPr lang="vi-VN" altLang="en-US" sz="1400" dirty="0">
                <a:solidFill>
                  <a:srgbClr val="E9F0FC"/>
                </a:solidFill>
                <a:latin typeface="DejaVu Sans Mono" pitchFamily="34" charset="0"/>
                <a:ea typeface="DejaVu Sans Mono" pitchFamily="34" charset="-122"/>
                <a:cs typeface="DejaVu Sans Mono" pitchFamily="34" charset="-120"/>
              </a:rPr>
              <a:t> </a:t>
            </a:r>
            <a:r>
              <a:rPr lang="vi-VN" altLang="en-US" sz="1400" dirty="0">
                <a:solidFill>
                  <a:srgbClr val="8CCBFF"/>
                </a:solidFill>
                <a:latin typeface="DejaVu Sans Mono" pitchFamily="34" charset="0"/>
                <a:ea typeface="DejaVu Sans Mono" pitchFamily="34" charset="-122"/>
                <a:cs typeface="DejaVu Sans Mono" pitchFamily="34" charset="-120"/>
              </a:rPr>
              <a:t>bcrypt</a:t>
            </a:r>
            <a:r>
              <a:rPr lang="vi-VN" altLang="en-US" sz="1400" dirty="0">
                <a:solidFill>
                  <a:srgbClr val="E9F0FC"/>
                </a:solidFill>
                <a:latin typeface="DejaVu Sans Mono" pitchFamily="34" charset="0"/>
                <a:ea typeface="DejaVu Sans Mono" pitchFamily="34" charset="-122"/>
                <a:cs typeface="DejaVu Sans Mono" pitchFamily="34" charset="-120"/>
              </a:rPr>
              <a:t>.</a:t>
            </a:r>
            <a:r>
              <a:rPr lang="vi-VN" altLang="en-US" sz="1400" dirty="0">
                <a:solidFill>
                  <a:srgbClr val="F7C67F"/>
                </a:solidFill>
                <a:latin typeface="DejaVu Sans Mono" pitchFamily="34" charset="0"/>
                <a:ea typeface="DejaVu Sans Mono" pitchFamily="34" charset="-122"/>
                <a:cs typeface="DejaVu Sans Mono" pitchFamily="34" charset="-120"/>
              </a:rPr>
              <a:t>compare</a:t>
            </a:r>
            <a:r>
              <a:rPr lang="vi-VN" altLang="en-US" sz="1400" dirty="0">
                <a:solidFill>
                  <a:srgbClr val="E9F0FC"/>
                </a:solidFill>
                <a:latin typeface="DejaVu Sans Mono" pitchFamily="34" charset="0"/>
                <a:ea typeface="DejaVu Sans Mono" pitchFamily="34" charset="-122"/>
                <a:cs typeface="DejaVu Sans Mono" pitchFamily="34" charset="-120"/>
              </a:rPr>
              <a:t>(password, </a:t>
            </a:r>
            <a:r>
              <a:rPr lang="vi-VN" altLang="en-US" sz="1400" dirty="0">
                <a:solidFill>
                  <a:srgbClr val="F7C67F"/>
                </a:solidFill>
                <a:latin typeface="DejaVu Sans Mono" pitchFamily="34" charset="0"/>
                <a:ea typeface="DejaVu Sans Mono" pitchFamily="34" charset="-122"/>
                <a:cs typeface="DejaVu Sans Mono" pitchFamily="34" charset="-120"/>
              </a:rPr>
              <a:t>hash</a:t>
            </a:r>
            <a:r>
              <a:rPr lang="vi-VN" altLang="en-US" sz="1400" dirty="0">
                <a:solidFill>
                  <a:srgbClr val="E9F0FC"/>
                </a:solidFill>
                <a:latin typeface="DejaVu Sans Mono" pitchFamily="34" charset="0"/>
                <a:ea typeface="DejaVu Sans Mono" pitchFamily="34" charset="-122"/>
                <a:cs typeface="DejaVu Sans Mono" pitchFamily="34" charset="-120"/>
              </a:rPr>
              <a:t>);</a:t>
            </a:r>
            <a:endParaRPr lang="vi-VN" sz="1400" dirty="0"/>
          </a:p>
        </p:txBody>
      </p:sp>
      <p:sp>
        <p:nvSpPr>
          <p:cNvPr id="28" name="Shape 26"/>
          <p:cNvSpPr/>
          <p:nvPr/>
        </p:nvSpPr>
        <p:spPr>
          <a:xfrm>
            <a:off x="923544" y="5248656"/>
            <a:ext cx="10332720" cy="484632"/>
          </a:xfrm>
          <a:prstGeom prst="roundRect">
            <a:avLst>
              <a:gd name="adj" fmla="val 22642"/>
            </a:avLst>
          </a:prstGeom>
          <a:solidFill>
            <a:srgbClr val="EBF2FE"/>
          </a:solidFill>
          <a:ln w="12700">
            <a:solidFill>
              <a:srgbClr val="EBF2FE">
                <a:alpha val="0"/>
              </a:srgbClr>
            </a:solidFill>
            <a:prstDash val="solid"/>
          </a:ln>
        </p:spPr>
        <p:txBody>
          <a:bodyPr/>
          <a:lstStyle/>
          <a:p>
            <a:endParaRPr lang="en-US"/>
          </a:p>
        </p:txBody>
      </p:sp>
      <p:sp>
        <p:nvSpPr>
          <p:cNvPr id="29" name="Text 27"/>
          <p:cNvSpPr/>
          <p:nvPr/>
        </p:nvSpPr>
        <p:spPr>
          <a:xfrm>
            <a:off x="1124712" y="5367528"/>
            <a:ext cx="9939528" cy="256032"/>
          </a:xfrm>
          <a:prstGeom prst="rect">
            <a:avLst/>
          </a:prstGeom>
          <a:noFill/>
          <a:ln/>
        </p:spPr>
        <p:txBody>
          <a:bodyPr wrap="square" lIns="0" tIns="0" rIns="0" bIns="0" rtlCol="0" anchor="ctr">
            <a:normAutofit/>
          </a:bodyPr>
          <a:lstStyle/>
          <a:p>
            <a:pPr marL="0" indent="0" algn="ctr">
              <a:buNone/>
            </a:pPr>
            <a:r>
              <a:rPr lang="vi-VN" altLang="en-US" sz="1350" dirty="0">
                <a:solidFill>
                  <a:srgbClr val="183B63"/>
                </a:solidFill>
                <a:latin typeface="Inter" pitchFamily="34" charset="0"/>
                <a:ea typeface="Inter" pitchFamily="34" charset="-122"/>
                <a:cs typeface="Inter" pitchFamily="34" charset="-120"/>
              </a:rPr>
              <a:t>hash() để tạo dữ liệu lưu; compare() để xác minh mật khẩu khi đăng nhập.</a:t>
            </a:r>
            <a:endParaRPr lang="vi-VN" sz="1350" dirty="0"/>
          </a:p>
        </p:txBody>
      </p:sp>
      <p:sp>
        <p:nvSpPr>
          <p:cNvPr id="30" name="Shape 28"/>
          <p:cNvSpPr/>
          <p:nvPr/>
        </p:nvSpPr>
        <p:spPr>
          <a:xfrm>
            <a:off x="475488" y="5879592"/>
            <a:ext cx="11247120" cy="448056"/>
          </a:xfrm>
          <a:prstGeom prst="roundRect">
            <a:avLst>
              <a:gd name="adj" fmla="val 24490"/>
            </a:avLst>
          </a:prstGeom>
          <a:solidFill>
            <a:srgbClr val="FDECEE"/>
          </a:solidFill>
          <a:ln w="12700">
            <a:solidFill>
              <a:srgbClr val="FDECEE">
                <a:alpha val="0"/>
              </a:srgbClr>
            </a:solidFill>
            <a:prstDash val="solid"/>
          </a:ln>
        </p:spPr>
        <p:txBody>
          <a:bodyPr/>
          <a:lstStyle/>
          <a:p>
            <a:endParaRPr lang="en-US"/>
          </a:p>
        </p:txBody>
      </p:sp>
      <p:pic>
        <p:nvPicPr>
          <p:cNvPr id="31" name="Image 0" descr="/mnt/data/auth_slide_work/icon_cache/8384932fb506ffad56a7369dcac7469d.png"/>
          <p:cNvPicPr>
            <a:picLocks noChangeAspect="1"/>
          </p:cNvPicPr>
          <p:nvPr/>
        </p:nvPicPr>
        <p:blipFill>
          <a:blip r:embed="rId3"/>
          <a:stretch>
            <a:fillRect/>
          </a:stretch>
        </p:blipFill>
        <p:spPr>
          <a:xfrm>
            <a:off x="658368" y="6007608"/>
            <a:ext cx="173736" cy="173736"/>
          </a:xfrm>
          <a:prstGeom prst="rect">
            <a:avLst/>
          </a:prstGeom>
        </p:spPr>
      </p:pic>
      <p:sp>
        <p:nvSpPr>
          <p:cNvPr id="32" name="Text 29"/>
          <p:cNvSpPr/>
          <p:nvPr/>
        </p:nvSpPr>
        <p:spPr>
          <a:xfrm>
            <a:off x="932688" y="5966460"/>
            <a:ext cx="10515600" cy="283464"/>
          </a:xfrm>
          <a:prstGeom prst="rect">
            <a:avLst/>
          </a:prstGeom>
          <a:noFill/>
          <a:ln/>
        </p:spPr>
        <p:txBody>
          <a:bodyPr wrap="square" lIns="0" tIns="0" rIns="0" bIns="0" rtlCol="0" anchor="ctr">
            <a:normAutofit/>
          </a:bodyPr>
          <a:lstStyle/>
          <a:p>
            <a:pPr marL="0" indent="0">
              <a:buNone/>
            </a:pPr>
            <a:r>
              <a:rPr lang="vi-VN" altLang="en-US" sz="1220" dirty="0">
                <a:solidFill>
                  <a:srgbClr val="263345"/>
                </a:solidFill>
                <a:latin typeface="Inter" pitchFamily="34" charset="0"/>
                <a:ea typeface="Inter" pitchFamily="34" charset="-122"/>
                <a:cs typeface="Inter" pitchFamily="34" charset="-120"/>
              </a:rPr>
              <a:t>Không lưu password ở dạng văn bản thuần (plaintext). Không gửi passwordHash về Client.</a:t>
            </a:r>
            <a:endParaRPr lang="vi-VN"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API ĐĂNG KÝ</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Quy trình Register – Tạo tài khoản mới</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POST /api/auth/register</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12 / 24</a:t>
            </a:r>
            <a:endParaRPr lang="vi-VN" sz="850" dirty="0"/>
          </a:p>
        </p:txBody>
      </p:sp>
      <p:sp>
        <p:nvSpPr>
          <p:cNvPr id="10" name="Shape 8"/>
          <p:cNvSpPr/>
          <p:nvPr/>
        </p:nvSpPr>
        <p:spPr>
          <a:xfrm>
            <a:off x="603504" y="1865376"/>
            <a:ext cx="4663440" cy="2734056"/>
          </a:xfrm>
          <a:prstGeom prst="roundRect">
            <a:avLst>
              <a:gd name="adj" fmla="val 4013"/>
            </a:avLst>
          </a:prstGeom>
          <a:solidFill>
            <a:srgbClr val="16273C"/>
          </a:solidFill>
          <a:ln w="12700">
            <a:solidFill>
              <a:srgbClr val="16273C">
                <a:alpha val="0"/>
              </a:srgbClr>
            </a:solidFill>
            <a:prstDash val="solid"/>
          </a:ln>
        </p:spPr>
        <p:txBody>
          <a:bodyPr/>
          <a:lstStyle/>
          <a:p>
            <a:endParaRPr lang="en-US"/>
          </a:p>
        </p:txBody>
      </p:sp>
      <p:sp>
        <p:nvSpPr>
          <p:cNvPr id="11" name="Shape 9"/>
          <p:cNvSpPr/>
          <p:nvPr/>
        </p:nvSpPr>
        <p:spPr>
          <a:xfrm>
            <a:off x="795528" y="2029968"/>
            <a:ext cx="100584" cy="100584"/>
          </a:xfrm>
          <a:prstGeom prst="ellipse">
            <a:avLst/>
          </a:prstGeom>
          <a:solidFill>
            <a:srgbClr val="FF6873"/>
          </a:solidFill>
          <a:ln w="12700">
            <a:solidFill>
              <a:srgbClr val="333333">
                <a:alpha val="0"/>
              </a:srgbClr>
            </a:solidFill>
            <a:prstDash val="solid"/>
          </a:ln>
        </p:spPr>
        <p:txBody>
          <a:bodyPr/>
          <a:lstStyle/>
          <a:p>
            <a:endParaRPr lang="en-US"/>
          </a:p>
        </p:txBody>
      </p:sp>
      <p:sp>
        <p:nvSpPr>
          <p:cNvPr id="12" name="Shape 10"/>
          <p:cNvSpPr/>
          <p:nvPr/>
        </p:nvSpPr>
        <p:spPr>
          <a:xfrm>
            <a:off x="969264" y="2029968"/>
            <a:ext cx="100584" cy="100584"/>
          </a:xfrm>
          <a:prstGeom prst="ellipse">
            <a:avLst/>
          </a:prstGeom>
          <a:solidFill>
            <a:srgbClr val="FFD069"/>
          </a:solidFill>
          <a:ln w="12700">
            <a:solidFill>
              <a:srgbClr val="333333">
                <a:alpha val="0"/>
              </a:srgbClr>
            </a:solidFill>
            <a:prstDash val="solid"/>
          </a:ln>
        </p:spPr>
        <p:txBody>
          <a:bodyPr/>
          <a:lstStyle/>
          <a:p>
            <a:endParaRPr lang="en-US"/>
          </a:p>
        </p:txBody>
      </p:sp>
      <p:sp>
        <p:nvSpPr>
          <p:cNvPr id="13" name="Shape 11"/>
          <p:cNvSpPr/>
          <p:nvPr/>
        </p:nvSpPr>
        <p:spPr>
          <a:xfrm>
            <a:off x="1143000" y="2029968"/>
            <a:ext cx="100584" cy="100584"/>
          </a:xfrm>
          <a:prstGeom prst="ellipse">
            <a:avLst/>
          </a:prstGeom>
          <a:solidFill>
            <a:srgbClr val="4CD39B"/>
          </a:solidFill>
          <a:ln w="12700">
            <a:solidFill>
              <a:srgbClr val="333333">
                <a:alpha val="0"/>
              </a:srgbClr>
            </a:solidFill>
            <a:prstDash val="solid"/>
          </a:ln>
        </p:spPr>
        <p:txBody>
          <a:bodyPr/>
          <a:lstStyle/>
          <a:p>
            <a:endParaRPr lang="en-US"/>
          </a:p>
        </p:txBody>
      </p:sp>
      <p:sp>
        <p:nvSpPr>
          <p:cNvPr id="14" name="Text 12"/>
          <p:cNvSpPr/>
          <p:nvPr/>
        </p:nvSpPr>
        <p:spPr>
          <a:xfrm>
            <a:off x="3072384" y="1993392"/>
            <a:ext cx="1938528" cy="201168"/>
          </a:xfrm>
          <a:prstGeom prst="rect">
            <a:avLst/>
          </a:prstGeom>
          <a:noFill/>
          <a:ln/>
        </p:spPr>
        <p:txBody>
          <a:bodyPr wrap="square" lIns="0" tIns="0" rIns="0" bIns="0" rtlCol="0" anchor="ctr">
            <a:normAutofit/>
          </a:bodyPr>
          <a:lstStyle/>
          <a:p>
            <a:pPr marL="0" indent="0" algn="r">
              <a:buNone/>
            </a:pPr>
            <a:r>
              <a:rPr lang="vi-VN" altLang="en-US" sz="900" b="1" dirty="0">
                <a:solidFill>
                  <a:srgbClr val="91AECF"/>
                </a:solidFill>
                <a:latin typeface="Inter" pitchFamily="34" charset="0"/>
                <a:ea typeface="Inter" pitchFamily="34" charset="-122"/>
                <a:cs typeface="Inter" pitchFamily="34" charset="-120"/>
              </a:rPr>
              <a:t>REQUEST BODY / JSON</a:t>
            </a:r>
            <a:endParaRPr lang="vi-VN" sz="900" dirty="0"/>
          </a:p>
        </p:txBody>
      </p:sp>
      <p:sp>
        <p:nvSpPr>
          <p:cNvPr id="15" name="Text 13"/>
          <p:cNvSpPr/>
          <p:nvPr/>
        </p:nvSpPr>
        <p:spPr>
          <a:xfrm>
            <a:off x="841248" y="2331720"/>
            <a:ext cx="4206240" cy="384048"/>
          </a:xfrm>
          <a:prstGeom prst="rect">
            <a:avLst/>
          </a:prstGeom>
          <a:noFill/>
          <a:ln/>
        </p:spPr>
        <p:txBody>
          <a:bodyPr wrap="square" lIns="0" tIns="0" rIns="0" bIns="0" rtlCol="0" anchor="ctr">
            <a:normAutofit/>
          </a:bodyPr>
          <a:lstStyle/>
          <a:p>
            <a:pPr marL="0" indent="0" algn="l">
              <a:buNone/>
            </a:pPr>
            <a:r>
              <a:rPr lang="vi-VN" altLang="en-US" sz="1250" dirty="0">
                <a:solidFill>
                  <a:srgbClr val="E9F0FC"/>
                </a:solidFill>
                <a:latin typeface="DejaVu Sans Mono" pitchFamily="34" charset="0"/>
                <a:ea typeface="DejaVu Sans Mono" pitchFamily="34" charset="-122"/>
                <a:cs typeface="DejaVu Sans Mono" pitchFamily="34" charset="-120"/>
              </a:rPr>
              <a:t>{</a:t>
            </a:r>
            <a:endParaRPr lang="vi-VN" sz="1250" dirty="0"/>
          </a:p>
        </p:txBody>
      </p:sp>
      <p:sp>
        <p:nvSpPr>
          <p:cNvPr id="16" name="Text 14"/>
          <p:cNvSpPr/>
          <p:nvPr/>
        </p:nvSpPr>
        <p:spPr>
          <a:xfrm>
            <a:off x="841248" y="2715768"/>
            <a:ext cx="4206240" cy="384048"/>
          </a:xfrm>
          <a:prstGeom prst="rect">
            <a:avLst/>
          </a:prstGeom>
          <a:noFill/>
          <a:ln/>
        </p:spPr>
        <p:txBody>
          <a:bodyPr wrap="square" lIns="0" tIns="0" rIns="0" bIns="0" rtlCol="0" anchor="ctr">
            <a:normAutofit/>
          </a:bodyPr>
          <a:lstStyle/>
          <a:p>
            <a:pPr marL="0" indent="0" algn="l">
              <a:buNone/>
            </a:pPr>
            <a:r>
              <a:rPr lang="vi-VN" altLang="en-US" sz="1250" dirty="0">
                <a:solidFill>
                  <a:srgbClr val="E9F0FC"/>
                </a:solidFill>
                <a:latin typeface="DejaVu Sans Mono" pitchFamily="34" charset="0"/>
                <a:ea typeface="DejaVu Sans Mono" pitchFamily="34" charset="-122"/>
                <a:cs typeface="DejaVu Sans Mono" pitchFamily="34" charset="-120"/>
              </a:rPr>
              <a:t>  </a:t>
            </a:r>
            <a:r>
              <a:rPr lang="vi-VN" altLang="en-US" sz="1250" dirty="0">
                <a:solidFill>
                  <a:srgbClr val="8DE2BC"/>
                </a:solidFill>
                <a:latin typeface="DejaVu Sans Mono" pitchFamily="34" charset="0"/>
                <a:ea typeface="DejaVu Sans Mono" pitchFamily="34" charset="-122"/>
                <a:cs typeface="DejaVu Sans Mono" pitchFamily="34" charset="-120"/>
              </a:rPr>
              <a:t>"fullName"</a:t>
            </a:r>
            <a:r>
              <a:rPr lang="vi-VN" altLang="en-US" sz="1250" dirty="0">
                <a:solidFill>
                  <a:srgbClr val="E9F0FC"/>
                </a:solidFill>
                <a:latin typeface="DejaVu Sans Mono" pitchFamily="34" charset="0"/>
                <a:ea typeface="DejaVu Sans Mono" pitchFamily="34" charset="-122"/>
                <a:cs typeface="DejaVu Sans Mono" pitchFamily="34" charset="-120"/>
              </a:rPr>
              <a:t>: </a:t>
            </a:r>
            <a:r>
              <a:rPr lang="vi-VN" altLang="en-US" sz="1250" dirty="0">
                <a:solidFill>
                  <a:srgbClr val="8DE2BC"/>
                </a:solidFill>
                <a:latin typeface="DejaVu Sans Mono" pitchFamily="34" charset="0"/>
                <a:ea typeface="DejaVu Sans Mono" pitchFamily="34" charset="-122"/>
                <a:cs typeface="DejaVu Sans Mono" pitchFamily="34" charset="-120"/>
              </a:rPr>
              <a:t>"Nguyen Minh Nhat"</a:t>
            </a:r>
            <a:r>
              <a:rPr lang="vi-VN" altLang="en-US" sz="1250" dirty="0">
                <a:solidFill>
                  <a:srgbClr val="E9F0FC"/>
                </a:solidFill>
                <a:latin typeface="DejaVu Sans Mono" pitchFamily="34" charset="0"/>
                <a:ea typeface="DejaVu Sans Mono" pitchFamily="34" charset="-122"/>
                <a:cs typeface="DejaVu Sans Mono" pitchFamily="34" charset="-120"/>
              </a:rPr>
              <a:t>,</a:t>
            </a:r>
            <a:endParaRPr lang="vi-VN" sz="1250" dirty="0"/>
          </a:p>
        </p:txBody>
      </p:sp>
      <p:sp>
        <p:nvSpPr>
          <p:cNvPr id="17" name="Text 15"/>
          <p:cNvSpPr/>
          <p:nvPr/>
        </p:nvSpPr>
        <p:spPr>
          <a:xfrm>
            <a:off x="841248" y="3099816"/>
            <a:ext cx="4206240" cy="384048"/>
          </a:xfrm>
          <a:prstGeom prst="rect">
            <a:avLst/>
          </a:prstGeom>
          <a:noFill/>
          <a:ln/>
        </p:spPr>
        <p:txBody>
          <a:bodyPr wrap="square" lIns="0" tIns="0" rIns="0" bIns="0" rtlCol="0" anchor="ctr">
            <a:normAutofit/>
          </a:bodyPr>
          <a:lstStyle/>
          <a:p>
            <a:pPr marL="0" indent="0" algn="l">
              <a:buNone/>
            </a:pPr>
            <a:r>
              <a:rPr lang="vi-VN" altLang="en-US" sz="1250" dirty="0">
                <a:solidFill>
                  <a:srgbClr val="E9F0FC"/>
                </a:solidFill>
                <a:latin typeface="DejaVu Sans Mono" pitchFamily="34" charset="0"/>
                <a:ea typeface="DejaVu Sans Mono" pitchFamily="34" charset="-122"/>
                <a:cs typeface="DejaVu Sans Mono" pitchFamily="34" charset="-120"/>
              </a:rPr>
              <a:t>  </a:t>
            </a:r>
            <a:r>
              <a:rPr lang="vi-VN" altLang="en-US" sz="1250" dirty="0">
                <a:solidFill>
                  <a:srgbClr val="8DE2BC"/>
                </a:solidFill>
                <a:latin typeface="DejaVu Sans Mono" pitchFamily="34" charset="0"/>
                <a:ea typeface="DejaVu Sans Mono" pitchFamily="34" charset="-122"/>
                <a:cs typeface="DejaVu Sans Mono" pitchFamily="34" charset="-120"/>
              </a:rPr>
              <a:t>"email"</a:t>
            </a:r>
            <a:r>
              <a:rPr lang="vi-VN" altLang="en-US" sz="1250" dirty="0">
                <a:solidFill>
                  <a:srgbClr val="E9F0FC"/>
                </a:solidFill>
                <a:latin typeface="DejaVu Sans Mono" pitchFamily="34" charset="0"/>
                <a:ea typeface="DejaVu Sans Mono" pitchFamily="34" charset="-122"/>
                <a:cs typeface="DejaVu Sans Mono" pitchFamily="34" charset="-120"/>
              </a:rPr>
              <a:t>: </a:t>
            </a:r>
            <a:r>
              <a:rPr lang="vi-VN" altLang="en-US" sz="1250" dirty="0">
                <a:solidFill>
                  <a:srgbClr val="8DE2BC"/>
                </a:solidFill>
                <a:latin typeface="DejaVu Sans Mono" pitchFamily="34" charset="0"/>
                <a:ea typeface="DejaVu Sans Mono" pitchFamily="34" charset="-122"/>
                <a:cs typeface="DejaVu Sans Mono" pitchFamily="34" charset="-120"/>
              </a:rPr>
              <a:t>"nhat@example.com"</a:t>
            </a:r>
            <a:r>
              <a:rPr lang="vi-VN" altLang="en-US" sz="1250" dirty="0">
                <a:solidFill>
                  <a:srgbClr val="E9F0FC"/>
                </a:solidFill>
                <a:latin typeface="DejaVu Sans Mono" pitchFamily="34" charset="0"/>
                <a:ea typeface="DejaVu Sans Mono" pitchFamily="34" charset="-122"/>
                <a:cs typeface="DejaVu Sans Mono" pitchFamily="34" charset="-120"/>
              </a:rPr>
              <a:t>,</a:t>
            </a:r>
            <a:endParaRPr lang="vi-VN" sz="1250" dirty="0"/>
          </a:p>
        </p:txBody>
      </p:sp>
      <p:sp>
        <p:nvSpPr>
          <p:cNvPr id="18" name="Text 16"/>
          <p:cNvSpPr/>
          <p:nvPr/>
        </p:nvSpPr>
        <p:spPr>
          <a:xfrm>
            <a:off x="841248" y="3483864"/>
            <a:ext cx="4206240" cy="384048"/>
          </a:xfrm>
          <a:prstGeom prst="rect">
            <a:avLst/>
          </a:prstGeom>
          <a:noFill/>
          <a:ln/>
        </p:spPr>
        <p:txBody>
          <a:bodyPr wrap="square" lIns="0" tIns="0" rIns="0" bIns="0" rtlCol="0" anchor="ctr">
            <a:normAutofit/>
          </a:bodyPr>
          <a:lstStyle/>
          <a:p>
            <a:pPr marL="0" indent="0" algn="l">
              <a:buNone/>
            </a:pPr>
            <a:r>
              <a:rPr lang="vi-VN" altLang="en-US" sz="1250" dirty="0">
                <a:solidFill>
                  <a:srgbClr val="E9F0FC"/>
                </a:solidFill>
                <a:latin typeface="DejaVu Sans Mono" pitchFamily="34" charset="0"/>
                <a:ea typeface="DejaVu Sans Mono" pitchFamily="34" charset="-122"/>
                <a:cs typeface="DejaVu Sans Mono" pitchFamily="34" charset="-120"/>
              </a:rPr>
              <a:t>  </a:t>
            </a:r>
            <a:r>
              <a:rPr lang="vi-VN" altLang="en-US" sz="1250" dirty="0">
                <a:solidFill>
                  <a:srgbClr val="8DE2BC"/>
                </a:solidFill>
                <a:latin typeface="DejaVu Sans Mono" pitchFamily="34" charset="0"/>
                <a:ea typeface="DejaVu Sans Mono" pitchFamily="34" charset="-122"/>
                <a:cs typeface="DejaVu Sans Mono" pitchFamily="34" charset="-120"/>
              </a:rPr>
              <a:t>"password"</a:t>
            </a:r>
            <a:r>
              <a:rPr lang="vi-VN" altLang="en-US" sz="1250" dirty="0">
                <a:solidFill>
                  <a:srgbClr val="E9F0FC"/>
                </a:solidFill>
                <a:latin typeface="DejaVu Sans Mono" pitchFamily="34" charset="0"/>
                <a:ea typeface="DejaVu Sans Mono" pitchFamily="34" charset="-122"/>
                <a:cs typeface="DejaVu Sans Mono" pitchFamily="34" charset="-120"/>
              </a:rPr>
              <a:t>: </a:t>
            </a:r>
            <a:r>
              <a:rPr lang="vi-VN" altLang="en-US" sz="1250" dirty="0">
                <a:solidFill>
                  <a:srgbClr val="8DE2BC"/>
                </a:solidFill>
                <a:latin typeface="DejaVu Sans Mono" pitchFamily="34" charset="0"/>
                <a:ea typeface="DejaVu Sans Mono" pitchFamily="34" charset="-122"/>
                <a:cs typeface="DejaVu Sans Mono" pitchFamily="34" charset="-120"/>
              </a:rPr>
              <a:t>"SinhVien@123"</a:t>
            </a:r>
            <a:endParaRPr lang="vi-VN" sz="1250" dirty="0"/>
          </a:p>
        </p:txBody>
      </p:sp>
      <p:sp>
        <p:nvSpPr>
          <p:cNvPr id="19" name="Text 17"/>
          <p:cNvSpPr/>
          <p:nvPr/>
        </p:nvSpPr>
        <p:spPr>
          <a:xfrm>
            <a:off x="841248" y="3867912"/>
            <a:ext cx="4206240" cy="384048"/>
          </a:xfrm>
          <a:prstGeom prst="rect">
            <a:avLst/>
          </a:prstGeom>
          <a:noFill/>
          <a:ln/>
        </p:spPr>
        <p:txBody>
          <a:bodyPr wrap="square" lIns="0" tIns="0" rIns="0" bIns="0" rtlCol="0" anchor="ctr">
            <a:normAutofit/>
          </a:bodyPr>
          <a:lstStyle/>
          <a:p>
            <a:pPr marL="0" indent="0" algn="l">
              <a:buNone/>
            </a:pPr>
            <a:r>
              <a:rPr lang="vi-VN" altLang="en-US" sz="1250" dirty="0">
                <a:solidFill>
                  <a:srgbClr val="E9F0FC"/>
                </a:solidFill>
                <a:latin typeface="DejaVu Sans Mono" pitchFamily="34" charset="0"/>
                <a:ea typeface="DejaVu Sans Mono" pitchFamily="34" charset="-122"/>
                <a:cs typeface="DejaVu Sans Mono" pitchFamily="34" charset="-120"/>
              </a:rPr>
              <a:t>}</a:t>
            </a:r>
            <a:endParaRPr lang="vi-VN" sz="1250" dirty="0"/>
          </a:p>
        </p:txBody>
      </p:sp>
      <p:sp>
        <p:nvSpPr>
          <p:cNvPr id="20" name="Shape 18"/>
          <p:cNvSpPr/>
          <p:nvPr/>
        </p:nvSpPr>
        <p:spPr>
          <a:xfrm>
            <a:off x="5715000" y="1856232"/>
            <a:ext cx="2779776" cy="768096"/>
          </a:xfrm>
          <a:prstGeom prst="roundRect">
            <a:avLst>
              <a:gd name="adj" fmla="val 14286"/>
            </a:avLst>
          </a:prstGeom>
          <a:solidFill>
            <a:srgbClr val="EBF2FE"/>
          </a:solidFill>
          <a:ln w="12700">
            <a:solidFill>
              <a:srgbClr val="EBF2FE">
                <a:alpha val="0"/>
              </a:srgbClr>
            </a:solidFill>
            <a:prstDash val="solid"/>
          </a:ln>
        </p:spPr>
        <p:txBody>
          <a:bodyPr/>
          <a:lstStyle/>
          <a:p>
            <a:endParaRPr lang="en-US"/>
          </a:p>
        </p:txBody>
      </p:sp>
      <p:sp>
        <p:nvSpPr>
          <p:cNvPr id="21" name="Text 19"/>
          <p:cNvSpPr/>
          <p:nvPr/>
        </p:nvSpPr>
        <p:spPr>
          <a:xfrm>
            <a:off x="5806440" y="1956816"/>
            <a:ext cx="2596896" cy="566928"/>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01 · Nhận JSON đăng ký</a:t>
            </a:r>
            <a:endParaRPr lang="vi-VN" sz="1360" dirty="0"/>
          </a:p>
        </p:txBody>
      </p:sp>
      <p:sp>
        <p:nvSpPr>
          <p:cNvPr id="22" name="Shape 20"/>
          <p:cNvSpPr/>
          <p:nvPr/>
        </p:nvSpPr>
        <p:spPr>
          <a:xfrm>
            <a:off x="8869680" y="1856232"/>
            <a:ext cx="2779776" cy="768096"/>
          </a:xfrm>
          <a:prstGeom prst="roundRect">
            <a:avLst>
              <a:gd name="adj" fmla="val 14286"/>
            </a:avLst>
          </a:prstGeom>
          <a:solidFill>
            <a:srgbClr val="EBF2FE"/>
          </a:solidFill>
          <a:ln w="12700">
            <a:solidFill>
              <a:srgbClr val="EBF2FE">
                <a:alpha val="0"/>
              </a:srgbClr>
            </a:solidFill>
            <a:prstDash val="solid"/>
          </a:ln>
        </p:spPr>
        <p:txBody>
          <a:bodyPr/>
          <a:lstStyle/>
          <a:p>
            <a:endParaRPr lang="en-US"/>
          </a:p>
        </p:txBody>
      </p:sp>
      <p:sp>
        <p:nvSpPr>
          <p:cNvPr id="23" name="Text 21"/>
          <p:cNvSpPr/>
          <p:nvPr/>
        </p:nvSpPr>
        <p:spPr>
          <a:xfrm>
            <a:off x="8961120" y="1956816"/>
            <a:ext cx="2596896" cy="566928"/>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02 · Validation dữ liệu</a:t>
            </a:r>
            <a:endParaRPr lang="vi-VN" sz="1360" dirty="0"/>
          </a:p>
        </p:txBody>
      </p:sp>
      <p:sp>
        <p:nvSpPr>
          <p:cNvPr id="24" name="Shape 22"/>
          <p:cNvSpPr/>
          <p:nvPr/>
        </p:nvSpPr>
        <p:spPr>
          <a:xfrm>
            <a:off x="5715000" y="2916936"/>
            <a:ext cx="2779776" cy="768096"/>
          </a:xfrm>
          <a:prstGeom prst="roundRect">
            <a:avLst>
              <a:gd name="adj" fmla="val 14286"/>
            </a:avLst>
          </a:prstGeom>
          <a:solidFill>
            <a:srgbClr val="EBF2FE"/>
          </a:solidFill>
          <a:ln w="12700">
            <a:solidFill>
              <a:srgbClr val="EBF2FE">
                <a:alpha val="0"/>
              </a:srgbClr>
            </a:solidFill>
            <a:prstDash val="solid"/>
          </a:ln>
        </p:spPr>
        <p:txBody>
          <a:bodyPr/>
          <a:lstStyle/>
          <a:p>
            <a:endParaRPr lang="en-US"/>
          </a:p>
        </p:txBody>
      </p:sp>
      <p:sp>
        <p:nvSpPr>
          <p:cNvPr id="25" name="Text 23"/>
          <p:cNvSpPr/>
          <p:nvPr/>
        </p:nvSpPr>
        <p:spPr>
          <a:xfrm>
            <a:off x="5806440" y="3017520"/>
            <a:ext cx="2596896" cy="566928"/>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03 · Kiểm tra email trùng</a:t>
            </a:r>
            <a:endParaRPr lang="vi-VN" sz="1360" dirty="0"/>
          </a:p>
        </p:txBody>
      </p:sp>
      <p:sp>
        <p:nvSpPr>
          <p:cNvPr id="26" name="Shape 24"/>
          <p:cNvSpPr/>
          <p:nvPr/>
        </p:nvSpPr>
        <p:spPr>
          <a:xfrm>
            <a:off x="8869680" y="2916936"/>
            <a:ext cx="2779776" cy="768096"/>
          </a:xfrm>
          <a:prstGeom prst="roundRect">
            <a:avLst>
              <a:gd name="adj" fmla="val 14286"/>
            </a:avLst>
          </a:prstGeom>
          <a:solidFill>
            <a:srgbClr val="EBF2FE"/>
          </a:solidFill>
          <a:ln w="12700">
            <a:solidFill>
              <a:srgbClr val="EBF2FE">
                <a:alpha val="0"/>
              </a:srgbClr>
            </a:solidFill>
            <a:prstDash val="solid"/>
          </a:ln>
        </p:spPr>
        <p:txBody>
          <a:bodyPr/>
          <a:lstStyle/>
          <a:p>
            <a:endParaRPr lang="en-US"/>
          </a:p>
        </p:txBody>
      </p:sp>
      <p:sp>
        <p:nvSpPr>
          <p:cNvPr id="27" name="Text 25"/>
          <p:cNvSpPr/>
          <p:nvPr/>
        </p:nvSpPr>
        <p:spPr>
          <a:xfrm>
            <a:off x="8961120" y="3017520"/>
            <a:ext cx="2596896" cy="566928"/>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04 · bcrypt.hash(password)</a:t>
            </a:r>
            <a:endParaRPr lang="vi-VN" sz="1360" dirty="0"/>
          </a:p>
        </p:txBody>
      </p:sp>
      <p:sp>
        <p:nvSpPr>
          <p:cNvPr id="28" name="Shape 26"/>
          <p:cNvSpPr/>
          <p:nvPr/>
        </p:nvSpPr>
        <p:spPr>
          <a:xfrm>
            <a:off x="5715000" y="3977640"/>
            <a:ext cx="2779776" cy="768096"/>
          </a:xfrm>
          <a:prstGeom prst="roundRect">
            <a:avLst>
              <a:gd name="adj" fmla="val 14286"/>
            </a:avLst>
          </a:prstGeom>
          <a:solidFill>
            <a:srgbClr val="EBF2FE"/>
          </a:solidFill>
          <a:ln w="12700">
            <a:solidFill>
              <a:srgbClr val="EBF2FE">
                <a:alpha val="0"/>
              </a:srgbClr>
            </a:solidFill>
            <a:prstDash val="solid"/>
          </a:ln>
        </p:spPr>
        <p:txBody>
          <a:bodyPr/>
          <a:lstStyle/>
          <a:p>
            <a:endParaRPr lang="en-US"/>
          </a:p>
        </p:txBody>
      </p:sp>
      <p:sp>
        <p:nvSpPr>
          <p:cNvPr id="29" name="Text 27"/>
          <p:cNvSpPr/>
          <p:nvPr/>
        </p:nvSpPr>
        <p:spPr>
          <a:xfrm>
            <a:off x="5806440" y="4078224"/>
            <a:ext cx="2596896" cy="566928"/>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05 · Lưu vào SQL Server</a:t>
            </a:r>
            <a:endParaRPr lang="vi-VN" sz="1360" dirty="0"/>
          </a:p>
        </p:txBody>
      </p:sp>
      <p:sp>
        <p:nvSpPr>
          <p:cNvPr id="30" name="Shape 28"/>
          <p:cNvSpPr/>
          <p:nvPr/>
        </p:nvSpPr>
        <p:spPr>
          <a:xfrm>
            <a:off x="8869680" y="3977640"/>
            <a:ext cx="2779776" cy="768096"/>
          </a:xfrm>
          <a:prstGeom prst="roundRect">
            <a:avLst>
              <a:gd name="adj" fmla="val 14286"/>
            </a:avLst>
          </a:prstGeom>
          <a:solidFill>
            <a:srgbClr val="E6F6EF"/>
          </a:solidFill>
          <a:ln w="12700">
            <a:solidFill>
              <a:srgbClr val="E6F6EF">
                <a:alpha val="0"/>
              </a:srgbClr>
            </a:solidFill>
            <a:prstDash val="solid"/>
          </a:ln>
        </p:spPr>
        <p:txBody>
          <a:bodyPr/>
          <a:lstStyle/>
          <a:p>
            <a:endParaRPr lang="en-US"/>
          </a:p>
        </p:txBody>
      </p:sp>
      <p:sp>
        <p:nvSpPr>
          <p:cNvPr id="31" name="Text 29"/>
          <p:cNvSpPr/>
          <p:nvPr/>
        </p:nvSpPr>
        <p:spPr>
          <a:xfrm>
            <a:off x="8961120" y="4078224"/>
            <a:ext cx="2596896" cy="566928"/>
          </a:xfrm>
          <a:prstGeom prst="rect">
            <a:avLst/>
          </a:prstGeom>
          <a:noFill/>
          <a:ln/>
        </p:spPr>
        <p:txBody>
          <a:bodyPr wrap="square" lIns="0" tIns="0" rIns="0" bIns="0" rtlCol="0" anchor="ctr">
            <a:normAutofit/>
          </a:bodyPr>
          <a:lstStyle/>
          <a:p>
            <a:pPr marL="0" indent="0" algn="ctr">
              <a:buNone/>
            </a:pPr>
            <a:r>
              <a:rPr lang="vi-VN" altLang="en-US" sz="1360" b="1" dirty="0">
                <a:solidFill>
                  <a:srgbClr val="19805B"/>
                </a:solidFill>
                <a:latin typeface="Inter" pitchFamily="34" charset="0"/>
                <a:ea typeface="Inter" pitchFamily="34" charset="-122"/>
                <a:cs typeface="Inter" pitchFamily="34" charset="-120"/>
              </a:rPr>
              <a:t>06 · Trả 201 Created</a:t>
            </a:r>
            <a:endParaRPr lang="vi-VN" sz="1360" dirty="0"/>
          </a:p>
        </p:txBody>
      </p:sp>
      <p:sp>
        <p:nvSpPr>
          <p:cNvPr id="32" name="Shape 30"/>
          <p:cNvSpPr/>
          <p:nvPr/>
        </p:nvSpPr>
        <p:spPr>
          <a:xfrm>
            <a:off x="475488" y="5870448"/>
            <a:ext cx="11247120" cy="448056"/>
          </a:xfrm>
          <a:prstGeom prst="roundRect">
            <a:avLst>
              <a:gd name="adj" fmla="val 24490"/>
            </a:avLst>
          </a:prstGeom>
          <a:solidFill>
            <a:srgbClr val="FDECEE"/>
          </a:solidFill>
          <a:ln w="12700">
            <a:solidFill>
              <a:srgbClr val="FDECEE">
                <a:alpha val="0"/>
              </a:srgbClr>
            </a:solidFill>
            <a:prstDash val="solid"/>
          </a:ln>
        </p:spPr>
        <p:txBody>
          <a:bodyPr/>
          <a:lstStyle/>
          <a:p>
            <a:endParaRPr lang="en-US"/>
          </a:p>
        </p:txBody>
      </p:sp>
      <p:pic>
        <p:nvPicPr>
          <p:cNvPr id="33" name="Image 0" descr="/mnt/data/auth_slide_work/icon_cache/8384932fb506ffad56a7369dcac7469d.png"/>
          <p:cNvPicPr>
            <a:picLocks noChangeAspect="1"/>
          </p:cNvPicPr>
          <p:nvPr/>
        </p:nvPicPr>
        <p:blipFill>
          <a:blip r:embed="rId3"/>
          <a:stretch>
            <a:fillRect/>
          </a:stretch>
        </p:blipFill>
        <p:spPr>
          <a:xfrm>
            <a:off x="658368" y="5998464"/>
            <a:ext cx="173736" cy="173736"/>
          </a:xfrm>
          <a:prstGeom prst="rect">
            <a:avLst/>
          </a:prstGeom>
        </p:spPr>
      </p:pic>
      <p:sp>
        <p:nvSpPr>
          <p:cNvPr id="34" name="Text 31"/>
          <p:cNvSpPr/>
          <p:nvPr/>
        </p:nvSpPr>
        <p:spPr>
          <a:xfrm>
            <a:off x="932688" y="5957316"/>
            <a:ext cx="10515600" cy="283464"/>
          </a:xfrm>
          <a:prstGeom prst="rect">
            <a:avLst/>
          </a:prstGeom>
          <a:noFill/>
          <a:ln/>
        </p:spPr>
        <p:txBody>
          <a:bodyPr wrap="square" lIns="0" tIns="0" rIns="0" bIns="0" rtlCol="0" anchor="ctr">
            <a:normAutofit/>
          </a:bodyPr>
          <a:lstStyle/>
          <a:p>
            <a:pPr marL="0" indent="0">
              <a:buNone/>
            </a:pPr>
            <a:r>
              <a:rPr lang="vi-VN" altLang="en-US" sz="1220" dirty="0">
                <a:solidFill>
                  <a:srgbClr val="263345"/>
                </a:solidFill>
                <a:latin typeface="Inter" pitchFamily="34" charset="0"/>
                <a:ea typeface="Inter" pitchFamily="34" charset="-122"/>
                <a:cs typeface="Inter" pitchFamily="34" charset="-120"/>
              </a:rPr>
              <a:t>Không cho người dùng tự chọn Role=Admin trong Request Body; Backend gán vai trò mặc định.</a:t>
            </a:r>
            <a:endParaRPr lang="vi-VN"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API ĐĂNG NHẬP</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Quy trình Login – Xác thực và cấp Token</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POST /api/auth/login</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13 / 24</a:t>
            </a:r>
            <a:endParaRPr lang="vi-VN" sz="850" dirty="0"/>
          </a:p>
        </p:txBody>
      </p:sp>
      <p:sp>
        <p:nvSpPr>
          <p:cNvPr id="10" name="Shape 8"/>
          <p:cNvSpPr/>
          <p:nvPr/>
        </p:nvSpPr>
        <p:spPr>
          <a:xfrm>
            <a:off x="621792" y="1874520"/>
            <a:ext cx="5138928" cy="685800"/>
          </a:xfrm>
          <a:prstGeom prst="roundRect">
            <a:avLst>
              <a:gd name="adj" fmla="val 16000"/>
            </a:avLst>
          </a:prstGeom>
          <a:solidFill>
            <a:srgbClr val="EBF2FE"/>
          </a:solidFill>
          <a:ln w="12700">
            <a:solidFill>
              <a:srgbClr val="EBF2FE">
                <a:alpha val="0"/>
              </a:srgbClr>
            </a:solidFill>
            <a:prstDash val="solid"/>
          </a:ln>
        </p:spPr>
        <p:txBody>
          <a:bodyPr/>
          <a:lstStyle/>
          <a:p>
            <a:endParaRPr lang="en-US"/>
          </a:p>
        </p:txBody>
      </p:sp>
      <p:sp>
        <p:nvSpPr>
          <p:cNvPr id="11" name="Text 9"/>
          <p:cNvSpPr/>
          <p:nvPr/>
        </p:nvSpPr>
        <p:spPr>
          <a:xfrm>
            <a:off x="713232" y="1975104"/>
            <a:ext cx="4956048" cy="484632"/>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1  Client gửi email + password</a:t>
            </a:r>
            <a:endParaRPr lang="vi-VN" sz="1360" dirty="0"/>
          </a:p>
        </p:txBody>
      </p:sp>
      <p:sp>
        <p:nvSpPr>
          <p:cNvPr id="12" name="Shape 10"/>
          <p:cNvSpPr/>
          <p:nvPr/>
        </p:nvSpPr>
        <p:spPr>
          <a:xfrm>
            <a:off x="621792" y="2816352"/>
            <a:ext cx="5138928" cy="685800"/>
          </a:xfrm>
          <a:prstGeom prst="roundRect">
            <a:avLst>
              <a:gd name="adj" fmla="val 16000"/>
            </a:avLst>
          </a:prstGeom>
          <a:solidFill>
            <a:srgbClr val="EBF2FE"/>
          </a:solidFill>
          <a:ln w="12700">
            <a:solidFill>
              <a:srgbClr val="EBF2FE">
                <a:alpha val="0"/>
              </a:srgbClr>
            </a:solidFill>
            <a:prstDash val="solid"/>
          </a:ln>
        </p:spPr>
        <p:txBody>
          <a:bodyPr/>
          <a:lstStyle/>
          <a:p>
            <a:endParaRPr lang="en-US"/>
          </a:p>
        </p:txBody>
      </p:sp>
      <p:sp>
        <p:nvSpPr>
          <p:cNvPr id="13" name="Text 11"/>
          <p:cNvSpPr/>
          <p:nvPr/>
        </p:nvSpPr>
        <p:spPr>
          <a:xfrm>
            <a:off x="713232" y="2916936"/>
            <a:ext cx="4956048" cy="484632"/>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2  Backend tìm User trong SQL Server</a:t>
            </a:r>
            <a:endParaRPr lang="vi-VN" sz="1360" dirty="0"/>
          </a:p>
        </p:txBody>
      </p:sp>
      <p:sp>
        <p:nvSpPr>
          <p:cNvPr id="14" name="Shape 12"/>
          <p:cNvSpPr/>
          <p:nvPr/>
        </p:nvSpPr>
        <p:spPr>
          <a:xfrm>
            <a:off x="621792" y="3758184"/>
            <a:ext cx="5138928" cy="685800"/>
          </a:xfrm>
          <a:prstGeom prst="roundRect">
            <a:avLst>
              <a:gd name="adj" fmla="val 16000"/>
            </a:avLst>
          </a:prstGeom>
          <a:solidFill>
            <a:srgbClr val="EBF2FE"/>
          </a:solidFill>
          <a:ln w="12700">
            <a:solidFill>
              <a:srgbClr val="EBF2FE">
                <a:alpha val="0"/>
              </a:srgbClr>
            </a:solidFill>
            <a:prstDash val="solid"/>
          </a:ln>
        </p:spPr>
        <p:txBody>
          <a:bodyPr/>
          <a:lstStyle/>
          <a:p>
            <a:endParaRPr lang="en-US"/>
          </a:p>
        </p:txBody>
      </p:sp>
      <p:sp>
        <p:nvSpPr>
          <p:cNvPr id="15" name="Text 13"/>
          <p:cNvSpPr/>
          <p:nvPr/>
        </p:nvSpPr>
        <p:spPr>
          <a:xfrm>
            <a:off x="713232" y="3858768"/>
            <a:ext cx="4956048" cy="484632"/>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3  bcrypt.compare(password, hash)</a:t>
            </a:r>
            <a:endParaRPr lang="vi-VN" sz="1360" dirty="0"/>
          </a:p>
        </p:txBody>
      </p:sp>
      <p:sp>
        <p:nvSpPr>
          <p:cNvPr id="16" name="Shape 14"/>
          <p:cNvSpPr/>
          <p:nvPr/>
        </p:nvSpPr>
        <p:spPr>
          <a:xfrm>
            <a:off x="5806440" y="3794760"/>
            <a:ext cx="621792" cy="0"/>
          </a:xfrm>
          <a:prstGeom prst="line">
            <a:avLst/>
          </a:prstGeom>
          <a:noFill/>
          <a:ln w="30480">
            <a:solidFill>
              <a:srgbClr val="B38A20"/>
            </a:solidFill>
            <a:prstDash val="solid"/>
            <a:headEnd type="none"/>
            <a:tailEnd type="triangle"/>
          </a:ln>
        </p:spPr>
        <p:txBody>
          <a:bodyPr/>
          <a:lstStyle/>
          <a:p>
            <a:endParaRPr lang="en-US"/>
          </a:p>
        </p:txBody>
      </p:sp>
      <p:sp>
        <p:nvSpPr>
          <p:cNvPr id="17" name="Shape 15"/>
          <p:cNvSpPr/>
          <p:nvPr/>
        </p:nvSpPr>
        <p:spPr>
          <a:xfrm>
            <a:off x="6483096" y="1993392"/>
            <a:ext cx="4672584" cy="768096"/>
          </a:xfrm>
          <a:prstGeom prst="roundRect">
            <a:avLst>
              <a:gd name="adj" fmla="val 14286"/>
            </a:avLst>
          </a:prstGeom>
          <a:solidFill>
            <a:srgbClr val="FDECEE"/>
          </a:solidFill>
          <a:ln w="12700">
            <a:solidFill>
              <a:srgbClr val="FDECEE">
                <a:alpha val="0"/>
              </a:srgbClr>
            </a:solidFill>
            <a:prstDash val="solid"/>
          </a:ln>
        </p:spPr>
        <p:txBody>
          <a:bodyPr/>
          <a:lstStyle/>
          <a:p>
            <a:endParaRPr lang="en-US"/>
          </a:p>
        </p:txBody>
      </p:sp>
      <p:sp>
        <p:nvSpPr>
          <p:cNvPr id="18" name="Text 16"/>
          <p:cNvSpPr/>
          <p:nvPr/>
        </p:nvSpPr>
        <p:spPr>
          <a:xfrm>
            <a:off x="6574536" y="2093976"/>
            <a:ext cx="4489704" cy="307238"/>
          </a:xfrm>
          <a:prstGeom prst="rect">
            <a:avLst/>
          </a:prstGeom>
          <a:noFill/>
          <a:ln/>
        </p:spPr>
        <p:txBody>
          <a:bodyPr wrap="square" lIns="0" tIns="0" rIns="0" bIns="0" rtlCol="0" anchor="ctr">
            <a:normAutofit/>
          </a:bodyPr>
          <a:lstStyle/>
          <a:p>
            <a:pPr marL="0" indent="0" algn="ctr">
              <a:buNone/>
            </a:pPr>
            <a:r>
              <a:rPr lang="vi-VN" altLang="en-US" sz="1360" b="1" dirty="0">
                <a:solidFill>
                  <a:srgbClr val="BB4A55"/>
                </a:solidFill>
                <a:latin typeface="Inter" pitchFamily="34" charset="0"/>
                <a:ea typeface="Inter" pitchFamily="34" charset="-122"/>
                <a:cs typeface="Inter" pitchFamily="34" charset="-120"/>
              </a:rPr>
              <a:t>SAI MẬT KHẨU</a:t>
            </a:r>
            <a:endParaRPr lang="vi-VN" sz="1360" dirty="0"/>
          </a:p>
        </p:txBody>
      </p:sp>
      <p:sp>
        <p:nvSpPr>
          <p:cNvPr id="19" name="Text 17"/>
          <p:cNvSpPr/>
          <p:nvPr/>
        </p:nvSpPr>
        <p:spPr>
          <a:xfrm>
            <a:off x="6574536" y="2450592"/>
            <a:ext cx="4489704" cy="274320"/>
          </a:xfrm>
          <a:prstGeom prst="rect">
            <a:avLst/>
          </a:prstGeom>
          <a:noFill/>
          <a:ln/>
        </p:spPr>
        <p:txBody>
          <a:bodyPr wrap="square" lIns="0" tIns="0" rIns="0" bIns="0" rtlCol="0" anchor="ctr">
            <a:normAutofit/>
          </a:bodyPr>
          <a:lstStyle/>
          <a:p>
            <a:pPr marL="0" indent="0" algn="ctr">
              <a:buNone/>
            </a:pPr>
            <a:r>
              <a:rPr lang="vi-VN" altLang="en-US" sz="1080" dirty="0">
                <a:solidFill>
                  <a:srgbClr val="667389"/>
                </a:solidFill>
                <a:latin typeface="Inter" pitchFamily="34" charset="0"/>
                <a:ea typeface="Inter" pitchFamily="34" charset="-122"/>
                <a:cs typeface="Inter" pitchFamily="34" charset="-120"/>
              </a:rPr>
              <a:t>HTTP 401 – Không tạo Token</a:t>
            </a:r>
            <a:endParaRPr lang="vi-VN" sz="1080" dirty="0"/>
          </a:p>
        </p:txBody>
      </p:sp>
      <p:sp>
        <p:nvSpPr>
          <p:cNvPr id="20" name="Shape 18"/>
          <p:cNvSpPr/>
          <p:nvPr/>
        </p:nvSpPr>
        <p:spPr>
          <a:xfrm>
            <a:off x="6483096" y="3127248"/>
            <a:ext cx="4672584" cy="768096"/>
          </a:xfrm>
          <a:prstGeom prst="roundRect">
            <a:avLst>
              <a:gd name="adj" fmla="val 14286"/>
            </a:avLst>
          </a:prstGeom>
          <a:solidFill>
            <a:srgbClr val="E6F6EF"/>
          </a:solidFill>
          <a:ln w="12700">
            <a:solidFill>
              <a:srgbClr val="E6F6EF">
                <a:alpha val="0"/>
              </a:srgbClr>
            </a:solidFill>
            <a:prstDash val="solid"/>
          </a:ln>
        </p:spPr>
        <p:txBody>
          <a:bodyPr/>
          <a:lstStyle/>
          <a:p>
            <a:endParaRPr lang="en-US"/>
          </a:p>
        </p:txBody>
      </p:sp>
      <p:sp>
        <p:nvSpPr>
          <p:cNvPr id="21" name="Text 19"/>
          <p:cNvSpPr/>
          <p:nvPr/>
        </p:nvSpPr>
        <p:spPr>
          <a:xfrm>
            <a:off x="6574536" y="3227832"/>
            <a:ext cx="4489704" cy="307238"/>
          </a:xfrm>
          <a:prstGeom prst="rect">
            <a:avLst/>
          </a:prstGeom>
          <a:noFill/>
          <a:ln/>
        </p:spPr>
        <p:txBody>
          <a:bodyPr wrap="square" lIns="0" tIns="0" rIns="0" bIns="0" rtlCol="0" anchor="ctr">
            <a:normAutofit/>
          </a:bodyPr>
          <a:lstStyle/>
          <a:p>
            <a:pPr marL="0" indent="0" algn="ctr">
              <a:buNone/>
            </a:pPr>
            <a:r>
              <a:rPr lang="vi-VN" altLang="en-US" sz="1360" b="1" dirty="0">
                <a:solidFill>
                  <a:srgbClr val="19805B"/>
                </a:solidFill>
                <a:latin typeface="Inter" pitchFamily="34" charset="0"/>
                <a:ea typeface="Inter" pitchFamily="34" charset="-122"/>
                <a:cs typeface="Inter" pitchFamily="34" charset="-120"/>
              </a:rPr>
              <a:t>ĐÚNG MẬT KHẨU</a:t>
            </a:r>
            <a:endParaRPr lang="vi-VN" sz="1360" dirty="0"/>
          </a:p>
        </p:txBody>
      </p:sp>
      <p:sp>
        <p:nvSpPr>
          <p:cNvPr id="22" name="Text 20"/>
          <p:cNvSpPr/>
          <p:nvPr/>
        </p:nvSpPr>
        <p:spPr>
          <a:xfrm>
            <a:off x="6574536" y="3584448"/>
            <a:ext cx="4489704" cy="274320"/>
          </a:xfrm>
          <a:prstGeom prst="rect">
            <a:avLst/>
          </a:prstGeom>
          <a:noFill/>
          <a:ln/>
        </p:spPr>
        <p:txBody>
          <a:bodyPr wrap="square" lIns="0" tIns="0" rIns="0" bIns="0" rtlCol="0" anchor="ctr">
            <a:normAutofit/>
          </a:bodyPr>
          <a:lstStyle/>
          <a:p>
            <a:pPr marL="0" indent="0" algn="ctr">
              <a:buNone/>
            </a:pPr>
            <a:r>
              <a:rPr lang="vi-VN" altLang="en-US" sz="1080" dirty="0">
                <a:solidFill>
                  <a:srgbClr val="667389"/>
                </a:solidFill>
                <a:latin typeface="Inter" pitchFamily="34" charset="0"/>
                <a:ea typeface="Inter" pitchFamily="34" charset="-122"/>
                <a:cs typeface="Inter" pitchFamily="34" charset="-120"/>
              </a:rPr>
              <a:t>jwt.sign() → Tạo Access Token</a:t>
            </a:r>
            <a:endParaRPr lang="vi-VN" sz="1080" dirty="0"/>
          </a:p>
        </p:txBody>
      </p:sp>
      <p:sp>
        <p:nvSpPr>
          <p:cNvPr id="23" name="Shape 21"/>
          <p:cNvSpPr/>
          <p:nvPr/>
        </p:nvSpPr>
        <p:spPr>
          <a:xfrm>
            <a:off x="6492240" y="4242816"/>
            <a:ext cx="4672584" cy="1362456"/>
          </a:xfrm>
          <a:prstGeom prst="roundRect">
            <a:avLst>
              <a:gd name="adj" fmla="val 8054"/>
            </a:avLst>
          </a:prstGeom>
          <a:solidFill>
            <a:srgbClr val="16273C"/>
          </a:solidFill>
          <a:ln w="12700">
            <a:solidFill>
              <a:srgbClr val="16273C">
                <a:alpha val="0"/>
              </a:srgbClr>
            </a:solidFill>
            <a:prstDash val="solid"/>
          </a:ln>
        </p:spPr>
        <p:txBody>
          <a:bodyPr/>
          <a:lstStyle/>
          <a:p>
            <a:endParaRPr lang="en-US"/>
          </a:p>
        </p:txBody>
      </p:sp>
      <p:sp>
        <p:nvSpPr>
          <p:cNvPr id="24" name="Shape 22"/>
          <p:cNvSpPr/>
          <p:nvPr/>
        </p:nvSpPr>
        <p:spPr>
          <a:xfrm>
            <a:off x="6684264" y="4407408"/>
            <a:ext cx="100584" cy="100584"/>
          </a:xfrm>
          <a:prstGeom prst="ellipse">
            <a:avLst/>
          </a:prstGeom>
          <a:solidFill>
            <a:srgbClr val="FF6873"/>
          </a:solidFill>
          <a:ln w="12700">
            <a:solidFill>
              <a:srgbClr val="333333">
                <a:alpha val="0"/>
              </a:srgbClr>
            </a:solidFill>
            <a:prstDash val="solid"/>
          </a:ln>
        </p:spPr>
        <p:txBody>
          <a:bodyPr/>
          <a:lstStyle/>
          <a:p>
            <a:endParaRPr lang="en-US"/>
          </a:p>
        </p:txBody>
      </p:sp>
      <p:sp>
        <p:nvSpPr>
          <p:cNvPr id="25" name="Shape 23"/>
          <p:cNvSpPr/>
          <p:nvPr/>
        </p:nvSpPr>
        <p:spPr>
          <a:xfrm>
            <a:off x="6858000" y="4407408"/>
            <a:ext cx="100584" cy="100584"/>
          </a:xfrm>
          <a:prstGeom prst="ellipse">
            <a:avLst/>
          </a:prstGeom>
          <a:solidFill>
            <a:srgbClr val="FFD069"/>
          </a:solidFill>
          <a:ln w="12700">
            <a:solidFill>
              <a:srgbClr val="333333">
                <a:alpha val="0"/>
              </a:srgbClr>
            </a:solidFill>
            <a:prstDash val="solid"/>
          </a:ln>
        </p:spPr>
        <p:txBody>
          <a:bodyPr/>
          <a:lstStyle/>
          <a:p>
            <a:endParaRPr lang="en-US"/>
          </a:p>
        </p:txBody>
      </p:sp>
      <p:sp>
        <p:nvSpPr>
          <p:cNvPr id="26" name="Shape 24"/>
          <p:cNvSpPr/>
          <p:nvPr/>
        </p:nvSpPr>
        <p:spPr>
          <a:xfrm>
            <a:off x="7031736" y="4407408"/>
            <a:ext cx="100584" cy="100584"/>
          </a:xfrm>
          <a:prstGeom prst="ellipse">
            <a:avLst/>
          </a:prstGeom>
          <a:solidFill>
            <a:srgbClr val="4CD39B"/>
          </a:solidFill>
          <a:ln w="12700">
            <a:solidFill>
              <a:srgbClr val="333333">
                <a:alpha val="0"/>
              </a:srgbClr>
            </a:solidFill>
            <a:prstDash val="solid"/>
          </a:ln>
        </p:spPr>
        <p:txBody>
          <a:bodyPr/>
          <a:lstStyle/>
          <a:p>
            <a:endParaRPr lang="en-US"/>
          </a:p>
        </p:txBody>
      </p:sp>
      <p:sp>
        <p:nvSpPr>
          <p:cNvPr id="27" name="Text 25"/>
          <p:cNvSpPr/>
          <p:nvPr/>
        </p:nvSpPr>
        <p:spPr>
          <a:xfrm>
            <a:off x="8970264" y="4370832"/>
            <a:ext cx="1938528" cy="201168"/>
          </a:xfrm>
          <a:prstGeom prst="rect">
            <a:avLst/>
          </a:prstGeom>
          <a:noFill/>
          <a:ln/>
        </p:spPr>
        <p:txBody>
          <a:bodyPr wrap="square" lIns="0" tIns="0" rIns="0" bIns="0" rtlCol="0" anchor="ctr">
            <a:normAutofit/>
          </a:bodyPr>
          <a:lstStyle/>
          <a:p>
            <a:pPr marL="0" indent="0" algn="r">
              <a:buNone/>
            </a:pPr>
            <a:r>
              <a:rPr lang="vi-VN" altLang="en-US" sz="900" b="1" dirty="0">
                <a:solidFill>
                  <a:srgbClr val="91AECF"/>
                </a:solidFill>
                <a:latin typeface="Inter" pitchFamily="34" charset="0"/>
                <a:ea typeface="Inter" pitchFamily="34" charset="-122"/>
                <a:cs typeface="Inter" pitchFamily="34" charset="-120"/>
              </a:rPr>
              <a:t>RESPONSE 200 / JSON</a:t>
            </a:r>
            <a:endParaRPr lang="vi-VN" sz="900" dirty="0"/>
          </a:p>
        </p:txBody>
      </p:sp>
      <p:sp>
        <p:nvSpPr>
          <p:cNvPr id="28" name="Text 26"/>
          <p:cNvSpPr/>
          <p:nvPr/>
        </p:nvSpPr>
        <p:spPr>
          <a:xfrm>
            <a:off x="6729984" y="4709160"/>
            <a:ext cx="4215384" cy="173736"/>
          </a:xfrm>
          <a:prstGeom prst="rect">
            <a:avLst/>
          </a:prstGeom>
          <a:noFill/>
          <a:ln/>
        </p:spPr>
        <p:txBody>
          <a:bodyPr wrap="square" lIns="0" tIns="0" rIns="0" bIns="0" rtlCol="0" anchor="ctr">
            <a:normAutofit/>
          </a:bodyPr>
          <a:lstStyle/>
          <a:p>
            <a:pPr marL="0" indent="0" algn="l">
              <a:buNone/>
            </a:pPr>
            <a:r>
              <a:rPr lang="vi-VN" altLang="en-US" sz="1080" dirty="0">
                <a:solidFill>
                  <a:srgbClr val="E9F0FC"/>
                </a:solidFill>
                <a:latin typeface="DejaVu Sans Mono" pitchFamily="34" charset="0"/>
                <a:ea typeface="DejaVu Sans Mono" pitchFamily="34" charset="-122"/>
                <a:cs typeface="DejaVu Sans Mono" pitchFamily="34" charset="-120"/>
              </a:rPr>
              <a:t>{</a:t>
            </a:r>
            <a:endParaRPr lang="vi-VN" sz="1080" dirty="0"/>
          </a:p>
        </p:txBody>
      </p:sp>
      <p:sp>
        <p:nvSpPr>
          <p:cNvPr id="29" name="Text 27"/>
          <p:cNvSpPr/>
          <p:nvPr/>
        </p:nvSpPr>
        <p:spPr>
          <a:xfrm>
            <a:off x="6729984" y="4882896"/>
            <a:ext cx="4215384" cy="173736"/>
          </a:xfrm>
          <a:prstGeom prst="rect">
            <a:avLst/>
          </a:prstGeom>
          <a:noFill/>
          <a:ln/>
        </p:spPr>
        <p:txBody>
          <a:bodyPr wrap="square" lIns="0" tIns="0" rIns="0" bIns="0" rtlCol="0" anchor="ctr">
            <a:normAutofit/>
          </a:bodyPr>
          <a:lstStyle/>
          <a:p>
            <a:pPr marL="0" indent="0" algn="l">
              <a:buNone/>
            </a:pPr>
            <a:r>
              <a:rPr lang="vi-VN" altLang="en-US" sz="1080" dirty="0">
                <a:solidFill>
                  <a:srgbClr val="E9F0FC"/>
                </a:solidFill>
                <a:latin typeface="DejaVu Sans Mono" pitchFamily="34" charset="0"/>
                <a:ea typeface="DejaVu Sans Mono" pitchFamily="34" charset="-122"/>
                <a:cs typeface="DejaVu Sans Mono" pitchFamily="34" charset="-120"/>
              </a:rPr>
              <a:t>  </a:t>
            </a:r>
            <a:r>
              <a:rPr lang="vi-VN" altLang="en-US" sz="1080" dirty="0">
                <a:solidFill>
                  <a:srgbClr val="8DE2BC"/>
                </a:solidFill>
                <a:latin typeface="DejaVu Sans Mono" pitchFamily="34" charset="0"/>
                <a:ea typeface="DejaVu Sans Mono" pitchFamily="34" charset="-122"/>
                <a:cs typeface="DejaVu Sans Mono" pitchFamily="34" charset="-120"/>
              </a:rPr>
              <a:t>"message"</a:t>
            </a:r>
            <a:r>
              <a:rPr lang="vi-VN" altLang="en-US" sz="1080" dirty="0">
                <a:solidFill>
                  <a:srgbClr val="E9F0FC"/>
                </a:solidFill>
                <a:latin typeface="DejaVu Sans Mono" pitchFamily="34" charset="0"/>
                <a:ea typeface="DejaVu Sans Mono" pitchFamily="34" charset="-122"/>
                <a:cs typeface="DejaVu Sans Mono" pitchFamily="34" charset="-120"/>
              </a:rPr>
              <a:t>: </a:t>
            </a:r>
            <a:r>
              <a:rPr lang="vi-VN" altLang="en-US" sz="1080" dirty="0">
                <a:solidFill>
                  <a:srgbClr val="8DE2BC"/>
                </a:solidFill>
                <a:latin typeface="DejaVu Sans Mono" pitchFamily="34" charset="0"/>
                <a:ea typeface="DejaVu Sans Mono" pitchFamily="34" charset="-122"/>
                <a:cs typeface="DejaVu Sans Mono" pitchFamily="34" charset="-120"/>
              </a:rPr>
              <a:t>"Đăng nhập thành công"</a:t>
            </a:r>
            <a:r>
              <a:rPr lang="vi-VN" altLang="en-US" sz="1080" dirty="0">
                <a:solidFill>
                  <a:srgbClr val="E9F0FC"/>
                </a:solidFill>
                <a:latin typeface="DejaVu Sans Mono" pitchFamily="34" charset="0"/>
                <a:ea typeface="DejaVu Sans Mono" pitchFamily="34" charset="-122"/>
                <a:cs typeface="DejaVu Sans Mono" pitchFamily="34" charset="-120"/>
              </a:rPr>
              <a:t>,</a:t>
            </a:r>
            <a:endParaRPr lang="vi-VN" sz="1080" dirty="0"/>
          </a:p>
        </p:txBody>
      </p:sp>
      <p:sp>
        <p:nvSpPr>
          <p:cNvPr id="30" name="Text 28"/>
          <p:cNvSpPr/>
          <p:nvPr/>
        </p:nvSpPr>
        <p:spPr>
          <a:xfrm>
            <a:off x="6729984" y="5056632"/>
            <a:ext cx="4215384" cy="173736"/>
          </a:xfrm>
          <a:prstGeom prst="rect">
            <a:avLst/>
          </a:prstGeom>
          <a:noFill/>
          <a:ln/>
        </p:spPr>
        <p:txBody>
          <a:bodyPr wrap="square" lIns="0" tIns="0" rIns="0" bIns="0" rtlCol="0" anchor="ctr">
            <a:normAutofit/>
          </a:bodyPr>
          <a:lstStyle/>
          <a:p>
            <a:pPr marL="0" indent="0" algn="l">
              <a:buNone/>
            </a:pPr>
            <a:r>
              <a:rPr lang="vi-VN" altLang="en-US" sz="1080" dirty="0">
                <a:solidFill>
                  <a:srgbClr val="E9F0FC"/>
                </a:solidFill>
                <a:latin typeface="DejaVu Sans Mono" pitchFamily="34" charset="0"/>
                <a:ea typeface="DejaVu Sans Mono" pitchFamily="34" charset="-122"/>
                <a:cs typeface="DejaVu Sans Mono" pitchFamily="34" charset="-120"/>
              </a:rPr>
              <a:t>  </a:t>
            </a:r>
            <a:r>
              <a:rPr lang="vi-VN" altLang="en-US" sz="1080" dirty="0">
                <a:solidFill>
                  <a:srgbClr val="8DE2BC"/>
                </a:solidFill>
                <a:latin typeface="DejaVu Sans Mono" pitchFamily="34" charset="0"/>
                <a:ea typeface="DejaVu Sans Mono" pitchFamily="34" charset="-122"/>
                <a:cs typeface="DejaVu Sans Mono" pitchFamily="34" charset="-120"/>
              </a:rPr>
              <a:t>"accessToken"</a:t>
            </a:r>
            <a:r>
              <a:rPr lang="vi-VN" altLang="en-US" sz="1080" dirty="0">
                <a:solidFill>
                  <a:srgbClr val="E9F0FC"/>
                </a:solidFill>
                <a:latin typeface="DejaVu Sans Mono" pitchFamily="34" charset="0"/>
                <a:ea typeface="DejaVu Sans Mono" pitchFamily="34" charset="-122"/>
                <a:cs typeface="DejaVu Sans Mono" pitchFamily="34" charset="-120"/>
              </a:rPr>
              <a:t>: </a:t>
            </a:r>
            <a:r>
              <a:rPr lang="vi-VN" altLang="en-US" sz="1080" dirty="0">
                <a:solidFill>
                  <a:srgbClr val="8DE2BC"/>
                </a:solidFill>
                <a:latin typeface="DejaVu Sans Mono" pitchFamily="34" charset="0"/>
                <a:ea typeface="DejaVu Sans Mono" pitchFamily="34" charset="-122"/>
                <a:cs typeface="DejaVu Sans Mono" pitchFamily="34" charset="-120"/>
              </a:rPr>
              <a:t>"eyJhbGciOi..."</a:t>
            </a:r>
            <a:endParaRPr lang="vi-VN" sz="1080" dirty="0"/>
          </a:p>
        </p:txBody>
      </p:sp>
      <p:sp>
        <p:nvSpPr>
          <p:cNvPr id="31" name="Text 29"/>
          <p:cNvSpPr/>
          <p:nvPr/>
        </p:nvSpPr>
        <p:spPr>
          <a:xfrm>
            <a:off x="6729984" y="5230368"/>
            <a:ext cx="4215384" cy="173736"/>
          </a:xfrm>
          <a:prstGeom prst="rect">
            <a:avLst/>
          </a:prstGeom>
          <a:noFill/>
          <a:ln/>
        </p:spPr>
        <p:txBody>
          <a:bodyPr wrap="square" lIns="0" tIns="0" rIns="0" bIns="0" rtlCol="0" anchor="ctr">
            <a:normAutofit/>
          </a:bodyPr>
          <a:lstStyle/>
          <a:p>
            <a:pPr marL="0" indent="0" algn="l">
              <a:buNone/>
            </a:pPr>
            <a:r>
              <a:rPr lang="vi-VN" altLang="en-US" sz="1080" dirty="0">
                <a:solidFill>
                  <a:srgbClr val="E9F0FC"/>
                </a:solidFill>
                <a:latin typeface="DejaVu Sans Mono" pitchFamily="34" charset="0"/>
                <a:ea typeface="DejaVu Sans Mono" pitchFamily="34" charset="-122"/>
                <a:cs typeface="DejaVu Sans Mono" pitchFamily="34" charset="-120"/>
              </a:rPr>
              <a:t>}</a:t>
            </a:r>
            <a:endParaRPr lang="vi-VN" sz="1080" dirty="0"/>
          </a:p>
        </p:txBody>
      </p:sp>
      <p:sp>
        <p:nvSpPr>
          <p:cNvPr id="32" name="Shape 30"/>
          <p:cNvSpPr/>
          <p:nvPr/>
        </p:nvSpPr>
        <p:spPr>
          <a:xfrm>
            <a:off x="475488" y="5907024"/>
            <a:ext cx="11247120" cy="448056"/>
          </a:xfrm>
          <a:prstGeom prst="roundRect">
            <a:avLst>
              <a:gd name="adj" fmla="val 24490"/>
            </a:avLst>
          </a:prstGeom>
          <a:solidFill>
            <a:srgbClr val="FFF5D5"/>
          </a:solidFill>
          <a:ln w="12700">
            <a:solidFill>
              <a:srgbClr val="FFF5D5">
                <a:alpha val="0"/>
              </a:srgbClr>
            </a:solidFill>
            <a:prstDash val="solid"/>
          </a:ln>
        </p:spPr>
        <p:txBody>
          <a:bodyPr/>
          <a:lstStyle/>
          <a:p>
            <a:endParaRPr lang="en-US"/>
          </a:p>
        </p:txBody>
      </p:sp>
      <p:pic>
        <p:nvPicPr>
          <p:cNvPr id="33" name="Image 0" descr="/mnt/data/auth_slide_work/icon_cache/19a4e8a463faa6409c49e67e1231d428.png"/>
          <p:cNvPicPr>
            <a:picLocks noChangeAspect="1"/>
          </p:cNvPicPr>
          <p:nvPr/>
        </p:nvPicPr>
        <p:blipFill>
          <a:blip r:embed="rId3"/>
          <a:stretch>
            <a:fillRect/>
          </a:stretch>
        </p:blipFill>
        <p:spPr>
          <a:xfrm>
            <a:off x="658368" y="6035040"/>
            <a:ext cx="173736" cy="173736"/>
          </a:xfrm>
          <a:prstGeom prst="rect">
            <a:avLst/>
          </a:prstGeom>
        </p:spPr>
      </p:pic>
      <p:sp>
        <p:nvSpPr>
          <p:cNvPr id="34" name="Text 31"/>
          <p:cNvSpPr/>
          <p:nvPr/>
        </p:nvSpPr>
        <p:spPr>
          <a:xfrm>
            <a:off x="932688" y="5993892"/>
            <a:ext cx="10515600" cy="283464"/>
          </a:xfrm>
          <a:prstGeom prst="rect">
            <a:avLst/>
          </a:prstGeom>
          <a:noFill/>
          <a:ln/>
        </p:spPr>
        <p:txBody>
          <a:bodyPr wrap="square" lIns="0" tIns="0" rIns="0" bIns="0" rtlCol="0" anchor="ctr">
            <a:normAutofit/>
          </a:bodyPr>
          <a:lstStyle/>
          <a:p>
            <a:pPr marL="0" indent="0">
              <a:buNone/>
            </a:pPr>
            <a:r>
              <a:rPr lang="vi-VN" altLang="en-US" sz="1220" dirty="0">
                <a:solidFill>
                  <a:srgbClr val="263345"/>
                </a:solidFill>
                <a:latin typeface="Inter" pitchFamily="34" charset="0"/>
                <a:ea typeface="Inter" pitchFamily="34" charset="-122"/>
                <a:cs typeface="Inter" pitchFamily="34" charset="-120"/>
              </a:rPr>
              <a:t>Register tạo tài khoản và hash mật khẩu; Login xác minh mật khẩu và cấp JWT.</a:t>
            </a:r>
            <a:endParaRPr lang="vi-VN"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JWT TRONG CODE</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generateToken() và verifyToken()</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Hai thao tác quan trọng nhất khi triển khai JWT với thư viện jsonwebtoken.</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14 / 24</a:t>
            </a:r>
            <a:endParaRPr lang="vi-VN" sz="850" dirty="0"/>
          </a:p>
        </p:txBody>
      </p:sp>
      <p:sp>
        <p:nvSpPr>
          <p:cNvPr id="10" name="Text 8"/>
          <p:cNvSpPr/>
          <p:nvPr/>
        </p:nvSpPr>
        <p:spPr>
          <a:xfrm>
            <a:off x="722376" y="1737360"/>
            <a:ext cx="5285232" cy="365760"/>
          </a:xfrm>
          <a:prstGeom prst="rect">
            <a:avLst/>
          </a:prstGeom>
          <a:noFill/>
          <a:ln/>
        </p:spPr>
        <p:txBody>
          <a:bodyPr wrap="square" lIns="0" tIns="0" rIns="0" bIns="0" rtlCol="0" anchor="ctr">
            <a:normAutofit/>
          </a:bodyPr>
          <a:lstStyle/>
          <a:p>
            <a:pPr marL="0" indent="0">
              <a:buNone/>
            </a:pPr>
            <a:r>
              <a:rPr lang="vi-VN" altLang="en-US" sz="1730" b="1" dirty="0">
                <a:solidFill>
                  <a:srgbClr val="2A5DAD"/>
                </a:solidFill>
                <a:latin typeface="Inter" pitchFamily="34" charset="0"/>
                <a:ea typeface="Inter" pitchFamily="34" charset="-122"/>
                <a:cs typeface="Inter" pitchFamily="34" charset="-120"/>
              </a:rPr>
              <a:t>TẠO JWT  ·  jwt.sign()</a:t>
            </a:r>
            <a:endParaRPr lang="vi-VN" sz="1730" dirty="0"/>
          </a:p>
        </p:txBody>
      </p:sp>
      <p:sp>
        <p:nvSpPr>
          <p:cNvPr id="11" name="Shape 9"/>
          <p:cNvSpPr/>
          <p:nvPr/>
        </p:nvSpPr>
        <p:spPr>
          <a:xfrm>
            <a:off x="621792" y="2176272"/>
            <a:ext cx="5431536" cy="2633472"/>
          </a:xfrm>
          <a:prstGeom prst="roundRect">
            <a:avLst>
              <a:gd name="adj" fmla="val 4167"/>
            </a:avLst>
          </a:prstGeom>
          <a:solidFill>
            <a:srgbClr val="16273C"/>
          </a:solidFill>
          <a:ln w="12700">
            <a:solidFill>
              <a:srgbClr val="16273C">
                <a:alpha val="0"/>
              </a:srgbClr>
            </a:solidFill>
            <a:prstDash val="solid"/>
          </a:ln>
        </p:spPr>
        <p:txBody>
          <a:bodyPr/>
          <a:lstStyle/>
          <a:p>
            <a:endParaRPr lang="en-US"/>
          </a:p>
        </p:txBody>
      </p:sp>
      <p:sp>
        <p:nvSpPr>
          <p:cNvPr id="12" name="Shape 10"/>
          <p:cNvSpPr/>
          <p:nvPr/>
        </p:nvSpPr>
        <p:spPr>
          <a:xfrm>
            <a:off x="813816" y="2340864"/>
            <a:ext cx="100584" cy="100584"/>
          </a:xfrm>
          <a:prstGeom prst="ellipse">
            <a:avLst/>
          </a:prstGeom>
          <a:solidFill>
            <a:srgbClr val="FF6873"/>
          </a:solidFill>
          <a:ln w="12700">
            <a:solidFill>
              <a:srgbClr val="333333">
                <a:alpha val="0"/>
              </a:srgbClr>
            </a:solidFill>
            <a:prstDash val="solid"/>
          </a:ln>
        </p:spPr>
        <p:txBody>
          <a:bodyPr/>
          <a:lstStyle/>
          <a:p>
            <a:endParaRPr lang="en-US"/>
          </a:p>
        </p:txBody>
      </p:sp>
      <p:sp>
        <p:nvSpPr>
          <p:cNvPr id="13" name="Shape 11"/>
          <p:cNvSpPr/>
          <p:nvPr/>
        </p:nvSpPr>
        <p:spPr>
          <a:xfrm>
            <a:off x="987552" y="2340864"/>
            <a:ext cx="100584" cy="100584"/>
          </a:xfrm>
          <a:prstGeom prst="ellipse">
            <a:avLst/>
          </a:prstGeom>
          <a:solidFill>
            <a:srgbClr val="FFD069"/>
          </a:solidFill>
          <a:ln w="12700">
            <a:solidFill>
              <a:srgbClr val="333333">
                <a:alpha val="0"/>
              </a:srgbClr>
            </a:solidFill>
            <a:prstDash val="solid"/>
          </a:ln>
        </p:spPr>
        <p:txBody>
          <a:bodyPr/>
          <a:lstStyle/>
          <a:p>
            <a:endParaRPr lang="en-US"/>
          </a:p>
        </p:txBody>
      </p:sp>
      <p:sp>
        <p:nvSpPr>
          <p:cNvPr id="14" name="Shape 12"/>
          <p:cNvSpPr/>
          <p:nvPr/>
        </p:nvSpPr>
        <p:spPr>
          <a:xfrm>
            <a:off x="1161288" y="2340864"/>
            <a:ext cx="100584" cy="100584"/>
          </a:xfrm>
          <a:prstGeom prst="ellipse">
            <a:avLst/>
          </a:prstGeom>
          <a:solidFill>
            <a:srgbClr val="4CD39B"/>
          </a:solidFill>
          <a:ln w="12700">
            <a:solidFill>
              <a:srgbClr val="333333">
                <a:alpha val="0"/>
              </a:srgbClr>
            </a:solidFill>
            <a:prstDash val="solid"/>
          </a:ln>
        </p:spPr>
        <p:txBody>
          <a:bodyPr/>
          <a:lstStyle/>
          <a:p>
            <a:endParaRPr lang="en-US"/>
          </a:p>
        </p:txBody>
      </p:sp>
      <p:sp>
        <p:nvSpPr>
          <p:cNvPr id="15" name="Text 13"/>
          <p:cNvSpPr/>
          <p:nvPr/>
        </p:nvSpPr>
        <p:spPr>
          <a:xfrm>
            <a:off x="3858768" y="2304288"/>
            <a:ext cx="1938528" cy="201168"/>
          </a:xfrm>
          <a:prstGeom prst="rect">
            <a:avLst/>
          </a:prstGeom>
          <a:noFill/>
          <a:ln/>
        </p:spPr>
        <p:txBody>
          <a:bodyPr wrap="square" lIns="0" tIns="0" rIns="0" bIns="0" rtlCol="0" anchor="ctr">
            <a:normAutofit/>
          </a:bodyPr>
          <a:lstStyle/>
          <a:p>
            <a:pPr marL="0" indent="0" algn="r">
              <a:buNone/>
            </a:pPr>
            <a:r>
              <a:rPr lang="vi-VN" altLang="en-US" sz="900" b="1" dirty="0">
                <a:solidFill>
                  <a:srgbClr val="91AECF"/>
                </a:solidFill>
                <a:latin typeface="Inter" pitchFamily="34" charset="0"/>
                <a:ea typeface="Inter" pitchFamily="34" charset="-122"/>
                <a:cs typeface="Inter" pitchFamily="34" charset="-120"/>
              </a:rPr>
              <a:t>TYPESCRIPT</a:t>
            </a:r>
            <a:endParaRPr lang="vi-VN" sz="900" dirty="0"/>
          </a:p>
        </p:txBody>
      </p:sp>
      <p:sp>
        <p:nvSpPr>
          <p:cNvPr id="16" name="Text 14"/>
          <p:cNvSpPr/>
          <p:nvPr/>
        </p:nvSpPr>
        <p:spPr>
          <a:xfrm>
            <a:off x="859536" y="2642616"/>
            <a:ext cx="4974336" cy="365760"/>
          </a:xfrm>
          <a:prstGeom prst="rect">
            <a:avLst/>
          </a:prstGeom>
          <a:noFill/>
          <a:ln/>
        </p:spPr>
        <p:txBody>
          <a:bodyPr wrap="square" lIns="0" tIns="0" rIns="0" bIns="0" rtlCol="0" anchor="ctr">
            <a:normAutofit/>
          </a:bodyPr>
          <a:lstStyle/>
          <a:p>
            <a:pPr marL="0" indent="0" algn="l">
              <a:buNone/>
            </a:pPr>
            <a:r>
              <a:rPr lang="vi-VN" altLang="en-US" sz="1190" dirty="0">
                <a:solidFill>
                  <a:srgbClr val="E9AEF9"/>
                </a:solidFill>
                <a:latin typeface="DejaVu Sans Mono" pitchFamily="34" charset="0"/>
                <a:ea typeface="DejaVu Sans Mono" pitchFamily="34" charset="-122"/>
                <a:cs typeface="DejaVu Sans Mono" pitchFamily="34" charset="-120"/>
              </a:rPr>
              <a:t>const</a:t>
            </a:r>
            <a:r>
              <a:rPr lang="vi-VN" altLang="en-US" sz="1190" dirty="0">
                <a:solidFill>
                  <a:srgbClr val="E9F0FC"/>
                </a:solidFill>
                <a:latin typeface="DejaVu Sans Mono" pitchFamily="34" charset="0"/>
                <a:ea typeface="DejaVu Sans Mono" pitchFamily="34" charset="-122"/>
                <a:cs typeface="DejaVu Sans Mono" pitchFamily="34" charset="-120"/>
              </a:rPr>
              <a:t> token = </a:t>
            </a:r>
            <a:r>
              <a:rPr lang="vi-VN" altLang="en-US" sz="1190" dirty="0">
                <a:solidFill>
                  <a:srgbClr val="8CCBFF"/>
                </a:solidFill>
                <a:latin typeface="DejaVu Sans Mono" pitchFamily="34" charset="0"/>
                <a:ea typeface="DejaVu Sans Mono" pitchFamily="34" charset="-122"/>
                <a:cs typeface="DejaVu Sans Mono" pitchFamily="34" charset="-120"/>
              </a:rPr>
              <a:t>jwt</a:t>
            </a:r>
            <a:r>
              <a:rPr lang="vi-VN" altLang="en-US" sz="1190" dirty="0">
                <a:solidFill>
                  <a:srgbClr val="E9F0FC"/>
                </a:solidFill>
                <a:latin typeface="DejaVu Sans Mono" pitchFamily="34" charset="0"/>
                <a:ea typeface="DejaVu Sans Mono" pitchFamily="34" charset="-122"/>
                <a:cs typeface="DejaVu Sans Mono" pitchFamily="34" charset="-120"/>
              </a:rPr>
              <a:t>.</a:t>
            </a:r>
            <a:r>
              <a:rPr lang="vi-VN" altLang="en-US" sz="1190" dirty="0">
                <a:solidFill>
                  <a:srgbClr val="F7C67F"/>
                </a:solidFill>
                <a:latin typeface="DejaVu Sans Mono" pitchFamily="34" charset="0"/>
                <a:ea typeface="DejaVu Sans Mono" pitchFamily="34" charset="-122"/>
                <a:cs typeface="DejaVu Sans Mono" pitchFamily="34" charset="-120"/>
              </a:rPr>
              <a:t>sign</a:t>
            </a:r>
            <a:r>
              <a:rPr lang="vi-VN" altLang="en-US" sz="1190" dirty="0">
                <a:solidFill>
                  <a:srgbClr val="E9F0FC"/>
                </a:solidFill>
                <a:latin typeface="DejaVu Sans Mono" pitchFamily="34" charset="0"/>
                <a:ea typeface="DejaVu Sans Mono" pitchFamily="34" charset="-122"/>
                <a:cs typeface="DejaVu Sans Mono" pitchFamily="34" charset="-120"/>
              </a:rPr>
              <a:t>(</a:t>
            </a:r>
            <a:endParaRPr lang="vi-VN" sz="1190" dirty="0"/>
          </a:p>
        </p:txBody>
      </p:sp>
      <p:sp>
        <p:nvSpPr>
          <p:cNvPr id="17" name="Text 15"/>
          <p:cNvSpPr/>
          <p:nvPr/>
        </p:nvSpPr>
        <p:spPr>
          <a:xfrm>
            <a:off x="859536" y="3008376"/>
            <a:ext cx="4974336" cy="365760"/>
          </a:xfrm>
          <a:prstGeom prst="rect">
            <a:avLst/>
          </a:prstGeom>
          <a:noFill/>
          <a:ln/>
        </p:spPr>
        <p:txBody>
          <a:bodyPr wrap="square" lIns="0" tIns="0" rIns="0" bIns="0" rtlCol="0" anchor="ctr">
            <a:normAutofit/>
          </a:bodyPr>
          <a:lstStyle/>
          <a:p>
            <a:pPr marL="0" indent="0" algn="l">
              <a:buNone/>
            </a:pPr>
            <a:r>
              <a:rPr lang="vi-VN" altLang="en-US" sz="1190" dirty="0">
                <a:solidFill>
                  <a:srgbClr val="E9F0FC"/>
                </a:solidFill>
                <a:latin typeface="DejaVu Sans Mono" pitchFamily="34" charset="0"/>
                <a:ea typeface="DejaVu Sans Mono" pitchFamily="34" charset="-122"/>
                <a:cs typeface="DejaVu Sans Mono" pitchFamily="34" charset="-120"/>
              </a:rPr>
              <a:t>  { sub: String(</a:t>
            </a:r>
            <a:r>
              <a:rPr lang="vi-VN" altLang="en-US" sz="1190" dirty="0">
                <a:solidFill>
                  <a:srgbClr val="8CCBFF"/>
                </a:solidFill>
                <a:latin typeface="DejaVu Sans Mono" pitchFamily="34" charset="0"/>
                <a:ea typeface="DejaVu Sans Mono" pitchFamily="34" charset="-122"/>
                <a:cs typeface="DejaVu Sans Mono" pitchFamily="34" charset="-120"/>
              </a:rPr>
              <a:t>user</a:t>
            </a:r>
            <a:r>
              <a:rPr lang="vi-VN" altLang="en-US" sz="1190" dirty="0">
                <a:solidFill>
                  <a:srgbClr val="E9F0FC"/>
                </a:solidFill>
                <a:latin typeface="DejaVu Sans Mono" pitchFamily="34" charset="0"/>
                <a:ea typeface="DejaVu Sans Mono" pitchFamily="34" charset="-122"/>
                <a:cs typeface="DejaVu Sans Mono" pitchFamily="34" charset="-120"/>
              </a:rPr>
              <a:t>.id), role: </a:t>
            </a:r>
            <a:r>
              <a:rPr lang="vi-VN" altLang="en-US" sz="1190" dirty="0">
                <a:solidFill>
                  <a:srgbClr val="8CCBFF"/>
                </a:solidFill>
                <a:latin typeface="DejaVu Sans Mono" pitchFamily="34" charset="0"/>
                <a:ea typeface="DejaVu Sans Mono" pitchFamily="34" charset="-122"/>
                <a:cs typeface="DejaVu Sans Mono" pitchFamily="34" charset="-120"/>
              </a:rPr>
              <a:t>user</a:t>
            </a:r>
            <a:r>
              <a:rPr lang="vi-VN" altLang="en-US" sz="1190" dirty="0">
                <a:solidFill>
                  <a:srgbClr val="E9F0FC"/>
                </a:solidFill>
                <a:latin typeface="DejaVu Sans Mono" pitchFamily="34" charset="0"/>
                <a:ea typeface="DejaVu Sans Mono" pitchFamily="34" charset="-122"/>
                <a:cs typeface="DejaVu Sans Mono" pitchFamily="34" charset="-120"/>
              </a:rPr>
              <a:t>.role },</a:t>
            </a:r>
            <a:endParaRPr lang="vi-VN" sz="1190" dirty="0"/>
          </a:p>
        </p:txBody>
      </p:sp>
      <p:sp>
        <p:nvSpPr>
          <p:cNvPr id="18" name="Text 16"/>
          <p:cNvSpPr/>
          <p:nvPr/>
        </p:nvSpPr>
        <p:spPr>
          <a:xfrm>
            <a:off x="859536" y="3374136"/>
            <a:ext cx="4974336" cy="365760"/>
          </a:xfrm>
          <a:prstGeom prst="rect">
            <a:avLst/>
          </a:prstGeom>
          <a:noFill/>
          <a:ln/>
        </p:spPr>
        <p:txBody>
          <a:bodyPr wrap="square" lIns="0" tIns="0" rIns="0" bIns="0" rtlCol="0" anchor="ctr">
            <a:normAutofit/>
          </a:bodyPr>
          <a:lstStyle/>
          <a:p>
            <a:pPr marL="0" indent="0" algn="l">
              <a:buNone/>
            </a:pPr>
            <a:r>
              <a:rPr lang="vi-VN" altLang="en-US" sz="1190" dirty="0">
                <a:solidFill>
                  <a:srgbClr val="E9F0FC"/>
                </a:solidFill>
                <a:latin typeface="DejaVu Sans Mono" pitchFamily="34" charset="0"/>
                <a:ea typeface="DejaVu Sans Mono" pitchFamily="34" charset="-122"/>
                <a:cs typeface="DejaVu Sans Mono" pitchFamily="34" charset="-120"/>
              </a:rPr>
              <a:t>  JWT_SECRET,</a:t>
            </a:r>
            <a:endParaRPr lang="vi-VN" sz="1190" dirty="0"/>
          </a:p>
        </p:txBody>
      </p:sp>
      <p:sp>
        <p:nvSpPr>
          <p:cNvPr id="19" name="Text 17"/>
          <p:cNvSpPr/>
          <p:nvPr/>
        </p:nvSpPr>
        <p:spPr>
          <a:xfrm>
            <a:off x="859536" y="3739896"/>
            <a:ext cx="4974336" cy="365760"/>
          </a:xfrm>
          <a:prstGeom prst="rect">
            <a:avLst/>
          </a:prstGeom>
          <a:noFill/>
          <a:ln/>
        </p:spPr>
        <p:txBody>
          <a:bodyPr wrap="square" lIns="0" tIns="0" rIns="0" bIns="0" rtlCol="0" anchor="ctr">
            <a:normAutofit/>
          </a:bodyPr>
          <a:lstStyle/>
          <a:p>
            <a:pPr marL="0" indent="0" algn="l">
              <a:buNone/>
            </a:pPr>
            <a:r>
              <a:rPr lang="vi-VN" altLang="en-US" sz="1190" dirty="0">
                <a:solidFill>
                  <a:srgbClr val="E9F0FC"/>
                </a:solidFill>
                <a:latin typeface="DejaVu Sans Mono" pitchFamily="34" charset="0"/>
                <a:ea typeface="DejaVu Sans Mono" pitchFamily="34" charset="-122"/>
                <a:cs typeface="DejaVu Sans Mono" pitchFamily="34" charset="-120"/>
              </a:rPr>
              <a:t>  { expiresIn: </a:t>
            </a:r>
            <a:r>
              <a:rPr lang="vi-VN" altLang="en-US" sz="1190" dirty="0">
                <a:solidFill>
                  <a:srgbClr val="8DE2BC"/>
                </a:solidFill>
                <a:latin typeface="DejaVu Sans Mono" pitchFamily="34" charset="0"/>
                <a:ea typeface="DejaVu Sans Mono" pitchFamily="34" charset="-122"/>
                <a:cs typeface="DejaVu Sans Mono" pitchFamily="34" charset="-120"/>
              </a:rPr>
              <a:t>"1h"</a:t>
            </a:r>
            <a:r>
              <a:rPr lang="vi-VN" altLang="en-US" sz="1190" dirty="0">
                <a:solidFill>
                  <a:srgbClr val="E9F0FC"/>
                </a:solidFill>
                <a:latin typeface="DejaVu Sans Mono" pitchFamily="34" charset="0"/>
                <a:ea typeface="DejaVu Sans Mono" pitchFamily="34" charset="-122"/>
                <a:cs typeface="DejaVu Sans Mono" pitchFamily="34" charset="-120"/>
              </a:rPr>
              <a:t>, algorithm: </a:t>
            </a:r>
            <a:r>
              <a:rPr lang="vi-VN" altLang="en-US" sz="1190" dirty="0">
                <a:solidFill>
                  <a:srgbClr val="8DE2BC"/>
                </a:solidFill>
                <a:latin typeface="DejaVu Sans Mono" pitchFamily="34" charset="0"/>
                <a:ea typeface="DejaVu Sans Mono" pitchFamily="34" charset="-122"/>
                <a:cs typeface="DejaVu Sans Mono" pitchFamily="34" charset="-120"/>
              </a:rPr>
              <a:t>"HS256"</a:t>
            </a:r>
            <a:r>
              <a:rPr lang="vi-VN" altLang="en-US" sz="1190" dirty="0">
                <a:solidFill>
                  <a:srgbClr val="E9F0FC"/>
                </a:solidFill>
                <a:latin typeface="DejaVu Sans Mono" pitchFamily="34" charset="0"/>
                <a:ea typeface="DejaVu Sans Mono" pitchFamily="34" charset="-122"/>
                <a:cs typeface="DejaVu Sans Mono" pitchFamily="34" charset="-120"/>
              </a:rPr>
              <a:t> }</a:t>
            </a:r>
            <a:endParaRPr lang="vi-VN" sz="1190" dirty="0"/>
          </a:p>
        </p:txBody>
      </p:sp>
      <p:sp>
        <p:nvSpPr>
          <p:cNvPr id="20" name="Text 18"/>
          <p:cNvSpPr/>
          <p:nvPr/>
        </p:nvSpPr>
        <p:spPr>
          <a:xfrm>
            <a:off x="859536" y="4105656"/>
            <a:ext cx="4974336" cy="365760"/>
          </a:xfrm>
          <a:prstGeom prst="rect">
            <a:avLst/>
          </a:prstGeom>
          <a:noFill/>
          <a:ln/>
        </p:spPr>
        <p:txBody>
          <a:bodyPr wrap="square" lIns="0" tIns="0" rIns="0" bIns="0" rtlCol="0" anchor="ctr">
            <a:normAutofit/>
          </a:bodyPr>
          <a:lstStyle/>
          <a:p>
            <a:pPr marL="0" indent="0" algn="l">
              <a:buNone/>
            </a:pPr>
            <a:r>
              <a:rPr lang="vi-VN" altLang="en-US" sz="1190" dirty="0">
                <a:solidFill>
                  <a:srgbClr val="E9F0FC"/>
                </a:solidFill>
                <a:latin typeface="DejaVu Sans Mono" pitchFamily="34" charset="0"/>
                <a:ea typeface="DejaVu Sans Mono" pitchFamily="34" charset="-122"/>
                <a:cs typeface="DejaVu Sans Mono" pitchFamily="34" charset="-120"/>
              </a:rPr>
              <a:t>);</a:t>
            </a:r>
            <a:endParaRPr lang="vi-VN" sz="1190" dirty="0"/>
          </a:p>
        </p:txBody>
      </p:sp>
      <p:sp>
        <p:nvSpPr>
          <p:cNvPr id="21" name="Text 19"/>
          <p:cNvSpPr/>
          <p:nvPr/>
        </p:nvSpPr>
        <p:spPr>
          <a:xfrm>
            <a:off x="6336792" y="1737360"/>
            <a:ext cx="5212080" cy="365760"/>
          </a:xfrm>
          <a:prstGeom prst="rect">
            <a:avLst/>
          </a:prstGeom>
          <a:noFill/>
          <a:ln/>
        </p:spPr>
        <p:txBody>
          <a:bodyPr wrap="square" lIns="0" tIns="0" rIns="0" bIns="0" rtlCol="0" anchor="ctr">
            <a:normAutofit/>
          </a:bodyPr>
          <a:lstStyle/>
          <a:p>
            <a:pPr marL="0" indent="0">
              <a:buNone/>
            </a:pPr>
            <a:r>
              <a:rPr lang="vi-VN" altLang="en-US" sz="1730" b="1" dirty="0">
                <a:solidFill>
                  <a:srgbClr val="19805B"/>
                </a:solidFill>
                <a:latin typeface="Inter" pitchFamily="34" charset="0"/>
                <a:ea typeface="Inter" pitchFamily="34" charset="-122"/>
                <a:cs typeface="Inter" pitchFamily="34" charset="-120"/>
              </a:rPr>
              <a:t>XÁC MINH JWT  ·  jwt.verify()</a:t>
            </a:r>
            <a:endParaRPr lang="vi-VN" sz="1730" dirty="0"/>
          </a:p>
        </p:txBody>
      </p:sp>
      <p:sp>
        <p:nvSpPr>
          <p:cNvPr id="22" name="Shape 20"/>
          <p:cNvSpPr/>
          <p:nvPr/>
        </p:nvSpPr>
        <p:spPr>
          <a:xfrm>
            <a:off x="6236208" y="2176272"/>
            <a:ext cx="5330952" cy="2633472"/>
          </a:xfrm>
          <a:prstGeom prst="roundRect">
            <a:avLst>
              <a:gd name="adj" fmla="val 4167"/>
            </a:avLst>
          </a:prstGeom>
          <a:solidFill>
            <a:srgbClr val="16273C"/>
          </a:solidFill>
          <a:ln w="12700">
            <a:solidFill>
              <a:srgbClr val="16273C">
                <a:alpha val="0"/>
              </a:srgbClr>
            </a:solidFill>
            <a:prstDash val="solid"/>
          </a:ln>
        </p:spPr>
        <p:txBody>
          <a:bodyPr/>
          <a:lstStyle/>
          <a:p>
            <a:endParaRPr lang="en-US"/>
          </a:p>
        </p:txBody>
      </p:sp>
      <p:sp>
        <p:nvSpPr>
          <p:cNvPr id="23" name="Shape 21"/>
          <p:cNvSpPr/>
          <p:nvPr/>
        </p:nvSpPr>
        <p:spPr>
          <a:xfrm>
            <a:off x="6428232" y="2340864"/>
            <a:ext cx="100584" cy="100584"/>
          </a:xfrm>
          <a:prstGeom prst="ellipse">
            <a:avLst/>
          </a:prstGeom>
          <a:solidFill>
            <a:srgbClr val="FF6873"/>
          </a:solidFill>
          <a:ln w="12700">
            <a:solidFill>
              <a:srgbClr val="333333">
                <a:alpha val="0"/>
              </a:srgbClr>
            </a:solidFill>
            <a:prstDash val="solid"/>
          </a:ln>
        </p:spPr>
        <p:txBody>
          <a:bodyPr/>
          <a:lstStyle/>
          <a:p>
            <a:endParaRPr lang="en-US"/>
          </a:p>
        </p:txBody>
      </p:sp>
      <p:sp>
        <p:nvSpPr>
          <p:cNvPr id="24" name="Shape 22"/>
          <p:cNvSpPr/>
          <p:nvPr/>
        </p:nvSpPr>
        <p:spPr>
          <a:xfrm>
            <a:off x="6601968" y="2340864"/>
            <a:ext cx="100584" cy="100584"/>
          </a:xfrm>
          <a:prstGeom prst="ellipse">
            <a:avLst/>
          </a:prstGeom>
          <a:solidFill>
            <a:srgbClr val="FFD069"/>
          </a:solidFill>
          <a:ln w="12700">
            <a:solidFill>
              <a:srgbClr val="333333">
                <a:alpha val="0"/>
              </a:srgbClr>
            </a:solidFill>
            <a:prstDash val="solid"/>
          </a:ln>
        </p:spPr>
        <p:txBody>
          <a:bodyPr/>
          <a:lstStyle/>
          <a:p>
            <a:endParaRPr lang="en-US"/>
          </a:p>
        </p:txBody>
      </p:sp>
      <p:sp>
        <p:nvSpPr>
          <p:cNvPr id="25" name="Shape 23"/>
          <p:cNvSpPr/>
          <p:nvPr/>
        </p:nvSpPr>
        <p:spPr>
          <a:xfrm>
            <a:off x="6775704" y="2340864"/>
            <a:ext cx="100584" cy="100584"/>
          </a:xfrm>
          <a:prstGeom prst="ellipse">
            <a:avLst/>
          </a:prstGeom>
          <a:solidFill>
            <a:srgbClr val="4CD39B"/>
          </a:solidFill>
          <a:ln w="12700">
            <a:solidFill>
              <a:srgbClr val="333333">
                <a:alpha val="0"/>
              </a:srgbClr>
            </a:solidFill>
            <a:prstDash val="solid"/>
          </a:ln>
        </p:spPr>
        <p:txBody>
          <a:bodyPr/>
          <a:lstStyle/>
          <a:p>
            <a:endParaRPr lang="en-US"/>
          </a:p>
        </p:txBody>
      </p:sp>
      <p:sp>
        <p:nvSpPr>
          <p:cNvPr id="26" name="Text 24"/>
          <p:cNvSpPr/>
          <p:nvPr/>
        </p:nvSpPr>
        <p:spPr>
          <a:xfrm>
            <a:off x="9372600" y="2304288"/>
            <a:ext cx="1938528" cy="201168"/>
          </a:xfrm>
          <a:prstGeom prst="rect">
            <a:avLst/>
          </a:prstGeom>
          <a:noFill/>
          <a:ln/>
        </p:spPr>
        <p:txBody>
          <a:bodyPr wrap="square" lIns="0" tIns="0" rIns="0" bIns="0" rtlCol="0" anchor="ctr">
            <a:normAutofit/>
          </a:bodyPr>
          <a:lstStyle/>
          <a:p>
            <a:pPr marL="0" indent="0" algn="r">
              <a:buNone/>
            </a:pPr>
            <a:r>
              <a:rPr lang="vi-VN" altLang="en-US" sz="900" b="1" dirty="0">
                <a:solidFill>
                  <a:srgbClr val="91AECF"/>
                </a:solidFill>
                <a:latin typeface="Inter" pitchFamily="34" charset="0"/>
                <a:ea typeface="Inter" pitchFamily="34" charset="-122"/>
                <a:cs typeface="Inter" pitchFamily="34" charset="-120"/>
              </a:rPr>
              <a:t>TYPESCRIPT</a:t>
            </a:r>
            <a:endParaRPr lang="vi-VN" sz="900" dirty="0"/>
          </a:p>
        </p:txBody>
      </p:sp>
      <p:sp>
        <p:nvSpPr>
          <p:cNvPr id="27" name="Text 25"/>
          <p:cNvSpPr/>
          <p:nvPr/>
        </p:nvSpPr>
        <p:spPr>
          <a:xfrm>
            <a:off x="6473952" y="2642616"/>
            <a:ext cx="4873752" cy="365760"/>
          </a:xfrm>
          <a:prstGeom prst="rect">
            <a:avLst/>
          </a:prstGeom>
          <a:noFill/>
          <a:ln/>
        </p:spPr>
        <p:txBody>
          <a:bodyPr wrap="square" lIns="0" tIns="0" rIns="0" bIns="0" rtlCol="0" anchor="ctr">
            <a:normAutofit/>
          </a:bodyPr>
          <a:lstStyle/>
          <a:p>
            <a:pPr marL="0" indent="0" algn="l">
              <a:buNone/>
            </a:pPr>
            <a:r>
              <a:rPr lang="vi-VN" altLang="en-US" sz="1230" dirty="0">
                <a:solidFill>
                  <a:srgbClr val="E9AEF9"/>
                </a:solidFill>
                <a:latin typeface="DejaVu Sans Mono" pitchFamily="34" charset="0"/>
                <a:ea typeface="DejaVu Sans Mono" pitchFamily="34" charset="-122"/>
                <a:cs typeface="DejaVu Sans Mono" pitchFamily="34" charset="-120"/>
              </a:rPr>
              <a:t>const</a:t>
            </a:r>
            <a:r>
              <a:rPr lang="vi-VN" altLang="en-US" sz="1230" dirty="0">
                <a:solidFill>
                  <a:srgbClr val="E9F0FC"/>
                </a:solidFill>
                <a:latin typeface="DejaVu Sans Mono" pitchFamily="34" charset="0"/>
                <a:ea typeface="DejaVu Sans Mono" pitchFamily="34" charset="-122"/>
                <a:cs typeface="DejaVu Sans Mono" pitchFamily="34" charset="-120"/>
              </a:rPr>
              <a:t> payload = </a:t>
            </a:r>
            <a:r>
              <a:rPr lang="vi-VN" altLang="en-US" sz="1230" dirty="0">
                <a:solidFill>
                  <a:srgbClr val="8CCBFF"/>
                </a:solidFill>
                <a:latin typeface="DejaVu Sans Mono" pitchFamily="34" charset="0"/>
                <a:ea typeface="DejaVu Sans Mono" pitchFamily="34" charset="-122"/>
                <a:cs typeface="DejaVu Sans Mono" pitchFamily="34" charset="-120"/>
              </a:rPr>
              <a:t>jwt</a:t>
            </a:r>
            <a:r>
              <a:rPr lang="vi-VN" altLang="en-US" sz="1230" dirty="0">
                <a:solidFill>
                  <a:srgbClr val="E9F0FC"/>
                </a:solidFill>
                <a:latin typeface="DejaVu Sans Mono" pitchFamily="34" charset="0"/>
                <a:ea typeface="DejaVu Sans Mono" pitchFamily="34" charset="-122"/>
                <a:cs typeface="DejaVu Sans Mono" pitchFamily="34" charset="-120"/>
              </a:rPr>
              <a:t>.</a:t>
            </a:r>
            <a:r>
              <a:rPr lang="vi-VN" altLang="en-US" sz="1230" dirty="0">
                <a:solidFill>
                  <a:srgbClr val="F7C67F"/>
                </a:solidFill>
                <a:latin typeface="DejaVu Sans Mono" pitchFamily="34" charset="0"/>
                <a:ea typeface="DejaVu Sans Mono" pitchFamily="34" charset="-122"/>
                <a:cs typeface="DejaVu Sans Mono" pitchFamily="34" charset="-120"/>
              </a:rPr>
              <a:t>verify</a:t>
            </a:r>
            <a:r>
              <a:rPr lang="vi-VN" altLang="en-US" sz="1230" dirty="0">
                <a:solidFill>
                  <a:srgbClr val="E9F0FC"/>
                </a:solidFill>
                <a:latin typeface="DejaVu Sans Mono" pitchFamily="34" charset="0"/>
                <a:ea typeface="DejaVu Sans Mono" pitchFamily="34" charset="-122"/>
                <a:cs typeface="DejaVu Sans Mono" pitchFamily="34" charset="-120"/>
              </a:rPr>
              <a:t>(</a:t>
            </a:r>
            <a:endParaRPr lang="vi-VN" sz="1230" dirty="0"/>
          </a:p>
        </p:txBody>
      </p:sp>
      <p:sp>
        <p:nvSpPr>
          <p:cNvPr id="28" name="Text 26"/>
          <p:cNvSpPr/>
          <p:nvPr/>
        </p:nvSpPr>
        <p:spPr>
          <a:xfrm>
            <a:off x="6473952" y="3008376"/>
            <a:ext cx="4873752" cy="365760"/>
          </a:xfrm>
          <a:prstGeom prst="rect">
            <a:avLst/>
          </a:prstGeom>
          <a:noFill/>
          <a:ln/>
        </p:spPr>
        <p:txBody>
          <a:bodyPr wrap="square" lIns="0" tIns="0" rIns="0" bIns="0" rtlCol="0" anchor="ctr">
            <a:normAutofit/>
          </a:bodyPr>
          <a:lstStyle/>
          <a:p>
            <a:pPr marL="0" indent="0" algn="l">
              <a:buNone/>
            </a:pPr>
            <a:r>
              <a:rPr lang="vi-VN" altLang="en-US" sz="1230" dirty="0">
                <a:solidFill>
                  <a:srgbClr val="E9F0FC"/>
                </a:solidFill>
                <a:latin typeface="DejaVu Sans Mono" pitchFamily="34" charset="0"/>
                <a:ea typeface="DejaVu Sans Mono" pitchFamily="34" charset="-122"/>
                <a:cs typeface="DejaVu Sans Mono" pitchFamily="34" charset="-120"/>
              </a:rPr>
              <a:t>  token,</a:t>
            </a:r>
            <a:endParaRPr lang="vi-VN" sz="1230" dirty="0"/>
          </a:p>
        </p:txBody>
      </p:sp>
      <p:sp>
        <p:nvSpPr>
          <p:cNvPr id="29" name="Text 27"/>
          <p:cNvSpPr/>
          <p:nvPr/>
        </p:nvSpPr>
        <p:spPr>
          <a:xfrm>
            <a:off x="6473952" y="3374136"/>
            <a:ext cx="4873752" cy="365760"/>
          </a:xfrm>
          <a:prstGeom prst="rect">
            <a:avLst/>
          </a:prstGeom>
          <a:noFill/>
          <a:ln/>
        </p:spPr>
        <p:txBody>
          <a:bodyPr wrap="square" lIns="0" tIns="0" rIns="0" bIns="0" rtlCol="0" anchor="ctr">
            <a:normAutofit/>
          </a:bodyPr>
          <a:lstStyle/>
          <a:p>
            <a:pPr marL="0" indent="0" algn="l">
              <a:buNone/>
            </a:pPr>
            <a:r>
              <a:rPr lang="vi-VN" altLang="en-US" sz="1230" dirty="0">
                <a:solidFill>
                  <a:srgbClr val="E9F0FC"/>
                </a:solidFill>
                <a:latin typeface="DejaVu Sans Mono" pitchFamily="34" charset="0"/>
                <a:ea typeface="DejaVu Sans Mono" pitchFamily="34" charset="-122"/>
                <a:cs typeface="DejaVu Sans Mono" pitchFamily="34" charset="-120"/>
              </a:rPr>
              <a:t>  JWT_SECRET,</a:t>
            </a:r>
            <a:endParaRPr lang="vi-VN" sz="1230" dirty="0"/>
          </a:p>
        </p:txBody>
      </p:sp>
      <p:sp>
        <p:nvSpPr>
          <p:cNvPr id="30" name="Text 28"/>
          <p:cNvSpPr/>
          <p:nvPr/>
        </p:nvSpPr>
        <p:spPr>
          <a:xfrm>
            <a:off x="6473952" y="3739896"/>
            <a:ext cx="4873752" cy="365760"/>
          </a:xfrm>
          <a:prstGeom prst="rect">
            <a:avLst/>
          </a:prstGeom>
          <a:noFill/>
          <a:ln/>
        </p:spPr>
        <p:txBody>
          <a:bodyPr wrap="square" lIns="0" tIns="0" rIns="0" bIns="0" rtlCol="0" anchor="ctr">
            <a:normAutofit/>
          </a:bodyPr>
          <a:lstStyle/>
          <a:p>
            <a:pPr marL="0" indent="0" algn="l">
              <a:buNone/>
            </a:pPr>
            <a:r>
              <a:rPr lang="vi-VN" altLang="en-US" sz="1230" dirty="0">
                <a:solidFill>
                  <a:srgbClr val="E9F0FC"/>
                </a:solidFill>
                <a:latin typeface="DejaVu Sans Mono" pitchFamily="34" charset="0"/>
                <a:ea typeface="DejaVu Sans Mono" pitchFamily="34" charset="-122"/>
                <a:cs typeface="DejaVu Sans Mono" pitchFamily="34" charset="-120"/>
              </a:rPr>
              <a:t>  { algorithms: [</a:t>
            </a:r>
            <a:r>
              <a:rPr lang="vi-VN" altLang="en-US" sz="1230" dirty="0">
                <a:solidFill>
                  <a:srgbClr val="8DE2BC"/>
                </a:solidFill>
                <a:latin typeface="DejaVu Sans Mono" pitchFamily="34" charset="0"/>
                <a:ea typeface="DejaVu Sans Mono" pitchFamily="34" charset="-122"/>
                <a:cs typeface="DejaVu Sans Mono" pitchFamily="34" charset="-120"/>
              </a:rPr>
              <a:t>"HS256"</a:t>
            </a:r>
            <a:r>
              <a:rPr lang="vi-VN" altLang="en-US" sz="1230" dirty="0">
                <a:solidFill>
                  <a:srgbClr val="E9F0FC"/>
                </a:solidFill>
                <a:latin typeface="DejaVu Sans Mono" pitchFamily="34" charset="0"/>
                <a:ea typeface="DejaVu Sans Mono" pitchFamily="34" charset="-122"/>
                <a:cs typeface="DejaVu Sans Mono" pitchFamily="34" charset="-120"/>
              </a:rPr>
              <a:t>] }</a:t>
            </a:r>
            <a:endParaRPr lang="vi-VN" sz="1230" dirty="0"/>
          </a:p>
        </p:txBody>
      </p:sp>
      <p:sp>
        <p:nvSpPr>
          <p:cNvPr id="31" name="Text 29"/>
          <p:cNvSpPr/>
          <p:nvPr/>
        </p:nvSpPr>
        <p:spPr>
          <a:xfrm>
            <a:off x="6473952" y="4105656"/>
            <a:ext cx="4873752" cy="365760"/>
          </a:xfrm>
          <a:prstGeom prst="rect">
            <a:avLst/>
          </a:prstGeom>
          <a:noFill/>
          <a:ln/>
        </p:spPr>
        <p:txBody>
          <a:bodyPr wrap="square" lIns="0" tIns="0" rIns="0" bIns="0" rtlCol="0" anchor="ctr">
            <a:normAutofit/>
          </a:bodyPr>
          <a:lstStyle/>
          <a:p>
            <a:pPr marL="0" indent="0" algn="l">
              <a:buNone/>
            </a:pPr>
            <a:r>
              <a:rPr lang="vi-VN" altLang="en-US" sz="1230" dirty="0">
                <a:solidFill>
                  <a:srgbClr val="E9F0FC"/>
                </a:solidFill>
                <a:latin typeface="DejaVu Sans Mono" pitchFamily="34" charset="0"/>
                <a:ea typeface="DejaVu Sans Mono" pitchFamily="34" charset="-122"/>
                <a:cs typeface="DejaVu Sans Mono" pitchFamily="34" charset="-120"/>
              </a:rPr>
              <a:t>);</a:t>
            </a:r>
            <a:endParaRPr lang="vi-VN" sz="1230" dirty="0"/>
          </a:p>
        </p:txBody>
      </p:sp>
      <p:sp>
        <p:nvSpPr>
          <p:cNvPr id="32" name="Shape 30"/>
          <p:cNvSpPr/>
          <p:nvPr/>
        </p:nvSpPr>
        <p:spPr>
          <a:xfrm>
            <a:off x="658368" y="5184648"/>
            <a:ext cx="10853928" cy="438912"/>
          </a:xfrm>
          <a:prstGeom prst="roundRect">
            <a:avLst>
              <a:gd name="adj" fmla="val 25000"/>
            </a:avLst>
          </a:prstGeom>
          <a:solidFill>
            <a:srgbClr val="EBF2FE"/>
          </a:solidFill>
          <a:ln w="12700">
            <a:solidFill>
              <a:srgbClr val="EBF2FE">
                <a:alpha val="0"/>
              </a:srgbClr>
            </a:solidFill>
            <a:prstDash val="solid"/>
          </a:ln>
        </p:spPr>
        <p:txBody>
          <a:bodyPr/>
          <a:lstStyle/>
          <a:p>
            <a:endParaRPr lang="en-US"/>
          </a:p>
        </p:txBody>
      </p:sp>
      <p:sp>
        <p:nvSpPr>
          <p:cNvPr id="33" name="Text 31"/>
          <p:cNvSpPr/>
          <p:nvPr/>
        </p:nvSpPr>
        <p:spPr>
          <a:xfrm>
            <a:off x="850392" y="5276088"/>
            <a:ext cx="10405872" cy="246888"/>
          </a:xfrm>
          <a:prstGeom prst="rect">
            <a:avLst/>
          </a:prstGeom>
          <a:noFill/>
          <a:ln/>
        </p:spPr>
        <p:txBody>
          <a:bodyPr wrap="square" lIns="0" tIns="0" rIns="0" bIns="0" rtlCol="0" anchor="ctr">
            <a:normAutofit/>
          </a:bodyPr>
          <a:lstStyle/>
          <a:p>
            <a:pPr marL="0" indent="0" algn="ctr">
              <a:buNone/>
            </a:pPr>
            <a:r>
              <a:rPr lang="vi-VN" altLang="en-US" sz="1370" dirty="0">
                <a:solidFill>
                  <a:srgbClr val="183B63"/>
                </a:solidFill>
                <a:latin typeface="Inter" pitchFamily="34" charset="0"/>
                <a:ea typeface="Inter" pitchFamily="34" charset="-122"/>
                <a:cs typeface="Inter" pitchFamily="34" charset="-120"/>
              </a:rPr>
              <a:t>jwt.sign tạo Token. jwt.verify xác minh chữ ký và kiểm tra các điều kiện hợp lệ.</a:t>
            </a:r>
            <a:endParaRPr lang="vi-VN" sz="1370" dirty="0"/>
          </a:p>
        </p:txBody>
      </p:sp>
      <p:sp>
        <p:nvSpPr>
          <p:cNvPr id="34" name="Shape 32"/>
          <p:cNvSpPr/>
          <p:nvPr/>
        </p:nvSpPr>
        <p:spPr>
          <a:xfrm>
            <a:off x="475488" y="5861304"/>
            <a:ext cx="11247120" cy="448056"/>
          </a:xfrm>
          <a:prstGeom prst="roundRect">
            <a:avLst>
              <a:gd name="adj" fmla="val 24490"/>
            </a:avLst>
          </a:prstGeom>
          <a:solidFill>
            <a:srgbClr val="FDECEE"/>
          </a:solidFill>
          <a:ln w="12700">
            <a:solidFill>
              <a:srgbClr val="FDECEE">
                <a:alpha val="0"/>
              </a:srgbClr>
            </a:solidFill>
            <a:prstDash val="solid"/>
          </a:ln>
        </p:spPr>
        <p:txBody>
          <a:bodyPr/>
          <a:lstStyle/>
          <a:p>
            <a:endParaRPr lang="en-US"/>
          </a:p>
        </p:txBody>
      </p:sp>
      <p:pic>
        <p:nvPicPr>
          <p:cNvPr id="35" name="Image 0" descr="/mnt/data/auth_slide_work/icon_cache/8384932fb506ffad56a7369dcac7469d.png"/>
          <p:cNvPicPr>
            <a:picLocks noChangeAspect="1"/>
          </p:cNvPicPr>
          <p:nvPr/>
        </p:nvPicPr>
        <p:blipFill>
          <a:blip r:embed="rId3"/>
          <a:stretch>
            <a:fillRect/>
          </a:stretch>
        </p:blipFill>
        <p:spPr>
          <a:xfrm>
            <a:off x="658368" y="5989320"/>
            <a:ext cx="173736" cy="173736"/>
          </a:xfrm>
          <a:prstGeom prst="rect">
            <a:avLst/>
          </a:prstGeom>
        </p:spPr>
      </p:pic>
      <p:sp>
        <p:nvSpPr>
          <p:cNvPr id="36" name="Text 33"/>
          <p:cNvSpPr/>
          <p:nvPr/>
        </p:nvSpPr>
        <p:spPr>
          <a:xfrm>
            <a:off x="932688" y="5948172"/>
            <a:ext cx="10515600" cy="283464"/>
          </a:xfrm>
          <a:prstGeom prst="rect">
            <a:avLst/>
          </a:prstGeom>
          <a:noFill/>
          <a:ln/>
        </p:spPr>
        <p:txBody>
          <a:bodyPr wrap="square" lIns="0" tIns="0" rIns="0" bIns="0" rtlCol="0" anchor="ctr">
            <a:normAutofit/>
          </a:bodyPr>
          <a:lstStyle/>
          <a:p>
            <a:pPr marL="0" indent="0">
              <a:buNone/>
            </a:pPr>
            <a:r>
              <a:rPr lang="vi-VN" altLang="en-US" sz="1220" dirty="0">
                <a:solidFill>
                  <a:srgbClr val="263345"/>
                </a:solidFill>
                <a:latin typeface="Inter" pitchFamily="34" charset="0"/>
                <a:ea typeface="Inter" pitchFamily="34" charset="-122"/>
                <a:cs typeface="Inter" pitchFamily="34" charset="-120"/>
              </a:rPr>
              <a:t>JWT_SECRET phải là chuỗi bí mật mạnh, đọc từ môi trường và không commit lên GitHub.</a:t>
            </a:r>
            <a:endParaRPr lang="vi-VN"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MIDDLEWARE</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Middleware – Trạm kiểm soát Request</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Một hàm trung gian có thể kiểm tra, bổ sung thông tin, chuyển tiếp hoặc từ chối Request.</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15 / 24</a:t>
            </a:r>
            <a:endParaRPr lang="vi-VN" sz="850" dirty="0"/>
          </a:p>
        </p:txBody>
      </p:sp>
      <p:sp>
        <p:nvSpPr>
          <p:cNvPr id="10" name="Shape 8"/>
          <p:cNvSpPr/>
          <p:nvPr/>
        </p:nvSpPr>
        <p:spPr>
          <a:xfrm>
            <a:off x="612648" y="1837944"/>
            <a:ext cx="3630168" cy="2084832"/>
          </a:xfrm>
          <a:prstGeom prst="roundRect">
            <a:avLst>
              <a:gd name="adj" fmla="val 5263"/>
            </a:avLst>
          </a:prstGeom>
          <a:solidFill>
            <a:srgbClr val="FFFFFF"/>
          </a:solidFill>
          <a:ln w="12700">
            <a:solidFill>
              <a:srgbClr val="E0E6EF"/>
            </a:solidFill>
            <a:prstDash val="solid"/>
          </a:ln>
        </p:spPr>
        <p:txBody>
          <a:bodyPr/>
          <a:lstStyle/>
          <a:p>
            <a:endParaRPr lang="en-US"/>
          </a:p>
        </p:txBody>
      </p:sp>
      <p:sp>
        <p:nvSpPr>
          <p:cNvPr id="11" name="Shape 9"/>
          <p:cNvSpPr/>
          <p:nvPr/>
        </p:nvSpPr>
        <p:spPr>
          <a:xfrm>
            <a:off x="813816" y="2039112"/>
            <a:ext cx="475488" cy="475488"/>
          </a:xfrm>
          <a:prstGeom prst="ellipse">
            <a:avLst/>
          </a:prstGeom>
          <a:solidFill>
            <a:srgbClr val="EBF2FE"/>
          </a:solidFill>
          <a:ln w="12700">
            <a:solidFill>
              <a:srgbClr val="EBF2FE">
                <a:alpha val="0"/>
              </a:srgbClr>
            </a:solidFill>
            <a:prstDash val="solid"/>
          </a:ln>
        </p:spPr>
        <p:txBody>
          <a:bodyPr/>
          <a:lstStyle/>
          <a:p>
            <a:endParaRPr lang="en-US"/>
          </a:p>
        </p:txBody>
      </p:sp>
      <p:pic>
        <p:nvPicPr>
          <p:cNvPr id="12" name="Image 0" descr="/mnt/data/auth_slide_work/icon_cache/94d0cb1489b189f9026c43b5729cd8fe.png"/>
          <p:cNvPicPr>
            <a:picLocks noChangeAspect="1"/>
          </p:cNvPicPr>
          <p:nvPr/>
        </p:nvPicPr>
        <p:blipFill>
          <a:blip r:embed="rId3"/>
          <a:stretch>
            <a:fillRect/>
          </a:stretch>
        </p:blipFill>
        <p:spPr>
          <a:xfrm>
            <a:off x="946953" y="2162739"/>
            <a:ext cx="204460" cy="204460"/>
          </a:xfrm>
          <a:prstGeom prst="rect">
            <a:avLst/>
          </a:prstGeom>
        </p:spPr>
      </p:pic>
      <p:sp>
        <p:nvSpPr>
          <p:cNvPr id="13" name="Text 10"/>
          <p:cNvSpPr/>
          <p:nvPr/>
        </p:nvSpPr>
        <p:spPr>
          <a:xfrm>
            <a:off x="813816" y="2651760"/>
            <a:ext cx="3227832" cy="411480"/>
          </a:xfrm>
          <a:prstGeom prst="rect">
            <a:avLst/>
          </a:prstGeom>
          <a:noFill/>
          <a:ln/>
        </p:spPr>
        <p:txBody>
          <a:bodyPr wrap="square" lIns="0" tIns="0" rIns="0" bIns="0" rtlCol="0" anchor="ctr">
            <a:normAutofit/>
          </a:bodyPr>
          <a:lstStyle/>
          <a:p>
            <a:pPr marL="0" indent="0">
              <a:buNone/>
            </a:pPr>
            <a:r>
              <a:rPr lang="vi-VN" altLang="en-US" sz="1820" b="1" dirty="0">
                <a:solidFill>
                  <a:srgbClr val="183B63"/>
                </a:solidFill>
                <a:latin typeface="Inter" pitchFamily="34" charset="0"/>
                <a:ea typeface="Inter" pitchFamily="34" charset="-122"/>
                <a:cs typeface="Inter" pitchFamily="34" charset="-120"/>
              </a:rPr>
              <a:t>req  •  Request</a:t>
            </a:r>
            <a:endParaRPr lang="vi-VN" sz="1820" dirty="0"/>
          </a:p>
        </p:txBody>
      </p:sp>
      <p:sp>
        <p:nvSpPr>
          <p:cNvPr id="14" name="Text 11"/>
          <p:cNvSpPr/>
          <p:nvPr/>
        </p:nvSpPr>
        <p:spPr>
          <a:xfrm>
            <a:off x="813816" y="3108960"/>
            <a:ext cx="3227832" cy="713232"/>
          </a:xfrm>
          <a:prstGeom prst="rect">
            <a:avLst/>
          </a:prstGeom>
          <a:noFill/>
          <a:ln/>
        </p:spPr>
        <p:txBody>
          <a:bodyPr wrap="square" lIns="0" tIns="0" rIns="0" bIns="0" rtlCol="0" anchor="t">
            <a:normAutofit/>
          </a:bodyPr>
          <a:lstStyle/>
          <a:p>
            <a:pPr marL="0" indent="0">
              <a:buNone/>
            </a:pPr>
            <a:r>
              <a:rPr lang="vi-VN" altLang="en-US" sz="1470" dirty="0">
                <a:solidFill>
                  <a:srgbClr val="667389"/>
                </a:solidFill>
                <a:latin typeface="Inter" pitchFamily="34" charset="0"/>
                <a:ea typeface="Inter" pitchFamily="34" charset="-122"/>
                <a:cs typeface="Inter" pitchFamily="34" charset="-120"/>
              </a:rPr>
              <a:t>Thông tin Client gửi lên</a:t>
            </a:r>
            <a:endParaRPr lang="vi-VN" sz="1470" dirty="0"/>
          </a:p>
        </p:txBody>
      </p:sp>
      <p:sp>
        <p:nvSpPr>
          <p:cNvPr id="15" name="Shape 12"/>
          <p:cNvSpPr/>
          <p:nvPr/>
        </p:nvSpPr>
        <p:spPr>
          <a:xfrm>
            <a:off x="4498848" y="1837944"/>
            <a:ext cx="3630168" cy="2084832"/>
          </a:xfrm>
          <a:prstGeom prst="roundRect">
            <a:avLst>
              <a:gd name="adj" fmla="val 5263"/>
            </a:avLst>
          </a:prstGeom>
          <a:solidFill>
            <a:srgbClr val="FFFFFF"/>
          </a:solidFill>
          <a:ln w="12700">
            <a:solidFill>
              <a:srgbClr val="E0E6EF"/>
            </a:solidFill>
            <a:prstDash val="solid"/>
          </a:ln>
        </p:spPr>
        <p:txBody>
          <a:bodyPr/>
          <a:lstStyle/>
          <a:p>
            <a:endParaRPr lang="en-US"/>
          </a:p>
        </p:txBody>
      </p:sp>
      <p:sp>
        <p:nvSpPr>
          <p:cNvPr id="16" name="Shape 13"/>
          <p:cNvSpPr/>
          <p:nvPr/>
        </p:nvSpPr>
        <p:spPr>
          <a:xfrm>
            <a:off x="4700016" y="2039112"/>
            <a:ext cx="475488" cy="475488"/>
          </a:xfrm>
          <a:prstGeom prst="ellipse">
            <a:avLst/>
          </a:prstGeom>
          <a:solidFill>
            <a:srgbClr val="EBF2FE"/>
          </a:solidFill>
          <a:ln w="12700">
            <a:solidFill>
              <a:srgbClr val="EBF2FE">
                <a:alpha val="0"/>
              </a:srgbClr>
            </a:solidFill>
            <a:prstDash val="solid"/>
          </a:ln>
        </p:spPr>
        <p:txBody>
          <a:bodyPr/>
          <a:lstStyle/>
          <a:p>
            <a:endParaRPr lang="en-US"/>
          </a:p>
        </p:txBody>
      </p:sp>
      <p:pic>
        <p:nvPicPr>
          <p:cNvPr id="17" name="Image 1" descr="/mnt/data/auth_slide_work/icon_cache/639ef5cd6a9de04f3c859006d5d1a7e1.png"/>
          <p:cNvPicPr>
            <a:picLocks noChangeAspect="1"/>
          </p:cNvPicPr>
          <p:nvPr/>
        </p:nvPicPr>
        <p:blipFill>
          <a:blip r:embed="rId4"/>
          <a:stretch>
            <a:fillRect/>
          </a:stretch>
        </p:blipFill>
        <p:spPr>
          <a:xfrm>
            <a:off x="4833153" y="2162739"/>
            <a:ext cx="204460" cy="204460"/>
          </a:xfrm>
          <a:prstGeom prst="rect">
            <a:avLst/>
          </a:prstGeom>
        </p:spPr>
      </p:pic>
      <p:sp>
        <p:nvSpPr>
          <p:cNvPr id="18" name="Text 14"/>
          <p:cNvSpPr/>
          <p:nvPr/>
        </p:nvSpPr>
        <p:spPr>
          <a:xfrm>
            <a:off x="4700016" y="2651760"/>
            <a:ext cx="3227832" cy="411480"/>
          </a:xfrm>
          <a:prstGeom prst="rect">
            <a:avLst/>
          </a:prstGeom>
          <a:noFill/>
          <a:ln/>
        </p:spPr>
        <p:txBody>
          <a:bodyPr wrap="square" lIns="0" tIns="0" rIns="0" bIns="0" rtlCol="0" anchor="ctr">
            <a:normAutofit/>
          </a:bodyPr>
          <a:lstStyle/>
          <a:p>
            <a:pPr marL="0" indent="0">
              <a:buNone/>
            </a:pPr>
            <a:r>
              <a:rPr lang="vi-VN" altLang="en-US" sz="1820" b="1" dirty="0">
                <a:solidFill>
                  <a:srgbClr val="183B63"/>
                </a:solidFill>
                <a:latin typeface="Inter" pitchFamily="34" charset="0"/>
                <a:ea typeface="Inter" pitchFamily="34" charset="-122"/>
                <a:cs typeface="Inter" pitchFamily="34" charset="-120"/>
              </a:rPr>
              <a:t>res  •  Response</a:t>
            </a:r>
            <a:endParaRPr lang="vi-VN" sz="1820" dirty="0"/>
          </a:p>
        </p:txBody>
      </p:sp>
      <p:sp>
        <p:nvSpPr>
          <p:cNvPr id="19" name="Text 15"/>
          <p:cNvSpPr/>
          <p:nvPr/>
        </p:nvSpPr>
        <p:spPr>
          <a:xfrm>
            <a:off x="4700016" y="3108960"/>
            <a:ext cx="3227832" cy="713232"/>
          </a:xfrm>
          <a:prstGeom prst="rect">
            <a:avLst/>
          </a:prstGeom>
          <a:noFill/>
          <a:ln/>
        </p:spPr>
        <p:txBody>
          <a:bodyPr wrap="square" lIns="0" tIns="0" rIns="0" bIns="0" rtlCol="0" anchor="t">
            <a:normAutofit/>
          </a:bodyPr>
          <a:lstStyle/>
          <a:p>
            <a:pPr marL="0" indent="0">
              <a:buNone/>
            </a:pPr>
            <a:r>
              <a:rPr lang="vi-VN" altLang="en-US" sz="1470" dirty="0">
                <a:solidFill>
                  <a:srgbClr val="667389"/>
                </a:solidFill>
                <a:latin typeface="Inter" pitchFamily="34" charset="0"/>
                <a:ea typeface="Inter" pitchFamily="34" charset="-122"/>
                <a:cs typeface="Inter" pitchFamily="34" charset="-120"/>
              </a:rPr>
              <a:t>Thông tin Server trả về</a:t>
            </a:r>
            <a:endParaRPr lang="vi-VN" sz="1470" dirty="0"/>
          </a:p>
        </p:txBody>
      </p:sp>
      <p:sp>
        <p:nvSpPr>
          <p:cNvPr id="20" name="Shape 16"/>
          <p:cNvSpPr/>
          <p:nvPr/>
        </p:nvSpPr>
        <p:spPr>
          <a:xfrm>
            <a:off x="8385048" y="1837944"/>
            <a:ext cx="3630168" cy="2084832"/>
          </a:xfrm>
          <a:prstGeom prst="roundRect">
            <a:avLst>
              <a:gd name="adj" fmla="val 5263"/>
            </a:avLst>
          </a:prstGeom>
          <a:solidFill>
            <a:srgbClr val="FFFFFF"/>
          </a:solidFill>
          <a:ln w="12700">
            <a:solidFill>
              <a:srgbClr val="E0E6EF"/>
            </a:solidFill>
            <a:prstDash val="solid"/>
          </a:ln>
        </p:spPr>
        <p:txBody>
          <a:bodyPr/>
          <a:lstStyle/>
          <a:p>
            <a:endParaRPr lang="en-US"/>
          </a:p>
        </p:txBody>
      </p:sp>
      <p:sp>
        <p:nvSpPr>
          <p:cNvPr id="21" name="Shape 17"/>
          <p:cNvSpPr/>
          <p:nvPr/>
        </p:nvSpPr>
        <p:spPr>
          <a:xfrm>
            <a:off x="8586216" y="2039112"/>
            <a:ext cx="475488" cy="475488"/>
          </a:xfrm>
          <a:prstGeom prst="ellipse">
            <a:avLst/>
          </a:prstGeom>
          <a:solidFill>
            <a:srgbClr val="EBF2FE"/>
          </a:solidFill>
          <a:ln w="12700">
            <a:solidFill>
              <a:srgbClr val="EBF2FE">
                <a:alpha val="0"/>
              </a:srgbClr>
            </a:solidFill>
            <a:prstDash val="solid"/>
          </a:ln>
        </p:spPr>
        <p:txBody>
          <a:bodyPr/>
          <a:lstStyle/>
          <a:p>
            <a:endParaRPr lang="en-US"/>
          </a:p>
        </p:txBody>
      </p:sp>
      <p:pic>
        <p:nvPicPr>
          <p:cNvPr id="22" name="Image 2" descr="/mnt/data/auth_slide_work/icon_cache/6a70ac2924087a15486326ddb31769d3.png"/>
          <p:cNvPicPr>
            <a:picLocks noChangeAspect="1"/>
          </p:cNvPicPr>
          <p:nvPr/>
        </p:nvPicPr>
        <p:blipFill>
          <a:blip r:embed="rId5"/>
          <a:stretch>
            <a:fillRect/>
          </a:stretch>
        </p:blipFill>
        <p:spPr>
          <a:xfrm>
            <a:off x="8719353" y="2162739"/>
            <a:ext cx="204460" cy="204460"/>
          </a:xfrm>
          <a:prstGeom prst="rect">
            <a:avLst/>
          </a:prstGeom>
        </p:spPr>
      </p:pic>
      <p:sp>
        <p:nvSpPr>
          <p:cNvPr id="23" name="Text 18"/>
          <p:cNvSpPr/>
          <p:nvPr/>
        </p:nvSpPr>
        <p:spPr>
          <a:xfrm>
            <a:off x="8586216" y="2651760"/>
            <a:ext cx="3227832" cy="411480"/>
          </a:xfrm>
          <a:prstGeom prst="rect">
            <a:avLst/>
          </a:prstGeom>
          <a:noFill/>
          <a:ln/>
        </p:spPr>
        <p:txBody>
          <a:bodyPr wrap="square" lIns="0" tIns="0" rIns="0" bIns="0" rtlCol="0" anchor="ctr">
            <a:normAutofit/>
          </a:bodyPr>
          <a:lstStyle/>
          <a:p>
            <a:pPr marL="0" indent="0">
              <a:buNone/>
            </a:pPr>
            <a:r>
              <a:rPr lang="vi-VN" altLang="en-US" sz="1820" b="1" dirty="0">
                <a:solidFill>
                  <a:srgbClr val="183B63"/>
                </a:solidFill>
                <a:latin typeface="Inter" pitchFamily="34" charset="0"/>
                <a:ea typeface="Inter" pitchFamily="34" charset="-122"/>
                <a:cs typeface="Inter" pitchFamily="34" charset="-120"/>
              </a:rPr>
              <a:t>next()  •  Next</a:t>
            </a:r>
            <a:endParaRPr lang="vi-VN" sz="1820" dirty="0"/>
          </a:p>
        </p:txBody>
      </p:sp>
      <p:sp>
        <p:nvSpPr>
          <p:cNvPr id="24" name="Text 19"/>
          <p:cNvSpPr/>
          <p:nvPr/>
        </p:nvSpPr>
        <p:spPr>
          <a:xfrm>
            <a:off x="8586216" y="3108960"/>
            <a:ext cx="3227832" cy="713232"/>
          </a:xfrm>
          <a:prstGeom prst="rect">
            <a:avLst/>
          </a:prstGeom>
          <a:noFill/>
          <a:ln/>
        </p:spPr>
        <p:txBody>
          <a:bodyPr wrap="square" lIns="0" tIns="0" rIns="0" bIns="0" rtlCol="0" anchor="t">
            <a:normAutofit/>
          </a:bodyPr>
          <a:lstStyle/>
          <a:p>
            <a:pPr marL="0" indent="0">
              <a:buNone/>
            </a:pPr>
            <a:r>
              <a:rPr lang="vi-VN" altLang="en-US" sz="1470" dirty="0">
                <a:solidFill>
                  <a:srgbClr val="667389"/>
                </a:solidFill>
                <a:latin typeface="Inter" pitchFamily="34" charset="0"/>
                <a:ea typeface="Inter" pitchFamily="34" charset="-122"/>
                <a:cs typeface="Inter" pitchFamily="34" charset="-120"/>
              </a:rPr>
              <a:t>Chuyển sang bước xử lý tiếp</a:t>
            </a:r>
            <a:endParaRPr lang="vi-VN" sz="1470" dirty="0"/>
          </a:p>
        </p:txBody>
      </p:sp>
      <p:sp>
        <p:nvSpPr>
          <p:cNvPr id="25" name="Shape 20"/>
          <p:cNvSpPr/>
          <p:nvPr/>
        </p:nvSpPr>
        <p:spPr>
          <a:xfrm>
            <a:off x="832104" y="4590288"/>
            <a:ext cx="2414016" cy="722376"/>
          </a:xfrm>
          <a:prstGeom prst="roundRect">
            <a:avLst>
              <a:gd name="adj" fmla="val 15190"/>
            </a:avLst>
          </a:prstGeom>
          <a:solidFill>
            <a:srgbClr val="EBF2FE"/>
          </a:solidFill>
          <a:ln w="12700">
            <a:solidFill>
              <a:srgbClr val="EBF2FE">
                <a:alpha val="0"/>
              </a:srgbClr>
            </a:solidFill>
            <a:prstDash val="solid"/>
          </a:ln>
        </p:spPr>
        <p:txBody>
          <a:bodyPr/>
          <a:lstStyle/>
          <a:p>
            <a:endParaRPr lang="en-US"/>
          </a:p>
        </p:txBody>
      </p:sp>
      <p:sp>
        <p:nvSpPr>
          <p:cNvPr id="26" name="Text 21"/>
          <p:cNvSpPr/>
          <p:nvPr/>
        </p:nvSpPr>
        <p:spPr>
          <a:xfrm>
            <a:off x="923544" y="4690872"/>
            <a:ext cx="2231136" cy="521208"/>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Client Request</a:t>
            </a:r>
            <a:endParaRPr lang="vi-VN" sz="1360" dirty="0"/>
          </a:p>
        </p:txBody>
      </p:sp>
      <p:sp>
        <p:nvSpPr>
          <p:cNvPr id="27" name="Shape 22"/>
          <p:cNvSpPr/>
          <p:nvPr/>
        </p:nvSpPr>
        <p:spPr>
          <a:xfrm>
            <a:off x="3300984" y="4956048"/>
            <a:ext cx="512064" cy="0"/>
          </a:xfrm>
          <a:prstGeom prst="line">
            <a:avLst/>
          </a:prstGeom>
          <a:noFill/>
          <a:ln w="30480">
            <a:solidFill>
              <a:srgbClr val="B38A20"/>
            </a:solidFill>
            <a:prstDash val="solid"/>
            <a:headEnd type="none"/>
            <a:tailEnd type="triangle"/>
          </a:ln>
        </p:spPr>
        <p:txBody>
          <a:bodyPr/>
          <a:lstStyle/>
          <a:p>
            <a:endParaRPr lang="en-US"/>
          </a:p>
        </p:txBody>
      </p:sp>
      <p:sp>
        <p:nvSpPr>
          <p:cNvPr id="28" name="Shape 23"/>
          <p:cNvSpPr/>
          <p:nvPr/>
        </p:nvSpPr>
        <p:spPr>
          <a:xfrm>
            <a:off x="3858768" y="4590288"/>
            <a:ext cx="2926080" cy="722376"/>
          </a:xfrm>
          <a:prstGeom prst="roundRect">
            <a:avLst>
              <a:gd name="adj" fmla="val 15190"/>
            </a:avLst>
          </a:prstGeom>
          <a:solidFill>
            <a:srgbClr val="EBF2FE"/>
          </a:solidFill>
          <a:ln w="12700">
            <a:solidFill>
              <a:srgbClr val="EBF2FE">
                <a:alpha val="0"/>
              </a:srgbClr>
            </a:solidFill>
            <a:prstDash val="solid"/>
          </a:ln>
        </p:spPr>
        <p:txBody>
          <a:bodyPr/>
          <a:lstStyle/>
          <a:p>
            <a:endParaRPr lang="en-US"/>
          </a:p>
        </p:txBody>
      </p:sp>
      <p:sp>
        <p:nvSpPr>
          <p:cNvPr id="29" name="Text 24"/>
          <p:cNvSpPr/>
          <p:nvPr/>
        </p:nvSpPr>
        <p:spPr>
          <a:xfrm>
            <a:off x="3950208" y="4690872"/>
            <a:ext cx="2743200" cy="521208"/>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Middleware isAuth</a:t>
            </a:r>
            <a:endParaRPr lang="vi-VN" sz="1360" dirty="0"/>
          </a:p>
        </p:txBody>
      </p:sp>
      <p:sp>
        <p:nvSpPr>
          <p:cNvPr id="30" name="Shape 25"/>
          <p:cNvSpPr/>
          <p:nvPr/>
        </p:nvSpPr>
        <p:spPr>
          <a:xfrm>
            <a:off x="6830568" y="4956048"/>
            <a:ext cx="548640" cy="0"/>
          </a:xfrm>
          <a:prstGeom prst="line">
            <a:avLst/>
          </a:prstGeom>
          <a:noFill/>
          <a:ln w="30480">
            <a:solidFill>
              <a:srgbClr val="B38A20"/>
            </a:solidFill>
            <a:prstDash val="solid"/>
            <a:headEnd type="none"/>
            <a:tailEnd type="triangle"/>
          </a:ln>
        </p:spPr>
        <p:txBody>
          <a:bodyPr/>
          <a:lstStyle/>
          <a:p>
            <a:endParaRPr lang="en-US"/>
          </a:p>
        </p:txBody>
      </p:sp>
      <p:sp>
        <p:nvSpPr>
          <p:cNvPr id="31" name="Shape 26"/>
          <p:cNvSpPr/>
          <p:nvPr/>
        </p:nvSpPr>
        <p:spPr>
          <a:xfrm>
            <a:off x="7443216" y="4590288"/>
            <a:ext cx="3520440" cy="722376"/>
          </a:xfrm>
          <a:prstGeom prst="roundRect">
            <a:avLst>
              <a:gd name="adj" fmla="val 15190"/>
            </a:avLst>
          </a:prstGeom>
          <a:solidFill>
            <a:srgbClr val="E6F6EF"/>
          </a:solidFill>
          <a:ln w="12700">
            <a:solidFill>
              <a:srgbClr val="E6F6EF">
                <a:alpha val="0"/>
              </a:srgbClr>
            </a:solidFill>
            <a:prstDash val="solid"/>
          </a:ln>
        </p:spPr>
        <p:txBody>
          <a:bodyPr/>
          <a:lstStyle/>
          <a:p>
            <a:endParaRPr lang="en-US"/>
          </a:p>
        </p:txBody>
      </p:sp>
      <p:sp>
        <p:nvSpPr>
          <p:cNvPr id="32" name="Text 27"/>
          <p:cNvSpPr/>
          <p:nvPr/>
        </p:nvSpPr>
        <p:spPr>
          <a:xfrm>
            <a:off x="7534656" y="4690872"/>
            <a:ext cx="3337560" cy="521208"/>
          </a:xfrm>
          <a:prstGeom prst="rect">
            <a:avLst/>
          </a:prstGeom>
          <a:noFill/>
          <a:ln/>
        </p:spPr>
        <p:txBody>
          <a:bodyPr wrap="square" lIns="0" tIns="0" rIns="0" bIns="0" rtlCol="0" anchor="ctr">
            <a:normAutofit/>
          </a:bodyPr>
          <a:lstStyle/>
          <a:p>
            <a:pPr marL="0" indent="0" algn="ctr">
              <a:buNone/>
            </a:pPr>
            <a:r>
              <a:rPr lang="vi-VN" altLang="en-US" sz="1360" b="1" dirty="0">
                <a:solidFill>
                  <a:srgbClr val="19805B"/>
                </a:solidFill>
                <a:latin typeface="Inter" pitchFamily="34" charset="0"/>
                <a:ea typeface="Inter" pitchFamily="34" charset="-122"/>
                <a:cs typeface="Inter" pitchFamily="34" charset="-120"/>
              </a:rPr>
              <a:t>Controller getProfile</a:t>
            </a:r>
            <a:endParaRPr lang="vi-VN" sz="1360" dirty="0"/>
          </a:p>
        </p:txBody>
      </p:sp>
      <p:sp>
        <p:nvSpPr>
          <p:cNvPr id="33" name="Shape 28"/>
          <p:cNvSpPr/>
          <p:nvPr/>
        </p:nvSpPr>
        <p:spPr>
          <a:xfrm>
            <a:off x="475488" y="5870448"/>
            <a:ext cx="11247120" cy="448056"/>
          </a:xfrm>
          <a:prstGeom prst="roundRect">
            <a:avLst>
              <a:gd name="adj" fmla="val 24490"/>
            </a:avLst>
          </a:prstGeom>
          <a:solidFill>
            <a:srgbClr val="FFF5D5"/>
          </a:solidFill>
          <a:ln w="12700">
            <a:solidFill>
              <a:srgbClr val="FFF5D5">
                <a:alpha val="0"/>
              </a:srgbClr>
            </a:solidFill>
            <a:prstDash val="solid"/>
          </a:ln>
        </p:spPr>
        <p:txBody>
          <a:bodyPr/>
          <a:lstStyle/>
          <a:p>
            <a:endParaRPr lang="en-US"/>
          </a:p>
        </p:txBody>
      </p:sp>
      <p:pic>
        <p:nvPicPr>
          <p:cNvPr id="34" name="Image 3" descr="/mnt/data/auth_slide_work/icon_cache/19a4e8a463faa6409c49e67e1231d428.png"/>
          <p:cNvPicPr>
            <a:picLocks noChangeAspect="1"/>
          </p:cNvPicPr>
          <p:nvPr/>
        </p:nvPicPr>
        <p:blipFill>
          <a:blip r:embed="rId6"/>
          <a:stretch>
            <a:fillRect/>
          </a:stretch>
        </p:blipFill>
        <p:spPr>
          <a:xfrm>
            <a:off x="658368" y="5998464"/>
            <a:ext cx="173736" cy="173736"/>
          </a:xfrm>
          <a:prstGeom prst="rect">
            <a:avLst/>
          </a:prstGeom>
        </p:spPr>
      </p:pic>
      <p:sp>
        <p:nvSpPr>
          <p:cNvPr id="35" name="Text 29"/>
          <p:cNvSpPr/>
          <p:nvPr/>
        </p:nvSpPr>
        <p:spPr>
          <a:xfrm>
            <a:off x="932688" y="5957316"/>
            <a:ext cx="10515600" cy="283464"/>
          </a:xfrm>
          <a:prstGeom prst="rect">
            <a:avLst/>
          </a:prstGeom>
          <a:noFill/>
          <a:ln/>
        </p:spPr>
        <p:txBody>
          <a:bodyPr wrap="square" lIns="0" tIns="0" rIns="0" bIns="0" rtlCol="0" anchor="ctr">
            <a:normAutofit/>
          </a:bodyPr>
          <a:lstStyle/>
          <a:p>
            <a:pPr marL="0" indent="0">
              <a:buNone/>
            </a:pPr>
            <a:r>
              <a:rPr lang="vi-VN" altLang="en-US" sz="1220" dirty="0">
                <a:solidFill>
                  <a:srgbClr val="263345"/>
                </a:solidFill>
                <a:latin typeface="Inter" pitchFamily="34" charset="0"/>
                <a:ea typeface="Inter" pitchFamily="34" charset="-122"/>
                <a:cs typeface="Inter" pitchFamily="34" charset="-120"/>
              </a:rPr>
              <a:t>Khi Middleware gọi next(), Request mới đi tiếp đến Middleware hoặc Controller sau đó.</a:t>
            </a:r>
            <a:endParaRPr lang="vi-VN"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ĐỌC HIỂU CODE</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Đọc Route Authentication từng thành phần</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Ví dụ GET /profile chỉ dành cho người dùng đã đăng nhập.</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16 / 24</a:t>
            </a:r>
            <a:endParaRPr lang="vi-VN" sz="850" dirty="0"/>
          </a:p>
        </p:txBody>
      </p:sp>
      <p:sp>
        <p:nvSpPr>
          <p:cNvPr id="10" name="Shape 8"/>
          <p:cNvSpPr/>
          <p:nvPr/>
        </p:nvSpPr>
        <p:spPr>
          <a:xfrm>
            <a:off x="649224" y="1901952"/>
            <a:ext cx="5120640" cy="2779776"/>
          </a:xfrm>
          <a:prstGeom prst="roundRect">
            <a:avLst>
              <a:gd name="adj" fmla="val 3947"/>
            </a:avLst>
          </a:prstGeom>
          <a:solidFill>
            <a:srgbClr val="16273C"/>
          </a:solidFill>
          <a:ln w="12700">
            <a:solidFill>
              <a:srgbClr val="16273C">
                <a:alpha val="0"/>
              </a:srgbClr>
            </a:solidFill>
            <a:prstDash val="solid"/>
          </a:ln>
        </p:spPr>
        <p:txBody>
          <a:bodyPr/>
          <a:lstStyle/>
          <a:p>
            <a:endParaRPr lang="en-US"/>
          </a:p>
        </p:txBody>
      </p:sp>
      <p:sp>
        <p:nvSpPr>
          <p:cNvPr id="11" name="Shape 9"/>
          <p:cNvSpPr/>
          <p:nvPr/>
        </p:nvSpPr>
        <p:spPr>
          <a:xfrm>
            <a:off x="841248" y="2066544"/>
            <a:ext cx="100584" cy="100584"/>
          </a:xfrm>
          <a:prstGeom prst="ellipse">
            <a:avLst/>
          </a:prstGeom>
          <a:solidFill>
            <a:srgbClr val="FF6873"/>
          </a:solidFill>
          <a:ln w="12700">
            <a:solidFill>
              <a:srgbClr val="333333">
                <a:alpha val="0"/>
              </a:srgbClr>
            </a:solidFill>
            <a:prstDash val="solid"/>
          </a:ln>
        </p:spPr>
        <p:txBody>
          <a:bodyPr/>
          <a:lstStyle/>
          <a:p>
            <a:endParaRPr lang="en-US"/>
          </a:p>
        </p:txBody>
      </p:sp>
      <p:sp>
        <p:nvSpPr>
          <p:cNvPr id="12" name="Shape 10"/>
          <p:cNvSpPr/>
          <p:nvPr/>
        </p:nvSpPr>
        <p:spPr>
          <a:xfrm>
            <a:off x="1014984" y="2066544"/>
            <a:ext cx="100584" cy="100584"/>
          </a:xfrm>
          <a:prstGeom prst="ellipse">
            <a:avLst/>
          </a:prstGeom>
          <a:solidFill>
            <a:srgbClr val="FFD069"/>
          </a:solidFill>
          <a:ln w="12700">
            <a:solidFill>
              <a:srgbClr val="333333">
                <a:alpha val="0"/>
              </a:srgbClr>
            </a:solidFill>
            <a:prstDash val="solid"/>
          </a:ln>
        </p:spPr>
        <p:txBody>
          <a:bodyPr/>
          <a:lstStyle/>
          <a:p>
            <a:endParaRPr lang="en-US"/>
          </a:p>
        </p:txBody>
      </p:sp>
      <p:sp>
        <p:nvSpPr>
          <p:cNvPr id="13" name="Shape 11"/>
          <p:cNvSpPr/>
          <p:nvPr/>
        </p:nvSpPr>
        <p:spPr>
          <a:xfrm>
            <a:off x="1188720" y="2066544"/>
            <a:ext cx="100584" cy="100584"/>
          </a:xfrm>
          <a:prstGeom prst="ellipse">
            <a:avLst/>
          </a:prstGeom>
          <a:solidFill>
            <a:srgbClr val="4CD39B"/>
          </a:solidFill>
          <a:ln w="12700">
            <a:solidFill>
              <a:srgbClr val="333333">
                <a:alpha val="0"/>
              </a:srgbClr>
            </a:solidFill>
            <a:prstDash val="solid"/>
          </a:ln>
        </p:spPr>
        <p:txBody>
          <a:bodyPr/>
          <a:lstStyle/>
          <a:p>
            <a:endParaRPr lang="en-US"/>
          </a:p>
        </p:txBody>
      </p:sp>
      <p:sp>
        <p:nvSpPr>
          <p:cNvPr id="14" name="Text 12"/>
          <p:cNvSpPr/>
          <p:nvPr/>
        </p:nvSpPr>
        <p:spPr>
          <a:xfrm>
            <a:off x="3575304" y="2029968"/>
            <a:ext cx="1938528" cy="201168"/>
          </a:xfrm>
          <a:prstGeom prst="rect">
            <a:avLst/>
          </a:prstGeom>
          <a:noFill/>
          <a:ln/>
        </p:spPr>
        <p:txBody>
          <a:bodyPr wrap="square" lIns="0" tIns="0" rIns="0" bIns="0" rtlCol="0" anchor="ctr">
            <a:normAutofit/>
          </a:bodyPr>
          <a:lstStyle/>
          <a:p>
            <a:pPr marL="0" indent="0" algn="r">
              <a:buNone/>
            </a:pPr>
            <a:r>
              <a:rPr lang="vi-VN" altLang="en-US" sz="900" b="1" dirty="0">
                <a:solidFill>
                  <a:srgbClr val="91AECF"/>
                </a:solidFill>
                <a:latin typeface="Inter" pitchFamily="34" charset="0"/>
                <a:ea typeface="Inter" pitchFamily="34" charset="-122"/>
                <a:cs typeface="Inter" pitchFamily="34" charset="-120"/>
              </a:rPr>
              <a:t>TYPESCRIPT</a:t>
            </a:r>
            <a:endParaRPr lang="vi-VN" sz="900" dirty="0"/>
          </a:p>
        </p:txBody>
      </p:sp>
      <p:sp>
        <p:nvSpPr>
          <p:cNvPr id="15" name="Text 13"/>
          <p:cNvSpPr/>
          <p:nvPr/>
        </p:nvSpPr>
        <p:spPr>
          <a:xfrm>
            <a:off x="886968" y="2368296"/>
            <a:ext cx="4663440" cy="411480"/>
          </a:xfrm>
          <a:prstGeom prst="rect">
            <a:avLst/>
          </a:prstGeom>
          <a:noFill/>
          <a:ln/>
        </p:spPr>
        <p:txBody>
          <a:bodyPr wrap="square" lIns="0" tIns="0" rIns="0" bIns="0" rtlCol="0" anchor="ctr">
            <a:normAutofit/>
          </a:bodyPr>
          <a:lstStyle/>
          <a:p>
            <a:pPr marL="0" indent="0" algn="l">
              <a:buNone/>
            </a:pPr>
            <a:r>
              <a:rPr lang="vi-VN" altLang="en-US" sz="1800" dirty="0">
                <a:solidFill>
                  <a:srgbClr val="8CCBFF"/>
                </a:solidFill>
                <a:latin typeface="DejaVu Sans Mono" pitchFamily="34" charset="0"/>
                <a:ea typeface="DejaVu Sans Mono" pitchFamily="34" charset="-122"/>
                <a:cs typeface="DejaVu Sans Mono" pitchFamily="34" charset="-120"/>
              </a:rPr>
              <a:t>router</a:t>
            </a:r>
            <a:r>
              <a:rPr lang="vi-VN" altLang="en-US" sz="1800" dirty="0">
                <a:solidFill>
                  <a:srgbClr val="E9F0FC"/>
                </a:solidFill>
                <a:latin typeface="DejaVu Sans Mono" pitchFamily="34" charset="0"/>
                <a:ea typeface="DejaVu Sans Mono" pitchFamily="34" charset="-122"/>
                <a:cs typeface="DejaVu Sans Mono" pitchFamily="34" charset="-120"/>
              </a:rPr>
              <a:t>.</a:t>
            </a:r>
            <a:r>
              <a:rPr lang="vi-VN" altLang="en-US" sz="1800" dirty="0">
                <a:solidFill>
                  <a:srgbClr val="F7C67F"/>
                </a:solidFill>
                <a:latin typeface="DejaVu Sans Mono" pitchFamily="34" charset="0"/>
                <a:ea typeface="DejaVu Sans Mono" pitchFamily="34" charset="-122"/>
                <a:cs typeface="DejaVu Sans Mono" pitchFamily="34" charset="-120"/>
              </a:rPr>
              <a:t>get</a:t>
            </a:r>
            <a:r>
              <a:rPr lang="vi-VN" altLang="en-US" sz="1800" dirty="0">
                <a:solidFill>
                  <a:srgbClr val="E9F0FC"/>
                </a:solidFill>
                <a:latin typeface="DejaVu Sans Mono" pitchFamily="34" charset="0"/>
                <a:ea typeface="DejaVu Sans Mono" pitchFamily="34" charset="-122"/>
                <a:cs typeface="DejaVu Sans Mono" pitchFamily="34" charset="-120"/>
              </a:rPr>
              <a:t>(</a:t>
            </a:r>
            <a:endParaRPr lang="vi-VN" sz="1800" dirty="0"/>
          </a:p>
        </p:txBody>
      </p:sp>
      <p:sp>
        <p:nvSpPr>
          <p:cNvPr id="16" name="Text 14"/>
          <p:cNvSpPr/>
          <p:nvPr/>
        </p:nvSpPr>
        <p:spPr>
          <a:xfrm>
            <a:off x="886968" y="2779776"/>
            <a:ext cx="4663440" cy="411480"/>
          </a:xfrm>
          <a:prstGeom prst="rect">
            <a:avLst/>
          </a:prstGeom>
          <a:noFill/>
          <a:ln/>
        </p:spPr>
        <p:txBody>
          <a:bodyPr wrap="square" lIns="0" tIns="0" rIns="0" bIns="0" rtlCol="0" anchor="ctr">
            <a:normAutofit/>
          </a:bodyPr>
          <a:lstStyle/>
          <a:p>
            <a:pPr marL="0" indent="0" algn="l">
              <a:buNone/>
            </a:pPr>
            <a:r>
              <a:rPr lang="vi-VN" altLang="en-US" sz="1800" dirty="0">
                <a:solidFill>
                  <a:srgbClr val="E9F0FC"/>
                </a:solidFill>
                <a:latin typeface="DejaVu Sans Mono" pitchFamily="34" charset="0"/>
                <a:ea typeface="DejaVu Sans Mono" pitchFamily="34" charset="-122"/>
                <a:cs typeface="DejaVu Sans Mono" pitchFamily="34" charset="-120"/>
              </a:rPr>
              <a:t>  </a:t>
            </a:r>
            <a:r>
              <a:rPr lang="vi-VN" altLang="en-US" sz="1800" dirty="0">
                <a:solidFill>
                  <a:srgbClr val="8DE2BC"/>
                </a:solidFill>
                <a:latin typeface="DejaVu Sans Mono" pitchFamily="34" charset="0"/>
                <a:ea typeface="DejaVu Sans Mono" pitchFamily="34" charset="-122"/>
                <a:cs typeface="DejaVu Sans Mono" pitchFamily="34" charset="-120"/>
              </a:rPr>
              <a:t>"/profile"</a:t>
            </a:r>
            <a:r>
              <a:rPr lang="vi-VN" altLang="en-US" sz="1800" dirty="0">
                <a:solidFill>
                  <a:srgbClr val="E9F0FC"/>
                </a:solidFill>
                <a:latin typeface="DejaVu Sans Mono" pitchFamily="34" charset="0"/>
                <a:ea typeface="DejaVu Sans Mono" pitchFamily="34" charset="-122"/>
                <a:cs typeface="DejaVu Sans Mono" pitchFamily="34" charset="-120"/>
              </a:rPr>
              <a:t>,</a:t>
            </a:r>
            <a:endParaRPr lang="vi-VN" sz="1800" dirty="0"/>
          </a:p>
        </p:txBody>
      </p:sp>
      <p:sp>
        <p:nvSpPr>
          <p:cNvPr id="17" name="Text 15"/>
          <p:cNvSpPr/>
          <p:nvPr/>
        </p:nvSpPr>
        <p:spPr>
          <a:xfrm>
            <a:off x="886968" y="3191256"/>
            <a:ext cx="4663440" cy="411480"/>
          </a:xfrm>
          <a:prstGeom prst="rect">
            <a:avLst/>
          </a:prstGeom>
          <a:noFill/>
          <a:ln/>
        </p:spPr>
        <p:txBody>
          <a:bodyPr wrap="square" lIns="0" tIns="0" rIns="0" bIns="0" rtlCol="0" anchor="ctr">
            <a:normAutofit/>
          </a:bodyPr>
          <a:lstStyle/>
          <a:p>
            <a:pPr marL="0" indent="0" algn="l">
              <a:buNone/>
            </a:pPr>
            <a:r>
              <a:rPr lang="vi-VN" altLang="en-US" sz="1800" dirty="0">
                <a:solidFill>
                  <a:srgbClr val="E9F0FC"/>
                </a:solidFill>
                <a:latin typeface="DejaVu Sans Mono" pitchFamily="34" charset="0"/>
                <a:ea typeface="DejaVu Sans Mono" pitchFamily="34" charset="-122"/>
                <a:cs typeface="DejaVu Sans Mono" pitchFamily="34" charset="-120"/>
              </a:rPr>
              <a:t>  isAuth,</a:t>
            </a:r>
            <a:endParaRPr lang="vi-VN" sz="1800" dirty="0"/>
          </a:p>
        </p:txBody>
      </p:sp>
      <p:sp>
        <p:nvSpPr>
          <p:cNvPr id="18" name="Text 16"/>
          <p:cNvSpPr/>
          <p:nvPr/>
        </p:nvSpPr>
        <p:spPr>
          <a:xfrm>
            <a:off x="886968" y="3602736"/>
            <a:ext cx="4663440" cy="411480"/>
          </a:xfrm>
          <a:prstGeom prst="rect">
            <a:avLst/>
          </a:prstGeom>
          <a:noFill/>
          <a:ln/>
        </p:spPr>
        <p:txBody>
          <a:bodyPr wrap="square" lIns="0" tIns="0" rIns="0" bIns="0" rtlCol="0" anchor="ctr">
            <a:normAutofit/>
          </a:bodyPr>
          <a:lstStyle/>
          <a:p>
            <a:pPr marL="0" indent="0" algn="l">
              <a:buNone/>
            </a:pPr>
            <a:r>
              <a:rPr lang="vi-VN" altLang="en-US" sz="1800" dirty="0">
                <a:solidFill>
                  <a:srgbClr val="E9F0FC"/>
                </a:solidFill>
                <a:latin typeface="DejaVu Sans Mono" pitchFamily="34" charset="0"/>
                <a:ea typeface="DejaVu Sans Mono" pitchFamily="34" charset="-122"/>
                <a:cs typeface="DejaVu Sans Mono" pitchFamily="34" charset="-120"/>
              </a:rPr>
              <a:t>  getProfile</a:t>
            </a:r>
            <a:endParaRPr lang="vi-VN" sz="1800" dirty="0"/>
          </a:p>
        </p:txBody>
      </p:sp>
      <p:sp>
        <p:nvSpPr>
          <p:cNvPr id="19" name="Text 17"/>
          <p:cNvSpPr/>
          <p:nvPr/>
        </p:nvSpPr>
        <p:spPr>
          <a:xfrm>
            <a:off x="886968" y="4014216"/>
            <a:ext cx="4663440" cy="411480"/>
          </a:xfrm>
          <a:prstGeom prst="rect">
            <a:avLst/>
          </a:prstGeom>
          <a:noFill/>
          <a:ln/>
        </p:spPr>
        <p:txBody>
          <a:bodyPr wrap="square" lIns="0" tIns="0" rIns="0" bIns="0" rtlCol="0" anchor="ctr">
            <a:normAutofit/>
          </a:bodyPr>
          <a:lstStyle/>
          <a:p>
            <a:pPr marL="0" indent="0" algn="l">
              <a:buNone/>
            </a:pPr>
            <a:r>
              <a:rPr lang="vi-VN" altLang="en-US" sz="1800" dirty="0">
                <a:solidFill>
                  <a:srgbClr val="E9F0FC"/>
                </a:solidFill>
                <a:latin typeface="DejaVu Sans Mono" pitchFamily="34" charset="0"/>
                <a:ea typeface="DejaVu Sans Mono" pitchFamily="34" charset="-122"/>
                <a:cs typeface="DejaVu Sans Mono" pitchFamily="34" charset="-120"/>
              </a:rPr>
              <a:t>);</a:t>
            </a:r>
            <a:endParaRPr lang="vi-VN" sz="1800" dirty="0"/>
          </a:p>
        </p:txBody>
      </p:sp>
      <p:sp>
        <p:nvSpPr>
          <p:cNvPr id="20" name="Shape 18"/>
          <p:cNvSpPr/>
          <p:nvPr/>
        </p:nvSpPr>
        <p:spPr>
          <a:xfrm>
            <a:off x="6135624" y="1837944"/>
            <a:ext cx="5358384" cy="539496"/>
          </a:xfrm>
          <a:prstGeom prst="roundRect">
            <a:avLst>
              <a:gd name="adj" fmla="val 20339"/>
            </a:avLst>
          </a:prstGeom>
          <a:solidFill>
            <a:srgbClr val="FFFFFF"/>
          </a:solidFill>
          <a:ln w="12700">
            <a:solidFill>
              <a:srgbClr val="E0E6EF"/>
            </a:solidFill>
            <a:prstDash val="solid"/>
          </a:ln>
        </p:spPr>
        <p:txBody>
          <a:bodyPr/>
          <a:lstStyle/>
          <a:p>
            <a:endParaRPr lang="en-US"/>
          </a:p>
        </p:txBody>
      </p:sp>
      <p:sp>
        <p:nvSpPr>
          <p:cNvPr id="21" name="Text 19"/>
          <p:cNvSpPr/>
          <p:nvPr/>
        </p:nvSpPr>
        <p:spPr>
          <a:xfrm>
            <a:off x="6318504" y="1956816"/>
            <a:ext cx="1426464" cy="265176"/>
          </a:xfrm>
          <a:prstGeom prst="rect">
            <a:avLst/>
          </a:prstGeom>
          <a:noFill/>
          <a:ln/>
        </p:spPr>
        <p:txBody>
          <a:bodyPr wrap="square" lIns="0" tIns="0" rIns="0" bIns="0" rtlCol="0" anchor="ctr">
            <a:normAutofit/>
          </a:bodyPr>
          <a:lstStyle/>
          <a:p>
            <a:pPr marL="0" indent="0">
              <a:buNone/>
            </a:pPr>
            <a:r>
              <a:rPr lang="vi-VN" altLang="en-US" sz="1290" b="1" dirty="0">
                <a:solidFill>
                  <a:srgbClr val="2A5DAD"/>
                </a:solidFill>
                <a:latin typeface="DejaVu Sans Mono" pitchFamily="34" charset="0"/>
                <a:ea typeface="DejaVu Sans Mono" pitchFamily="34" charset="-122"/>
                <a:cs typeface="DejaVu Sans Mono" pitchFamily="34" charset="-120"/>
              </a:rPr>
              <a:t>router</a:t>
            </a:r>
            <a:endParaRPr lang="vi-VN" sz="1290" dirty="0"/>
          </a:p>
        </p:txBody>
      </p:sp>
      <p:sp>
        <p:nvSpPr>
          <p:cNvPr id="22" name="Text 20"/>
          <p:cNvSpPr/>
          <p:nvPr/>
        </p:nvSpPr>
        <p:spPr>
          <a:xfrm>
            <a:off x="7754112" y="1956816"/>
            <a:ext cx="3493008" cy="274320"/>
          </a:xfrm>
          <a:prstGeom prst="rect">
            <a:avLst/>
          </a:prstGeom>
          <a:noFill/>
          <a:ln/>
        </p:spPr>
        <p:txBody>
          <a:bodyPr wrap="square" lIns="0" tIns="0" rIns="0" bIns="0" rtlCol="0" anchor="ctr">
            <a:normAutofit/>
          </a:bodyPr>
          <a:lstStyle/>
          <a:p>
            <a:pPr marL="0" indent="0">
              <a:buNone/>
            </a:pPr>
            <a:r>
              <a:rPr lang="vi-VN" altLang="en-US" sz="1350" dirty="0">
                <a:solidFill>
                  <a:srgbClr val="263345"/>
                </a:solidFill>
                <a:latin typeface="Inter" pitchFamily="34" charset="0"/>
                <a:ea typeface="Inter" pitchFamily="34" charset="-122"/>
                <a:cs typeface="Inter" pitchFamily="34" charset="-120"/>
              </a:rPr>
              <a:t>Bộ định tuyến Express</a:t>
            </a:r>
            <a:endParaRPr lang="vi-VN" sz="1350" dirty="0"/>
          </a:p>
        </p:txBody>
      </p:sp>
      <p:sp>
        <p:nvSpPr>
          <p:cNvPr id="23" name="Shape 21"/>
          <p:cNvSpPr/>
          <p:nvPr/>
        </p:nvSpPr>
        <p:spPr>
          <a:xfrm>
            <a:off x="6135624" y="2496312"/>
            <a:ext cx="5358384" cy="539496"/>
          </a:xfrm>
          <a:prstGeom prst="roundRect">
            <a:avLst>
              <a:gd name="adj" fmla="val 20339"/>
            </a:avLst>
          </a:prstGeom>
          <a:solidFill>
            <a:srgbClr val="FFFFFF"/>
          </a:solidFill>
          <a:ln w="12700">
            <a:solidFill>
              <a:srgbClr val="E0E6EF"/>
            </a:solidFill>
            <a:prstDash val="solid"/>
          </a:ln>
        </p:spPr>
        <p:txBody>
          <a:bodyPr/>
          <a:lstStyle/>
          <a:p>
            <a:endParaRPr lang="en-US"/>
          </a:p>
        </p:txBody>
      </p:sp>
      <p:sp>
        <p:nvSpPr>
          <p:cNvPr id="24" name="Text 22"/>
          <p:cNvSpPr/>
          <p:nvPr/>
        </p:nvSpPr>
        <p:spPr>
          <a:xfrm>
            <a:off x="6318504" y="2615184"/>
            <a:ext cx="1426464" cy="265176"/>
          </a:xfrm>
          <a:prstGeom prst="rect">
            <a:avLst/>
          </a:prstGeom>
          <a:noFill/>
          <a:ln/>
        </p:spPr>
        <p:txBody>
          <a:bodyPr wrap="square" lIns="0" tIns="0" rIns="0" bIns="0" rtlCol="0" anchor="ctr">
            <a:normAutofit/>
          </a:bodyPr>
          <a:lstStyle/>
          <a:p>
            <a:pPr marL="0" indent="0">
              <a:buNone/>
            </a:pPr>
            <a:r>
              <a:rPr lang="vi-VN" altLang="en-US" sz="1290" b="1" dirty="0">
                <a:solidFill>
                  <a:srgbClr val="2A5DAD"/>
                </a:solidFill>
                <a:latin typeface="DejaVu Sans Mono" pitchFamily="34" charset="0"/>
                <a:ea typeface="DejaVu Sans Mono" pitchFamily="34" charset="-122"/>
                <a:cs typeface="DejaVu Sans Mono" pitchFamily="34" charset="-120"/>
              </a:rPr>
              <a:t>.get()</a:t>
            </a:r>
            <a:endParaRPr lang="vi-VN" sz="1290" dirty="0"/>
          </a:p>
        </p:txBody>
      </p:sp>
      <p:sp>
        <p:nvSpPr>
          <p:cNvPr id="25" name="Text 23"/>
          <p:cNvSpPr/>
          <p:nvPr/>
        </p:nvSpPr>
        <p:spPr>
          <a:xfrm>
            <a:off x="7754112" y="2615184"/>
            <a:ext cx="3493008" cy="274320"/>
          </a:xfrm>
          <a:prstGeom prst="rect">
            <a:avLst/>
          </a:prstGeom>
          <a:noFill/>
          <a:ln/>
        </p:spPr>
        <p:txBody>
          <a:bodyPr wrap="square" lIns="0" tIns="0" rIns="0" bIns="0" rtlCol="0" anchor="ctr">
            <a:normAutofit/>
          </a:bodyPr>
          <a:lstStyle/>
          <a:p>
            <a:pPr marL="0" indent="0">
              <a:buNone/>
            </a:pPr>
            <a:r>
              <a:rPr lang="vi-VN" altLang="en-US" sz="1350" dirty="0">
                <a:solidFill>
                  <a:srgbClr val="263345"/>
                </a:solidFill>
                <a:latin typeface="Inter" pitchFamily="34" charset="0"/>
                <a:ea typeface="Inter" pitchFamily="34" charset="-122"/>
                <a:cs typeface="Inter" pitchFamily="34" charset="-120"/>
              </a:rPr>
              <a:t>Nhận HTTP GET</a:t>
            </a:r>
            <a:endParaRPr lang="vi-VN" sz="1350" dirty="0"/>
          </a:p>
        </p:txBody>
      </p:sp>
      <p:sp>
        <p:nvSpPr>
          <p:cNvPr id="26" name="Shape 24"/>
          <p:cNvSpPr/>
          <p:nvPr/>
        </p:nvSpPr>
        <p:spPr>
          <a:xfrm>
            <a:off x="6135624" y="3154680"/>
            <a:ext cx="5358384" cy="539496"/>
          </a:xfrm>
          <a:prstGeom prst="roundRect">
            <a:avLst>
              <a:gd name="adj" fmla="val 20339"/>
            </a:avLst>
          </a:prstGeom>
          <a:solidFill>
            <a:srgbClr val="FFFFFF"/>
          </a:solidFill>
          <a:ln w="12700">
            <a:solidFill>
              <a:srgbClr val="E0E6EF"/>
            </a:solidFill>
            <a:prstDash val="solid"/>
          </a:ln>
        </p:spPr>
        <p:txBody>
          <a:bodyPr/>
          <a:lstStyle/>
          <a:p>
            <a:endParaRPr lang="en-US"/>
          </a:p>
        </p:txBody>
      </p:sp>
      <p:sp>
        <p:nvSpPr>
          <p:cNvPr id="27" name="Text 25"/>
          <p:cNvSpPr/>
          <p:nvPr/>
        </p:nvSpPr>
        <p:spPr>
          <a:xfrm>
            <a:off x="6318504" y="3273552"/>
            <a:ext cx="1426464" cy="265176"/>
          </a:xfrm>
          <a:prstGeom prst="rect">
            <a:avLst/>
          </a:prstGeom>
          <a:noFill/>
          <a:ln/>
        </p:spPr>
        <p:txBody>
          <a:bodyPr wrap="square" lIns="0" tIns="0" rIns="0" bIns="0" rtlCol="0" anchor="ctr">
            <a:normAutofit/>
          </a:bodyPr>
          <a:lstStyle/>
          <a:p>
            <a:pPr marL="0" indent="0">
              <a:buNone/>
            </a:pPr>
            <a:r>
              <a:rPr lang="vi-VN" altLang="en-US" sz="1290" b="1" dirty="0">
                <a:solidFill>
                  <a:srgbClr val="2A5DAD"/>
                </a:solidFill>
                <a:latin typeface="DejaVu Sans Mono" pitchFamily="34" charset="0"/>
                <a:ea typeface="DejaVu Sans Mono" pitchFamily="34" charset="-122"/>
                <a:cs typeface="DejaVu Sans Mono" pitchFamily="34" charset="-120"/>
              </a:rPr>
              <a:t>/profile</a:t>
            </a:r>
            <a:endParaRPr lang="vi-VN" sz="1290" dirty="0"/>
          </a:p>
        </p:txBody>
      </p:sp>
      <p:sp>
        <p:nvSpPr>
          <p:cNvPr id="28" name="Text 26"/>
          <p:cNvSpPr/>
          <p:nvPr/>
        </p:nvSpPr>
        <p:spPr>
          <a:xfrm>
            <a:off x="7754112" y="3273552"/>
            <a:ext cx="3493008" cy="274320"/>
          </a:xfrm>
          <a:prstGeom prst="rect">
            <a:avLst/>
          </a:prstGeom>
          <a:noFill/>
          <a:ln/>
        </p:spPr>
        <p:txBody>
          <a:bodyPr wrap="square" lIns="0" tIns="0" rIns="0" bIns="0" rtlCol="0" anchor="ctr">
            <a:normAutofit/>
          </a:bodyPr>
          <a:lstStyle/>
          <a:p>
            <a:pPr marL="0" indent="0">
              <a:buNone/>
            </a:pPr>
            <a:r>
              <a:rPr lang="vi-VN" altLang="en-US" sz="1350" dirty="0">
                <a:solidFill>
                  <a:srgbClr val="263345"/>
                </a:solidFill>
                <a:latin typeface="Inter" pitchFamily="34" charset="0"/>
                <a:ea typeface="Inter" pitchFamily="34" charset="-122"/>
                <a:cs typeface="Inter" pitchFamily="34" charset="-120"/>
              </a:rPr>
              <a:t>Đường dẫn tài nguyên</a:t>
            </a:r>
            <a:endParaRPr lang="vi-VN" sz="1350" dirty="0"/>
          </a:p>
        </p:txBody>
      </p:sp>
      <p:sp>
        <p:nvSpPr>
          <p:cNvPr id="29" name="Shape 27"/>
          <p:cNvSpPr/>
          <p:nvPr/>
        </p:nvSpPr>
        <p:spPr>
          <a:xfrm>
            <a:off x="6135624" y="3813048"/>
            <a:ext cx="5358384" cy="539496"/>
          </a:xfrm>
          <a:prstGeom prst="roundRect">
            <a:avLst>
              <a:gd name="adj" fmla="val 20339"/>
            </a:avLst>
          </a:prstGeom>
          <a:solidFill>
            <a:srgbClr val="FFF5D5"/>
          </a:solidFill>
          <a:ln w="12700">
            <a:solidFill>
              <a:srgbClr val="B38A20"/>
            </a:solidFill>
            <a:prstDash val="solid"/>
          </a:ln>
        </p:spPr>
        <p:txBody>
          <a:bodyPr/>
          <a:lstStyle/>
          <a:p>
            <a:endParaRPr lang="en-US"/>
          </a:p>
        </p:txBody>
      </p:sp>
      <p:sp>
        <p:nvSpPr>
          <p:cNvPr id="30" name="Text 28"/>
          <p:cNvSpPr/>
          <p:nvPr/>
        </p:nvSpPr>
        <p:spPr>
          <a:xfrm>
            <a:off x="6318504" y="3931920"/>
            <a:ext cx="1426464" cy="265176"/>
          </a:xfrm>
          <a:prstGeom prst="rect">
            <a:avLst/>
          </a:prstGeom>
          <a:noFill/>
          <a:ln/>
        </p:spPr>
        <p:txBody>
          <a:bodyPr wrap="square" lIns="0" tIns="0" rIns="0" bIns="0" rtlCol="0" anchor="ctr">
            <a:normAutofit/>
          </a:bodyPr>
          <a:lstStyle/>
          <a:p>
            <a:pPr marL="0" indent="0">
              <a:buNone/>
            </a:pPr>
            <a:r>
              <a:rPr lang="vi-VN" altLang="en-US" sz="1290" b="1" dirty="0">
                <a:solidFill>
                  <a:srgbClr val="B38A20"/>
                </a:solidFill>
                <a:latin typeface="DejaVu Sans Mono" pitchFamily="34" charset="0"/>
                <a:ea typeface="DejaVu Sans Mono" pitchFamily="34" charset="-122"/>
                <a:cs typeface="DejaVu Sans Mono" pitchFamily="34" charset="-120"/>
              </a:rPr>
              <a:t>isAuth</a:t>
            </a:r>
            <a:endParaRPr lang="vi-VN" sz="1290" dirty="0"/>
          </a:p>
        </p:txBody>
      </p:sp>
      <p:sp>
        <p:nvSpPr>
          <p:cNvPr id="31" name="Text 29"/>
          <p:cNvSpPr/>
          <p:nvPr/>
        </p:nvSpPr>
        <p:spPr>
          <a:xfrm>
            <a:off x="7754112" y="3931920"/>
            <a:ext cx="3493008" cy="274320"/>
          </a:xfrm>
          <a:prstGeom prst="rect">
            <a:avLst/>
          </a:prstGeom>
          <a:noFill/>
          <a:ln/>
        </p:spPr>
        <p:txBody>
          <a:bodyPr wrap="square" lIns="0" tIns="0" rIns="0" bIns="0" rtlCol="0" anchor="ctr">
            <a:normAutofit/>
          </a:bodyPr>
          <a:lstStyle/>
          <a:p>
            <a:pPr marL="0" indent="0">
              <a:buNone/>
            </a:pPr>
            <a:r>
              <a:rPr lang="vi-VN" altLang="en-US" sz="1350" dirty="0">
                <a:solidFill>
                  <a:srgbClr val="263345"/>
                </a:solidFill>
                <a:latin typeface="Inter" pitchFamily="34" charset="0"/>
                <a:ea typeface="Inter" pitchFamily="34" charset="-122"/>
                <a:cs typeface="Inter" pitchFamily="34" charset="-120"/>
              </a:rPr>
              <a:t>Kiểm tra JWT hợp lệ</a:t>
            </a:r>
            <a:endParaRPr lang="vi-VN" sz="1350" dirty="0"/>
          </a:p>
        </p:txBody>
      </p:sp>
      <p:sp>
        <p:nvSpPr>
          <p:cNvPr id="32" name="Shape 30"/>
          <p:cNvSpPr/>
          <p:nvPr/>
        </p:nvSpPr>
        <p:spPr>
          <a:xfrm>
            <a:off x="6135624" y="4471416"/>
            <a:ext cx="5358384" cy="539496"/>
          </a:xfrm>
          <a:prstGeom prst="roundRect">
            <a:avLst>
              <a:gd name="adj" fmla="val 20339"/>
            </a:avLst>
          </a:prstGeom>
          <a:solidFill>
            <a:srgbClr val="FFFFFF"/>
          </a:solidFill>
          <a:ln w="12700">
            <a:solidFill>
              <a:srgbClr val="E0E6EF"/>
            </a:solidFill>
            <a:prstDash val="solid"/>
          </a:ln>
        </p:spPr>
        <p:txBody>
          <a:bodyPr/>
          <a:lstStyle/>
          <a:p>
            <a:endParaRPr lang="en-US"/>
          </a:p>
        </p:txBody>
      </p:sp>
      <p:sp>
        <p:nvSpPr>
          <p:cNvPr id="33" name="Text 31"/>
          <p:cNvSpPr/>
          <p:nvPr/>
        </p:nvSpPr>
        <p:spPr>
          <a:xfrm>
            <a:off x="6318504" y="4590288"/>
            <a:ext cx="1426464" cy="265176"/>
          </a:xfrm>
          <a:prstGeom prst="rect">
            <a:avLst/>
          </a:prstGeom>
          <a:noFill/>
          <a:ln/>
        </p:spPr>
        <p:txBody>
          <a:bodyPr wrap="square" lIns="0" tIns="0" rIns="0" bIns="0" rtlCol="0" anchor="ctr">
            <a:normAutofit/>
          </a:bodyPr>
          <a:lstStyle/>
          <a:p>
            <a:pPr marL="0" indent="0">
              <a:buNone/>
            </a:pPr>
            <a:r>
              <a:rPr lang="vi-VN" altLang="en-US" sz="1290" b="1" dirty="0">
                <a:solidFill>
                  <a:srgbClr val="2A5DAD"/>
                </a:solidFill>
                <a:latin typeface="DejaVu Sans Mono" pitchFamily="34" charset="0"/>
                <a:ea typeface="DejaVu Sans Mono" pitchFamily="34" charset="-122"/>
                <a:cs typeface="DejaVu Sans Mono" pitchFamily="34" charset="-120"/>
              </a:rPr>
              <a:t>getProfile</a:t>
            </a:r>
            <a:endParaRPr lang="vi-VN" sz="1290" dirty="0"/>
          </a:p>
        </p:txBody>
      </p:sp>
      <p:sp>
        <p:nvSpPr>
          <p:cNvPr id="34" name="Text 32"/>
          <p:cNvSpPr/>
          <p:nvPr/>
        </p:nvSpPr>
        <p:spPr>
          <a:xfrm>
            <a:off x="7754112" y="4590288"/>
            <a:ext cx="3493008" cy="274320"/>
          </a:xfrm>
          <a:prstGeom prst="rect">
            <a:avLst/>
          </a:prstGeom>
          <a:noFill/>
          <a:ln/>
        </p:spPr>
        <p:txBody>
          <a:bodyPr wrap="square" lIns="0" tIns="0" rIns="0" bIns="0" rtlCol="0" anchor="ctr">
            <a:normAutofit/>
          </a:bodyPr>
          <a:lstStyle/>
          <a:p>
            <a:pPr marL="0" indent="0">
              <a:buNone/>
            </a:pPr>
            <a:r>
              <a:rPr lang="vi-VN" altLang="en-US" sz="1350" dirty="0">
                <a:solidFill>
                  <a:srgbClr val="263345"/>
                </a:solidFill>
                <a:latin typeface="Inter" pitchFamily="34" charset="0"/>
                <a:ea typeface="Inter" pitchFamily="34" charset="-122"/>
                <a:cs typeface="Inter" pitchFamily="34" charset="-120"/>
              </a:rPr>
              <a:t>Controller xử lý hồ sơ</a:t>
            </a:r>
            <a:endParaRPr lang="vi-VN" sz="1350" dirty="0"/>
          </a:p>
        </p:txBody>
      </p:sp>
      <p:sp>
        <p:nvSpPr>
          <p:cNvPr id="35" name="Shape 33"/>
          <p:cNvSpPr/>
          <p:nvPr/>
        </p:nvSpPr>
        <p:spPr>
          <a:xfrm>
            <a:off x="475488" y="5879592"/>
            <a:ext cx="11247120" cy="448056"/>
          </a:xfrm>
          <a:prstGeom prst="roundRect">
            <a:avLst>
              <a:gd name="adj" fmla="val 24490"/>
            </a:avLst>
          </a:prstGeom>
          <a:solidFill>
            <a:srgbClr val="FDECEE"/>
          </a:solidFill>
          <a:ln w="12700">
            <a:solidFill>
              <a:srgbClr val="FDECEE">
                <a:alpha val="0"/>
              </a:srgbClr>
            </a:solidFill>
            <a:prstDash val="solid"/>
          </a:ln>
        </p:spPr>
        <p:txBody>
          <a:bodyPr/>
          <a:lstStyle/>
          <a:p>
            <a:endParaRPr lang="en-US"/>
          </a:p>
        </p:txBody>
      </p:sp>
      <p:pic>
        <p:nvPicPr>
          <p:cNvPr id="36" name="Image 0" descr="/mnt/data/auth_slide_work/icon_cache/8384932fb506ffad56a7369dcac7469d.png"/>
          <p:cNvPicPr>
            <a:picLocks noChangeAspect="1"/>
          </p:cNvPicPr>
          <p:nvPr/>
        </p:nvPicPr>
        <p:blipFill>
          <a:blip r:embed="rId3"/>
          <a:stretch>
            <a:fillRect/>
          </a:stretch>
        </p:blipFill>
        <p:spPr>
          <a:xfrm>
            <a:off x="658368" y="6007608"/>
            <a:ext cx="173736" cy="173736"/>
          </a:xfrm>
          <a:prstGeom prst="rect">
            <a:avLst/>
          </a:prstGeom>
        </p:spPr>
      </p:pic>
      <p:sp>
        <p:nvSpPr>
          <p:cNvPr id="37" name="Text 34"/>
          <p:cNvSpPr/>
          <p:nvPr/>
        </p:nvSpPr>
        <p:spPr>
          <a:xfrm>
            <a:off x="932688" y="5966460"/>
            <a:ext cx="10515600" cy="283464"/>
          </a:xfrm>
          <a:prstGeom prst="rect">
            <a:avLst/>
          </a:prstGeom>
          <a:noFill/>
          <a:ln/>
        </p:spPr>
        <p:txBody>
          <a:bodyPr wrap="square" lIns="0" tIns="0" rIns="0" bIns="0" rtlCol="0" anchor="ctr">
            <a:normAutofit/>
          </a:bodyPr>
          <a:lstStyle/>
          <a:p>
            <a:pPr marL="0" indent="0">
              <a:buNone/>
            </a:pPr>
            <a:r>
              <a:rPr lang="vi-VN" altLang="en-US" sz="1220" dirty="0">
                <a:solidFill>
                  <a:srgbClr val="263345"/>
                </a:solidFill>
                <a:latin typeface="Inter" pitchFamily="34" charset="0"/>
                <a:ea typeface="Inter" pitchFamily="34" charset="-122"/>
                <a:cs typeface="Inter" pitchFamily="34" charset="-120"/>
              </a:rPr>
              <a:t>Bỏ isAuth khỏi Route có thể khiến Controller chạy mà không kiểm tra danh tính.</a:t>
            </a:r>
            <a:endParaRPr lang="vi-VN"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PHÂN QUYỀN</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RBAC – Role-Based Access Control là gì?</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Quyền được gán cho vai trò (Role); người dùng được gán vào vai trò tương ứng.</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17 / 24</a:t>
            </a:r>
            <a:endParaRPr lang="vi-VN" sz="850" dirty="0"/>
          </a:p>
        </p:txBody>
      </p:sp>
      <p:sp>
        <p:nvSpPr>
          <p:cNvPr id="10" name="Shape 8"/>
          <p:cNvSpPr/>
          <p:nvPr/>
        </p:nvSpPr>
        <p:spPr>
          <a:xfrm>
            <a:off x="640080" y="1773936"/>
            <a:ext cx="10972800" cy="576072"/>
          </a:xfrm>
          <a:prstGeom prst="roundRect">
            <a:avLst>
              <a:gd name="adj" fmla="val 19048"/>
            </a:avLst>
          </a:prstGeom>
          <a:solidFill>
            <a:srgbClr val="EBF2FE"/>
          </a:solidFill>
          <a:ln w="12700">
            <a:solidFill>
              <a:srgbClr val="EBF2FE">
                <a:alpha val="0"/>
              </a:srgbClr>
            </a:solidFill>
            <a:prstDash val="solid"/>
          </a:ln>
        </p:spPr>
        <p:txBody>
          <a:bodyPr/>
          <a:lstStyle/>
          <a:p>
            <a:endParaRPr lang="en-US"/>
          </a:p>
        </p:txBody>
      </p:sp>
      <p:sp>
        <p:nvSpPr>
          <p:cNvPr id="11" name="Text 9"/>
          <p:cNvSpPr/>
          <p:nvPr/>
        </p:nvSpPr>
        <p:spPr>
          <a:xfrm>
            <a:off x="1444752" y="1901952"/>
            <a:ext cx="9299448" cy="292608"/>
          </a:xfrm>
          <a:prstGeom prst="rect">
            <a:avLst/>
          </a:prstGeom>
          <a:noFill/>
          <a:ln/>
        </p:spPr>
        <p:txBody>
          <a:bodyPr wrap="square" lIns="0" tIns="0" rIns="0" bIns="0" rtlCol="0" anchor="ctr">
            <a:normAutofit/>
          </a:bodyPr>
          <a:lstStyle/>
          <a:p>
            <a:pPr marL="0" indent="0" algn="ctr">
              <a:buNone/>
            </a:pPr>
            <a:r>
              <a:rPr lang="vi-VN" altLang="en-US" sz="2180" b="1" dirty="0">
                <a:solidFill>
                  <a:srgbClr val="2A5DAD"/>
                </a:solidFill>
                <a:latin typeface="Inter Display" pitchFamily="34" charset="0"/>
                <a:ea typeface="Inter Display" pitchFamily="34" charset="-122"/>
                <a:cs typeface="Inter Display" pitchFamily="34" charset="-120"/>
              </a:rPr>
              <a:t>USER  →  ROLE  →  PERMISSION</a:t>
            </a:r>
            <a:endParaRPr lang="vi-VN" sz="2180" dirty="0"/>
          </a:p>
        </p:txBody>
      </p:sp>
      <p:sp>
        <p:nvSpPr>
          <p:cNvPr id="12" name="Shape 10"/>
          <p:cNvSpPr/>
          <p:nvPr/>
        </p:nvSpPr>
        <p:spPr>
          <a:xfrm>
            <a:off x="667512" y="2624328"/>
            <a:ext cx="5102352" cy="493776"/>
          </a:xfrm>
          <a:prstGeom prst="roundRect">
            <a:avLst>
              <a:gd name="adj" fmla="val 22222"/>
            </a:avLst>
          </a:prstGeom>
          <a:solidFill>
            <a:srgbClr val="183B63"/>
          </a:solidFill>
          <a:ln w="12700">
            <a:solidFill>
              <a:srgbClr val="183B63">
                <a:alpha val="0"/>
              </a:srgbClr>
            </a:solidFill>
            <a:prstDash val="solid"/>
          </a:ln>
        </p:spPr>
        <p:txBody>
          <a:bodyPr/>
          <a:lstStyle/>
          <a:p>
            <a:endParaRPr lang="en-US"/>
          </a:p>
        </p:txBody>
      </p:sp>
      <p:sp>
        <p:nvSpPr>
          <p:cNvPr id="13" name="Text 11"/>
          <p:cNvSpPr/>
          <p:nvPr/>
        </p:nvSpPr>
        <p:spPr>
          <a:xfrm>
            <a:off x="768096" y="2752344"/>
            <a:ext cx="4892040" cy="192024"/>
          </a:xfrm>
          <a:prstGeom prst="rect">
            <a:avLst/>
          </a:prstGeom>
          <a:noFill/>
          <a:ln/>
        </p:spPr>
        <p:txBody>
          <a:bodyPr wrap="square" lIns="0" tIns="0" rIns="0" bIns="0" rtlCol="0" anchor="ctr">
            <a:normAutofit/>
          </a:bodyPr>
          <a:lstStyle/>
          <a:p>
            <a:pPr marL="0" indent="0" algn="l">
              <a:buNone/>
            </a:pPr>
            <a:r>
              <a:rPr lang="vi-VN" altLang="en-US" sz="1180" b="1" dirty="0">
                <a:solidFill>
                  <a:srgbClr val="FFFFFF"/>
                </a:solidFill>
                <a:latin typeface="Inter" pitchFamily="34" charset="0"/>
                <a:ea typeface="Inter" pitchFamily="34" charset="-122"/>
                <a:cs typeface="Inter" pitchFamily="34" charset="-120"/>
              </a:rPr>
              <a:t>CHỨC NĂNG</a:t>
            </a:r>
            <a:endParaRPr lang="vi-VN" sz="1180" dirty="0"/>
          </a:p>
        </p:txBody>
      </p:sp>
      <p:sp>
        <p:nvSpPr>
          <p:cNvPr id="14" name="Shape 12"/>
          <p:cNvSpPr/>
          <p:nvPr/>
        </p:nvSpPr>
        <p:spPr>
          <a:xfrm>
            <a:off x="5824728" y="2624328"/>
            <a:ext cx="1956816" cy="493776"/>
          </a:xfrm>
          <a:prstGeom prst="roundRect">
            <a:avLst>
              <a:gd name="adj" fmla="val 22222"/>
            </a:avLst>
          </a:prstGeom>
          <a:solidFill>
            <a:srgbClr val="183B63"/>
          </a:solidFill>
          <a:ln w="12700">
            <a:solidFill>
              <a:srgbClr val="183B63">
                <a:alpha val="0"/>
              </a:srgbClr>
            </a:solidFill>
            <a:prstDash val="solid"/>
          </a:ln>
        </p:spPr>
        <p:txBody>
          <a:bodyPr/>
          <a:lstStyle/>
          <a:p>
            <a:endParaRPr lang="en-US"/>
          </a:p>
        </p:txBody>
      </p:sp>
      <p:sp>
        <p:nvSpPr>
          <p:cNvPr id="15" name="Text 13"/>
          <p:cNvSpPr/>
          <p:nvPr/>
        </p:nvSpPr>
        <p:spPr>
          <a:xfrm>
            <a:off x="5925312" y="2752344"/>
            <a:ext cx="1746504" cy="192024"/>
          </a:xfrm>
          <a:prstGeom prst="rect">
            <a:avLst/>
          </a:prstGeom>
          <a:noFill/>
          <a:ln/>
        </p:spPr>
        <p:txBody>
          <a:bodyPr wrap="square" lIns="0" tIns="0" rIns="0" bIns="0" rtlCol="0" anchor="ctr">
            <a:normAutofit/>
          </a:bodyPr>
          <a:lstStyle/>
          <a:p>
            <a:pPr marL="0" indent="0" algn="ctr">
              <a:buNone/>
            </a:pPr>
            <a:r>
              <a:rPr lang="vi-VN" altLang="en-US" sz="1180" b="1" dirty="0">
                <a:solidFill>
                  <a:srgbClr val="FFFFFF"/>
                </a:solidFill>
                <a:latin typeface="Inter" pitchFamily="34" charset="0"/>
                <a:ea typeface="Inter" pitchFamily="34" charset="-122"/>
                <a:cs typeface="Inter" pitchFamily="34" charset="-120"/>
              </a:rPr>
              <a:t>STUDENT</a:t>
            </a:r>
            <a:endParaRPr lang="vi-VN" sz="1180" dirty="0"/>
          </a:p>
        </p:txBody>
      </p:sp>
      <p:sp>
        <p:nvSpPr>
          <p:cNvPr id="16" name="Shape 14"/>
          <p:cNvSpPr/>
          <p:nvPr/>
        </p:nvSpPr>
        <p:spPr>
          <a:xfrm>
            <a:off x="7836408" y="2624328"/>
            <a:ext cx="1965960" cy="493776"/>
          </a:xfrm>
          <a:prstGeom prst="roundRect">
            <a:avLst>
              <a:gd name="adj" fmla="val 22222"/>
            </a:avLst>
          </a:prstGeom>
          <a:solidFill>
            <a:srgbClr val="183B63"/>
          </a:solidFill>
          <a:ln w="12700">
            <a:solidFill>
              <a:srgbClr val="183B63">
                <a:alpha val="0"/>
              </a:srgbClr>
            </a:solidFill>
            <a:prstDash val="solid"/>
          </a:ln>
        </p:spPr>
        <p:txBody>
          <a:bodyPr/>
          <a:lstStyle/>
          <a:p>
            <a:endParaRPr lang="en-US"/>
          </a:p>
        </p:txBody>
      </p:sp>
      <p:sp>
        <p:nvSpPr>
          <p:cNvPr id="17" name="Text 15"/>
          <p:cNvSpPr/>
          <p:nvPr/>
        </p:nvSpPr>
        <p:spPr>
          <a:xfrm>
            <a:off x="7936992" y="2752344"/>
            <a:ext cx="1755648" cy="192024"/>
          </a:xfrm>
          <a:prstGeom prst="rect">
            <a:avLst/>
          </a:prstGeom>
          <a:noFill/>
          <a:ln/>
        </p:spPr>
        <p:txBody>
          <a:bodyPr wrap="square" lIns="0" tIns="0" rIns="0" bIns="0" rtlCol="0" anchor="ctr">
            <a:normAutofit/>
          </a:bodyPr>
          <a:lstStyle/>
          <a:p>
            <a:pPr marL="0" indent="0" algn="ctr">
              <a:buNone/>
            </a:pPr>
            <a:r>
              <a:rPr lang="vi-VN" altLang="en-US" sz="1180" b="1" dirty="0">
                <a:solidFill>
                  <a:srgbClr val="FFFFFF"/>
                </a:solidFill>
                <a:latin typeface="Inter" pitchFamily="34" charset="0"/>
                <a:ea typeface="Inter" pitchFamily="34" charset="-122"/>
                <a:cs typeface="Inter" pitchFamily="34" charset="-120"/>
              </a:rPr>
              <a:t>TEACHER</a:t>
            </a:r>
            <a:endParaRPr lang="vi-VN" sz="1180" dirty="0"/>
          </a:p>
        </p:txBody>
      </p:sp>
      <p:sp>
        <p:nvSpPr>
          <p:cNvPr id="18" name="Shape 16"/>
          <p:cNvSpPr/>
          <p:nvPr/>
        </p:nvSpPr>
        <p:spPr>
          <a:xfrm>
            <a:off x="9857232" y="2624328"/>
            <a:ext cx="1618488" cy="493776"/>
          </a:xfrm>
          <a:prstGeom prst="roundRect">
            <a:avLst>
              <a:gd name="adj" fmla="val 22222"/>
            </a:avLst>
          </a:prstGeom>
          <a:solidFill>
            <a:srgbClr val="183B63"/>
          </a:solidFill>
          <a:ln w="12700">
            <a:solidFill>
              <a:srgbClr val="183B63">
                <a:alpha val="0"/>
              </a:srgbClr>
            </a:solidFill>
            <a:prstDash val="solid"/>
          </a:ln>
        </p:spPr>
        <p:txBody>
          <a:bodyPr/>
          <a:lstStyle/>
          <a:p>
            <a:endParaRPr lang="en-US"/>
          </a:p>
        </p:txBody>
      </p:sp>
      <p:sp>
        <p:nvSpPr>
          <p:cNvPr id="19" name="Text 17"/>
          <p:cNvSpPr/>
          <p:nvPr/>
        </p:nvSpPr>
        <p:spPr>
          <a:xfrm>
            <a:off x="9957816" y="2752344"/>
            <a:ext cx="1408176" cy="192024"/>
          </a:xfrm>
          <a:prstGeom prst="rect">
            <a:avLst/>
          </a:prstGeom>
          <a:noFill/>
          <a:ln/>
        </p:spPr>
        <p:txBody>
          <a:bodyPr wrap="square" lIns="0" tIns="0" rIns="0" bIns="0" rtlCol="0" anchor="ctr">
            <a:normAutofit/>
          </a:bodyPr>
          <a:lstStyle/>
          <a:p>
            <a:pPr marL="0" indent="0" algn="ctr">
              <a:buNone/>
            </a:pPr>
            <a:r>
              <a:rPr lang="vi-VN" altLang="en-US" sz="1180" b="1" dirty="0">
                <a:solidFill>
                  <a:srgbClr val="FFFFFF"/>
                </a:solidFill>
                <a:latin typeface="Inter" pitchFamily="34" charset="0"/>
                <a:ea typeface="Inter" pitchFamily="34" charset="-122"/>
                <a:cs typeface="Inter" pitchFamily="34" charset="-120"/>
              </a:rPr>
              <a:t>ADMIN</a:t>
            </a:r>
            <a:endParaRPr lang="vi-VN" sz="1180" dirty="0"/>
          </a:p>
        </p:txBody>
      </p:sp>
      <p:sp>
        <p:nvSpPr>
          <p:cNvPr id="20" name="Shape 18"/>
          <p:cNvSpPr/>
          <p:nvPr/>
        </p:nvSpPr>
        <p:spPr>
          <a:xfrm>
            <a:off x="667512" y="3182112"/>
            <a:ext cx="10936224" cy="521208"/>
          </a:xfrm>
          <a:prstGeom prst="rect">
            <a:avLst/>
          </a:prstGeom>
          <a:solidFill>
            <a:srgbClr val="EFF2F7"/>
          </a:solidFill>
          <a:ln w="12700">
            <a:solidFill>
              <a:srgbClr val="EFF2F7">
                <a:alpha val="0"/>
              </a:srgbClr>
            </a:solidFill>
            <a:prstDash val="solid"/>
          </a:ln>
        </p:spPr>
        <p:txBody>
          <a:bodyPr/>
          <a:lstStyle/>
          <a:p>
            <a:endParaRPr lang="en-US"/>
          </a:p>
        </p:txBody>
      </p:sp>
      <p:sp>
        <p:nvSpPr>
          <p:cNvPr id="21" name="Text 19"/>
          <p:cNvSpPr/>
          <p:nvPr/>
        </p:nvSpPr>
        <p:spPr>
          <a:xfrm>
            <a:off x="832104" y="3291840"/>
            <a:ext cx="4736592" cy="256032"/>
          </a:xfrm>
          <a:prstGeom prst="rect">
            <a:avLst/>
          </a:prstGeom>
          <a:noFill/>
          <a:ln/>
        </p:spPr>
        <p:txBody>
          <a:bodyPr wrap="square" lIns="0" tIns="0" rIns="0" bIns="0" rtlCol="0" anchor="ctr">
            <a:normAutofit/>
          </a:bodyPr>
          <a:lstStyle/>
          <a:p>
            <a:pPr marL="0" indent="0">
              <a:buNone/>
            </a:pPr>
            <a:r>
              <a:rPr lang="vi-VN" altLang="en-US" sz="1310" dirty="0">
                <a:solidFill>
                  <a:srgbClr val="263345"/>
                </a:solidFill>
                <a:latin typeface="Inter" pitchFamily="34" charset="0"/>
                <a:ea typeface="Inter" pitchFamily="34" charset="-122"/>
                <a:cs typeface="Inter" pitchFamily="34" charset="-120"/>
              </a:rPr>
              <a:t>Xem thông tin cá nhân</a:t>
            </a:r>
            <a:endParaRPr lang="vi-VN" sz="1310" dirty="0"/>
          </a:p>
        </p:txBody>
      </p:sp>
      <p:pic>
        <p:nvPicPr>
          <p:cNvPr id="22" name="Image 0" descr="/mnt/data/auth_slide_work/icon_cache/ccd3bd5a6b27b39c6ad4319e9a58e23f.png"/>
          <p:cNvPicPr>
            <a:picLocks noChangeAspect="1"/>
          </p:cNvPicPr>
          <p:nvPr/>
        </p:nvPicPr>
        <p:blipFill>
          <a:blip r:embed="rId3"/>
          <a:stretch>
            <a:fillRect/>
          </a:stretch>
        </p:blipFill>
        <p:spPr>
          <a:xfrm>
            <a:off x="6391656" y="3337560"/>
            <a:ext cx="210312" cy="210312"/>
          </a:xfrm>
          <a:prstGeom prst="rect">
            <a:avLst/>
          </a:prstGeom>
        </p:spPr>
      </p:pic>
      <p:pic>
        <p:nvPicPr>
          <p:cNvPr id="23" name="Image 1" descr="/mnt/data/auth_slide_work/icon_cache/ccd3bd5a6b27b39c6ad4319e9a58e23f.png"/>
          <p:cNvPicPr>
            <a:picLocks noChangeAspect="1"/>
          </p:cNvPicPr>
          <p:nvPr/>
        </p:nvPicPr>
        <p:blipFill>
          <a:blip r:embed="rId3"/>
          <a:stretch>
            <a:fillRect/>
          </a:stretch>
        </p:blipFill>
        <p:spPr>
          <a:xfrm>
            <a:off x="8385048" y="3337560"/>
            <a:ext cx="210312" cy="210312"/>
          </a:xfrm>
          <a:prstGeom prst="rect">
            <a:avLst/>
          </a:prstGeom>
        </p:spPr>
      </p:pic>
      <p:pic>
        <p:nvPicPr>
          <p:cNvPr id="24" name="Image 2" descr="/mnt/data/auth_slide_work/icon_cache/ccd3bd5a6b27b39c6ad4319e9a58e23f.png"/>
          <p:cNvPicPr>
            <a:picLocks noChangeAspect="1"/>
          </p:cNvPicPr>
          <p:nvPr/>
        </p:nvPicPr>
        <p:blipFill>
          <a:blip r:embed="rId3"/>
          <a:stretch>
            <a:fillRect/>
          </a:stretch>
        </p:blipFill>
        <p:spPr>
          <a:xfrm>
            <a:off x="10378440" y="3337560"/>
            <a:ext cx="210312" cy="210312"/>
          </a:xfrm>
          <a:prstGeom prst="rect">
            <a:avLst/>
          </a:prstGeom>
        </p:spPr>
      </p:pic>
      <p:sp>
        <p:nvSpPr>
          <p:cNvPr id="25" name="Shape 20"/>
          <p:cNvSpPr/>
          <p:nvPr/>
        </p:nvSpPr>
        <p:spPr>
          <a:xfrm>
            <a:off x="667512" y="3712464"/>
            <a:ext cx="10936224" cy="521208"/>
          </a:xfrm>
          <a:prstGeom prst="rect">
            <a:avLst/>
          </a:prstGeom>
          <a:solidFill>
            <a:srgbClr val="FFFFFF"/>
          </a:solidFill>
          <a:ln w="12700">
            <a:solidFill>
              <a:srgbClr val="FFFFFF">
                <a:alpha val="0"/>
              </a:srgbClr>
            </a:solidFill>
            <a:prstDash val="solid"/>
          </a:ln>
        </p:spPr>
        <p:txBody>
          <a:bodyPr/>
          <a:lstStyle/>
          <a:p>
            <a:endParaRPr lang="en-US"/>
          </a:p>
        </p:txBody>
      </p:sp>
      <p:sp>
        <p:nvSpPr>
          <p:cNvPr id="26" name="Text 21"/>
          <p:cNvSpPr/>
          <p:nvPr/>
        </p:nvSpPr>
        <p:spPr>
          <a:xfrm>
            <a:off x="832104" y="3822192"/>
            <a:ext cx="4736592" cy="256032"/>
          </a:xfrm>
          <a:prstGeom prst="rect">
            <a:avLst/>
          </a:prstGeom>
          <a:noFill/>
          <a:ln/>
        </p:spPr>
        <p:txBody>
          <a:bodyPr wrap="square" lIns="0" tIns="0" rIns="0" bIns="0" rtlCol="0" anchor="ctr">
            <a:normAutofit/>
          </a:bodyPr>
          <a:lstStyle/>
          <a:p>
            <a:pPr marL="0" indent="0">
              <a:buNone/>
            </a:pPr>
            <a:r>
              <a:rPr lang="vi-VN" altLang="en-US" sz="1310" dirty="0">
                <a:solidFill>
                  <a:srgbClr val="263345"/>
                </a:solidFill>
                <a:latin typeface="Inter" pitchFamily="34" charset="0"/>
                <a:ea typeface="Inter" pitchFamily="34" charset="-122"/>
                <a:cs typeface="Inter" pitchFamily="34" charset="-120"/>
              </a:rPr>
              <a:t>Xem điểm của chính mình</a:t>
            </a:r>
            <a:endParaRPr lang="vi-VN" sz="1310" dirty="0"/>
          </a:p>
        </p:txBody>
      </p:sp>
      <p:pic>
        <p:nvPicPr>
          <p:cNvPr id="27" name="Image 3" descr="/mnt/data/auth_slide_work/icon_cache/ccd3bd5a6b27b39c6ad4319e9a58e23f.png"/>
          <p:cNvPicPr>
            <a:picLocks noChangeAspect="1"/>
          </p:cNvPicPr>
          <p:nvPr/>
        </p:nvPicPr>
        <p:blipFill>
          <a:blip r:embed="rId3"/>
          <a:stretch>
            <a:fillRect/>
          </a:stretch>
        </p:blipFill>
        <p:spPr>
          <a:xfrm>
            <a:off x="6391656" y="3867912"/>
            <a:ext cx="210312" cy="210312"/>
          </a:xfrm>
          <a:prstGeom prst="rect">
            <a:avLst/>
          </a:prstGeom>
        </p:spPr>
      </p:pic>
      <p:pic>
        <p:nvPicPr>
          <p:cNvPr id="28" name="Image 4" descr="/mnt/data/auth_slide_work/icon_cache/3aa919cf6b1341f9daf11f2e6d2af60d.png"/>
          <p:cNvPicPr>
            <a:picLocks noChangeAspect="1"/>
          </p:cNvPicPr>
          <p:nvPr/>
        </p:nvPicPr>
        <p:blipFill>
          <a:blip r:embed="rId4"/>
          <a:stretch>
            <a:fillRect/>
          </a:stretch>
        </p:blipFill>
        <p:spPr>
          <a:xfrm>
            <a:off x="8385048" y="3867912"/>
            <a:ext cx="210312" cy="210312"/>
          </a:xfrm>
          <a:prstGeom prst="rect">
            <a:avLst/>
          </a:prstGeom>
        </p:spPr>
      </p:pic>
      <p:pic>
        <p:nvPicPr>
          <p:cNvPr id="29" name="Image 5" descr="/mnt/data/auth_slide_work/icon_cache/3aa919cf6b1341f9daf11f2e6d2af60d.png"/>
          <p:cNvPicPr>
            <a:picLocks noChangeAspect="1"/>
          </p:cNvPicPr>
          <p:nvPr/>
        </p:nvPicPr>
        <p:blipFill>
          <a:blip r:embed="rId4"/>
          <a:stretch>
            <a:fillRect/>
          </a:stretch>
        </p:blipFill>
        <p:spPr>
          <a:xfrm>
            <a:off x="10378440" y="3867912"/>
            <a:ext cx="210312" cy="210312"/>
          </a:xfrm>
          <a:prstGeom prst="rect">
            <a:avLst/>
          </a:prstGeom>
        </p:spPr>
      </p:pic>
      <p:sp>
        <p:nvSpPr>
          <p:cNvPr id="30" name="Shape 22"/>
          <p:cNvSpPr/>
          <p:nvPr/>
        </p:nvSpPr>
        <p:spPr>
          <a:xfrm>
            <a:off x="667512" y="4242816"/>
            <a:ext cx="10936224" cy="521208"/>
          </a:xfrm>
          <a:prstGeom prst="rect">
            <a:avLst/>
          </a:prstGeom>
          <a:solidFill>
            <a:srgbClr val="EFF2F7"/>
          </a:solidFill>
          <a:ln w="12700">
            <a:solidFill>
              <a:srgbClr val="EFF2F7">
                <a:alpha val="0"/>
              </a:srgbClr>
            </a:solidFill>
            <a:prstDash val="solid"/>
          </a:ln>
        </p:spPr>
        <p:txBody>
          <a:bodyPr/>
          <a:lstStyle/>
          <a:p>
            <a:endParaRPr lang="en-US"/>
          </a:p>
        </p:txBody>
      </p:sp>
      <p:sp>
        <p:nvSpPr>
          <p:cNvPr id="31" name="Text 23"/>
          <p:cNvSpPr/>
          <p:nvPr/>
        </p:nvSpPr>
        <p:spPr>
          <a:xfrm>
            <a:off x="832104" y="4352544"/>
            <a:ext cx="4736592" cy="256032"/>
          </a:xfrm>
          <a:prstGeom prst="rect">
            <a:avLst/>
          </a:prstGeom>
          <a:noFill/>
          <a:ln/>
        </p:spPr>
        <p:txBody>
          <a:bodyPr wrap="square" lIns="0" tIns="0" rIns="0" bIns="0" rtlCol="0" anchor="ctr">
            <a:normAutofit/>
          </a:bodyPr>
          <a:lstStyle/>
          <a:p>
            <a:pPr marL="0" indent="0">
              <a:buNone/>
            </a:pPr>
            <a:r>
              <a:rPr lang="vi-VN" altLang="en-US" sz="1310" dirty="0">
                <a:solidFill>
                  <a:srgbClr val="263345"/>
                </a:solidFill>
                <a:latin typeface="Inter" pitchFamily="34" charset="0"/>
                <a:ea typeface="Inter" pitchFamily="34" charset="-122"/>
                <a:cs typeface="Inter" pitchFamily="34" charset="-120"/>
              </a:rPr>
              <a:t>Nhập điểm lớp phụ trách</a:t>
            </a:r>
            <a:endParaRPr lang="vi-VN" sz="1310" dirty="0"/>
          </a:p>
        </p:txBody>
      </p:sp>
      <p:pic>
        <p:nvPicPr>
          <p:cNvPr id="32" name="Image 6" descr="/mnt/data/auth_slide_work/icon_cache/3aa919cf6b1341f9daf11f2e6d2af60d.png"/>
          <p:cNvPicPr>
            <a:picLocks noChangeAspect="1"/>
          </p:cNvPicPr>
          <p:nvPr/>
        </p:nvPicPr>
        <p:blipFill>
          <a:blip r:embed="rId4"/>
          <a:stretch>
            <a:fillRect/>
          </a:stretch>
        </p:blipFill>
        <p:spPr>
          <a:xfrm>
            <a:off x="6391656" y="4398264"/>
            <a:ext cx="210312" cy="210312"/>
          </a:xfrm>
          <a:prstGeom prst="rect">
            <a:avLst/>
          </a:prstGeom>
        </p:spPr>
      </p:pic>
      <p:pic>
        <p:nvPicPr>
          <p:cNvPr id="33" name="Image 7" descr="/mnt/data/auth_slide_work/icon_cache/ccd3bd5a6b27b39c6ad4319e9a58e23f.png"/>
          <p:cNvPicPr>
            <a:picLocks noChangeAspect="1"/>
          </p:cNvPicPr>
          <p:nvPr/>
        </p:nvPicPr>
        <p:blipFill>
          <a:blip r:embed="rId3"/>
          <a:stretch>
            <a:fillRect/>
          </a:stretch>
        </p:blipFill>
        <p:spPr>
          <a:xfrm>
            <a:off x="8385048" y="4398264"/>
            <a:ext cx="210312" cy="210312"/>
          </a:xfrm>
          <a:prstGeom prst="rect">
            <a:avLst/>
          </a:prstGeom>
        </p:spPr>
      </p:pic>
      <p:pic>
        <p:nvPicPr>
          <p:cNvPr id="34" name="Image 8" descr="/mnt/data/auth_slide_work/icon_cache/3aa919cf6b1341f9daf11f2e6d2af60d.png"/>
          <p:cNvPicPr>
            <a:picLocks noChangeAspect="1"/>
          </p:cNvPicPr>
          <p:nvPr/>
        </p:nvPicPr>
        <p:blipFill>
          <a:blip r:embed="rId4"/>
          <a:stretch>
            <a:fillRect/>
          </a:stretch>
        </p:blipFill>
        <p:spPr>
          <a:xfrm>
            <a:off x="10378440" y="4398264"/>
            <a:ext cx="210312" cy="210312"/>
          </a:xfrm>
          <a:prstGeom prst="rect">
            <a:avLst/>
          </a:prstGeom>
        </p:spPr>
      </p:pic>
      <p:sp>
        <p:nvSpPr>
          <p:cNvPr id="35" name="Shape 24"/>
          <p:cNvSpPr/>
          <p:nvPr/>
        </p:nvSpPr>
        <p:spPr>
          <a:xfrm>
            <a:off x="667512" y="4773168"/>
            <a:ext cx="10936224" cy="521208"/>
          </a:xfrm>
          <a:prstGeom prst="rect">
            <a:avLst/>
          </a:prstGeom>
          <a:solidFill>
            <a:srgbClr val="FFFFFF"/>
          </a:solidFill>
          <a:ln w="12700">
            <a:solidFill>
              <a:srgbClr val="FFFFFF">
                <a:alpha val="0"/>
              </a:srgbClr>
            </a:solidFill>
            <a:prstDash val="solid"/>
          </a:ln>
        </p:spPr>
        <p:txBody>
          <a:bodyPr/>
          <a:lstStyle/>
          <a:p>
            <a:endParaRPr lang="en-US"/>
          </a:p>
        </p:txBody>
      </p:sp>
      <p:sp>
        <p:nvSpPr>
          <p:cNvPr id="36" name="Text 25"/>
          <p:cNvSpPr/>
          <p:nvPr/>
        </p:nvSpPr>
        <p:spPr>
          <a:xfrm>
            <a:off x="832104" y="4882896"/>
            <a:ext cx="4736592" cy="256032"/>
          </a:xfrm>
          <a:prstGeom prst="rect">
            <a:avLst/>
          </a:prstGeom>
          <a:noFill/>
          <a:ln/>
        </p:spPr>
        <p:txBody>
          <a:bodyPr wrap="square" lIns="0" tIns="0" rIns="0" bIns="0" rtlCol="0" anchor="ctr">
            <a:normAutofit/>
          </a:bodyPr>
          <a:lstStyle/>
          <a:p>
            <a:pPr marL="0" indent="0">
              <a:buNone/>
            </a:pPr>
            <a:r>
              <a:rPr lang="vi-VN" altLang="en-US" sz="1310" dirty="0">
                <a:solidFill>
                  <a:srgbClr val="263345"/>
                </a:solidFill>
                <a:latin typeface="Inter" pitchFamily="34" charset="0"/>
                <a:ea typeface="Inter" pitchFamily="34" charset="-122"/>
                <a:cs typeface="Inter" pitchFamily="34" charset="-120"/>
              </a:rPr>
              <a:t>Tạo / xóa tài khoản người dùng</a:t>
            </a:r>
            <a:endParaRPr lang="vi-VN" sz="1310" dirty="0"/>
          </a:p>
        </p:txBody>
      </p:sp>
      <p:pic>
        <p:nvPicPr>
          <p:cNvPr id="37" name="Image 9" descr="/mnt/data/auth_slide_work/icon_cache/3aa919cf6b1341f9daf11f2e6d2af60d.png"/>
          <p:cNvPicPr>
            <a:picLocks noChangeAspect="1"/>
          </p:cNvPicPr>
          <p:nvPr/>
        </p:nvPicPr>
        <p:blipFill>
          <a:blip r:embed="rId4"/>
          <a:stretch>
            <a:fillRect/>
          </a:stretch>
        </p:blipFill>
        <p:spPr>
          <a:xfrm>
            <a:off x="6391656" y="4928616"/>
            <a:ext cx="210312" cy="210312"/>
          </a:xfrm>
          <a:prstGeom prst="rect">
            <a:avLst/>
          </a:prstGeom>
        </p:spPr>
      </p:pic>
      <p:pic>
        <p:nvPicPr>
          <p:cNvPr id="38" name="Image 10" descr="/mnt/data/auth_slide_work/icon_cache/3aa919cf6b1341f9daf11f2e6d2af60d.png"/>
          <p:cNvPicPr>
            <a:picLocks noChangeAspect="1"/>
          </p:cNvPicPr>
          <p:nvPr/>
        </p:nvPicPr>
        <p:blipFill>
          <a:blip r:embed="rId4"/>
          <a:stretch>
            <a:fillRect/>
          </a:stretch>
        </p:blipFill>
        <p:spPr>
          <a:xfrm>
            <a:off x="8385048" y="4928616"/>
            <a:ext cx="210312" cy="210312"/>
          </a:xfrm>
          <a:prstGeom prst="rect">
            <a:avLst/>
          </a:prstGeom>
        </p:spPr>
      </p:pic>
      <p:pic>
        <p:nvPicPr>
          <p:cNvPr id="39" name="Image 11" descr="/mnt/data/auth_slide_work/icon_cache/ccd3bd5a6b27b39c6ad4319e9a58e23f.png"/>
          <p:cNvPicPr>
            <a:picLocks noChangeAspect="1"/>
          </p:cNvPicPr>
          <p:nvPr/>
        </p:nvPicPr>
        <p:blipFill>
          <a:blip r:embed="rId3"/>
          <a:stretch>
            <a:fillRect/>
          </a:stretch>
        </p:blipFill>
        <p:spPr>
          <a:xfrm>
            <a:off x="10378440" y="4928616"/>
            <a:ext cx="210312" cy="210312"/>
          </a:xfrm>
          <a:prstGeom prst="rect">
            <a:avLst/>
          </a:prstGeom>
        </p:spPr>
      </p:pic>
      <p:sp>
        <p:nvSpPr>
          <p:cNvPr id="40" name="Shape 26"/>
          <p:cNvSpPr/>
          <p:nvPr/>
        </p:nvSpPr>
        <p:spPr>
          <a:xfrm>
            <a:off x="475488" y="5879592"/>
            <a:ext cx="11247120" cy="448056"/>
          </a:xfrm>
          <a:prstGeom prst="roundRect">
            <a:avLst>
              <a:gd name="adj" fmla="val 24490"/>
            </a:avLst>
          </a:prstGeom>
          <a:solidFill>
            <a:srgbClr val="FDECEE"/>
          </a:solidFill>
          <a:ln w="12700">
            <a:solidFill>
              <a:srgbClr val="FDECEE">
                <a:alpha val="0"/>
              </a:srgbClr>
            </a:solidFill>
            <a:prstDash val="solid"/>
          </a:ln>
        </p:spPr>
        <p:txBody>
          <a:bodyPr/>
          <a:lstStyle/>
          <a:p>
            <a:endParaRPr lang="en-US"/>
          </a:p>
        </p:txBody>
      </p:sp>
      <p:pic>
        <p:nvPicPr>
          <p:cNvPr id="41" name="Image 12" descr="/mnt/data/auth_slide_work/icon_cache/8384932fb506ffad56a7369dcac7469d.png"/>
          <p:cNvPicPr>
            <a:picLocks noChangeAspect="1"/>
          </p:cNvPicPr>
          <p:nvPr/>
        </p:nvPicPr>
        <p:blipFill>
          <a:blip r:embed="rId5"/>
          <a:stretch>
            <a:fillRect/>
          </a:stretch>
        </p:blipFill>
        <p:spPr>
          <a:xfrm>
            <a:off x="658368" y="6007608"/>
            <a:ext cx="173736" cy="173736"/>
          </a:xfrm>
          <a:prstGeom prst="rect">
            <a:avLst/>
          </a:prstGeom>
        </p:spPr>
      </p:pic>
      <p:sp>
        <p:nvSpPr>
          <p:cNvPr id="42" name="Text 27"/>
          <p:cNvSpPr/>
          <p:nvPr/>
        </p:nvSpPr>
        <p:spPr>
          <a:xfrm>
            <a:off x="932688" y="5966460"/>
            <a:ext cx="10515600" cy="283464"/>
          </a:xfrm>
          <a:prstGeom prst="rect">
            <a:avLst/>
          </a:prstGeom>
          <a:noFill/>
          <a:ln/>
        </p:spPr>
        <p:txBody>
          <a:bodyPr wrap="square" lIns="0" tIns="0" rIns="0" bIns="0" rtlCol="0" anchor="ctr">
            <a:normAutofit/>
          </a:bodyPr>
          <a:lstStyle/>
          <a:p>
            <a:pPr marL="0" indent="0">
              <a:buNone/>
            </a:pPr>
            <a:r>
              <a:rPr lang="vi-VN" altLang="en-US" sz="1220" dirty="0">
                <a:solidFill>
                  <a:srgbClr val="263345"/>
                </a:solidFill>
                <a:latin typeface="Inter" pitchFamily="34" charset="0"/>
                <a:ea typeface="Inter" pitchFamily="34" charset="-122"/>
                <a:cs typeface="Inter" pitchFamily="34" charset="-120"/>
              </a:rPr>
              <a:t>Phân quyền phải được kiểm tra ở Backend; không chỉ ẩn/hiện nút trên Frontend.</a:t>
            </a:r>
            <a:endParaRPr lang="vi-VN"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ĐỌC HIỂU CODE</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Đọc Route Authorization từng thành phần</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Chỉ Admin mới được thực hiện thao tác xóa tài khoản người dùng.</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18 / 24</a:t>
            </a:r>
            <a:endParaRPr lang="vi-VN" sz="850" dirty="0"/>
          </a:p>
        </p:txBody>
      </p:sp>
      <p:sp>
        <p:nvSpPr>
          <p:cNvPr id="10" name="Shape 8"/>
          <p:cNvSpPr/>
          <p:nvPr/>
        </p:nvSpPr>
        <p:spPr>
          <a:xfrm>
            <a:off x="640080" y="1783080"/>
            <a:ext cx="5202936" cy="3127248"/>
          </a:xfrm>
          <a:prstGeom prst="roundRect">
            <a:avLst>
              <a:gd name="adj" fmla="val 3509"/>
            </a:avLst>
          </a:prstGeom>
          <a:solidFill>
            <a:srgbClr val="16273C"/>
          </a:solidFill>
          <a:ln w="12700">
            <a:solidFill>
              <a:srgbClr val="16273C">
                <a:alpha val="0"/>
              </a:srgbClr>
            </a:solidFill>
            <a:prstDash val="solid"/>
          </a:ln>
        </p:spPr>
        <p:txBody>
          <a:bodyPr/>
          <a:lstStyle/>
          <a:p>
            <a:endParaRPr lang="en-US"/>
          </a:p>
        </p:txBody>
      </p:sp>
      <p:sp>
        <p:nvSpPr>
          <p:cNvPr id="11" name="Shape 9"/>
          <p:cNvSpPr/>
          <p:nvPr/>
        </p:nvSpPr>
        <p:spPr>
          <a:xfrm>
            <a:off x="832104" y="1947672"/>
            <a:ext cx="100584" cy="100584"/>
          </a:xfrm>
          <a:prstGeom prst="ellipse">
            <a:avLst/>
          </a:prstGeom>
          <a:solidFill>
            <a:srgbClr val="FF6873"/>
          </a:solidFill>
          <a:ln w="12700">
            <a:solidFill>
              <a:srgbClr val="333333">
                <a:alpha val="0"/>
              </a:srgbClr>
            </a:solidFill>
            <a:prstDash val="solid"/>
          </a:ln>
        </p:spPr>
        <p:txBody>
          <a:bodyPr/>
          <a:lstStyle/>
          <a:p>
            <a:endParaRPr lang="en-US"/>
          </a:p>
        </p:txBody>
      </p:sp>
      <p:sp>
        <p:nvSpPr>
          <p:cNvPr id="12" name="Shape 10"/>
          <p:cNvSpPr/>
          <p:nvPr/>
        </p:nvSpPr>
        <p:spPr>
          <a:xfrm>
            <a:off x="1005840" y="1947672"/>
            <a:ext cx="100584" cy="100584"/>
          </a:xfrm>
          <a:prstGeom prst="ellipse">
            <a:avLst/>
          </a:prstGeom>
          <a:solidFill>
            <a:srgbClr val="FFD069"/>
          </a:solidFill>
          <a:ln w="12700">
            <a:solidFill>
              <a:srgbClr val="333333">
                <a:alpha val="0"/>
              </a:srgbClr>
            </a:solidFill>
            <a:prstDash val="solid"/>
          </a:ln>
        </p:spPr>
        <p:txBody>
          <a:bodyPr/>
          <a:lstStyle/>
          <a:p>
            <a:endParaRPr lang="en-US"/>
          </a:p>
        </p:txBody>
      </p:sp>
      <p:sp>
        <p:nvSpPr>
          <p:cNvPr id="13" name="Shape 11"/>
          <p:cNvSpPr/>
          <p:nvPr/>
        </p:nvSpPr>
        <p:spPr>
          <a:xfrm>
            <a:off x="1179576" y="1947672"/>
            <a:ext cx="100584" cy="100584"/>
          </a:xfrm>
          <a:prstGeom prst="ellipse">
            <a:avLst/>
          </a:prstGeom>
          <a:solidFill>
            <a:srgbClr val="4CD39B"/>
          </a:solidFill>
          <a:ln w="12700">
            <a:solidFill>
              <a:srgbClr val="333333">
                <a:alpha val="0"/>
              </a:srgbClr>
            </a:solidFill>
            <a:prstDash val="solid"/>
          </a:ln>
        </p:spPr>
        <p:txBody>
          <a:bodyPr/>
          <a:lstStyle/>
          <a:p>
            <a:endParaRPr lang="en-US"/>
          </a:p>
        </p:txBody>
      </p:sp>
      <p:sp>
        <p:nvSpPr>
          <p:cNvPr id="14" name="Text 12"/>
          <p:cNvSpPr/>
          <p:nvPr/>
        </p:nvSpPr>
        <p:spPr>
          <a:xfrm>
            <a:off x="3648456" y="1911096"/>
            <a:ext cx="1938528" cy="201168"/>
          </a:xfrm>
          <a:prstGeom prst="rect">
            <a:avLst/>
          </a:prstGeom>
          <a:noFill/>
          <a:ln/>
        </p:spPr>
        <p:txBody>
          <a:bodyPr wrap="square" lIns="0" tIns="0" rIns="0" bIns="0" rtlCol="0" anchor="ctr">
            <a:normAutofit/>
          </a:bodyPr>
          <a:lstStyle/>
          <a:p>
            <a:pPr marL="0" indent="0" algn="r">
              <a:buNone/>
            </a:pPr>
            <a:r>
              <a:rPr lang="vi-VN" altLang="en-US" sz="900" b="1" dirty="0">
                <a:solidFill>
                  <a:srgbClr val="91AECF"/>
                </a:solidFill>
                <a:latin typeface="Inter" pitchFamily="34" charset="0"/>
                <a:ea typeface="Inter" pitchFamily="34" charset="-122"/>
                <a:cs typeface="Inter" pitchFamily="34" charset="-120"/>
              </a:rPr>
              <a:t>TYPESCRIPT</a:t>
            </a:r>
            <a:endParaRPr lang="vi-VN" sz="900" dirty="0"/>
          </a:p>
        </p:txBody>
      </p:sp>
      <p:sp>
        <p:nvSpPr>
          <p:cNvPr id="15" name="Text 13"/>
          <p:cNvSpPr/>
          <p:nvPr/>
        </p:nvSpPr>
        <p:spPr>
          <a:xfrm>
            <a:off x="877824" y="2249424"/>
            <a:ext cx="4745736" cy="402336"/>
          </a:xfrm>
          <a:prstGeom prst="rect">
            <a:avLst/>
          </a:prstGeom>
          <a:noFill/>
          <a:ln/>
        </p:spPr>
        <p:txBody>
          <a:bodyPr wrap="square" lIns="0" tIns="0" rIns="0" bIns="0" rtlCol="0" anchor="ctr">
            <a:normAutofit/>
          </a:bodyPr>
          <a:lstStyle/>
          <a:p>
            <a:pPr marL="0" indent="0" algn="l">
              <a:buNone/>
            </a:pPr>
            <a:r>
              <a:rPr lang="vi-VN" altLang="en-US" sz="1730" dirty="0">
                <a:solidFill>
                  <a:srgbClr val="8CCBFF"/>
                </a:solidFill>
                <a:latin typeface="DejaVu Sans Mono" pitchFamily="34" charset="0"/>
                <a:ea typeface="DejaVu Sans Mono" pitchFamily="34" charset="-122"/>
                <a:cs typeface="DejaVu Sans Mono" pitchFamily="34" charset="-120"/>
              </a:rPr>
              <a:t>router</a:t>
            </a:r>
            <a:r>
              <a:rPr lang="vi-VN" altLang="en-US" sz="1730" dirty="0">
                <a:solidFill>
                  <a:srgbClr val="E9F0FC"/>
                </a:solidFill>
                <a:latin typeface="DejaVu Sans Mono" pitchFamily="34" charset="0"/>
                <a:ea typeface="DejaVu Sans Mono" pitchFamily="34" charset="-122"/>
                <a:cs typeface="DejaVu Sans Mono" pitchFamily="34" charset="-120"/>
              </a:rPr>
              <a:t>.</a:t>
            </a:r>
            <a:r>
              <a:rPr lang="vi-VN" altLang="en-US" sz="1730" dirty="0">
                <a:solidFill>
                  <a:srgbClr val="F7C67F"/>
                </a:solidFill>
                <a:latin typeface="DejaVu Sans Mono" pitchFamily="34" charset="0"/>
                <a:ea typeface="DejaVu Sans Mono" pitchFamily="34" charset="-122"/>
                <a:cs typeface="DejaVu Sans Mono" pitchFamily="34" charset="-120"/>
              </a:rPr>
              <a:t>delete</a:t>
            </a:r>
            <a:r>
              <a:rPr lang="vi-VN" altLang="en-US" sz="1730" dirty="0">
                <a:solidFill>
                  <a:srgbClr val="E9F0FC"/>
                </a:solidFill>
                <a:latin typeface="DejaVu Sans Mono" pitchFamily="34" charset="0"/>
                <a:ea typeface="DejaVu Sans Mono" pitchFamily="34" charset="-122"/>
                <a:cs typeface="DejaVu Sans Mono" pitchFamily="34" charset="-120"/>
              </a:rPr>
              <a:t>(</a:t>
            </a:r>
            <a:endParaRPr lang="vi-VN" sz="1730" dirty="0"/>
          </a:p>
        </p:txBody>
      </p:sp>
      <p:sp>
        <p:nvSpPr>
          <p:cNvPr id="16" name="Text 14"/>
          <p:cNvSpPr/>
          <p:nvPr/>
        </p:nvSpPr>
        <p:spPr>
          <a:xfrm>
            <a:off x="877824" y="2651760"/>
            <a:ext cx="4745736" cy="402336"/>
          </a:xfrm>
          <a:prstGeom prst="rect">
            <a:avLst/>
          </a:prstGeom>
          <a:noFill/>
          <a:ln/>
        </p:spPr>
        <p:txBody>
          <a:bodyPr wrap="square" lIns="0" tIns="0" rIns="0" bIns="0" rtlCol="0" anchor="ctr">
            <a:normAutofit/>
          </a:bodyPr>
          <a:lstStyle/>
          <a:p>
            <a:pPr marL="0" indent="0" algn="l">
              <a:buNone/>
            </a:pPr>
            <a:r>
              <a:rPr lang="vi-VN" altLang="en-US" sz="1730" dirty="0">
                <a:solidFill>
                  <a:srgbClr val="E9F0FC"/>
                </a:solidFill>
                <a:latin typeface="DejaVu Sans Mono" pitchFamily="34" charset="0"/>
                <a:ea typeface="DejaVu Sans Mono" pitchFamily="34" charset="-122"/>
                <a:cs typeface="DejaVu Sans Mono" pitchFamily="34" charset="-120"/>
              </a:rPr>
              <a:t>  </a:t>
            </a:r>
            <a:r>
              <a:rPr lang="vi-VN" altLang="en-US" sz="1730" dirty="0">
                <a:solidFill>
                  <a:srgbClr val="8DE2BC"/>
                </a:solidFill>
                <a:latin typeface="DejaVu Sans Mono" pitchFamily="34" charset="0"/>
                <a:ea typeface="DejaVu Sans Mono" pitchFamily="34" charset="-122"/>
                <a:cs typeface="DejaVu Sans Mono" pitchFamily="34" charset="-120"/>
              </a:rPr>
              <a:t>"/users/:id"</a:t>
            </a:r>
            <a:r>
              <a:rPr lang="vi-VN" altLang="en-US" sz="1730" dirty="0">
                <a:solidFill>
                  <a:srgbClr val="E9F0FC"/>
                </a:solidFill>
                <a:latin typeface="DejaVu Sans Mono" pitchFamily="34" charset="0"/>
                <a:ea typeface="DejaVu Sans Mono" pitchFamily="34" charset="-122"/>
                <a:cs typeface="DejaVu Sans Mono" pitchFamily="34" charset="-120"/>
              </a:rPr>
              <a:t>,</a:t>
            </a:r>
            <a:endParaRPr lang="vi-VN" sz="1730" dirty="0"/>
          </a:p>
        </p:txBody>
      </p:sp>
      <p:sp>
        <p:nvSpPr>
          <p:cNvPr id="17" name="Text 15"/>
          <p:cNvSpPr/>
          <p:nvPr/>
        </p:nvSpPr>
        <p:spPr>
          <a:xfrm>
            <a:off x="877824" y="3054096"/>
            <a:ext cx="4745736" cy="402336"/>
          </a:xfrm>
          <a:prstGeom prst="rect">
            <a:avLst/>
          </a:prstGeom>
          <a:noFill/>
          <a:ln/>
        </p:spPr>
        <p:txBody>
          <a:bodyPr wrap="square" lIns="0" tIns="0" rIns="0" bIns="0" rtlCol="0" anchor="ctr">
            <a:normAutofit/>
          </a:bodyPr>
          <a:lstStyle/>
          <a:p>
            <a:pPr marL="0" indent="0" algn="l">
              <a:buNone/>
            </a:pPr>
            <a:r>
              <a:rPr lang="vi-VN" altLang="en-US" sz="1730" dirty="0">
                <a:solidFill>
                  <a:srgbClr val="E9F0FC"/>
                </a:solidFill>
                <a:latin typeface="DejaVu Sans Mono" pitchFamily="34" charset="0"/>
                <a:ea typeface="DejaVu Sans Mono" pitchFamily="34" charset="-122"/>
                <a:cs typeface="DejaVu Sans Mono" pitchFamily="34" charset="-120"/>
              </a:rPr>
              <a:t>  isAuth,</a:t>
            </a:r>
            <a:endParaRPr lang="vi-VN" sz="1730" dirty="0"/>
          </a:p>
        </p:txBody>
      </p:sp>
      <p:sp>
        <p:nvSpPr>
          <p:cNvPr id="18" name="Text 16"/>
          <p:cNvSpPr/>
          <p:nvPr/>
        </p:nvSpPr>
        <p:spPr>
          <a:xfrm>
            <a:off x="877824" y="3456432"/>
            <a:ext cx="4745736" cy="402336"/>
          </a:xfrm>
          <a:prstGeom prst="rect">
            <a:avLst/>
          </a:prstGeom>
          <a:noFill/>
          <a:ln/>
        </p:spPr>
        <p:txBody>
          <a:bodyPr wrap="square" lIns="0" tIns="0" rIns="0" bIns="0" rtlCol="0" anchor="ctr">
            <a:normAutofit/>
          </a:bodyPr>
          <a:lstStyle/>
          <a:p>
            <a:pPr marL="0" indent="0" algn="l">
              <a:buNone/>
            </a:pPr>
            <a:r>
              <a:rPr lang="vi-VN" altLang="en-US" sz="1730" dirty="0">
                <a:solidFill>
                  <a:srgbClr val="E9F0FC"/>
                </a:solidFill>
                <a:latin typeface="DejaVu Sans Mono" pitchFamily="34" charset="0"/>
                <a:ea typeface="DejaVu Sans Mono" pitchFamily="34" charset="-122"/>
                <a:cs typeface="DejaVu Sans Mono" pitchFamily="34" charset="-120"/>
              </a:rPr>
              <a:t>  isAdmin,</a:t>
            </a:r>
            <a:endParaRPr lang="vi-VN" sz="1730" dirty="0"/>
          </a:p>
        </p:txBody>
      </p:sp>
      <p:sp>
        <p:nvSpPr>
          <p:cNvPr id="19" name="Text 17"/>
          <p:cNvSpPr/>
          <p:nvPr/>
        </p:nvSpPr>
        <p:spPr>
          <a:xfrm>
            <a:off x="877824" y="3858768"/>
            <a:ext cx="4745736" cy="402336"/>
          </a:xfrm>
          <a:prstGeom prst="rect">
            <a:avLst/>
          </a:prstGeom>
          <a:noFill/>
          <a:ln/>
        </p:spPr>
        <p:txBody>
          <a:bodyPr wrap="square" lIns="0" tIns="0" rIns="0" bIns="0" rtlCol="0" anchor="ctr">
            <a:normAutofit/>
          </a:bodyPr>
          <a:lstStyle/>
          <a:p>
            <a:pPr marL="0" indent="0" algn="l">
              <a:buNone/>
            </a:pPr>
            <a:r>
              <a:rPr lang="vi-VN" altLang="en-US" sz="1730" dirty="0">
                <a:solidFill>
                  <a:srgbClr val="E9F0FC"/>
                </a:solidFill>
                <a:latin typeface="DejaVu Sans Mono" pitchFamily="34" charset="0"/>
                <a:ea typeface="DejaVu Sans Mono" pitchFamily="34" charset="-122"/>
                <a:cs typeface="DejaVu Sans Mono" pitchFamily="34" charset="-120"/>
              </a:rPr>
              <a:t>  deleteUser</a:t>
            </a:r>
            <a:endParaRPr lang="vi-VN" sz="1730" dirty="0"/>
          </a:p>
        </p:txBody>
      </p:sp>
      <p:sp>
        <p:nvSpPr>
          <p:cNvPr id="20" name="Text 18"/>
          <p:cNvSpPr/>
          <p:nvPr/>
        </p:nvSpPr>
        <p:spPr>
          <a:xfrm>
            <a:off x="877824" y="4261104"/>
            <a:ext cx="4745736" cy="402336"/>
          </a:xfrm>
          <a:prstGeom prst="rect">
            <a:avLst/>
          </a:prstGeom>
          <a:noFill/>
          <a:ln/>
        </p:spPr>
        <p:txBody>
          <a:bodyPr wrap="square" lIns="0" tIns="0" rIns="0" bIns="0" rtlCol="0" anchor="ctr">
            <a:normAutofit/>
          </a:bodyPr>
          <a:lstStyle/>
          <a:p>
            <a:pPr marL="0" indent="0" algn="l">
              <a:buNone/>
            </a:pPr>
            <a:r>
              <a:rPr lang="vi-VN" altLang="en-US" sz="1730" dirty="0">
                <a:solidFill>
                  <a:srgbClr val="E9F0FC"/>
                </a:solidFill>
                <a:latin typeface="DejaVu Sans Mono" pitchFamily="34" charset="0"/>
                <a:ea typeface="DejaVu Sans Mono" pitchFamily="34" charset="-122"/>
                <a:cs typeface="DejaVu Sans Mono" pitchFamily="34" charset="-120"/>
              </a:rPr>
              <a:t>);</a:t>
            </a:r>
            <a:endParaRPr lang="vi-VN" sz="1730" dirty="0"/>
          </a:p>
        </p:txBody>
      </p:sp>
      <p:sp>
        <p:nvSpPr>
          <p:cNvPr id="21" name="Shape 19"/>
          <p:cNvSpPr/>
          <p:nvPr/>
        </p:nvSpPr>
        <p:spPr>
          <a:xfrm>
            <a:off x="6208776" y="1837944"/>
            <a:ext cx="5148072" cy="512064"/>
          </a:xfrm>
          <a:prstGeom prst="roundRect">
            <a:avLst>
              <a:gd name="adj" fmla="val 21429"/>
            </a:avLst>
          </a:prstGeom>
          <a:solidFill>
            <a:srgbClr val="FFFFFF"/>
          </a:solidFill>
          <a:ln w="12700">
            <a:solidFill>
              <a:srgbClr val="E0E6EF"/>
            </a:solidFill>
            <a:prstDash val="solid"/>
          </a:ln>
        </p:spPr>
        <p:txBody>
          <a:bodyPr/>
          <a:lstStyle/>
          <a:p>
            <a:endParaRPr lang="en-US"/>
          </a:p>
        </p:txBody>
      </p:sp>
      <p:sp>
        <p:nvSpPr>
          <p:cNvPr id="22" name="Text 20"/>
          <p:cNvSpPr/>
          <p:nvPr/>
        </p:nvSpPr>
        <p:spPr>
          <a:xfrm>
            <a:off x="6391656" y="1947672"/>
            <a:ext cx="1828800" cy="237744"/>
          </a:xfrm>
          <a:prstGeom prst="rect">
            <a:avLst/>
          </a:prstGeom>
          <a:noFill/>
          <a:ln/>
        </p:spPr>
        <p:txBody>
          <a:bodyPr wrap="square" lIns="0" tIns="0" rIns="0" bIns="0" rtlCol="0" anchor="ctr">
            <a:normAutofit/>
          </a:bodyPr>
          <a:lstStyle/>
          <a:p>
            <a:pPr marL="0" indent="0">
              <a:buNone/>
            </a:pPr>
            <a:r>
              <a:rPr lang="vi-VN" altLang="en-US" sz="1250" b="1" dirty="0">
                <a:solidFill>
                  <a:srgbClr val="2A5DAD"/>
                </a:solidFill>
                <a:latin typeface="DejaVu Sans Mono" pitchFamily="34" charset="0"/>
                <a:ea typeface="DejaVu Sans Mono" pitchFamily="34" charset="-122"/>
                <a:cs typeface="DejaVu Sans Mono" pitchFamily="34" charset="-120"/>
              </a:rPr>
              <a:t>.delete()</a:t>
            </a:r>
            <a:endParaRPr lang="vi-VN" sz="1250" dirty="0"/>
          </a:p>
        </p:txBody>
      </p:sp>
      <p:sp>
        <p:nvSpPr>
          <p:cNvPr id="23" name="Text 21"/>
          <p:cNvSpPr/>
          <p:nvPr/>
        </p:nvSpPr>
        <p:spPr>
          <a:xfrm>
            <a:off x="8257032" y="1947672"/>
            <a:ext cx="2834640" cy="256032"/>
          </a:xfrm>
          <a:prstGeom prst="rect">
            <a:avLst/>
          </a:prstGeom>
          <a:noFill/>
          <a:ln/>
        </p:spPr>
        <p:txBody>
          <a:bodyPr wrap="square" lIns="0" tIns="0" rIns="0" bIns="0" rtlCol="0" anchor="ctr">
            <a:normAutofit/>
          </a:bodyPr>
          <a:lstStyle/>
          <a:p>
            <a:pPr marL="0" indent="0">
              <a:buNone/>
            </a:pPr>
            <a:r>
              <a:rPr lang="vi-VN" altLang="en-US" sz="1290" dirty="0">
                <a:solidFill>
                  <a:srgbClr val="263345"/>
                </a:solidFill>
                <a:latin typeface="Inter" pitchFamily="34" charset="0"/>
                <a:ea typeface="Inter" pitchFamily="34" charset="-122"/>
                <a:cs typeface="Inter" pitchFamily="34" charset="-120"/>
              </a:rPr>
              <a:t>Xử lý HTTP DELETE</a:t>
            </a:r>
            <a:endParaRPr lang="vi-VN" sz="1290" dirty="0"/>
          </a:p>
        </p:txBody>
      </p:sp>
      <p:sp>
        <p:nvSpPr>
          <p:cNvPr id="24" name="Shape 22"/>
          <p:cNvSpPr/>
          <p:nvPr/>
        </p:nvSpPr>
        <p:spPr>
          <a:xfrm>
            <a:off x="6208776" y="2468880"/>
            <a:ext cx="5148072" cy="512064"/>
          </a:xfrm>
          <a:prstGeom prst="roundRect">
            <a:avLst>
              <a:gd name="adj" fmla="val 21429"/>
            </a:avLst>
          </a:prstGeom>
          <a:solidFill>
            <a:srgbClr val="FFFFFF"/>
          </a:solidFill>
          <a:ln w="12700">
            <a:solidFill>
              <a:srgbClr val="E0E6EF"/>
            </a:solidFill>
            <a:prstDash val="solid"/>
          </a:ln>
        </p:spPr>
        <p:txBody>
          <a:bodyPr/>
          <a:lstStyle/>
          <a:p>
            <a:endParaRPr lang="en-US"/>
          </a:p>
        </p:txBody>
      </p:sp>
      <p:sp>
        <p:nvSpPr>
          <p:cNvPr id="25" name="Text 23"/>
          <p:cNvSpPr/>
          <p:nvPr/>
        </p:nvSpPr>
        <p:spPr>
          <a:xfrm>
            <a:off x="6391656" y="2578608"/>
            <a:ext cx="1828800" cy="237744"/>
          </a:xfrm>
          <a:prstGeom prst="rect">
            <a:avLst/>
          </a:prstGeom>
          <a:noFill/>
          <a:ln/>
        </p:spPr>
        <p:txBody>
          <a:bodyPr wrap="square" lIns="0" tIns="0" rIns="0" bIns="0" rtlCol="0" anchor="ctr">
            <a:normAutofit/>
          </a:bodyPr>
          <a:lstStyle/>
          <a:p>
            <a:pPr marL="0" indent="0">
              <a:buNone/>
            </a:pPr>
            <a:r>
              <a:rPr lang="vi-VN" altLang="en-US" sz="1250" b="1" dirty="0">
                <a:solidFill>
                  <a:srgbClr val="2A5DAD"/>
                </a:solidFill>
                <a:latin typeface="DejaVu Sans Mono" pitchFamily="34" charset="0"/>
                <a:ea typeface="DejaVu Sans Mono" pitchFamily="34" charset="-122"/>
                <a:cs typeface="DejaVu Sans Mono" pitchFamily="34" charset="-120"/>
              </a:rPr>
              <a:t>/users/:id</a:t>
            </a:r>
            <a:endParaRPr lang="vi-VN" sz="1250" dirty="0"/>
          </a:p>
        </p:txBody>
      </p:sp>
      <p:sp>
        <p:nvSpPr>
          <p:cNvPr id="26" name="Text 24"/>
          <p:cNvSpPr/>
          <p:nvPr/>
        </p:nvSpPr>
        <p:spPr>
          <a:xfrm>
            <a:off x="8257032" y="2578608"/>
            <a:ext cx="2834640" cy="256032"/>
          </a:xfrm>
          <a:prstGeom prst="rect">
            <a:avLst/>
          </a:prstGeom>
          <a:noFill/>
          <a:ln/>
        </p:spPr>
        <p:txBody>
          <a:bodyPr wrap="square" lIns="0" tIns="0" rIns="0" bIns="0" rtlCol="0" anchor="ctr">
            <a:normAutofit/>
          </a:bodyPr>
          <a:lstStyle/>
          <a:p>
            <a:pPr marL="0" indent="0">
              <a:buNone/>
            </a:pPr>
            <a:r>
              <a:rPr lang="vi-VN" altLang="en-US" sz="1290" dirty="0">
                <a:solidFill>
                  <a:srgbClr val="263345"/>
                </a:solidFill>
                <a:latin typeface="Inter" pitchFamily="34" charset="0"/>
                <a:ea typeface="Inter" pitchFamily="34" charset="-122"/>
                <a:cs typeface="Inter" pitchFamily="34" charset="-120"/>
              </a:rPr>
              <a:t>Đường dẫn chứa User ID</a:t>
            </a:r>
            <a:endParaRPr lang="vi-VN" sz="1290" dirty="0"/>
          </a:p>
        </p:txBody>
      </p:sp>
      <p:sp>
        <p:nvSpPr>
          <p:cNvPr id="27" name="Shape 25"/>
          <p:cNvSpPr/>
          <p:nvPr/>
        </p:nvSpPr>
        <p:spPr>
          <a:xfrm>
            <a:off x="6208776" y="3099816"/>
            <a:ext cx="5148072" cy="512064"/>
          </a:xfrm>
          <a:prstGeom prst="roundRect">
            <a:avLst>
              <a:gd name="adj" fmla="val 21429"/>
            </a:avLst>
          </a:prstGeom>
          <a:solidFill>
            <a:srgbClr val="FFFFFF"/>
          </a:solidFill>
          <a:ln w="12700">
            <a:solidFill>
              <a:srgbClr val="E0E6EF"/>
            </a:solidFill>
            <a:prstDash val="solid"/>
          </a:ln>
        </p:spPr>
        <p:txBody>
          <a:bodyPr/>
          <a:lstStyle/>
          <a:p>
            <a:endParaRPr lang="en-US"/>
          </a:p>
        </p:txBody>
      </p:sp>
      <p:sp>
        <p:nvSpPr>
          <p:cNvPr id="28" name="Text 26"/>
          <p:cNvSpPr/>
          <p:nvPr/>
        </p:nvSpPr>
        <p:spPr>
          <a:xfrm>
            <a:off x="6391656" y="3209544"/>
            <a:ext cx="1828800" cy="237744"/>
          </a:xfrm>
          <a:prstGeom prst="rect">
            <a:avLst/>
          </a:prstGeom>
          <a:noFill/>
          <a:ln/>
        </p:spPr>
        <p:txBody>
          <a:bodyPr wrap="square" lIns="0" tIns="0" rIns="0" bIns="0" rtlCol="0" anchor="ctr">
            <a:normAutofit/>
          </a:bodyPr>
          <a:lstStyle/>
          <a:p>
            <a:pPr marL="0" indent="0">
              <a:buNone/>
            </a:pPr>
            <a:r>
              <a:rPr lang="vi-VN" altLang="en-US" sz="1250" b="1" dirty="0">
                <a:solidFill>
                  <a:srgbClr val="2A5DAD"/>
                </a:solidFill>
                <a:latin typeface="DejaVu Sans Mono" pitchFamily="34" charset="0"/>
                <a:ea typeface="DejaVu Sans Mono" pitchFamily="34" charset="-122"/>
                <a:cs typeface="DejaVu Sans Mono" pitchFamily="34" charset="-120"/>
              </a:rPr>
              <a:t>isAuth</a:t>
            </a:r>
            <a:endParaRPr lang="vi-VN" sz="1250" dirty="0"/>
          </a:p>
        </p:txBody>
      </p:sp>
      <p:sp>
        <p:nvSpPr>
          <p:cNvPr id="29" name="Text 27"/>
          <p:cNvSpPr/>
          <p:nvPr/>
        </p:nvSpPr>
        <p:spPr>
          <a:xfrm>
            <a:off x="8257032" y="3209544"/>
            <a:ext cx="2834640" cy="256032"/>
          </a:xfrm>
          <a:prstGeom prst="rect">
            <a:avLst/>
          </a:prstGeom>
          <a:noFill/>
          <a:ln/>
        </p:spPr>
        <p:txBody>
          <a:bodyPr wrap="square" lIns="0" tIns="0" rIns="0" bIns="0" rtlCol="0" anchor="ctr">
            <a:normAutofit/>
          </a:bodyPr>
          <a:lstStyle/>
          <a:p>
            <a:pPr marL="0" indent="0">
              <a:buNone/>
            </a:pPr>
            <a:r>
              <a:rPr lang="vi-VN" altLang="en-US" sz="1290" dirty="0">
                <a:solidFill>
                  <a:srgbClr val="263345"/>
                </a:solidFill>
                <a:latin typeface="Inter" pitchFamily="34" charset="0"/>
                <a:ea typeface="Inter" pitchFamily="34" charset="-122"/>
                <a:cs typeface="Inter" pitchFamily="34" charset="-120"/>
              </a:rPr>
              <a:t>Kiểm tra đăng nhập</a:t>
            </a:r>
            <a:endParaRPr lang="vi-VN" sz="1290" dirty="0"/>
          </a:p>
        </p:txBody>
      </p:sp>
      <p:sp>
        <p:nvSpPr>
          <p:cNvPr id="30" name="Shape 28"/>
          <p:cNvSpPr/>
          <p:nvPr/>
        </p:nvSpPr>
        <p:spPr>
          <a:xfrm>
            <a:off x="6208776" y="3730752"/>
            <a:ext cx="5148072" cy="512064"/>
          </a:xfrm>
          <a:prstGeom prst="roundRect">
            <a:avLst>
              <a:gd name="adj" fmla="val 21429"/>
            </a:avLst>
          </a:prstGeom>
          <a:solidFill>
            <a:srgbClr val="FFF5D5"/>
          </a:solidFill>
          <a:ln w="12700">
            <a:solidFill>
              <a:srgbClr val="B38A20"/>
            </a:solidFill>
            <a:prstDash val="solid"/>
          </a:ln>
        </p:spPr>
        <p:txBody>
          <a:bodyPr/>
          <a:lstStyle/>
          <a:p>
            <a:endParaRPr lang="en-US"/>
          </a:p>
        </p:txBody>
      </p:sp>
      <p:sp>
        <p:nvSpPr>
          <p:cNvPr id="31" name="Text 29"/>
          <p:cNvSpPr/>
          <p:nvPr/>
        </p:nvSpPr>
        <p:spPr>
          <a:xfrm>
            <a:off x="6391656" y="3840480"/>
            <a:ext cx="1828800" cy="237744"/>
          </a:xfrm>
          <a:prstGeom prst="rect">
            <a:avLst/>
          </a:prstGeom>
          <a:noFill/>
          <a:ln/>
        </p:spPr>
        <p:txBody>
          <a:bodyPr wrap="square" lIns="0" tIns="0" rIns="0" bIns="0" rtlCol="0" anchor="ctr">
            <a:normAutofit/>
          </a:bodyPr>
          <a:lstStyle/>
          <a:p>
            <a:pPr marL="0" indent="0">
              <a:buNone/>
            </a:pPr>
            <a:r>
              <a:rPr lang="vi-VN" altLang="en-US" sz="1250" b="1" dirty="0">
                <a:solidFill>
                  <a:srgbClr val="B38A20"/>
                </a:solidFill>
                <a:latin typeface="DejaVu Sans Mono" pitchFamily="34" charset="0"/>
                <a:ea typeface="DejaVu Sans Mono" pitchFamily="34" charset="-122"/>
                <a:cs typeface="DejaVu Sans Mono" pitchFamily="34" charset="-120"/>
              </a:rPr>
              <a:t>isAdmin</a:t>
            </a:r>
            <a:endParaRPr lang="vi-VN" sz="1250" dirty="0"/>
          </a:p>
        </p:txBody>
      </p:sp>
      <p:sp>
        <p:nvSpPr>
          <p:cNvPr id="32" name="Text 30"/>
          <p:cNvSpPr/>
          <p:nvPr/>
        </p:nvSpPr>
        <p:spPr>
          <a:xfrm>
            <a:off x="8257032" y="3840480"/>
            <a:ext cx="2834640" cy="256032"/>
          </a:xfrm>
          <a:prstGeom prst="rect">
            <a:avLst/>
          </a:prstGeom>
          <a:noFill/>
          <a:ln/>
        </p:spPr>
        <p:txBody>
          <a:bodyPr wrap="square" lIns="0" tIns="0" rIns="0" bIns="0" rtlCol="0" anchor="ctr">
            <a:normAutofit/>
          </a:bodyPr>
          <a:lstStyle/>
          <a:p>
            <a:pPr marL="0" indent="0">
              <a:buNone/>
            </a:pPr>
            <a:r>
              <a:rPr lang="vi-VN" altLang="en-US" sz="1290" dirty="0">
                <a:solidFill>
                  <a:srgbClr val="263345"/>
                </a:solidFill>
                <a:latin typeface="Inter" pitchFamily="34" charset="0"/>
                <a:ea typeface="Inter" pitchFamily="34" charset="-122"/>
                <a:cs typeface="Inter" pitchFamily="34" charset="-120"/>
              </a:rPr>
              <a:t>Kiểm tra quyền Admin</a:t>
            </a:r>
            <a:endParaRPr lang="vi-VN" sz="1290" dirty="0"/>
          </a:p>
        </p:txBody>
      </p:sp>
      <p:sp>
        <p:nvSpPr>
          <p:cNvPr id="33" name="Shape 31"/>
          <p:cNvSpPr/>
          <p:nvPr/>
        </p:nvSpPr>
        <p:spPr>
          <a:xfrm>
            <a:off x="6208776" y="4361688"/>
            <a:ext cx="5148072" cy="512064"/>
          </a:xfrm>
          <a:prstGeom prst="roundRect">
            <a:avLst>
              <a:gd name="adj" fmla="val 21429"/>
            </a:avLst>
          </a:prstGeom>
          <a:solidFill>
            <a:srgbClr val="FFFFFF"/>
          </a:solidFill>
          <a:ln w="12700">
            <a:solidFill>
              <a:srgbClr val="E0E6EF"/>
            </a:solidFill>
            <a:prstDash val="solid"/>
          </a:ln>
        </p:spPr>
        <p:txBody>
          <a:bodyPr/>
          <a:lstStyle/>
          <a:p>
            <a:endParaRPr lang="en-US"/>
          </a:p>
        </p:txBody>
      </p:sp>
      <p:sp>
        <p:nvSpPr>
          <p:cNvPr id="34" name="Text 32"/>
          <p:cNvSpPr/>
          <p:nvPr/>
        </p:nvSpPr>
        <p:spPr>
          <a:xfrm>
            <a:off x="6391656" y="4471416"/>
            <a:ext cx="1828800" cy="237744"/>
          </a:xfrm>
          <a:prstGeom prst="rect">
            <a:avLst/>
          </a:prstGeom>
          <a:noFill/>
          <a:ln/>
        </p:spPr>
        <p:txBody>
          <a:bodyPr wrap="square" lIns="0" tIns="0" rIns="0" bIns="0" rtlCol="0" anchor="ctr">
            <a:normAutofit/>
          </a:bodyPr>
          <a:lstStyle/>
          <a:p>
            <a:pPr marL="0" indent="0">
              <a:buNone/>
            </a:pPr>
            <a:r>
              <a:rPr lang="vi-VN" altLang="en-US" sz="1250" b="1" dirty="0">
                <a:solidFill>
                  <a:srgbClr val="2A5DAD"/>
                </a:solidFill>
                <a:latin typeface="DejaVu Sans Mono" pitchFamily="34" charset="0"/>
                <a:ea typeface="DejaVu Sans Mono" pitchFamily="34" charset="-122"/>
                <a:cs typeface="DejaVu Sans Mono" pitchFamily="34" charset="-120"/>
              </a:rPr>
              <a:t>deleteUser</a:t>
            </a:r>
            <a:endParaRPr lang="vi-VN" sz="1250" dirty="0"/>
          </a:p>
        </p:txBody>
      </p:sp>
      <p:sp>
        <p:nvSpPr>
          <p:cNvPr id="35" name="Text 33"/>
          <p:cNvSpPr/>
          <p:nvPr/>
        </p:nvSpPr>
        <p:spPr>
          <a:xfrm>
            <a:off x="8257032" y="4471416"/>
            <a:ext cx="2834640" cy="256032"/>
          </a:xfrm>
          <a:prstGeom prst="rect">
            <a:avLst/>
          </a:prstGeom>
          <a:noFill/>
          <a:ln/>
        </p:spPr>
        <p:txBody>
          <a:bodyPr wrap="square" lIns="0" tIns="0" rIns="0" bIns="0" rtlCol="0" anchor="ctr">
            <a:normAutofit/>
          </a:bodyPr>
          <a:lstStyle/>
          <a:p>
            <a:pPr marL="0" indent="0">
              <a:buNone/>
            </a:pPr>
            <a:r>
              <a:rPr lang="vi-VN" altLang="en-US" sz="1290" dirty="0">
                <a:solidFill>
                  <a:srgbClr val="263345"/>
                </a:solidFill>
                <a:latin typeface="Inter" pitchFamily="34" charset="0"/>
                <a:ea typeface="Inter" pitchFamily="34" charset="-122"/>
                <a:cs typeface="Inter" pitchFamily="34" charset="-120"/>
              </a:rPr>
              <a:t>Controller thực hiện xóa</a:t>
            </a:r>
            <a:endParaRPr lang="vi-VN" sz="1290" dirty="0"/>
          </a:p>
        </p:txBody>
      </p:sp>
      <p:sp>
        <p:nvSpPr>
          <p:cNvPr id="36" name="Shape 34"/>
          <p:cNvSpPr/>
          <p:nvPr/>
        </p:nvSpPr>
        <p:spPr>
          <a:xfrm>
            <a:off x="914400" y="5212080"/>
            <a:ext cx="10332720" cy="475488"/>
          </a:xfrm>
          <a:prstGeom prst="roundRect">
            <a:avLst>
              <a:gd name="adj" fmla="val 23077"/>
            </a:avLst>
          </a:prstGeom>
          <a:solidFill>
            <a:srgbClr val="E6F6EF"/>
          </a:solidFill>
          <a:ln w="12700">
            <a:solidFill>
              <a:srgbClr val="E6F6EF">
                <a:alpha val="0"/>
              </a:srgbClr>
            </a:solidFill>
            <a:prstDash val="solid"/>
          </a:ln>
        </p:spPr>
        <p:txBody>
          <a:bodyPr/>
          <a:lstStyle/>
          <a:p>
            <a:endParaRPr lang="en-US"/>
          </a:p>
        </p:txBody>
      </p:sp>
      <p:sp>
        <p:nvSpPr>
          <p:cNvPr id="37" name="Text 35"/>
          <p:cNvSpPr/>
          <p:nvPr/>
        </p:nvSpPr>
        <p:spPr>
          <a:xfrm>
            <a:off x="1078992" y="5321808"/>
            <a:ext cx="10021824" cy="265176"/>
          </a:xfrm>
          <a:prstGeom prst="rect">
            <a:avLst/>
          </a:prstGeom>
          <a:noFill/>
          <a:ln/>
        </p:spPr>
        <p:txBody>
          <a:bodyPr wrap="square" lIns="0" tIns="0" rIns="0" bIns="0" rtlCol="0" anchor="ctr">
            <a:normAutofit/>
          </a:bodyPr>
          <a:lstStyle/>
          <a:p>
            <a:pPr marL="0" indent="0" algn="ctr">
              <a:buNone/>
            </a:pPr>
            <a:r>
              <a:rPr lang="vi-VN" altLang="en-US" sz="1380" dirty="0">
                <a:solidFill>
                  <a:srgbClr val="183B63"/>
                </a:solidFill>
                <a:latin typeface="Inter" pitchFamily="34" charset="0"/>
                <a:ea typeface="Inter" pitchFamily="34" charset="-122"/>
                <a:cs typeface="Inter" pitchFamily="34" charset="-120"/>
              </a:rPr>
              <a:t>Đã đăng nhập nhưng Role=Student? isAdmin từ chối với HTTP 403 Forbidden.</a:t>
            </a:r>
            <a:endParaRPr lang="vi-VN" sz="13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LUỒNG REQUEST</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Kết hợp Authentication và Authorization</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Ví dụ một Client gọi DELETE /api/users/5.</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19 / 24</a:t>
            </a:r>
            <a:endParaRPr lang="vi-VN" sz="850" dirty="0"/>
          </a:p>
        </p:txBody>
      </p:sp>
      <p:sp>
        <p:nvSpPr>
          <p:cNvPr id="10" name="Shape 8"/>
          <p:cNvSpPr/>
          <p:nvPr/>
        </p:nvSpPr>
        <p:spPr>
          <a:xfrm>
            <a:off x="4352544" y="1728216"/>
            <a:ext cx="3456432" cy="548640"/>
          </a:xfrm>
          <a:prstGeom prst="roundRect">
            <a:avLst>
              <a:gd name="adj" fmla="val 20000"/>
            </a:avLst>
          </a:prstGeom>
          <a:solidFill>
            <a:srgbClr val="EBF2FE"/>
          </a:solidFill>
          <a:ln w="12700">
            <a:solidFill>
              <a:srgbClr val="EBF2FE">
                <a:alpha val="0"/>
              </a:srgbClr>
            </a:solidFill>
            <a:prstDash val="solid"/>
          </a:ln>
        </p:spPr>
        <p:txBody>
          <a:bodyPr/>
          <a:lstStyle/>
          <a:p>
            <a:endParaRPr lang="en-US"/>
          </a:p>
        </p:txBody>
      </p:sp>
      <p:sp>
        <p:nvSpPr>
          <p:cNvPr id="11" name="Text 9"/>
          <p:cNvSpPr/>
          <p:nvPr/>
        </p:nvSpPr>
        <p:spPr>
          <a:xfrm>
            <a:off x="4443984" y="1828800"/>
            <a:ext cx="3273552" cy="347472"/>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DELETE /api/users/5</a:t>
            </a:r>
            <a:endParaRPr lang="vi-VN" sz="1360" dirty="0"/>
          </a:p>
        </p:txBody>
      </p:sp>
      <p:sp>
        <p:nvSpPr>
          <p:cNvPr id="12" name="Shape 10"/>
          <p:cNvSpPr/>
          <p:nvPr/>
        </p:nvSpPr>
        <p:spPr>
          <a:xfrm>
            <a:off x="6080760" y="2313432"/>
            <a:ext cx="0" cy="283464"/>
          </a:xfrm>
          <a:prstGeom prst="line">
            <a:avLst/>
          </a:prstGeom>
          <a:noFill/>
          <a:ln w="30480">
            <a:solidFill>
              <a:srgbClr val="B38A20"/>
            </a:solidFill>
            <a:prstDash val="solid"/>
            <a:headEnd type="none"/>
            <a:tailEnd type="triangle"/>
          </a:ln>
        </p:spPr>
        <p:txBody>
          <a:bodyPr/>
          <a:lstStyle/>
          <a:p>
            <a:endParaRPr lang="en-US"/>
          </a:p>
        </p:txBody>
      </p:sp>
      <p:sp>
        <p:nvSpPr>
          <p:cNvPr id="13" name="Shape 11"/>
          <p:cNvSpPr/>
          <p:nvPr/>
        </p:nvSpPr>
        <p:spPr>
          <a:xfrm>
            <a:off x="4352544" y="2670048"/>
            <a:ext cx="3456432" cy="585216"/>
          </a:xfrm>
          <a:prstGeom prst="roundRect">
            <a:avLst>
              <a:gd name="adj" fmla="val 18750"/>
            </a:avLst>
          </a:prstGeom>
          <a:solidFill>
            <a:srgbClr val="EBF2FE"/>
          </a:solidFill>
          <a:ln w="12700">
            <a:solidFill>
              <a:srgbClr val="EBF2FE">
                <a:alpha val="0"/>
              </a:srgbClr>
            </a:solidFill>
            <a:prstDash val="solid"/>
          </a:ln>
        </p:spPr>
        <p:txBody>
          <a:bodyPr/>
          <a:lstStyle/>
          <a:p>
            <a:endParaRPr lang="en-US"/>
          </a:p>
        </p:txBody>
      </p:sp>
      <p:sp>
        <p:nvSpPr>
          <p:cNvPr id="14" name="Text 12"/>
          <p:cNvSpPr/>
          <p:nvPr/>
        </p:nvSpPr>
        <p:spPr>
          <a:xfrm>
            <a:off x="4443984" y="2770632"/>
            <a:ext cx="3273552" cy="384048"/>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isAuth – JWT hợp lệ?</a:t>
            </a:r>
            <a:endParaRPr lang="vi-VN" sz="1360" dirty="0"/>
          </a:p>
        </p:txBody>
      </p:sp>
      <p:sp>
        <p:nvSpPr>
          <p:cNvPr id="15" name="Shape 13"/>
          <p:cNvSpPr/>
          <p:nvPr/>
        </p:nvSpPr>
        <p:spPr>
          <a:xfrm>
            <a:off x="4343400" y="2971800"/>
            <a:ext cx="0" cy="0"/>
          </a:xfrm>
          <a:prstGeom prst="line">
            <a:avLst/>
          </a:prstGeom>
          <a:noFill/>
          <a:ln w="30480">
            <a:solidFill>
              <a:srgbClr val="BB4A55"/>
            </a:solidFill>
            <a:prstDash val="solid"/>
            <a:headEnd type="none"/>
            <a:tailEnd type="triangle"/>
          </a:ln>
        </p:spPr>
        <p:txBody>
          <a:bodyPr/>
          <a:lstStyle/>
          <a:p>
            <a:endParaRPr lang="en-US"/>
          </a:p>
        </p:txBody>
      </p:sp>
      <p:sp>
        <p:nvSpPr>
          <p:cNvPr id="16" name="Shape 14"/>
          <p:cNvSpPr/>
          <p:nvPr/>
        </p:nvSpPr>
        <p:spPr>
          <a:xfrm>
            <a:off x="731520" y="2651760"/>
            <a:ext cx="2496312" cy="630936"/>
          </a:xfrm>
          <a:prstGeom prst="roundRect">
            <a:avLst>
              <a:gd name="adj" fmla="val 17391"/>
            </a:avLst>
          </a:prstGeom>
          <a:solidFill>
            <a:srgbClr val="FDECEE"/>
          </a:solidFill>
          <a:ln w="12700">
            <a:solidFill>
              <a:srgbClr val="FDECEE">
                <a:alpha val="0"/>
              </a:srgbClr>
            </a:solidFill>
            <a:prstDash val="solid"/>
          </a:ln>
        </p:spPr>
        <p:txBody>
          <a:bodyPr/>
          <a:lstStyle/>
          <a:p>
            <a:endParaRPr lang="en-US"/>
          </a:p>
        </p:txBody>
      </p:sp>
      <p:sp>
        <p:nvSpPr>
          <p:cNvPr id="17" name="Text 15"/>
          <p:cNvSpPr/>
          <p:nvPr/>
        </p:nvSpPr>
        <p:spPr>
          <a:xfrm>
            <a:off x="822960" y="2752344"/>
            <a:ext cx="2313432" cy="429768"/>
          </a:xfrm>
          <a:prstGeom prst="rect">
            <a:avLst/>
          </a:prstGeom>
          <a:noFill/>
          <a:ln/>
        </p:spPr>
        <p:txBody>
          <a:bodyPr wrap="square" lIns="0" tIns="0" rIns="0" bIns="0" rtlCol="0" anchor="ctr">
            <a:normAutofit/>
          </a:bodyPr>
          <a:lstStyle/>
          <a:p>
            <a:pPr marL="0" indent="0" algn="ctr">
              <a:buNone/>
            </a:pPr>
            <a:r>
              <a:rPr lang="vi-VN" altLang="en-US" sz="1360" b="1" dirty="0">
                <a:solidFill>
                  <a:srgbClr val="BB4A55"/>
                </a:solidFill>
                <a:latin typeface="Inter" pitchFamily="34" charset="0"/>
                <a:ea typeface="Inter" pitchFamily="34" charset="-122"/>
                <a:cs typeface="Inter" pitchFamily="34" charset="-120"/>
              </a:rPr>
              <a:t>401 Unauthorized</a:t>
            </a:r>
            <a:endParaRPr lang="vi-VN" sz="1360" dirty="0"/>
          </a:p>
        </p:txBody>
      </p:sp>
      <p:sp>
        <p:nvSpPr>
          <p:cNvPr id="18" name="Shape 16"/>
          <p:cNvSpPr/>
          <p:nvPr/>
        </p:nvSpPr>
        <p:spPr>
          <a:xfrm>
            <a:off x="6080760" y="3282696"/>
            <a:ext cx="0" cy="265176"/>
          </a:xfrm>
          <a:prstGeom prst="line">
            <a:avLst/>
          </a:prstGeom>
          <a:noFill/>
          <a:ln w="30480">
            <a:solidFill>
              <a:srgbClr val="B38A20"/>
            </a:solidFill>
            <a:prstDash val="solid"/>
            <a:headEnd type="none"/>
            <a:tailEnd type="triangle"/>
          </a:ln>
        </p:spPr>
        <p:txBody>
          <a:bodyPr/>
          <a:lstStyle/>
          <a:p>
            <a:endParaRPr lang="en-US"/>
          </a:p>
        </p:txBody>
      </p:sp>
      <p:sp>
        <p:nvSpPr>
          <p:cNvPr id="19" name="Shape 17"/>
          <p:cNvSpPr/>
          <p:nvPr/>
        </p:nvSpPr>
        <p:spPr>
          <a:xfrm>
            <a:off x="4352544" y="3621024"/>
            <a:ext cx="3456432" cy="585216"/>
          </a:xfrm>
          <a:prstGeom prst="roundRect">
            <a:avLst>
              <a:gd name="adj" fmla="val 18750"/>
            </a:avLst>
          </a:prstGeom>
          <a:solidFill>
            <a:srgbClr val="EBF2FE"/>
          </a:solidFill>
          <a:ln w="12700">
            <a:solidFill>
              <a:srgbClr val="EBF2FE">
                <a:alpha val="0"/>
              </a:srgbClr>
            </a:solidFill>
            <a:prstDash val="solid"/>
          </a:ln>
        </p:spPr>
        <p:txBody>
          <a:bodyPr/>
          <a:lstStyle/>
          <a:p>
            <a:endParaRPr lang="en-US"/>
          </a:p>
        </p:txBody>
      </p:sp>
      <p:sp>
        <p:nvSpPr>
          <p:cNvPr id="20" name="Text 18"/>
          <p:cNvSpPr/>
          <p:nvPr/>
        </p:nvSpPr>
        <p:spPr>
          <a:xfrm>
            <a:off x="4443984" y="3721608"/>
            <a:ext cx="3273552" cy="384048"/>
          </a:xfrm>
          <a:prstGeom prst="rect">
            <a:avLst/>
          </a:prstGeom>
          <a:noFill/>
          <a:ln/>
        </p:spPr>
        <p:txBody>
          <a:bodyPr wrap="square" lIns="0" tIns="0" rIns="0" bIns="0" rtlCol="0" anchor="ctr">
            <a:normAutofit/>
          </a:bodyPr>
          <a:lstStyle/>
          <a:p>
            <a:pPr marL="0" indent="0" algn="ctr">
              <a:buNone/>
            </a:pPr>
            <a:r>
              <a:rPr lang="vi-VN" altLang="en-US" sz="1360" b="1" dirty="0">
                <a:solidFill>
                  <a:srgbClr val="2A5DAD"/>
                </a:solidFill>
                <a:latin typeface="Inter" pitchFamily="34" charset="0"/>
                <a:ea typeface="Inter" pitchFamily="34" charset="-122"/>
                <a:cs typeface="Inter" pitchFamily="34" charset="-120"/>
              </a:rPr>
              <a:t>isAdmin – Đủ quyền?</a:t>
            </a:r>
            <a:endParaRPr lang="vi-VN" sz="1360" dirty="0"/>
          </a:p>
        </p:txBody>
      </p:sp>
      <p:sp>
        <p:nvSpPr>
          <p:cNvPr id="21" name="Shape 19"/>
          <p:cNvSpPr/>
          <p:nvPr/>
        </p:nvSpPr>
        <p:spPr>
          <a:xfrm>
            <a:off x="7863840" y="3922776"/>
            <a:ext cx="1051560" cy="0"/>
          </a:xfrm>
          <a:prstGeom prst="line">
            <a:avLst/>
          </a:prstGeom>
          <a:noFill/>
          <a:ln w="30480">
            <a:solidFill>
              <a:srgbClr val="BB4A55"/>
            </a:solidFill>
            <a:prstDash val="solid"/>
            <a:headEnd type="none"/>
            <a:tailEnd type="triangle"/>
          </a:ln>
        </p:spPr>
        <p:txBody>
          <a:bodyPr/>
          <a:lstStyle/>
          <a:p>
            <a:endParaRPr lang="en-US"/>
          </a:p>
        </p:txBody>
      </p:sp>
      <p:sp>
        <p:nvSpPr>
          <p:cNvPr id="22" name="Shape 20"/>
          <p:cNvSpPr/>
          <p:nvPr/>
        </p:nvSpPr>
        <p:spPr>
          <a:xfrm>
            <a:off x="8988552" y="3611880"/>
            <a:ext cx="2450592" cy="658368"/>
          </a:xfrm>
          <a:prstGeom prst="roundRect">
            <a:avLst>
              <a:gd name="adj" fmla="val 16667"/>
            </a:avLst>
          </a:prstGeom>
          <a:solidFill>
            <a:srgbClr val="FDECEE"/>
          </a:solidFill>
          <a:ln w="12700">
            <a:solidFill>
              <a:srgbClr val="FDECEE">
                <a:alpha val="0"/>
              </a:srgbClr>
            </a:solidFill>
            <a:prstDash val="solid"/>
          </a:ln>
        </p:spPr>
        <p:txBody>
          <a:bodyPr/>
          <a:lstStyle/>
          <a:p>
            <a:endParaRPr lang="en-US"/>
          </a:p>
        </p:txBody>
      </p:sp>
      <p:sp>
        <p:nvSpPr>
          <p:cNvPr id="23" name="Text 21"/>
          <p:cNvSpPr/>
          <p:nvPr/>
        </p:nvSpPr>
        <p:spPr>
          <a:xfrm>
            <a:off x="9079992" y="3712464"/>
            <a:ext cx="2267712" cy="457200"/>
          </a:xfrm>
          <a:prstGeom prst="rect">
            <a:avLst/>
          </a:prstGeom>
          <a:noFill/>
          <a:ln/>
        </p:spPr>
        <p:txBody>
          <a:bodyPr wrap="square" lIns="0" tIns="0" rIns="0" bIns="0" rtlCol="0" anchor="ctr">
            <a:normAutofit/>
          </a:bodyPr>
          <a:lstStyle/>
          <a:p>
            <a:pPr marL="0" indent="0" algn="ctr">
              <a:buNone/>
            </a:pPr>
            <a:r>
              <a:rPr lang="vi-VN" altLang="en-US" sz="1360" b="1" dirty="0">
                <a:solidFill>
                  <a:srgbClr val="BB4A55"/>
                </a:solidFill>
                <a:latin typeface="Inter" pitchFamily="34" charset="0"/>
                <a:ea typeface="Inter" pitchFamily="34" charset="-122"/>
                <a:cs typeface="Inter" pitchFamily="34" charset="-120"/>
              </a:rPr>
              <a:t>403 Forbidden</a:t>
            </a:r>
            <a:endParaRPr lang="vi-VN" sz="1360" dirty="0"/>
          </a:p>
        </p:txBody>
      </p:sp>
      <p:sp>
        <p:nvSpPr>
          <p:cNvPr id="24" name="Shape 22"/>
          <p:cNvSpPr/>
          <p:nvPr/>
        </p:nvSpPr>
        <p:spPr>
          <a:xfrm>
            <a:off x="6080760" y="4242816"/>
            <a:ext cx="0" cy="310896"/>
          </a:xfrm>
          <a:prstGeom prst="line">
            <a:avLst/>
          </a:prstGeom>
          <a:noFill/>
          <a:ln w="30480">
            <a:solidFill>
              <a:srgbClr val="19805B"/>
            </a:solidFill>
            <a:prstDash val="solid"/>
            <a:headEnd type="none"/>
            <a:tailEnd type="triangle"/>
          </a:ln>
        </p:spPr>
        <p:txBody>
          <a:bodyPr/>
          <a:lstStyle/>
          <a:p>
            <a:endParaRPr lang="en-US"/>
          </a:p>
        </p:txBody>
      </p:sp>
      <p:sp>
        <p:nvSpPr>
          <p:cNvPr id="25" name="Shape 23"/>
          <p:cNvSpPr/>
          <p:nvPr/>
        </p:nvSpPr>
        <p:spPr>
          <a:xfrm>
            <a:off x="4352544" y="4636008"/>
            <a:ext cx="3456432" cy="621792"/>
          </a:xfrm>
          <a:prstGeom prst="roundRect">
            <a:avLst>
              <a:gd name="adj" fmla="val 17647"/>
            </a:avLst>
          </a:prstGeom>
          <a:solidFill>
            <a:srgbClr val="E6F6EF"/>
          </a:solidFill>
          <a:ln w="12700">
            <a:solidFill>
              <a:srgbClr val="E6F6EF">
                <a:alpha val="0"/>
              </a:srgbClr>
            </a:solidFill>
            <a:prstDash val="solid"/>
          </a:ln>
        </p:spPr>
        <p:txBody>
          <a:bodyPr/>
          <a:lstStyle/>
          <a:p>
            <a:endParaRPr lang="en-US"/>
          </a:p>
        </p:txBody>
      </p:sp>
      <p:sp>
        <p:nvSpPr>
          <p:cNvPr id="26" name="Text 24"/>
          <p:cNvSpPr/>
          <p:nvPr/>
        </p:nvSpPr>
        <p:spPr>
          <a:xfrm>
            <a:off x="4443984" y="4736592"/>
            <a:ext cx="3273552" cy="420624"/>
          </a:xfrm>
          <a:prstGeom prst="rect">
            <a:avLst/>
          </a:prstGeom>
          <a:noFill/>
          <a:ln/>
        </p:spPr>
        <p:txBody>
          <a:bodyPr wrap="square" lIns="0" tIns="0" rIns="0" bIns="0" rtlCol="0" anchor="ctr">
            <a:normAutofit/>
          </a:bodyPr>
          <a:lstStyle/>
          <a:p>
            <a:pPr marL="0" indent="0" algn="ctr">
              <a:buNone/>
            </a:pPr>
            <a:r>
              <a:rPr lang="vi-VN" altLang="en-US" sz="1360" b="1" dirty="0">
                <a:solidFill>
                  <a:srgbClr val="19805B"/>
                </a:solidFill>
                <a:latin typeface="Inter" pitchFamily="34" charset="0"/>
                <a:ea typeface="Inter" pitchFamily="34" charset="-122"/>
                <a:cs typeface="Inter" pitchFamily="34" charset="-120"/>
              </a:rPr>
              <a:t>deleteUser() chạy</a:t>
            </a:r>
            <a:endParaRPr lang="vi-VN" sz="1360" dirty="0"/>
          </a:p>
        </p:txBody>
      </p:sp>
      <p:sp>
        <p:nvSpPr>
          <p:cNvPr id="27" name="Text 25"/>
          <p:cNvSpPr/>
          <p:nvPr/>
        </p:nvSpPr>
        <p:spPr>
          <a:xfrm>
            <a:off x="2395728" y="2679192"/>
            <a:ext cx="1609344" cy="201168"/>
          </a:xfrm>
          <a:prstGeom prst="rect">
            <a:avLst/>
          </a:prstGeom>
          <a:noFill/>
          <a:ln/>
        </p:spPr>
        <p:txBody>
          <a:bodyPr wrap="square" lIns="0" tIns="0" rIns="0" bIns="0" rtlCol="0" anchor="ctr">
            <a:normAutofit/>
          </a:bodyPr>
          <a:lstStyle/>
          <a:p>
            <a:pPr marL="0" indent="0" algn="ctr">
              <a:buNone/>
            </a:pPr>
            <a:r>
              <a:rPr lang="vi-VN" altLang="en-US" sz="1020" dirty="0">
                <a:solidFill>
                  <a:srgbClr val="BB4A55"/>
                </a:solidFill>
                <a:latin typeface="Inter" pitchFamily="34" charset="0"/>
                <a:ea typeface="Inter" pitchFamily="34" charset="-122"/>
                <a:cs typeface="Inter" pitchFamily="34" charset="-120"/>
              </a:rPr>
              <a:t>Không hợp lệ</a:t>
            </a:r>
            <a:endParaRPr lang="vi-VN" sz="1020" dirty="0"/>
          </a:p>
        </p:txBody>
      </p:sp>
      <p:sp>
        <p:nvSpPr>
          <p:cNvPr id="28" name="Text 26"/>
          <p:cNvSpPr/>
          <p:nvPr/>
        </p:nvSpPr>
        <p:spPr>
          <a:xfrm>
            <a:off x="6300216" y="4379976"/>
            <a:ext cx="1133856" cy="173736"/>
          </a:xfrm>
          <a:prstGeom prst="rect">
            <a:avLst/>
          </a:prstGeom>
          <a:noFill/>
          <a:ln/>
        </p:spPr>
        <p:txBody>
          <a:bodyPr wrap="square" lIns="0" tIns="0" rIns="0" bIns="0" rtlCol="0" anchor="ctr">
            <a:normAutofit/>
          </a:bodyPr>
          <a:lstStyle/>
          <a:p>
            <a:pPr marL="0" indent="0">
              <a:buNone/>
            </a:pPr>
            <a:r>
              <a:rPr lang="vi-VN" altLang="en-US" sz="1000" dirty="0">
                <a:solidFill>
                  <a:srgbClr val="19805B"/>
                </a:solidFill>
                <a:latin typeface="Inter" pitchFamily="34" charset="0"/>
                <a:ea typeface="Inter" pitchFamily="34" charset="-122"/>
                <a:cs typeface="Inter" pitchFamily="34" charset="-120"/>
              </a:rPr>
              <a:t>Đủ quyền</a:t>
            </a:r>
            <a:endParaRPr lang="vi-VN" sz="1000" dirty="0"/>
          </a:p>
        </p:txBody>
      </p:sp>
      <p:sp>
        <p:nvSpPr>
          <p:cNvPr id="29" name="Shape 27"/>
          <p:cNvSpPr/>
          <p:nvPr/>
        </p:nvSpPr>
        <p:spPr>
          <a:xfrm>
            <a:off x="475488" y="5870448"/>
            <a:ext cx="11247120" cy="448056"/>
          </a:xfrm>
          <a:prstGeom prst="roundRect">
            <a:avLst>
              <a:gd name="adj" fmla="val 24490"/>
            </a:avLst>
          </a:prstGeom>
          <a:solidFill>
            <a:srgbClr val="FFF5D5"/>
          </a:solidFill>
          <a:ln w="12700">
            <a:solidFill>
              <a:srgbClr val="FFF5D5">
                <a:alpha val="0"/>
              </a:srgbClr>
            </a:solidFill>
            <a:prstDash val="solid"/>
          </a:ln>
        </p:spPr>
        <p:txBody>
          <a:bodyPr/>
          <a:lstStyle/>
          <a:p>
            <a:endParaRPr lang="en-US"/>
          </a:p>
        </p:txBody>
      </p:sp>
      <p:pic>
        <p:nvPicPr>
          <p:cNvPr id="30" name="Image 0" descr="/mnt/data/auth_slide_work/icon_cache/19a4e8a463faa6409c49e67e1231d428.png"/>
          <p:cNvPicPr>
            <a:picLocks noChangeAspect="1"/>
          </p:cNvPicPr>
          <p:nvPr/>
        </p:nvPicPr>
        <p:blipFill>
          <a:blip r:embed="rId3"/>
          <a:stretch>
            <a:fillRect/>
          </a:stretch>
        </p:blipFill>
        <p:spPr>
          <a:xfrm>
            <a:off x="658368" y="5998464"/>
            <a:ext cx="173736" cy="173736"/>
          </a:xfrm>
          <a:prstGeom prst="rect">
            <a:avLst/>
          </a:prstGeom>
        </p:spPr>
      </p:pic>
      <p:sp>
        <p:nvSpPr>
          <p:cNvPr id="31" name="Text 28"/>
          <p:cNvSpPr/>
          <p:nvPr/>
        </p:nvSpPr>
        <p:spPr>
          <a:xfrm>
            <a:off x="932688" y="5957316"/>
            <a:ext cx="10515600" cy="283464"/>
          </a:xfrm>
          <a:prstGeom prst="rect">
            <a:avLst/>
          </a:prstGeom>
          <a:noFill/>
          <a:ln/>
        </p:spPr>
        <p:txBody>
          <a:bodyPr wrap="square" lIns="0" tIns="0" rIns="0" bIns="0" rtlCol="0" anchor="ctr">
            <a:normAutofit/>
          </a:bodyPr>
          <a:lstStyle/>
          <a:p>
            <a:pPr marL="0" indent="0">
              <a:buNone/>
            </a:pPr>
            <a:r>
              <a:rPr lang="vi-VN" altLang="en-US" sz="1220" dirty="0">
                <a:solidFill>
                  <a:srgbClr val="263345"/>
                </a:solidFill>
                <a:latin typeface="Inter" pitchFamily="34" charset="0"/>
                <a:ea typeface="Inter" pitchFamily="34" charset="-122"/>
                <a:cs typeface="Inter" pitchFamily="34" charset="-120"/>
              </a:rPr>
              <a:t>Thông thường: xác thực trước → phân quyền sau → Controller thực thi nghiệp vụ.</a:t>
            </a:r>
            <a:endParaRPr lang="vi-VN"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HTTP STATUS</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Các mã trạng thái cần nhớ khi làm Auth</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Status Code giúp Client hiểu yêu cầu đã thành công hay vì sao thất bại.</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20 / 24</a:t>
            </a:r>
            <a:endParaRPr lang="vi-VN" sz="850" dirty="0"/>
          </a:p>
        </p:txBody>
      </p:sp>
      <p:sp>
        <p:nvSpPr>
          <p:cNvPr id="10" name="Shape 8"/>
          <p:cNvSpPr/>
          <p:nvPr/>
        </p:nvSpPr>
        <p:spPr>
          <a:xfrm>
            <a:off x="676656" y="1810512"/>
            <a:ext cx="10835640" cy="502920"/>
          </a:xfrm>
          <a:prstGeom prst="roundRect">
            <a:avLst>
              <a:gd name="adj" fmla="val 21818"/>
            </a:avLst>
          </a:prstGeom>
          <a:solidFill>
            <a:srgbClr val="183B63"/>
          </a:solidFill>
          <a:ln w="12700">
            <a:solidFill>
              <a:srgbClr val="183B63">
                <a:alpha val="0"/>
              </a:srgbClr>
            </a:solidFill>
            <a:prstDash val="solid"/>
          </a:ln>
        </p:spPr>
        <p:txBody>
          <a:bodyPr/>
          <a:lstStyle/>
          <a:p>
            <a:endParaRPr lang="en-US"/>
          </a:p>
        </p:txBody>
      </p:sp>
      <p:sp>
        <p:nvSpPr>
          <p:cNvPr id="11" name="Text 9"/>
          <p:cNvSpPr/>
          <p:nvPr/>
        </p:nvSpPr>
        <p:spPr>
          <a:xfrm>
            <a:off x="886968" y="1947672"/>
            <a:ext cx="1554480" cy="192024"/>
          </a:xfrm>
          <a:prstGeom prst="rect">
            <a:avLst/>
          </a:prstGeom>
          <a:noFill/>
          <a:ln/>
        </p:spPr>
        <p:txBody>
          <a:bodyPr wrap="square" lIns="0" tIns="0" rIns="0" bIns="0" rtlCol="0" anchor="ctr">
            <a:normAutofit/>
          </a:bodyPr>
          <a:lstStyle/>
          <a:p>
            <a:pPr marL="0" indent="0">
              <a:buNone/>
            </a:pPr>
            <a:r>
              <a:rPr lang="vi-VN" altLang="en-US" sz="1190" b="1" dirty="0">
                <a:solidFill>
                  <a:srgbClr val="FFFFFF"/>
                </a:solidFill>
                <a:latin typeface="Inter" pitchFamily="34" charset="0"/>
                <a:ea typeface="Inter" pitchFamily="34" charset="-122"/>
                <a:cs typeface="Inter" pitchFamily="34" charset="-120"/>
              </a:rPr>
              <a:t>STATUS</a:t>
            </a:r>
            <a:endParaRPr lang="vi-VN" sz="1190" dirty="0"/>
          </a:p>
        </p:txBody>
      </p:sp>
      <p:sp>
        <p:nvSpPr>
          <p:cNvPr id="12" name="Text 10"/>
          <p:cNvSpPr/>
          <p:nvPr/>
        </p:nvSpPr>
        <p:spPr>
          <a:xfrm>
            <a:off x="2560320" y="1947672"/>
            <a:ext cx="2743200" cy="192024"/>
          </a:xfrm>
          <a:prstGeom prst="rect">
            <a:avLst/>
          </a:prstGeom>
          <a:noFill/>
          <a:ln/>
        </p:spPr>
        <p:txBody>
          <a:bodyPr wrap="square" lIns="0" tIns="0" rIns="0" bIns="0" rtlCol="0" anchor="ctr">
            <a:normAutofit/>
          </a:bodyPr>
          <a:lstStyle/>
          <a:p>
            <a:pPr marL="0" indent="0">
              <a:buNone/>
            </a:pPr>
            <a:r>
              <a:rPr lang="vi-VN" altLang="en-US" sz="1190" b="1" dirty="0">
                <a:solidFill>
                  <a:srgbClr val="FFFFFF"/>
                </a:solidFill>
                <a:latin typeface="Inter" pitchFamily="34" charset="0"/>
                <a:ea typeface="Inter" pitchFamily="34" charset="-122"/>
                <a:cs typeface="Inter" pitchFamily="34" charset="-120"/>
              </a:rPr>
              <a:t>Ý NGHĨA</a:t>
            </a:r>
            <a:endParaRPr lang="vi-VN" sz="1190" dirty="0"/>
          </a:p>
        </p:txBody>
      </p:sp>
      <p:sp>
        <p:nvSpPr>
          <p:cNvPr id="13" name="Text 11"/>
          <p:cNvSpPr/>
          <p:nvPr/>
        </p:nvSpPr>
        <p:spPr>
          <a:xfrm>
            <a:off x="5541264" y="1947672"/>
            <a:ext cx="4983480" cy="192024"/>
          </a:xfrm>
          <a:prstGeom prst="rect">
            <a:avLst/>
          </a:prstGeom>
          <a:noFill/>
          <a:ln/>
        </p:spPr>
        <p:txBody>
          <a:bodyPr wrap="square" lIns="0" tIns="0" rIns="0" bIns="0" rtlCol="0" anchor="ctr">
            <a:normAutofit/>
          </a:bodyPr>
          <a:lstStyle/>
          <a:p>
            <a:pPr marL="0" indent="0">
              <a:buNone/>
            </a:pPr>
            <a:r>
              <a:rPr lang="vi-VN" altLang="en-US" sz="1190" b="1" dirty="0">
                <a:solidFill>
                  <a:srgbClr val="FFFFFF"/>
                </a:solidFill>
                <a:latin typeface="Inter" pitchFamily="34" charset="0"/>
                <a:ea typeface="Inter" pitchFamily="34" charset="-122"/>
                <a:cs typeface="Inter" pitchFamily="34" charset="-120"/>
              </a:rPr>
              <a:t>TÌNH HUỐNG VÍ DỤ</a:t>
            </a:r>
            <a:endParaRPr lang="vi-VN" sz="1190" dirty="0"/>
          </a:p>
        </p:txBody>
      </p:sp>
      <p:sp>
        <p:nvSpPr>
          <p:cNvPr id="14" name="Shape 12"/>
          <p:cNvSpPr/>
          <p:nvPr/>
        </p:nvSpPr>
        <p:spPr>
          <a:xfrm>
            <a:off x="667512" y="2432304"/>
            <a:ext cx="10844784" cy="502920"/>
          </a:xfrm>
          <a:prstGeom prst="rect">
            <a:avLst/>
          </a:prstGeom>
          <a:solidFill>
            <a:srgbClr val="EFF2F7"/>
          </a:solidFill>
          <a:ln w="12700">
            <a:solidFill>
              <a:srgbClr val="EFF2F7">
                <a:alpha val="0"/>
              </a:srgbClr>
            </a:solidFill>
            <a:prstDash val="solid"/>
          </a:ln>
        </p:spPr>
        <p:txBody>
          <a:bodyPr/>
          <a:lstStyle/>
          <a:p>
            <a:endParaRPr lang="en-US"/>
          </a:p>
        </p:txBody>
      </p:sp>
      <p:sp>
        <p:nvSpPr>
          <p:cNvPr id="15" name="Shape 13"/>
          <p:cNvSpPr/>
          <p:nvPr/>
        </p:nvSpPr>
        <p:spPr>
          <a:xfrm>
            <a:off x="896112" y="2523744"/>
            <a:ext cx="713232" cy="292608"/>
          </a:xfrm>
          <a:prstGeom prst="roundRect">
            <a:avLst>
              <a:gd name="adj" fmla="val 37500"/>
            </a:avLst>
          </a:prstGeom>
          <a:solidFill>
            <a:srgbClr val="E6F6EF"/>
          </a:solidFill>
          <a:ln w="12700">
            <a:solidFill>
              <a:srgbClr val="E6F6EF">
                <a:alpha val="0"/>
              </a:srgbClr>
            </a:solidFill>
            <a:prstDash val="solid"/>
          </a:ln>
        </p:spPr>
        <p:txBody>
          <a:bodyPr/>
          <a:lstStyle/>
          <a:p>
            <a:endParaRPr lang="en-US"/>
          </a:p>
        </p:txBody>
      </p:sp>
      <p:sp>
        <p:nvSpPr>
          <p:cNvPr id="16" name="Text 14"/>
          <p:cNvSpPr/>
          <p:nvPr/>
        </p:nvSpPr>
        <p:spPr>
          <a:xfrm>
            <a:off x="978408" y="2546604"/>
            <a:ext cx="548640" cy="237744"/>
          </a:xfrm>
          <a:prstGeom prst="rect">
            <a:avLst/>
          </a:prstGeom>
          <a:noFill/>
          <a:ln/>
        </p:spPr>
        <p:txBody>
          <a:bodyPr wrap="square" lIns="0" tIns="0" rIns="0" bIns="0" rtlCol="0" anchor="ctr">
            <a:normAutofit/>
          </a:bodyPr>
          <a:lstStyle/>
          <a:p>
            <a:pPr marL="0" indent="0" algn="ctr">
              <a:buNone/>
            </a:pPr>
            <a:r>
              <a:rPr lang="vi-VN" altLang="en-US" sz="1180" b="1" dirty="0">
                <a:solidFill>
                  <a:srgbClr val="19805B"/>
                </a:solidFill>
                <a:latin typeface="Inter" pitchFamily="34" charset="0"/>
                <a:ea typeface="Inter" pitchFamily="34" charset="-122"/>
                <a:cs typeface="Inter" pitchFamily="34" charset="-120"/>
              </a:rPr>
              <a:t>200</a:t>
            </a:r>
            <a:endParaRPr lang="vi-VN" sz="1180" dirty="0"/>
          </a:p>
        </p:txBody>
      </p:sp>
      <p:sp>
        <p:nvSpPr>
          <p:cNvPr id="17" name="Text 15"/>
          <p:cNvSpPr/>
          <p:nvPr/>
        </p:nvSpPr>
        <p:spPr>
          <a:xfrm>
            <a:off x="2569464" y="2542032"/>
            <a:ext cx="2761488" cy="246888"/>
          </a:xfrm>
          <a:prstGeom prst="rect">
            <a:avLst/>
          </a:prstGeom>
          <a:noFill/>
          <a:ln/>
        </p:spPr>
        <p:txBody>
          <a:bodyPr wrap="square" lIns="0" tIns="0" rIns="0" bIns="0" rtlCol="0" anchor="ctr">
            <a:normAutofit/>
          </a:bodyPr>
          <a:lstStyle/>
          <a:p>
            <a:pPr marL="0" indent="0">
              <a:buNone/>
            </a:pPr>
            <a:r>
              <a:rPr lang="vi-VN" altLang="en-US" sz="1380" b="1" dirty="0">
                <a:solidFill>
                  <a:srgbClr val="183B63"/>
                </a:solidFill>
                <a:latin typeface="Inter" pitchFamily="34" charset="0"/>
                <a:ea typeface="Inter" pitchFamily="34" charset="-122"/>
                <a:cs typeface="Inter" pitchFamily="34" charset="-120"/>
              </a:rPr>
              <a:t>OK</a:t>
            </a:r>
            <a:endParaRPr lang="vi-VN" sz="1380" dirty="0"/>
          </a:p>
        </p:txBody>
      </p:sp>
      <p:sp>
        <p:nvSpPr>
          <p:cNvPr id="18" name="Text 16"/>
          <p:cNvSpPr/>
          <p:nvPr/>
        </p:nvSpPr>
        <p:spPr>
          <a:xfrm>
            <a:off x="5532120" y="2532888"/>
            <a:ext cx="5669280" cy="274320"/>
          </a:xfrm>
          <a:prstGeom prst="rect">
            <a:avLst/>
          </a:prstGeom>
          <a:noFill/>
          <a:ln/>
        </p:spPr>
        <p:txBody>
          <a:bodyPr wrap="square" lIns="0" tIns="0" rIns="0" bIns="0" rtlCol="0" anchor="ctr">
            <a:normAutofit/>
          </a:bodyPr>
          <a:lstStyle/>
          <a:p>
            <a:pPr marL="0" indent="0">
              <a:buNone/>
            </a:pPr>
            <a:r>
              <a:rPr lang="vi-VN" altLang="en-US" sz="1280" dirty="0">
                <a:solidFill>
                  <a:srgbClr val="263345"/>
                </a:solidFill>
                <a:latin typeface="Inter" pitchFamily="34" charset="0"/>
                <a:ea typeface="Inter" pitchFamily="34" charset="-122"/>
                <a:cs typeface="Inter" pitchFamily="34" charset="-120"/>
              </a:rPr>
              <a:t>Đăng nhập đúng, trả JWT</a:t>
            </a:r>
            <a:endParaRPr lang="vi-VN" sz="1280" dirty="0"/>
          </a:p>
        </p:txBody>
      </p:sp>
      <p:sp>
        <p:nvSpPr>
          <p:cNvPr id="19" name="Shape 17"/>
          <p:cNvSpPr/>
          <p:nvPr/>
        </p:nvSpPr>
        <p:spPr>
          <a:xfrm>
            <a:off x="667512" y="2944368"/>
            <a:ext cx="10844784" cy="502920"/>
          </a:xfrm>
          <a:prstGeom prst="rect">
            <a:avLst/>
          </a:prstGeom>
          <a:solidFill>
            <a:srgbClr val="FFFFFF"/>
          </a:solidFill>
          <a:ln w="12700">
            <a:solidFill>
              <a:srgbClr val="FFFFFF">
                <a:alpha val="0"/>
              </a:srgbClr>
            </a:solidFill>
            <a:prstDash val="solid"/>
          </a:ln>
        </p:spPr>
        <p:txBody>
          <a:bodyPr/>
          <a:lstStyle/>
          <a:p>
            <a:endParaRPr lang="en-US"/>
          </a:p>
        </p:txBody>
      </p:sp>
      <p:sp>
        <p:nvSpPr>
          <p:cNvPr id="20" name="Shape 18"/>
          <p:cNvSpPr/>
          <p:nvPr/>
        </p:nvSpPr>
        <p:spPr>
          <a:xfrm>
            <a:off x="896112" y="3035808"/>
            <a:ext cx="713232" cy="292608"/>
          </a:xfrm>
          <a:prstGeom prst="roundRect">
            <a:avLst>
              <a:gd name="adj" fmla="val 37500"/>
            </a:avLst>
          </a:prstGeom>
          <a:solidFill>
            <a:srgbClr val="E6F6EF"/>
          </a:solidFill>
          <a:ln w="12700">
            <a:solidFill>
              <a:srgbClr val="E6F6EF">
                <a:alpha val="0"/>
              </a:srgbClr>
            </a:solidFill>
            <a:prstDash val="solid"/>
          </a:ln>
        </p:spPr>
        <p:txBody>
          <a:bodyPr/>
          <a:lstStyle/>
          <a:p>
            <a:endParaRPr lang="en-US"/>
          </a:p>
        </p:txBody>
      </p:sp>
      <p:sp>
        <p:nvSpPr>
          <p:cNvPr id="21" name="Text 19"/>
          <p:cNvSpPr/>
          <p:nvPr/>
        </p:nvSpPr>
        <p:spPr>
          <a:xfrm>
            <a:off x="978408" y="3058668"/>
            <a:ext cx="548640" cy="237744"/>
          </a:xfrm>
          <a:prstGeom prst="rect">
            <a:avLst/>
          </a:prstGeom>
          <a:noFill/>
          <a:ln/>
        </p:spPr>
        <p:txBody>
          <a:bodyPr wrap="square" lIns="0" tIns="0" rIns="0" bIns="0" rtlCol="0" anchor="ctr">
            <a:normAutofit/>
          </a:bodyPr>
          <a:lstStyle/>
          <a:p>
            <a:pPr marL="0" indent="0" algn="ctr">
              <a:buNone/>
            </a:pPr>
            <a:r>
              <a:rPr lang="vi-VN" altLang="en-US" sz="1180" b="1" dirty="0">
                <a:solidFill>
                  <a:srgbClr val="19805B"/>
                </a:solidFill>
                <a:latin typeface="Inter" pitchFamily="34" charset="0"/>
                <a:ea typeface="Inter" pitchFamily="34" charset="-122"/>
                <a:cs typeface="Inter" pitchFamily="34" charset="-120"/>
              </a:rPr>
              <a:t>201</a:t>
            </a:r>
            <a:endParaRPr lang="vi-VN" sz="1180" dirty="0"/>
          </a:p>
        </p:txBody>
      </p:sp>
      <p:sp>
        <p:nvSpPr>
          <p:cNvPr id="22" name="Text 20"/>
          <p:cNvSpPr/>
          <p:nvPr/>
        </p:nvSpPr>
        <p:spPr>
          <a:xfrm>
            <a:off x="2569464" y="3054096"/>
            <a:ext cx="2761488" cy="246888"/>
          </a:xfrm>
          <a:prstGeom prst="rect">
            <a:avLst/>
          </a:prstGeom>
          <a:noFill/>
          <a:ln/>
        </p:spPr>
        <p:txBody>
          <a:bodyPr wrap="square" lIns="0" tIns="0" rIns="0" bIns="0" rtlCol="0" anchor="ctr">
            <a:normAutofit/>
          </a:bodyPr>
          <a:lstStyle/>
          <a:p>
            <a:pPr marL="0" indent="0">
              <a:buNone/>
            </a:pPr>
            <a:r>
              <a:rPr lang="vi-VN" altLang="en-US" sz="1380" b="1" dirty="0">
                <a:solidFill>
                  <a:srgbClr val="183B63"/>
                </a:solidFill>
                <a:latin typeface="Inter" pitchFamily="34" charset="0"/>
                <a:ea typeface="Inter" pitchFamily="34" charset="-122"/>
                <a:cs typeface="Inter" pitchFamily="34" charset="-120"/>
              </a:rPr>
              <a:t>Created</a:t>
            </a:r>
            <a:endParaRPr lang="vi-VN" sz="1380" dirty="0"/>
          </a:p>
        </p:txBody>
      </p:sp>
      <p:sp>
        <p:nvSpPr>
          <p:cNvPr id="23" name="Text 21"/>
          <p:cNvSpPr/>
          <p:nvPr/>
        </p:nvSpPr>
        <p:spPr>
          <a:xfrm>
            <a:off x="5532120" y="3044952"/>
            <a:ext cx="5669280" cy="274320"/>
          </a:xfrm>
          <a:prstGeom prst="rect">
            <a:avLst/>
          </a:prstGeom>
          <a:noFill/>
          <a:ln/>
        </p:spPr>
        <p:txBody>
          <a:bodyPr wrap="square" lIns="0" tIns="0" rIns="0" bIns="0" rtlCol="0" anchor="ctr">
            <a:normAutofit/>
          </a:bodyPr>
          <a:lstStyle/>
          <a:p>
            <a:pPr marL="0" indent="0">
              <a:buNone/>
            </a:pPr>
            <a:r>
              <a:rPr lang="vi-VN" altLang="en-US" sz="1280" dirty="0">
                <a:solidFill>
                  <a:srgbClr val="263345"/>
                </a:solidFill>
                <a:latin typeface="Inter" pitchFamily="34" charset="0"/>
                <a:ea typeface="Inter" pitchFamily="34" charset="-122"/>
                <a:cs typeface="Inter" pitchFamily="34" charset="-120"/>
              </a:rPr>
              <a:t>Đăng ký tài khoản thành công</a:t>
            </a:r>
            <a:endParaRPr lang="vi-VN" sz="1280" dirty="0"/>
          </a:p>
        </p:txBody>
      </p:sp>
      <p:sp>
        <p:nvSpPr>
          <p:cNvPr id="24" name="Shape 22"/>
          <p:cNvSpPr/>
          <p:nvPr/>
        </p:nvSpPr>
        <p:spPr>
          <a:xfrm>
            <a:off x="667512" y="3456432"/>
            <a:ext cx="10844784" cy="502920"/>
          </a:xfrm>
          <a:prstGeom prst="rect">
            <a:avLst/>
          </a:prstGeom>
          <a:solidFill>
            <a:srgbClr val="EFF2F7"/>
          </a:solidFill>
          <a:ln w="12700">
            <a:solidFill>
              <a:srgbClr val="EFF2F7">
                <a:alpha val="0"/>
              </a:srgbClr>
            </a:solidFill>
            <a:prstDash val="solid"/>
          </a:ln>
        </p:spPr>
        <p:txBody>
          <a:bodyPr/>
          <a:lstStyle/>
          <a:p>
            <a:endParaRPr lang="en-US"/>
          </a:p>
        </p:txBody>
      </p:sp>
      <p:sp>
        <p:nvSpPr>
          <p:cNvPr id="25" name="Shape 23"/>
          <p:cNvSpPr/>
          <p:nvPr/>
        </p:nvSpPr>
        <p:spPr>
          <a:xfrm>
            <a:off x="896112" y="3547872"/>
            <a:ext cx="713232" cy="292608"/>
          </a:xfrm>
          <a:prstGeom prst="roundRect">
            <a:avLst>
              <a:gd name="adj" fmla="val 37500"/>
            </a:avLst>
          </a:prstGeom>
          <a:solidFill>
            <a:srgbClr val="FDECEE"/>
          </a:solidFill>
          <a:ln w="12700">
            <a:solidFill>
              <a:srgbClr val="FDECEE">
                <a:alpha val="0"/>
              </a:srgbClr>
            </a:solidFill>
            <a:prstDash val="solid"/>
          </a:ln>
        </p:spPr>
        <p:txBody>
          <a:bodyPr/>
          <a:lstStyle/>
          <a:p>
            <a:endParaRPr lang="en-US"/>
          </a:p>
        </p:txBody>
      </p:sp>
      <p:sp>
        <p:nvSpPr>
          <p:cNvPr id="26" name="Text 24"/>
          <p:cNvSpPr/>
          <p:nvPr/>
        </p:nvSpPr>
        <p:spPr>
          <a:xfrm>
            <a:off x="978408" y="3570732"/>
            <a:ext cx="548640" cy="237744"/>
          </a:xfrm>
          <a:prstGeom prst="rect">
            <a:avLst/>
          </a:prstGeom>
          <a:noFill/>
          <a:ln/>
        </p:spPr>
        <p:txBody>
          <a:bodyPr wrap="square" lIns="0" tIns="0" rIns="0" bIns="0" rtlCol="0" anchor="ctr">
            <a:normAutofit/>
          </a:bodyPr>
          <a:lstStyle/>
          <a:p>
            <a:pPr marL="0" indent="0" algn="ctr">
              <a:buNone/>
            </a:pPr>
            <a:r>
              <a:rPr lang="vi-VN" altLang="en-US" sz="1180" b="1" dirty="0">
                <a:solidFill>
                  <a:srgbClr val="BB4A55"/>
                </a:solidFill>
                <a:latin typeface="Inter" pitchFamily="34" charset="0"/>
                <a:ea typeface="Inter" pitchFamily="34" charset="-122"/>
                <a:cs typeface="Inter" pitchFamily="34" charset="-120"/>
              </a:rPr>
              <a:t>400</a:t>
            </a:r>
            <a:endParaRPr lang="vi-VN" sz="1180" dirty="0"/>
          </a:p>
        </p:txBody>
      </p:sp>
      <p:sp>
        <p:nvSpPr>
          <p:cNvPr id="27" name="Text 25"/>
          <p:cNvSpPr/>
          <p:nvPr/>
        </p:nvSpPr>
        <p:spPr>
          <a:xfrm>
            <a:off x="2569464" y="3566160"/>
            <a:ext cx="2761488" cy="246888"/>
          </a:xfrm>
          <a:prstGeom prst="rect">
            <a:avLst/>
          </a:prstGeom>
          <a:noFill/>
          <a:ln/>
        </p:spPr>
        <p:txBody>
          <a:bodyPr wrap="square" lIns="0" tIns="0" rIns="0" bIns="0" rtlCol="0" anchor="ctr">
            <a:normAutofit/>
          </a:bodyPr>
          <a:lstStyle/>
          <a:p>
            <a:pPr marL="0" indent="0">
              <a:buNone/>
            </a:pPr>
            <a:r>
              <a:rPr lang="vi-VN" altLang="en-US" sz="1380" b="1" dirty="0">
                <a:solidFill>
                  <a:srgbClr val="183B63"/>
                </a:solidFill>
                <a:latin typeface="Inter" pitchFamily="34" charset="0"/>
                <a:ea typeface="Inter" pitchFamily="34" charset="-122"/>
                <a:cs typeface="Inter" pitchFamily="34" charset="-120"/>
              </a:rPr>
              <a:t>Bad Request</a:t>
            </a:r>
            <a:endParaRPr lang="vi-VN" sz="1380" dirty="0"/>
          </a:p>
        </p:txBody>
      </p:sp>
      <p:sp>
        <p:nvSpPr>
          <p:cNvPr id="28" name="Text 26"/>
          <p:cNvSpPr/>
          <p:nvPr/>
        </p:nvSpPr>
        <p:spPr>
          <a:xfrm>
            <a:off x="5532120" y="3557016"/>
            <a:ext cx="5669280" cy="274320"/>
          </a:xfrm>
          <a:prstGeom prst="rect">
            <a:avLst/>
          </a:prstGeom>
          <a:noFill/>
          <a:ln/>
        </p:spPr>
        <p:txBody>
          <a:bodyPr wrap="square" lIns="0" tIns="0" rIns="0" bIns="0" rtlCol="0" anchor="ctr">
            <a:normAutofit/>
          </a:bodyPr>
          <a:lstStyle/>
          <a:p>
            <a:pPr marL="0" indent="0">
              <a:buNone/>
            </a:pPr>
            <a:r>
              <a:rPr lang="vi-VN" altLang="en-US" sz="1280" dirty="0">
                <a:solidFill>
                  <a:srgbClr val="263345"/>
                </a:solidFill>
                <a:latin typeface="Inter" pitchFamily="34" charset="0"/>
                <a:ea typeface="Inter" pitchFamily="34" charset="-122"/>
                <a:cs typeface="Inter" pitchFamily="34" charset="-120"/>
              </a:rPr>
              <a:t>Dữ liệu đầu vào không hợp lệ</a:t>
            </a:r>
            <a:endParaRPr lang="vi-VN" sz="1280" dirty="0"/>
          </a:p>
        </p:txBody>
      </p:sp>
      <p:sp>
        <p:nvSpPr>
          <p:cNvPr id="29" name="Shape 27"/>
          <p:cNvSpPr/>
          <p:nvPr/>
        </p:nvSpPr>
        <p:spPr>
          <a:xfrm>
            <a:off x="667512" y="3968496"/>
            <a:ext cx="10844784" cy="502920"/>
          </a:xfrm>
          <a:prstGeom prst="rect">
            <a:avLst/>
          </a:prstGeom>
          <a:solidFill>
            <a:srgbClr val="FFFFFF"/>
          </a:solidFill>
          <a:ln w="12700">
            <a:solidFill>
              <a:srgbClr val="FFFFFF">
                <a:alpha val="0"/>
              </a:srgbClr>
            </a:solidFill>
            <a:prstDash val="solid"/>
          </a:ln>
        </p:spPr>
        <p:txBody>
          <a:bodyPr/>
          <a:lstStyle/>
          <a:p>
            <a:endParaRPr lang="en-US"/>
          </a:p>
        </p:txBody>
      </p:sp>
      <p:sp>
        <p:nvSpPr>
          <p:cNvPr id="30" name="Shape 28"/>
          <p:cNvSpPr/>
          <p:nvPr/>
        </p:nvSpPr>
        <p:spPr>
          <a:xfrm>
            <a:off x="896112" y="4059936"/>
            <a:ext cx="713232" cy="292608"/>
          </a:xfrm>
          <a:prstGeom prst="roundRect">
            <a:avLst>
              <a:gd name="adj" fmla="val 37500"/>
            </a:avLst>
          </a:prstGeom>
          <a:solidFill>
            <a:srgbClr val="FDECEE"/>
          </a:solidFill>
          <a:ln w="12700">
            <a:solidFill>
              <a:srgbClr val="FDECEE">
                <a:alpha val="0"/>
              </a:srgbClr>
            </a:solidFill>
            <a:prstDash val="solid"/>
          </a:ln>
        </p:spPr>
        <p:txBody>
          <a:bodyPr/>
          <a:lstStyle/>
          <a:p>
            <a:endParaRPr lang="en-US"/>
          </a:p>
        </p:txBody>
      </p:sp>
      <p:sp>
        <p:nvSpPr>
          <p:cNvPr id="31" name="Text 29"/>
          <p:cNvSpPr/>
          <p:nvPr/>
        </p:nvSpPr>
        <p:spPr>
          <a:xfrm>
            <a:off x="978408" y="4082796"/>
            <a:ext cx="548640" cy="237744"/>
          </a:xfrm>
          <a:prstGeom prst="rect">
            <a:avLst/>
          </a:prstGeom>
          <a:noFill/>
          <a:ln/>
        </p:spPr>
        <p:txBody>
          <a:bodyPr wrap="square" lIns="0" tIns="0" rIns="0" bIns="0" rtlCol="0" anchor="ctr">
            <a:normAutofit/>
          </a:bodyPr>
          <a:lstStyle/>
          <a:p>
            <a:pPr marL="0" indent="0" algn="ctr">
              <a:buNone/>
            </a:pPr>
            <a:r>
              <a:rPr lang="vi-VN" altLang="en-US" sz="1180" b="1" dirty="0">
                <a:solidFill>
                  <a:srgbClr val="BB4A55"/>
                </a:solidFill>
                <a:latin typeface="Inter" pitchFamily="34" charset="0"/>
                <a:ea typeface="Inter" pitchFamily="34" charset="-122"/>
                <a:cs typeface="Inter" pitchFamily="34" charset="-120"/>
              </a:rPr>
              <a:t>401</a:t>
            </a:r>
            <a:endParaRPr lang="vi-VN" sz="1180" dirty="0"/>
          </a:p>
        </p:txBody>
      </p:sp>
      <p:sp>
        <p:nvSpPr>
          <p:cNvPr id="32" name="Text 30"/>
          <p:cNvSpPr/>
          <p:nvPr/>
        </p:nvSpPr>
        <p:spPr>
          <a:xfrm>
            <a:off x="2569464" y="4078224"/>
            <a:ext cx="2761488" cy="246888"/>
          </a:xfrm>
          <a:prstGeom prst="rect">
            <a:avLst/>
          </a:prstGeom>
          <a:noFill/>
          <a:ln/>
        </p:spPr>
        <p:txBody>
          <a:bodyPr wrap="square" lIns="0" tIns="0" rIns="0" bIns="0" rtlCol="0" anchor="ctr">
            <a:normAutofit/>
          </a:bodyPr>
          <a:lstStyle/>
          <a:p>
            <a:pPr marL="0" indent="0">
              <a:buNone/>
            </a:pPr>
            <a:r>
              <a:rPr lang="vi-VN" altLang="en-US" sz="1380" b="1" dirty="0">
                <a:solidFill>
                  <a:srgbClr val="183B63"/>
                </a:solidFill>
                <a:latin typeface="Inter" pitchFamily="34" charset="0"/>
                <a:ea typeface="Inter" pitchFamily="34" charset="-122"/>
                <a:cs typeface="Inter" pitchFamily="34" charset="-120"/>
              </a:rPr>
              <a:t>Unauthorized</a:t>
            </a:r>
            <a:endParaRPr lang="vi-VN" sz="1380" dirty="0"/>
          </a:p>
        </p:txBody>
      </p:sp>
      <p:sp>
        <p:nvSpPr>
          <p:cNvPr id="33" name="Text 31"/>
          <p:cNvSpPr/>
          <p:nvPr/>
        </p:nvSpPr>
        <p:spPr>
          <a:xfrm>
            <a:off x="5532120" y="4069080"/>
            <a:ext cx="5669280" cy="274320"/>
          </a:xfrm>
          <a:prstGeom prst="rect">
            <a:avLst/>
          </a:prstGeom>
          <a:noFill/>
          <a:ln/>
        </p:spPr>
        <p:txBody>
          <a:bodyPr wrap="square" lIns="0" tIns="0" rIns="0" bIns="0" rtlCol="0" anchor="ctr">
            <a:normAutofit/>
          </a:bodyPr>
          <a:lstStyle/>
          <a:p>
            <a:pPr marL="0" indent="0">
              <a:buNone/>
            </a:pPr>
            <a:r>
              <a:rPr lang="vi-VN" altLang="en-US" sz="1280" dirty="0">
                <a:solidFill>
                  <a:srgbClr val="263345"/>
                </a:solidFill>
                <a:latin typeface="Inter" pitchFamily="34" charset="0"/>
                <a:ea typeface="Inter" pitchFamily="34" charset="-122"/>
                <a:cs typeface="Inter" pitchFamily="34" charset="-120"/>
              </a:rPr>
              <a:t>Sai mật khẩu, thiếu hoặc hết hạn JWT</a:t>
            </a:r>
            <a:endParaRPr lang="vi-VN" sz="1280" dirty="0"/>
          </a:p>
        </p:txBody>
      </p:sp>
      <p:sp>
        <p:nvSpPr>
          <p:cNvPr id="34" name="Shape 32"/>
          <p:cNvSpPr/>
          <p:nvPr/>
        </p:nvSpPr>
        <p:spPr>
          <a:xfrm>
            <a:off x="667512" y="4480560"/>
            <a:ext cx="10844784" cy="502920"/>
          </a:xfrm>
          <a:prstGeom prst="rect">
            <a:avLst/>
          </a:prstGeom>
          <a:solidFill>
            <a:srgbClr val="EFF2F7"/>
          </a:solidFill>
          <a:ln w="12700">
            <a:solidFill>
              <a:srgbClr val="EFF2F7">
                <a:alpha val="0"/>
              </a:srgbClr>
            </a:solidFill>
            <a:prstDash val="solid"/>
          </a:ln>
        </p:spPr>
        <p:txBody>
          <a:bodyPr/>
          <a:lstStyle/>
          <a:p>
            <a:endParaRPr lang="en-US"/>
          </a:p>
        </p:txBody>
      </p:sp>
      <p:sp>
        <p:nvSpPr>
          <p:cNvPr id="35" name="Shape 33"/>
          <p:cNvSpPr/>
          <p:nvPr/>
        </p:nvSpPr>
        <p:spPr>
          <a:xfrm>
            <a:off x="896112" y="4572000"/>
            <a:ext cx="713232" cy="292608"/>
          </a:xfrm>
          <a:prstGeom prst="roundRect">
            <a:avLst>
              <a:gd name="adj" fmla="val 37500"/>
            </a:avLst>
          </a:prstGeom>
          <a:solidFill>
            <a:srgbClr val="FDECEE"/>
          </a:solidFill>
          <a:ln w="12700">
            <a:solidFill>
              <a:srgbClr val="FDECEE">
                <a:alpha val="0"/>
              </a:srgbClr>
            </a:solidFill>
            <a:prstDash val="solid"/>
          </a:ln>
        </p:spPr>
        <p:txBody>
          <a:bodyPr/>
          <a:lstStyle/>
          <a:p>
            <a:endParaRPr lang="en-US"/>
          </a:p>
        </p:txBody>
      </p:sp>
      <p:sp>
        <p:nvSpPr>
          <p:cNvPr id="36" name="Text 34"/>
          <p:cNvSpPr/>
          <p:nvPr/>
        </p:nvSpPr>
        <p:spPr>
          <a:xfrm>
            <a:off x="978408" y="4594860"/>
            <a:ext cx="548640" cy="237744"/>
          </a:xfrm>
          <a:prstGeom prst="rect">
            <a:avLst/>
          </a:prstGeom>
          <a:noFill/>
          <a:ln/>
        </p:spPr>
        <p:txBody>
          <a:bodyPr wrap="square" lIns="0" tIns="0" rIns="0" bIns="0" rtlCol="0" anchor="ctr">
            <a:normAutofit/>
          </a:bodyPr>
          <a:lstStyle/>
          <a:p>
            <a:pPr marL="0" indent="0" algn="ctr">
              <a:buNone/>
            </a:pPr>
            <a:r>
              <a:rPr lang="vi-VN" altLang="en-US" sz="1180" b="1" dirty="0">
                <a:solidFill>
                  <a:srgbClr val="BB4A55"/>
                </a:solidFill>
                <a:latin typeface="Inter" pitchFamily="34" charset="0"/>
                <a:ea typeface="Inter" pitchFamily="34" charset="-122"/>
                <a:cs typeface="Inter" pitchFamily="34" charset="-120"/>
              </a:rPr>
              <a:t>403</a:t>
            </a:r>
            <a:endParaRPr lang="vi-VN" sz="1180" dirty="0"/>
          </a:p>
        </p:txBody>
      </p:sp>
      <p:sp>
        <p:nvSpPr>
          <p:cNvPr id="37" name="Text 35"/>
          <p:cNvSpPr/>
          <p:nvPr/>
        </p:nvSpPr>
        <p:spPr>
          <a:xfrm>
            <a:off x="2569464" y="4590288"/>
            <a:ext cx="2761488" cy="246888"/>
          </a:xfrm>
          <a:prstGeom prst="rect">
            <a:avLst/>
          </a:prstGeom>
          <a:noFill/>
          <a:ln/>
        </p:spPr>
        <p:txBody>
          <a:bodyPr wrap="square" lIns="0" tIns="0" rIns="0" bIns="0" rtlCol="0" anchor="ctr">
            <a:normAutofit/>
          </a:bodyPr>
          <a:lstStyle/>
          <a:p>
            <a:pPr marL="0" indent="0">
              <a:buNone/>
            </a:pPr>
            <a:r>
              <a:rPr lang="vi-VN" altLang="en-US" sz="1380" b="1" dirty="0">
                <a:solidFill>
                  <a:srgbClr val="183B63"/>
                </a:solidFill>
                <a:latin typeface="Inter" pitchFamily="34" charset="0"/>
                <a:ea typeface="Inter" pitchFamily="34" charset="-122"/>
                <a:cs typeface="Inter" pitchFamily="34" charset="-120"/>
              </a:rPr>
              <a:t>Forbidden</a:t>
            </a:r>
            <a:endParaRPr lang="vi-VN" sz="1380" dirty="0"/>
          </a:p>
        </p:txBody>
      </p:sp>
      <p:sp>
        <p:nvSpPr>
          <p:cNvPr id="38" name="Text 36"/>
          <p:cNvSpPr/>
          <p:nvPr/>
        </p:nvSpPr>
        <p:spPr>
          <a:xfrm>
            <a:off x="5532120" y="4581144"/>
            <a:ext cx="5669280" cy="274320"/>
          </a:xfrm>
          <a:prstGeom prst="rect">
            <a:avLst/>
          </a:prstGeom>
          <a:noFill/>
          <a:ln/>
        </p:spPr>
        <p:txBody>
          <a:bodyPr wrap="square" lIns="0" tIns="0" rIns="0" bIns="0" rtlCol="0" anchor="ctr">
            <a:normAutofit/>
          </a:bodyPr>
          <a:lstStyle/>
          <a:p>
            <a:pPr marL="0" indent="0">
              <a:buNone/>
            </a:pPr>
            <a:r>
              <a:rPr lang="vi-VN" altLang="en-US" sz="1280" dirty="0">
                <a:solidFill>
                  <a:srgbClr val="263345"/>
                </a:solidFill>
                <a:latin typeface="Inter" pitchFamily="34" charset="0"/>
                <a:ea typeface="Inter" pitchFamily="34" charset="-122"/>
                <a:cs typeface="Inter" pitchFamily="34" charset="-120"/>
              </a:rPr>
              <a:t>Đã xác thực nhưng không đủ quyền</a:t>
            </a:r>
            <a:endParaRPr lang="vi-VN" sz="1280" dirty="0"/>
          </a:p>
        </p:txBody>
      </p:sp>
      <p:sp>
        <p:nvSpPr>
          <p:cNvPr id="39" name="Shape 37"/>
          <p:cNvSpPr/>
          <p:nvPr/>
        </p:nvSpPr>
        <p:spPr>
          <a:xfrm>
            <a:off x="667512" y="4992624"/>
            <a:ext cx="10844784" cy="502920"/>
          </a:xfrm>
          <a:prstGeom prst="rect">
            <a:avLst/>
          </a:prstGeom>
          <a:solidFill>
            <a:srgbClr val="FFFFFF"/>
          </a:solidFill>
          <a:ln w="12700">
            <a:solidFill>
              <a:srgbClr val="FFFFFF">
                <a:alpha val="0"/>
              </a:srgbClr>
            </a:solidFill>
            <a:prstDash val="solid"/>
          </a:ln>
        </p:spPr>
        <p:txBody>
          <a:bodyPr/>
          <a:lstStyle/>
          <a:p>
            <a:endParaRPr lang="en-US"/>
          </a:p>
        </p:txBody>
      </p:sp>
      <p:sp>
        <p:nvSpPr>
          <p:cNvPr id="40" name="Shape 38"/>
          <p:cNvSpPr/>
          <p:nvPr/>
        </p:nvSpPr>
        <p:spPr>
          <a:xfrm>
            <a:off x="896112" y="5084064"/>
            <a:ext cx="713232" cy="292608"/>
          </a:xfrm>
          <a:prstGeom prst="roundRect">
            <a:avLst>
              <a:gd name="adj" fmla="val 37500"/>
            </a:avLst>
          </a:prstGeom>
          <a:solidFill>
            <a:srgbClr val="FDECEE"/>
          </a:solidFill>
          <a:ln w="12700">
            <a:solidFill>
              <a:srgbClr val="FDECEE">
                <a:alpha val="0"/>
              </a:srgbClr>
            </a:solidFill>
            <a:prstDash val="solid"/>
          </a:ln>
        </p:spPr>
        <p:txBody>
          <a:bodyPr/>
          <a:lstStyle/>
          <a:p>
            <a:endParaRPr lang="en-US"/>
          </a:p>
        </p:txBody>
      </p:sp>
      <p:sp>
        <p:nvSpPr>
          <p:cNvPr id="41" name="Text 39"/>
          <p:cNvSpPr/>
          <p:nvPr/>
        </p:nvSpPr>
        <p:spPr>
          <a:xfrm>
            <a:off x="978408" y="5106924"/>
            <a:ext cx="548640" cy="237744"/>
          </a:xfrm>
          <a:prstGeom prst="rect">
            <a:avLst/>
          </a:prstGeom>
          <a:noFill/>
          <a:ln/>
        </p:spPr>
        <p:txBody>
          <a:bodyPr wrap="square" lIns="0" tIns="0" rIns="0" bIns="0" rtlCol="0" anchor="ctr">
            <a:normAutofit/>
          </a:bodyPr>
          <a:lstStyle/>
          <a:p>
            <a:pPr marL="0" indent="0" algn="ctr">
              <a:buNone/>
            </a:pPr>
            <a:r>
              <a:rPr lang="vi-VN" altLang="en-US" sz="1180" b="1" dirty="0">
                <a:solidFill>
                  <a:srgbClr val="BB4A55"/>
                </a:solidFill>
                <a:latin typeface="Inter" pitchFamily="34" charset="0"/>
                <a:ea typeface="Inter" pitchFamily="34" charset="-122"/>
                <a:cs typeface="Inter" pitchFamily="34" charset="-120"/>
              </a:rPr>
              <a:t>409</a:t>
            </a:r>
            <a:endParaRPr lang="vi-VN" sz="1180" dirty="0"/>
          </a:p>
        </p:txBody>
      </p:sp>
      <p:sp>
        <p:nvSpPr>
          <p:cNvPr id="42" name="Text 40"/>
          <p:cNvSpPr/>
          <p:nvPr/>
        </p:nvSpPr>
        <p:spPr>
          <a:xfrm>
            <a:off x="2569464" y="5102352"/>
            <a:ext cx="2761488" cy="246888"/>
          </a:xfrm>
          <a:prstGeom prst="rect">
            <a:avLst/>
          </a:prstGeom>
          <a:noFill/>
          <a:ln/>
        </p:spPr>
        <p:txBody>
          <a:bodyPr wrap="square" lIns="0" tIns="0" rIns="0" bIns="0" rtlCol="0" anchor="ctr">
            <a:normAutofit/>
          </a:bodyPr>
          <a:lstStyle/>
          <a:p>
            <a:pPr marL="0" indent="0">
              <a:buNone/>
            </a:pPr>
            <a:r>
              <a:rPr lang="vi-VN" altLang="en-US" sz="1380" b="1" dirty="0">
                <a:solidFill>
                  <a:srgbClr val="183B63"/>
                </a:solidFill>
                <a:latin typeface="Inter" pitchFamily="34" charset="0"/>
                <a:ea typeface="Inter" pitchFamily="34" charset="-122"/>
                <a:cs typeface="Inter" pitchFamily="34" charset="-120"/>
              </a:rPr>
              <a:t>Conflict</a:t>
            </a:r>
            <a:endParaRPr lang="vi-VN" sz="1380" dirty="0"/>
          </a:p>
        </p:txBody>
      </p:sp>
      <p:sp>
        <p:nvSpPr>
          <p:cNvPr id="43" name="Text 41"/>
          <p:cNvSpPr/>
          <p:nvPr/>
        </p:nvSpPr>
        <p:spPr>
          <a:xfrm>
            <a:off x="5532120" y="5093208"/>
            <a:ext cx="5669280" cy="274320"/>
          </a:xfrm>
          <a:prstGeom prst="rect">
            <a:avLst/>
          </a:prstGeom>
          <a:noFill/>
          <a:ln/>
        </p:spPr>
        <p:txBody>
          <a:bodyPr wrap="square" lIns="0" tIns="0" rIns="0" bIns="0" rtlCol="0" anchor="ctr">
            <a:normAutofit/>
          </a:bodyPr>
          <a:lstStyle/>
          <a:p>
            <a:pPr marL="0" indent="0">
              <a:buNone/>
            </a:pPr>
            <a:r>
              <a:rPr lang="vi-VN" altLang="en-US" sz="1280" dirty="0">
                <a:solidFill>
                  <a:srgbClr val="263345"/>
                </a:solidFill>
                <a:latin typeface="Inter" pitchFamily="34" charset="0"/>
                <a:ea typeface="Inter" pitchFamily="34" charset="-122"/>
                <a:cs typeface="Inter" pitchFamily="34" charset="-120"/>
              </a:rPr>
              <a:t>Email / username đã tồn tại</a:t>
            </a:r>
            <a:endParaRPr lang="vi-VN" sz="1280" dirty="0"/>
          </a:p>
        </p:txBody>
      </p:sp>
      <p:sp>
        <p:nvSpPr>
          <p:cNvPr id="44" name="Shape 42"/>
          <p:cNvSpPr/>
          <p:nvPr/>
        </p:nvSpPr>
        <p:spPr>
          <a:xfrm>
            <a:off x="475488" y="5870448"/>
            <a:ext cx="11247120" cy="448056"/>
          </a:xfrm>
          <a:prstGeom prst="roundRect">
            <a:avLst>
              <a:gd name="adj" fmla="val 24490"/>
            </a:avLst>
          </a:prstGeom>
          <a:solidFill>
            <a:srgbClr val="FFF5D5"/>
          </a:solidFill>
          <a:ln w="12700">
            <a:solidFill>
              <a:srgbClr val="FFF5D5">
                <a:alpha val="0"/>
              </a:srgbClr>
            </a:solidFill>
            <a:prstDash val="solid"/>
          </a:ln>
        </p:spPr>
        <p:txBody>
          <a:bodyPr/>
          <a:lstStyle/>
          <a:p>
            <a:endParaRPr lang="en-US"/>
          </a:p>
        </p:txBody>
      </p:sp>
      <p:pic>
        <p:nvPicPr>
          <p:cNvPr id="45" name="Image 0" descr="/mnt/data/auth_slide_work/icon_cache/19a4e8a463faa6409c49e67e1231d428.png"/>
          <p:cNvPicPr>
            <a:picLocks noChangeAspect="1"/>
          </p:cNvPicPr>
          <p:nvPr/>
        </p:nvPicPr>
        <p:blipFill>
          <a:blip r:embed="rId3"/>
          <a:stretch>
            <a:fillRect/>
          </a:stretch>
        </p:blipFill>
        <p:spPr>
          <a:xfrm>
            <a:off x="658368" y="5998464"/>
            <a:ext cx="173736" cy="173736"/>
          </a:xfrm>
          <a:prstGeom prst="rect">
            <a:avLst/>
          </a:prstGeom>
        </p:spPr>
      </p:pic>
      <p:sp>
        <p:nvSpPr>
          <p:cNvPr id="46" name="Text 43"/>
          <p:cNvSpPr/>
          <p:nvPr/>
        </p:nvSpPr>
        <p:spPr>
          <a:xfrm>
            <a:off x="932688" y="5957316"/>
            <a:ext cx="10515600" cy="283464"/>
          </a:xfrm>
          <a:prstGeom prst="rect">
            <a:avLst/>
          </a:prstGeom>
          <a:noFill/>
          <a:ln/>
        </p:spPr>
        <p:txBody>
          <a:bodyPr wrap="square" lIns="0" tIns="0" rIns="0" bIns="0" rtlCol="0" anchor="ctr">
            <a:normAutofit/>
          </a:bodyPr>
          <a:lstStyle/>
          <a:p>
            <a:pPr marL="0" indent="0">
              <a:buNone/>
            </a:pPr>
            <a:r>
              <a:rPr lang="vi-VN" altLang="en-US" sz="1220" dirty="0">
                <a:solidFill>
                  <a:srgbClr val="263345"/>
                </a:solidFill>
                <a:latin typeface="Inter" pitchFamily="34" charset="0"/>
                <a:ea typeface="Inter" pitchFamily="34" charset="-122"/>
                <a:cs typeface="Inter" pitchFamily="34" charset="-120"/>
              </a:rPr>
              <a:t>401: xác thực chưa hợp lệ. 403: không có quyền sử dụng tài nguyên.</a:t>
            </a:r>
            <a:endParaRPr lang="vi-VN"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CẤU TRÚC DỰ ÁN</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Các file liên quan đến Authentication và RBAC</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Ví dụ cấu trúc TypeScript theo Controller – Service – Model – Middleware.</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21 / 24</a:t>
            </a:r>
            <a:endParaRPr lang="vi-VN" sz="850" dirty="0"/>
          </a:p>
        </p:txBody>
      </p:sp>
      <p:sp>
        <p:nvSpPr>
          <p:cNvPr id="10" name="Shape 8"/>
          <p:cNvSpPr/>
          <p:nvPr/>
        </p:nvSpPr>
        <p:spPr>
          <a:xfrm>
            <a:off x="630936" y="1801368"/>
            <a:ext cx="5532120" cy="4078224"/>
          </a:xfrm>
          <a:prstGeom prst="roundRect">
            <a:avLst>
              <a:gd name="adj" fmla="val 2691"/>
            </a:avLst>
          </a:prstGeom>
          <a:solidFill>
            <a:srgbClr val="16273C"/>
          </a:solidFill>
          <a:ln w="12700">
            <a:solidFill>
              <a:srgbClr val="16273C">
                <a:alpha val="0"/>
              </a:srgbClr>
            </a:solidFill>
            <a:prstDash val="solid"/>
          </a:ln>
        </p:spPr>
        <p:txBody>
          <a:bodyPr/>
          <a:lstStyle/>
          <a:p>
            <a:endParaRPr lang="en-US"/>
          </a:p>
        </p:txBody>
      </p:sp>
      <p:sp>
        <p:nvSpPr>
          <p:cNvPr id="11" name="Shape 9"/>
          <p:cNvSpPr/>
          <p:nvPr/>
        </p:nvSpPr>
        <p:spPr>
          <a:xfrm>
            <a:off x="822960" y="1965960"/>
            <a:ext cx="100584" cy="100584"/>
          </a:xfrm>
          <a:prstGeom prst="ellipse">
            <a:avLst/>
          </a:prstGeom>
          <a:solidFill>
            <a:srgbClr val="FF6873"/>
          </a:solidFill>
          <a:ln w="12700">
            <a:solidFill>
              <a:srgbClr val="333333">
                <a:alpha val="0"/>
              </a:srgbClr>
            </a:solidFill>
            <a:prstDash val="solid"/>
          </a:ln>
        </p:spPr>
        <p:txBody>
          <a:bodyPr/>
          <a:lstStyle/>
          <a:p>
            <a:endParaRPr lang="en-US"/>
          </a:p>
        </p:txBody>
      </p:sp>
      <p:sp>
        <p:nvSpPr>
          <p:cNvPr id="12" name="Shape 10"/>
          <p:cNvSpPr/>
          <p:nvPr/>
        </p:nvSpPr>
        <p:spPr>
          <a:xfrm>
            <a:off x="996696" y="1965960"/>
            <a:ext cx="100584" cy="100584"/>
          </a:xfrm>
          <a:prstGeom prst="ellipse">
            <a:avLst/>
          </a:prstGeom>
          <a:solidFill>
            <a:srgbClr val="FFD069"/>
          </a:solidFill>
          <a:ln w="12700">
            <a:solidFill>
              <a:srgbClr val="333333">
                <a:alpha val="0"/>
              </a:srgbClr>
            </a:solidFill>
            <a:prstDash val="solid"/>
          </a:ln>
        </p:spPr>
        <p:txBody>
          <a:bodyPr/>
          <a:lstStyle/>
          <a:p>
            <a:endParaRPr lang="en-US"/>
          </a:p>
        </p:txBody>
      </p:sp>
      <p:sp>
        <p:nvSpPr>
          <p:cNvPr id="13" name="Shape 11"/>
          <p:cNvSpPr/>
          <p:nvPr/>
        </p:nvSpPr>
        <p:spPr>
          <a:xfrm>
            <a:off x="1170432" y="1965960"/>
            <a:ext cx="100584" cy="100584"/>
          </a:xfrm>
          <a:prstGeom prst="ellipse">
            <a:avLst/>
          </a:prstGeom>
          <a:solidFill>
            <a:srgbClr val="4CD39B"/>
          </a:solidFill>
          <a:ln w="12700">
            <a:solidFill>
              <a:srgbClr val="333333">
                <a:alpha val="0"/>
              </a:srgbClr>
            </a:solidFill>
            <a:prstDash val="solid"/>
          </a:ln>
        </p:spPr>
        <p:txBody>
          <a:bodyPr/>
          <a:lstStyle/>
          <a:p>
            <a:endParaRPr lang="en-US"/>
          </a:p>
        </p:txBody>
      </p:sp>
      <p:sp>
        <p:nvSpPr>
          <p:cNvPr id="14" name="Text 12"/>
          <p:cNvSpPr/>
          <p:nvPr/>
        </p:nvSpPr>
        <p:spPr>
          <a:xfrm>
            <a:off x="3968496" y="1929384"/>
            <a:ext cx="1938528" cy="201168"/>
          </a:xfrm>
          <a:prstGeom prst="rect">
            <a:avLst/>
          </a:prstGeom>
          <a:noFill/>
          <a:ln/>
        </p:spPr>
        <p:txBody>
          <a:bodyPr wrap="square" lIns="0" tIns="0" rIns="0" bIns="0" rtlCol="0" anchor="ctr">
            <a:normAutofit/>
          </a:bodyPr>
          <a:lstStyle/>
          <a:p>
            <a:pPr marL="0" indent="0" algn="r">
              <a:buNone/>
            </a:pPr>
            <a:r>
              <a:rPr lang="vi-VN" altLang="en-US" sz="900" b="1" dirty="0">
                <a:solidFill>
                  <a:srgbClr val="91AECF"/>
                </a:solidFill>
                <a:latin typeface="Inter" pitchFamily="34" charset="0"/>
                <a:ea typeface="Inter" pitchFamily="34" charset="-122"/>
                <a:cs typeface="Inter" pitchFamily="34" charset="-120"/>
              </a:rPr>
              <a:t>PROJECT STRUCTURE</a:t>
            </a:r>
            <a:endParaRPr lang="vi-VN" sz="900" dirty="0"/>
          </a:p>
        </p:txBody>
      </p:sp>
      <p:sp>
        <p:nvSpPr>
          <p:cNvPr id="15" name="Text 13"/>
          <p:cNvSpPr/>
          <p:nvPr/>
        </p:nvSpPr>
        <p:spPr>
          <a:xfrm>
            <a:off x="868680" y="2267712"/>
            <a:ext cx="5074920" cy="262362"/>
          </a:xfrm>
          <a:prstGeom prst="rect">
            <a:avLst/>
          </a:prstGeom>
          <a:noFill/>
          <a:ln/>
        </p:spPr>
        <p:txBody>
          <a:bodyPr wrap="square" lIns="0" tIns="0" rIns="0" bIns="0" rtlCol="0" anchor="ctr">
            <a:normAutofit/>
          </a:bodyPr>
          <a:lstStyle/>
          <a:p>
            <a:pPr marL="0" indent="0" algn="l">
              <a:buNone/>
            </a:pPr>
            <a:r>
              <a:rPr lang="vi-VN" altLang="en-US" sz="1090" dirty="0">
                <a:solidFill>
                  <a:srgbClr val="E9F0FC"/>
                </a:solidFill>
                <a:latin typeface="DejaVu Sans Mono" pitchFamily="34" charset="0"/>
                <a:ea typeface="DejaVu Sans Mono" pitchFamily="34" charset="-122"/>
                <a:cs typeface="DejaVu Sans Mono" pitchFamily="34" charset="-120"/>
              </a:rPr>
              <a:t>backend-project/</a:t>
            </a:r>
            <a:endParaRPr lang="vi-VN" sz="1090" dirty="0"/>
          </a:p>
        </p:txBody>
      </p:sp>
      <p:sp>
        <p:nvSpPr>
          <p:cNvPr id="16" name="Text 14"/>
          <p:cNvSpPr/>
          <p:nvPr/>
        </p:nvSpPr>
        <p:spPr>
          <a:xfrm>
            <a:off x="868680" y="2530074"/>
            <a:ext cx="5074920" cy="262362"/>
          </a:xfrm>
          <a:prstGeom prst="rect">
            <a:avLst/>
          </a:prstGeom>
          <a:noFill/>
          <a:ln/>
        </p:spPr>
        <p:txBody>
          <a:bodyPr wrap="square" lIns="0" tIns="0" rIns="0" bIns="0" rtlCol="0" anchor="ctr">
            <a:normAutofit/>
          </a:bodyPr>
          <a:lstStyle/>
          <a:p>
            <a:pPr marL="0" indent="0" algn="l">
              <a:buNone/>
            </a:pPr>
            <a:r>
              <a:rPr lang="vi-VN" altLang="en-US" sz="1090" dirty="0">
                <a:solidFill>
                  <a:srgbClr val="E9F0FC"/>
                </a:solidFill>
                <a:latin typeface="DejaVu Sans Mono" pitchFamily="34" charset="0"/>
                <a:ea typeface="DejaVu Sans Mono" pitchFamily="34" charset="-122"/>
                <a:cs typeface="DejaVu Sans Mono" pitchFamily="34" charset="-120"/>
              </a:rPr>
              <a:t>├── src/</a:t>
            </a:r>
            <a:endParaRPr lang="vi-VN" sz="1090" dirty="0"/>
          </a:p>
        </p:txBody>
      </p:sp>
      <p:sp>
        <p:nvSpPr>
          <p:cNvPr id="17" name="Text 15"/>
          <p:cNvSpPr/>
          <p:nvPr/>
        </p:nvSpPr>
        <p:spPr>
          <a:xfrm>
            <a:off x="868680" y="2792437"/>
            <a:ext cx="5074920" cy="262362"/>
          </a:xfrm>
          <a:prstGeom prst="rect">
            <a:avLst/>
          </a:prstGeom>
          <a:noFill/>
          <a:ln/>
        </p:spPr>
        <p:txBody>
          <a:bodyPr wrap="square" lIns="0" tIns="0" rIns="0" bIns="0" rtlCol="0" anchor="ctr">
            <a:normAutofit/>
          </a:bodyPr>
          <a:lstStyle/>
          <a:p>
            <a:pPr marL="0" indent="0" algn="l">
              <a:buNone/>
            </a:pPr>
            <a:r>
              <a:rPr lang="vi-VN" altLang="en-US" sz="1090" dirty="0">
                <a:solidFill>
                  <a:srgbClr val="E9F0FC"/>
                </a:solidFill>
                <a:latin typeface="DejaVu Sans Mono" pitchFamily="34" charset="0"/>
                <a:ea typeface="DejaVu Sans Mono" pitchFamily="34" charset="-122"/>
                <a:cs typeface="DejaVu Sans Mono" pitchFamily="34" charset="-120"/>
              </a:rPr>
              <a:t>│   ├── configs/database.ts</a:t>
            </a:r>
            <a:endParaRPr lang="vi-VN" sz="1090" dirty="0"/>
          </a:p>
        </p:txBody>
      </p:sp>
      <p:sp>
        <p:nvSpPr>
          <p:cNvPr id="18" name="Text 16"/>
          <p:cNvSpPr/>
          <p:nvPr/>
        </p:nvSpPr>
        <p:spPr>
          <a:xfrm>
            <a:off x="868680" y="3054799"/>
            <a:ext cx="5074920" cy="262362"/>
          </a:xfrm>
          <a:prstGeom prst="rect">
            <a:avLst/>
          </a:prstGeom>
          <a:noFill/>
          <a:ln/>
        </p:spPr>
        <p:txBody>
          <a:bodyPr wrap="square" lIns="0" tIns="0" rIns="0" bIns="0" rtlCol="0" anchor="ctr">
            <a:normAutofit/>
          </a:bodyPr>
          <a:lstStyle/>
          <a:p>
            <a:pPr marL="0" indent="0" algn="l">
              <a:buNone/>
            </a:pPr>
            <a:r>
              <a:rPr lang="vi-VN" altLang="en-US" sz="1090" dirty="0">
                <a:solidFill>
                  <a:srgbClr val="E9F0FC"/>
                </a:solidFill>
                <a:latin typeface="DejaVu Sans Mono" pitchFamily="34" charset="0"/>
                <a:ea typeface="DejaVu Sans Mono" pitchFamily="34" charset="-122"/>
                <a:cs typeface="DejaVu Sans Mono" pitchFamily="34" charset="-120"/>
              </a:rPr>
              <a:t>│   ├── models/</a:t>
            </a:r>
            <a:r>
              <a:rPr lang="vi-VN" altLang="en-US" sz="1090" dirty="0">
                <a:solidFill>
                  <a:srgbClr val="8CCBFF"/>
                </a:solidFill>
                <a:latin typeface="DejaVu Sans Mono" pitchFamily="34" charset="0"/>
                <a:ea typeface="DejaVu Sans Mono" pitchFamily="34" charset="-122"/>
                <a:cs typeface="DejaVu Sans Mono" pitchFamily="34" charset="-120"/>
              </a:rPr>
              <a:t>user</a:t>
            </a:r>
            <a:r>
              <a:rPr lang="vi-VN" altLang="en-US" sz="1090" dirty="0">
                <a:solidFill>
                  <a:srgbClr val="E9F0FC"/>
                </a:solidFill>
                <a:latin typeface="DejaVu Sans Mono" pitchFamily="34" charset="0"/>
                <a:ea typeface="DejaVu Sans Mono" pitchFamily="34" charset="-122"/>
                <a:cs typeface="DejaVu Sans Mono" pitchFamily="34" charset="-120"/>
              </a:rPr>
              <a:t>.model.ts</a:t>
            </a:r>
            <a:endParaRPr lang="vi-VN" sz="1090" dirty="0"/>
          </a:p>
        </p:txBody>
      </p:sp>
      <p:sp>
        <p:nvSpPr>
          <p:cNvPr id="19" name="Text 17"/>
          <p:cNvSpPr/>
          <p:nvPr/>
        </p:nvSpPr>
        <p:spPr>
          <a:xfrm>
            <a:off x="868680" y="3317162"/>
            <a:ext cx="5074920" cy="262362"/>
          </a:xfrm>
          <a:prstGeom prst="rect">
            <a:avLst/>
          </a:prstGeom>
          <a:noFill/>
          <a:ln/>
        </p:spPr>
        <p:txBody>
          <a:bodyPr wrap="square" lIns="0" tIns="0" rIns="0" bIns="0" rtlCol="0" anchor="ctr">
            <a:normAutofit/>
          </a:bodyPr>
          <a:lstStyle/>
          <a:p>
            <a:pPr marL="0" indent="0" algn="l">
              <a:buNone/>
            </a:pPr>
            <a:r>
              <a:rPr lang="vi-VN" altLang="en-US" sz="1090" dirty="0">
                <a:solidFill>
                  <a:srgbClr val="E9F0FC"/>
                </a:solidFill>
                <a:latin typeface="DejaVu Sans Mono" pitchFamily="34" charset="0"/>
                <a:ea typeface="DejaVu Sans Mono" pitchFamily="34" charset="-122"/>
                <a:cs typeface="DejaVu Sans Mono" pitchFamily="34" charset="-120"/>
              </a:rPr>
              <a:t>│   ├── services/auth.service.ts</a:t>
            </a:r>
            <a:endParaRPr lang="vi-VN" sz="1090" dirty="0"/>
          </a:p>
        </p:txBody>
      </p:sp>
      <p:sp>
        <p:nvSpPr>
          <p:cNvPr id="20" name="Text 18"/>
          <p:cNvSpPr/>
          <p:nvPr/>
        </p:nvSpPr>
        <p:spPr>
          <a:xfrm>
            <a:off x="868680" y="3579524"/>
            <a:ext cx="5074920" cy="262362"/>
          </a:xfrm>
          <a:prstGeom prst="rect">
            <a:avLst/>
          </a:prstGeom>
          <a:noFill/>
          <a:ln/>
        </p:spPr>
        <p:txBody>
          <a:bodyPr wrap="square" lIns="0" tIns="0" rIns="0" bIns="0" rtlCol="0" anchor="ctr">
            <a:normAutofit/>
          </a:bodyPr>
          <a:lstStyle/>
          <a:p>
            <a:pPr marL="0" indent="0" algn="l">
              <a:buNone/>
            </a:pPr>
            <a:r>
              <a:rPr lang="vi-VN" altLang="en-US" sz="1090" dirty="0">
                <a:solidFill>
                  <a:srgbClr val="E9F0FC"/>
                </a:solidFill>
                <a:latin typeface="DejaVu Sans Mono" pitchFamily="34" charset="0"/>
                <a:ea typeface="DejaVu Sans Mono" pitchFamily="34" charset="-122"/>
                <a:cs typeface="DejaVu Sans Mono" pitchFamily="34" charset="-120"/>
              </a:rPr>
              <a:t>│   ├── controllers/auth.controller.ts</a:t>
            </a:r>
            <a:endParaRPr lang="vi-VN" sz="1090" dirty="0"/>
          </a:p>
        </p:txBody>
      </p:sp>
      <p:sp>
        <p:nvSpPr>
          <p:cNvPr id="21" name="Text 19"/>
          <p:cNvSpPr/>
          <p:nvPr/>
        </p:nvSpPr>
        <p:spPr>
          <a:xfrm>
            <a:off x="868680" y="3841887"/>
            <a:ext cx="5074920" cy="262362"/>
          </a:xfrm>
          <a:prstGeom prst="rect">
            <a:avLst/>
          </a:prstGeom>
          <a:noFill/>
          <a:ln/>
        </p:spPr>
        <p:txBody>
          <a:bodyPr wrap="square" lIns="0" tIns="0" rIns="0" bIns="0" rtlCol="0" anchor="ctr">
            <a:normAutofit/>
          </a:bodyPr>
          <a:lstStyle/>
          <a:p>
            <a:pPr marL="0" indent="0" algn="l">
              <a:buNone/>
            </a:pPr>
            <a:r>
              <a:rPr lang="vi-VN" altLang="en-US" sz="1090" dirty="0">
                <a:solidFill>
                  <a:srgbClr val="E9F0FC"/>
                </a:solidFill>
                <a:latin typeface="DejaVu Sans Mono" pitchFamily="34" charset="0"/>
                <a:ea typeface="DejaVu Sans Mono" pitchFamily="34" charset="-122"/>
                <a:cs typeface="DejaVu Sans Mono" pitchFamily="34" charset="-120"/>
              </a:rPr>
              <a:t>│   ├── middlewares/isAuth.ts</a:t>
            </a:r>
            <a:endParaRPr lang="vi-VN" sz="1090" dirty="0"/>
          </a:p>
        </p:txBody>
      </p:sp>
      <p:sp>
        <p:nvSpPr>
          <p:cNvPr id="22" name="Text 20"/>
          <p:cNvSpPr/>
          <p:nvPr/>
        </p:nvSpPr>
        <p:spPr>
          <a:xfrm>
            <a:off x="868680" y="4104249"/>
            <a:ext cx="5074920" cy="262362"/>
          </a:xfrm>
          <a:prstGeom prst="rect">
            <a:avLst/>
          </a:prstGeom>
          <a:noFill/>
          <a:ln/>
        </p:spPr>
        <p:txBody>
          <a:bodyPr wrap="square" lIns="0" tIns="0" rIns="0" bIns="0" rtlCol="0" anchor="ctr">
            <a:normAutofit/>
          </a:bodyPr>
          <a:lstStyle/>
          <a:p>
            <a:pPr marL="0" indent="0" algn="l">
              <a:buNone/>
            </a:pPr>
            <a:r>
              <a:rPr lang="vi-VN" altLang="en-US" sz="1090" dirty="0">
                <a:solidFill>
                  <a:srgbClr val="E9F0FC"/>
                </a:solidFill>
                <a:latin typeface="DejaVu Sans Mono" pitchFamily="34" charset="0"/>
                <a:ea typeface="DejaVu Sans Mono" pitchFamily="34" charset="-122"/>
                <a:cs typeface="DejaVu Sans Mono" pitchFamily="34" charset="-120"/>
              </a:rPr>
              <a:t>│   ├── middlewares/isAdmin.ts</a:t>
            </a:r>
            <a:endParaRPr lang="vi-VN" sz="1090" dirty="0"/>
          </a:p>
        </p:txBody>
      </p:sp>
      <p:sp>
        <p:nvSpPr>
          <p:cNvPr id="23" name="Text 21"/>
          <p:cNvSpPr/>
          <p:nvPr/>
        </p:nvSpPr>
        <p:spPr>
          <a:xfrm>
            <a:off x="868680" y="4366612"/>
            <a:ext cx="5074920" cy="262362"/>
          </a:xfrm>
          <a:prstGeom prst="rect">
            <a:avLst/>
          </a:prstGeom>
          <a:noFill/>
          <a:ln/>
        </p:spPr>
        <p:txBody>
          <a:bodyPr wrap="square" lIns="0" tIns="0" rIns="0" bIns="0" rtlCol="0" anchor="ctr">
            <a:normAutofit/>
          </a:bodyPr>
          <a:lstStyle/>
          <a:p>
            <a:pPr marL="0" indent="0" algn="l">
              <a:buNone/>
            </a:pPr>
            <a:r>
              <a:rPr lang="vi-VN" altLang="en-US" sz="1090" dirty="0">
                <a:solidFill>
                  <a:srgbClr val="E9F0FC"/>
                </a:solidFill>
                <a:latin typeface="DejaVu Sans Mono" pitchFamily="34" charset="0"/>
                <a:ea typeface="DejaVu Sans Mono" pitchFamily="34" charset="-122"/>
                <a:cs typeface="DejaVu Sans Mono" pitchFamily="34" charset="-120"/>
              </a:rPr>
              <a:t>│   ├── routes/auth.routes.ts</a:t>
            </a:r>
            <a:endParaRPr lang="vi-VN" sz="1090" dirty="0"/>
          </a:p>
        </p:txBody>
      </p:sp>
      <p:sp>
        <p:nvSpPr>
          <p:cNvPr id="24" name="Text 22"/>
          <p:cNvSpPr/>
          <p:nvPr/>
        </p:nvSpPr>
        <p:spPr>
          <a:xfrm>
            <a:off x="868680" y="4628974"/>
            <a:ext cx="5074920" cy="262362"/>
          </a:xfrm>
          <a:prstGeom prst="rect">
            <a:avLst/>
          </a:prstGeom>
          <a:noFill/>
          <a:ln/>
        </p:spPr>
        <p:txBody>
          <a:bodyPr wrap="square" lIns="0" tIns="0" rIns="0" bIns="0" rtlCol="0" anchor="ctr">
            <a:normAutofit/>
          </a:bodyPr>
          <a:lstStyle/>
          <a:p>
            <a:pPr marL="0" indent="0" algn="l">
              <a:buNone/>
            </a:pPr>
            <a:r>
              <a:rPr lang="vi-VN" altLang="en-US" sz="1090" dirty="0">
                <a:solidFill>
                  <a:srgbClr val="E9F0FC"/>
                </a:solidFill>
                <a:latin typeface="DejaVu Sans Mono" pitchFamily="34" charset="0"/>
                <a:ea typeface="DejaVu Sans Mono" pitchFamily="34" charset="-122"/>
                <a:cs typeface="DejaVu Sans Mono" pitchFamily="34" charset="-120"/>
              </a:rPr>
              <a:t>│   ├── utils/</a:t>
            </a:r>
            <a:r>
              <a:rPr lang="vi-VN" altLang="en-US" sz="1090" dirty="0">
                <a:solidFill>
                  <a:srgbClr val="8CCBFF"/>
                </a:solidFill>
                <a:latin typeface="DejaVu Sans Mono" pitchFamily="34" charset="0"/>
                <a:ea typeface="DejaVu Sans Mono" pitchFamily="34" charset="-122"/>
                <a:cs typeface="DejaVu Sans Mono" pitchFamily="34" charset="-120"/>
              </a:rPr>
              <a:t>jwt</a:t>
            </a:r>
            <a:r>
              <a:rPr lang="vi-VN" altLang="en-US" sz="1090" dirty="0">
                <a:solidFill>
                  <a:srgbClr val="E9F0FC"/>
                </a:solidFill>
                <a:latin typeface="DejaVu Sans Mono" pitchFamily="34" charset="0"/>
                <a:ea typeface="DejaVu Sans Mono" pitchFamily="34" charset="-122"/>
                <a:cs typeface="DejaVu Sans Mono" pitchFamily="34" charset="-120"/>
              </a:rPr>
              <a:t>.ts</a:t>
            </a:r>
            <a:endParaRPr lang="vi-VN" sz="1090" dirty="0"/>
          </a:p>
        </p:txBody>
      </p:sp>
      <p:sp>
        <p:nvSpPr>
          <p:cNvPr id="25" name="Text 23"/>
          <p:cNvSpPr/>
          <p:nvPr/>
        </p:nvSpPr>
        <p:spPr>
          <a:xfrm>
            <a:off x="868680" y="4891337"/>
            <a:ext cx="5074920" cy="262362"/>
          </a:xfrm>
          <a:prstGeom prst="rect">
            <a:avLst/>
          </a:prstGeom>
          <a:noFill/>
          <a:ln/>
        </p:spPr>
        <p:txBody>
          <a:bodyPr wrap="square" lIns="0" tIns="0" rIns="0" bIns="0" rtlCol="0" anchor="ctr">
            <a:normAutofit/>
          </a:bodyPr>
          <a:lstStyle/>
          <a:p>
            <a:pPr marL="0" indent="0" algn="l">
              <a:buNone/>
            </a:pPr>
            <a:r>
              <a:rPr lang="vi-VN" altLang="en-US" sz="1090" dirty="0">
                <a:solidFill>
                  <a:srgbClr val="E9F0FC"/>
                </a:solidFill>
                <a:latin typeface="DejaVu Sans Mono" pitchFamily="34" charset="0"/>
                <a:ea typeface="DejaVu Sans Mono" pitchFamily="34" charset="-122"/>
                <a:cs typeface="DejaVu Sans Mono" pitchFamily="34" charset="-120"/>
              </a:rPr>
              <a:t>│   └── server.ts</a:t>
            </a:r>
            <a:endParaRPr lang="vi-VN" sz="1090" dirty="0"/>
          </a:p>
        </p:txBody>
      </p:sp>
      <p:sp>
        <p:nvSpPr>
          <p:cNvPr id="26" name="Text 24"/>
          <p:cNvSpPr/>
          <p:nvPr/>
        </p:nvSpPr>
        <p:spPr>
          <a:xfrm>
            <a:off x="868680" y="5153699"/>
            <a:ext cx="5074920" cy="262362"/>
          </a:xfrm>
          <a:prstGeom prst="rect">
            <a:avLst/>
          </a:prstGeom>
          <a:noFill/>
          <a:ln/>
        </p:spPr>
        <p:txBody>
          <a:bodyPr wrap="square" lIns="0" tIns="0" rIns="0" bIns="0" rtlCol="0" anchor="ctr">
            <a:normAutofit/>
          </a:bodyPr>
          <a:lstStyle/>
          <a:p>
            <a:pPr marL="0" indent="0" algn="l">
              <a:buNone/>
            </a:pPr>
            <a:r>
              <a:rPr lang="vi-VN" altLang="en-US" sz="1090" dirty="0">
                <a:solidFill>
                  <a:srgbClr val="E9F0FC"/>
                </a:solidFill>
                <a:latin typeface="DejaVu Sans Mono" pitchFamily="34" charset="0"/>
                <a:ea typeface="DejaVu Sans Mono" pitchFamily="34" charset="-122"/>
                <a:cs typeface="DejaVu Sans Mono" pitchFamily="34" charset="-120"/>
              </a:rPr>
              <a:t>├── openapi.yaml</a:t>
            </a:r>
            <a:endParaRPr lang="vi-VN" sz="1090" dirty="0"/>
          </a:p>
        </p:txBody>
      </p:sp>
      <p:sp>
        <p:nvSpPr>
          <p:cNvPr id="27" name="Text 25"/>
          <p:cNvSpPr/>
          <p:nvPr/>
        </p:nvSpPr>
        <p:spPr>
          <a:xfrm>
            <a:off x="868680" y="5416062"/>
            <a:ext cx="5074920" cy="262362"/>
          </a:xfrm>
          <a:prstGeom prst="rect">
            <a:avLst/>
          </a:prstGeom>
          <a:noFill/>
          <a:ln/>
        </p:spPr>
        <p:txBody>
          <a:bodyPr wrap="square" lIns="0" tIns="0" rIns="0" bIns="0" rtlCol="0" anchor="ctr">
            <a:normAutofit/>
          </a:bodyPr>
          <a:lstStyle/>
          <a:p>
            <a:pPr marL="0" indent="0" algn="l">
              <a:buNone/>
            </a:pPr>
            <a:r>
              <a:rPr lang="vi-VN" altLang="en-US" sz="1090" dirty="0">
                <a:solidFill>
                  <a:srgbClr val="E9F0FC"/>
                </a:solidFill>
                <a:latin typeface="DejaVu Sans Mono" pitchFamily="34" charset="0"/>
                <a:ea typeface="DejaVu Sans Mono" pitchFamily="34" charset="-122"/>
                <a:cs typeface="DejaVu Sans Mono" pitchFamily="34" charset="-120"/>
              </a:rPr>
              <a:t>└── .env</a:t>
            </a:r>
            <a:endParaRPr lang="vi-VN" sz="1090" dirty="0"/>
          </a:p>
        </p:txBody>
      </p:sp>
      <p:sp>
        <p:nvSpPr>
          <p:cNvPr id="28" name="Shape 26"/>
          <p:cNvSpPr/>
          <p:nvPr/>
        </p:nvSpPr>
        <p:spPr>
          <a:xfrm>
            <a:off x="6583680" y="1837944"/>
            <a:ext cx="356616" cy="356616"/>
          </a:xfrm>
          <a:prstGeom prst="ellipse">
            <a:avLst/>
          </a:prstGeom>
          <a:solidFill>
            <a:srgbClr val="EBF2FE"/>
          </a:solidFill>
          <a:ln w="12700">
            <a:solidFill>
              <a:srgbClr val="EBF2FE">
                <a:alpha val="0"/>
              </a:srgbClr>
            </a:solidFill>
            <a:prstDash val="solid"/>
          </a:ln>
        </p:spPr>
        <p:txBody>
          <a:bodyPr/>
          <a:lstStyle/>
          <a:p>
            <a:endParaRPr lang="en-US"/>
          </a:p>
        </p:txBody>
      </p:sp>
      <p:pic>
        <p:nvPicPr>
          <p:cNvPr id="29" name="Image 0" descr="/mnt/data/auth_slide_work/icon_cache/1ec8c680dacb40f13f2498a71f034936.png"/>
          <p:cNvPicPr>
            <a:picLocks noChangeAspect="1"/>
          </p:cNvPicPr>
          <p:nvPr/>
        </p:nvPicPr>
        <p:blipFill>
          <a:blip r:embed="rId3"/>
          <a:stretch>
            <a:fillRect/>
          </a:stretch>
        </p:blipFill>
        <p:spPr>
          <a:xfrm>
            <a:off x="6683532" y="1930664"/>
            <a:ext cx="153345" cy="153345"/>
          </a:xfrm>
          <a:prstGeom prst="rect">
            <a:avLst/>
          </a:prstGeom>
        </p:spPr>
      </p:pic>
      <p:sp>
        <p:nvSpPr>
          <p:cNvPr id="30" name="Text 27"/>
          <p:cNvSpPr/>
          <p:nvPr/>
        </p:nvSpPr>
        <p:spPr>
          <a:xfrm>
            <a:off x="7104888" y="1851660"/>
            <a:ext cx="2002536" cy="210312"/>
          </a:xfrm>
          <a:prstGeom prst="rect">
            <a:avLst/>
          </a:prstGeom>
          <a:noFill/>
          <a:ln/>
        </p:spPr>
        <p:txBody>
          <a:bodyPr wrap="square" lIns="0" tIns="0" rIns="0" bIns="0" rtlCol="0" anchor="ctr">
            <a:normAutofit/>
          </a:bodyPr>
          <a:lstStyle/>
          <a:p>
            <a:pPr marL="0" indent="0">
              <a:buNone/>
            </a:pPr>
            <a:r>
              <a:rPr lang="vi-VN" altLang="en-US" sz="1170" b="1" dirty="0">
                <a:solidFill>
                  <a:srgbClr val="183B63"/>
                </a:solidFill>
                <a:latin typeface="Inter" pitchFamily="34" charset="0"/>
                <a:ea typeface="Inter" pitchFamily="34" charset="-122"/>
                <a:cs typeface="Inter" pitchFamily="34" charset="-120"/>
              </a:rPr>
              <a:t>auth.routes.ts</a:t>
            </a:r>
            <a:endParaRPr lang="vi-VN" sz="1170" dirty="0"/>
          </a:p>
        </p:txBody>
      </p:sp>
      <p:sp>
        <p:nvSpPr>
          <p:cNvPr id="31" name="Text 28"/>
          <p:cNvSpPr/>
          <p:nvPr/>
        </p:nvSpPr>
        <p:spPr>
          <a:xfrm>
            <a:off x="9098280" y="1847088"/>
            <a:ext cx="2221992" cy="347472"/>
          </a:xfrm>
          <a:prstGeom prst="rect">
            <a:avLst/>
          </a:prstGeom>
          <a:noFill/>
          <a:ln/>
        </p:spPr>
        <p:txBody>
          <a:bodyPr wrap="square" lIns="0" tIns="0" rIns="0" bIns="0" rtlCol="0" anchor="ctr">
            <a:normAutofit/>
          </a:bodyPr>
          <a:lstStyle/>
          <a:p>
            <a:pPr marL="0" indent="0">
              <a:buNone/>
            </a:pPr>
            <a:r>
              <a:rPr lang="vi-VN" altLang="en-US" sz="1080" dirty="0">
                <a:solidFill>
                  <a:srgbClr val="667389"/>
                </a:solidFill>
                <a:latin typeface="Inter" pitchFamily="34" charset="0"/>
                <a:ea typeface="Inter" pitchFamily="34" charset="-122"/>
                <a:cs typeface="Inter" pitchFamily="34" charset="-120"/>
              </a:rPr>
              <a:t>Khai báo URL / HTTP methods</a:t>
            </a:r>
            <a:endParaRPr lang="vi-VN" sz="1080" dirty="0"/>
          </a:p>
        </p:txBody>
      </p:sp>
      <p:sp>
        <p:nvSpPr>
          <p:cNvPr id="32" name="Shape 29"/>
          <p:cNvSpPr/>
          <p:nvPr/>
        </p:nvSpPr>
        <p:spPr>
          <a:xfrm>
            <a:off x="6583680" y="2368296"/>
            <a:ext cx="356616" cy="356616"/>
          </a:xfrm>
          <a:prstGeom prst="ellipse">
            <a:avLst/>
          </a:prstGeom>
          <a:solidFill>
            <a:srgbClr val="EBF2FE"/>
          </a:solidFill>
          <a:ln w="12700">
            <a:solidFill>
              <a:srgbClr val="EBF2FE">
                <a:alpha val="0"/>
              </a:srgbClr>
            </a:solidFill>
            <a:prstDash val="solid"/>
          </a:ln>
        </p:spPr>
        <p:txBody>
          <a:bodyPr/>
          <a:lstStyle/>
          <a:p>
            <a:endParaRPr lang="en-US"/>
          </a:p>
        </p:txBody>
      </p:sp>
      <p:pic>
        <p:nvPicPr>
          <p:cNvPr id="33" name="Image 1" descr="/mnt/data/auth_slide_work/icon_cache/09f262806546d56c585f07b335f2883b.png"/>
          <p:cNvPicPr>
            <a:picLocks noChangeAspect="1"/>
          </p:cNvPicPr>
          <p:nvPr/>
        </p:nvPicPr>
        <p:blipFill>
          <a:blip r:embed="rId4"/>
          <a:stretch>
            <a:fillRect/>
          </a:stretch>
        </p:blipFill>
        <p:spPr>
          <a:xfrm>
            <a:off x="6683532" y="2461016"/>
            <a:ext cx="153345" cy="153345"/>
          </a:xfrm>
          <a:prstGeom prst="rect">
            <a:avLst/>
          </a:prstGeom>
        </p:spPr>
      </p:pic>
      <p:sp>
        <p:nvSpPr>
          <p:cNvPr id="34" name="Text 30"/>
          <p:cNvSpPr/>
          <p:nvPr/>
        </p:nvSpPr>
        <p:spPr>
          <a:xfrm>
            <a:off x="7104888" y="2382012"/>
            <a:ext cx="2002536" cy="210312"/>
          </a:xfrm>
          <a:prstGeom prst="rect">
            <a:avLst/>
          </a:prstGeom>
          <a:noFill/>
          <a:ln/>
        </p:spPr>
        <p:txBody>
          <a:bodyPr wrap="square" lIns="0" tIns="0" rIns="0" bIns="0" rtlCol="0" anchor="ctr">
            <a:normAutofit/>
          </a:bodyPr>
          <a:lstStyle/>
          <a:p>
            <a:pPr marL="0" indent="0">
              <a:buNone/>
            </a:pPr>
            <a:r>
              <a:rPr lang="vi-VN" altLang="en-US" sz="1170" b="1" dirty="0">
                <a:solidFill>
                  <a:srgbClr val="183B63"/>
                </a:solidFill>
                <a:latin typeface="Inter" pitchFamily="34" charset="0"/>
                <a:ea typeface="Inter" pitchFamily="34" charset="-122"/>
                <a:cs typeface="Inter" pitchFamily="34" charset="-120"/>
              </a:rPr>
              <a:t>auth.controller.ts</a:t>
            </a:r>
            <a:endParaRPr lang="vi-VN" sz="1170" dirty="0"/>
          </a:p>
        </p:txBody>
      </p:sp>
      <p:sp>
        <p:nvSpPr>
          <p:cNvPr id="35" name="Text 31"/>
          <p:cNvSpPr/>
          <p:nvPr/>
        </p:nvSpPr>
        <p:spPr>
          <a:xfrm>
            <a:off x="9098280" y="2377440"/>
            <a:ext cx="2221992" cy="347472"/>
          </a:xfrm>
          <a:prstGeom prst="rect">
            <a:avLst/>
          </a:prstGeom>
          <a:noFill/>
          <a:ln/>
        </p:spPr>
        <p:txBody>
          <a:bodyPr wrap="square" lIns="0" tIns="0" rIns="0" bIns="0" rtlCol="0" anchor="ctr">
            <a:normAutofit/>
          </a:bodyPr>
          <a:lstStyle/>
          <a:p>
            <a:pPr marL="0" indent="0">
              <a:buNone/>
            </a:pPr>
            <a:r>
              <a:rPr lang="vi-VN" altLang="en-US" sz="1080" dirty="0">
                <a:solidFill>
                  <a:srgbClr val="667389"/>
                </a:solidFill>
                <a:latin typeface="Inter" pitchFamily="34" charset="0"/>
                <a:ea typeface="Inter" pitchFamily="34" charset="-122"/>
                <a:cs typeface="Inter" pitchFamily="34" charset="-120"/>
              </a:rPr>
              <a:t>Nhận Request, trả Response</a:t>
            </a:r>
            <a:endParaRPr lang="vi-VN" sz="1080" dirty="0"/>
          </a:p>
        </p:txBody>
      </p:sp>
      <p:sp>
        <p:nvSpPr>
          <p:cNvPr id="36" name="Shape 32"/>
          <p:cNvSpPr/>
          <p:nvPr/>
        </p:nvSpPr>
        <p:spPr>
          <a:xfrm>
            <a:off x="6583680" y="2898648"/>
            <a:ext cx="356616" cy="356616"/>
          </a:xfrm>
          <a:prstGeom prst="ellipse">
            <a:avLst/>
          </a:prstGeom>
          <a:solidFill>
            <a:srgbClr val="EBF2FE"/>
          </a:solidFill>
          <a:ln w="12700">
            <a:solidFill>
              <a:srgbClr val="EBF2FE">
                <a:alpha val="0"/>
              </a:srgbClr>
            </a:solidFill>
            <a:prstDash val="solid"/>
          </a:ln>
        </p:spPr>
        <p:txBody>
          <a:bodyPr/>
          <a:lstStyle/>
          <a:p>
            <a:endParaRPr lang="en-US"/>
          </a:p>
        </p:txBody>
      </p:sp>
      <p:pic>
        <p:nvPicPr>
          <p:cNvPr id="37" name="Image 2" descr="/mnt/data/auth_slide_work/icon_cache/81394ae75e6652caa5f3d0c075d4cfeb.png"/>
          <p:cNvPicPr>
            <a:picLocks noChangeAspect="1"/>
          </p:cNvPicPr>
          <p:nvPr/>
        </p:nvPicPr>
        <p:blipFill>
          <a:blip r:embed="rId5"/>
          <a:stretch>
            <a:fillRect/>
          </a:stretch>
        </p:blipFill>
        <p:spPr>
          <a:xfrm>
            <a:off x="6683532" y="2991368"/>
            <a:ext cx="153345" cy="153345"/>
          </a:xfrm>
          <a:prstGeom prst="rect">
            <a:avLst/>
          </a:prstGeom>
        </p:spPr>
      </p:pic>
      <p:sp>
        <p:nvSpPr>
          <p:cNvPr id="38" name="Text 33"/>
          <p:cNvSpPr/>
          <p:nvPr/>
        </p:nvSpPr>
        <p:spPr>
          <a:xfrm>
            <a:off x="7104888" y="2912364"/>
            <a:ext cx="2002536" cy="210312"/>
          </a:xfrm>
          <a:prstGeom prst="rect">
            <a:avLst/>
          </a:prstGeom>
          <a:noFill/>
          <a:ln/>
        </p:spPr>
        <p:txBody>
          <a:bodyPr wrap="square" lIns="0" tIns="0" rIns="0" bIns="0" rtlCol="0" anchor="ctr">
            <a:normAutofit/>
          </a:bodyPr>
          <a:lstStyle/>
          <a:p>
            <a:pPr marL="0" indent="0">
              <a:buNone/>
            </a:pPr>
            <a:r>
              <a:rPr lang="vi-VN" altLang="en-US" sz="1170" b="1" dirty="0">
                <a:solidFill>
                  <a:srgbClr val="183B63"/>
                </a:solidFill>
                <a:latin typeface="Inter" pitchFamily="34" charset="0"/>
                <a:ea typeface="Inter" pitchFamily="34" charset="-122"/>
                <a:cs typeface="Inter" pitchFamily="34" charset="-120"/>
              </a:rPr>
              <a:t>auth.service.ts</a:t>
            </a:r>
            <a:endParaRPr lang="vi-VN" sz="1170" dirty="0"/>
          </a:p>
        </p:txBody>
      </p:sp>
      <p:sp>
        <p:nvSpPr>
          <p:cNvPr id="39" name="Text 34"/>
          <p:cNvSpPr/>
          <p:nvPr/>
        </p:nvSpPr>
        <p:spPr>
          <a:xfrm>
            <a:off x="9098280" y="2907792"/>
            <a:ext cx="2221992" cy="347472"/>
          </a:xfrm>
          <a:prstGeom prst="rect">
            <a:avLst/>
          </a:prstGeom>
          <a:noFill/>
          <a:ln/>
        </p:spPr>
        <p:txBody>
          <a:bodyPr wrap="square" lIns="0" tIns="0" rIns="0" bIns="0" rtlCol="0" anchor="ctr">
            <a:normAutofit/>
          </a:bodyPr>
          <a:lstStyle/>
          <a:p>
            <a:pPr marL="0" indent="0">
              <a:buNone/>
            </a:pPr>
            <a:r>
              <a:rPr lang="vi-VN" altLang="en-US" sz="1080" dirty="0">
                <a:solidFill>
                  <a:srgbClr val="667389"/>
                </a:solidFill>
                <a:latin typeface="Inter" pitchFamily="34" charset="0"/>
                <a:ea typeface="Inter" pitchFamily="34" charset="-122"/>
                <a:cs typeface="Inter" pitchFamily="34" charset="-120"/>
              </a:rPr>
              <a:t>Đăng ký, Login, bcrypt</a:t>
            </a:r>
            <a:endParaRPr lang="vi-VN" sz="1080" dirty="0"/>
          </a:p>
        </p:txBody>
      </p:sp>
      <p:sp>
        <p:nvSpPr>
          <p:cNvPr id="40" name="Shape 35"/>
          <p:cNvSpPr/>
          <p:nvPr/>
        </p:nvSpPr>
        <p:spPr>
          <a:xfrm>
            <a:off x="6583680" y="3429000"/>
            <a:ext cx="356616" cy="356616"/>
          </a:xfrm>
          <a:prstGeom prst="ellipse">
            <a:avLst/>
          </a:prstGeom>
          <a:solidFill>
            <a:srgbClr val="EBF2FE"/>
          </a:solidFill>
          <a:ln w="12700">
            <a:solidFill>
              <a:srgbClr val="EBF2FE">
                <a:alpha val="0"/>
              </a:srgbClr>
            </a:solidFill>
            <a:prstDash val="solid"/>
          </a:ln>
        </p:spPr>
        <p:txBody>
          <a:bodyPr/>
          <a:lstStyle/>
          <a:p>
            <a:endParaRPr lang="en-US"/>
          </a:p>
        </p:txBody>
      </p:sp>
      <p:pic>
        <p:nvPicPr>
          <p:cNvPr id="41" name="Image 3" descr="/mnt/data/auth_slide_work/icon_cache/96f27d837cede5cff76a6427e462c5fe.png"/>
          <p:cNvPicPr>
            <a:picLocks noChangeAspect="1"/>
          </p:cNvPicPr>
          <p:nvPr/>
        </p:nvPicPr>
        <p:blipFill>
          <a:blip r:embed="rId6"/>
          <a:stretch>
            <a:fillRect/>
          </a:stretch>
        </p:blipFill>
        <p:spPr>
          <a:xfrm>
            <a:off x="6683532" y="3521720"/>
            <a:ext cx="153345" cy="153345"/>
          </a:xfrm>
          <a:prstGeom prst="rect">
            <a:avLst/>
          </a:prstGeom>
        </p:spPr>
      </p:pic>
      <p:sp>
        <p:nvSpPr>
          <p:cNvPr id="42" name="Text 36"/>
          <p:cNvSpPr/>
          <p:nvPr/>
        </p:nvSpPr>
        <p:spPr>
          <a:xfrm>
            <a:off x="7104888" y="3442716"/>
            <a:ext cx="2002536" cy="210312"/>
          </a:xfrm>
          <a:prstGeom prst="rect">
            <a:avLst/>
          </a:prstGeom>
          <a:noFill/>
          <a:ln/>
        </p:spPr>
        <p:txBody>
          <a:bodyPr wrap="square" lIns="0" tIns="0" rIns="0" bIns="0" rtlCol="0" anchor="ctr">
            <a:normAutofit/>
          </a:bodyPr>
          <a:lstStyle/>
          <a:p>
            <a:pPr marL="0" indent="0">
              <a:buNone/>
            </a:pPr>
            <a:r>
              <a:rPr lang="vi-VN" altLang="en-US" sz="1170" b="1" dirty="0">
                <a:solidFill>
                  <a:srgbClr val="183B63"/>
                </a:solidFill>
                <a:latin typeface="Inter" pitchFamily="34" charset="0"/>
                <a:ea typeface="Inter" pitchFamily="34" charset="-122"/>
                <a:cs typeface="Inter" pitchFamily="34" charset="-120"/>
              </a:rPr>
              <a:t>jwt.ts</a:t>
            </a:r>
            <a:endParaRPr lang="vi-VN" sz="1170" dirty="0"/>
          </a:p>
        </p:txBody>
      </p:sp>
      <p:sp>
        <p:nvSpPr>
          <p:cNvPr id="43" name="Text 37"/>
          <p:cNvSpPr/>
          <p:nvPr/>
        </p:nvSpPr>
        <p:spPr>
          <a:xfrm>
            <a:off x="9098280" y="3438144"/>
            <a:ext cx="2221992" cy="347472"/>
          </a:xfrm>
          <a:prstGeom prst="rect">
            <a:avLst/>
          </a:prstGeom>
          <a:noFill/>
          <a:ln/>
        </p:spPr>
        <p:txBody>
          <a:bodyPr wrap="square" lIns="0" tIns="0" rIns="0" bIns="0" rtlCol="0" anchor="ctr">
            <a:normAutofit/>
          </a:bodyPr>
          <a:lstStyle/>
          <a:p>
            <a:pPr marL="0" indent="0">
              <a:buNone/>
            </a:pPr>
            <a:r>
              <a:rPr lang="vi-VN" altLang="en-US" sz="1080" dirty="0">
                <a:solidFill>
                  <a:srgbClr val="667389"/>
                </a:solidFill>
                <a:latin typeface="Inter" pitchFamily="34" charset="0"/>
                <a:ea typeface="Inter" pitchFamily="34" charset="-122"/>
                <a:cs typeface="Inter" pitchFamily="34" charset="-120"/>
              </a:rPr>
              <a:t>Tạo và xác minh JWT</a:t>
            </a:r>
            <a:endParaRPr lang="vi-VN" sz="1080" dirty="0"/>
          </a:p>
        </p:txBody>
      </p:sp>
      <p:sp>
        <p:nvSpPr>
          <p:cNvPr id="44" name="Shape 38"/>
          <p:cNvSpPr/>
          <p:nvPr/>
        </p:nvSpPr>
        <p:spPr>
          <a:xfrm>
            <a:off x="6583680" y="3959352"/>
            <a:ext cx="356616" cy="356616"/>
          </a:xfrm>
          <a:prstGeom prst="ellipse">
            <a:avLst/>
          </a:prstGeom>
          <a:solidFill>
            <a:srgbClr val="EBF2FE"/>
          </a:solidFill>
          <a:ln w="12700">
            <a:solidFill>
              <a:srgbClr val="EBF2FE">
                <a:alpha val="0"/>
              </a:srgbClr>
            </a:solidFill>
            <a:prstDash val="solid"/>
          </a:ln>
        </p:spPr>
        <p:txBody>
          <a:bodyPr/>
          <a:lstStyle/>
          <a:p>
            <a:endParaRPr lang="en-US"/>
          </a:p>
        </p:txBody>
      </p:sp>
      <p:pic>
        <p:nvPicPr>
          <p:cNvPr id="45" name="Image 4" descr="/mnt/data/auth_slide_work/icon_cache/40b12958e09768f8eb7fc071c04f771c.png"/>
          <p:cNvPicPr>
            <a:picLocks noChangeAspect="1"/>
          </p:cNvPicPr>
          <p:nvPr/>
        </p:nvPicPr>
        <p:blipFill>
          <a:blip r:embed="rId7"/>
          <a:stretch>
            <a:fillRect/>
          </a:stretch>
        </p:blipFill>
        <p:spPr>
          <a:xfrm>
            <a:off x="6683532" y="4052072"/>
            <a:ext cx="153345" cy="153345"/>
          </a:xfrm>
          <a:prstGeom prst="rect">
            <a:avLst/>
          </a:prstGeom>
        </p:spPr>
      </p:pic>
      <p:sp>
        <p:nvSpPr>
          <p:cNvPr id="46" name="Text 39"/>
          <p:cNvSpPr/>
          <p:nvPr/>
        </p:nvSpPr>
        <p:spPr>
          <a:xfrm>
            <a:off x="7104888" y="3973068"/>
            <a:ext cx="2002536" cy="210312"/>
          </a:xfrm>
          <a:prstGeom prst="rect">
            <a:avLst/>
          </a:prstGeom>
          <a:noFill/>
          <a:ln/>
        </p:spPr>
        <p:txBody>
          <a:bodyPr wrap="square" lIns="0" tIns="0" rIns="0" bIns="0" rtlCol="0" anchor="ctr">
            <a:normAutofit/>
          </a:bodyPr>
          <a:lstStyle/>
          <a:p>
            <a:pPr marL="0" indent="0">
              <a:buNone/>
            </a:pPr>
            <a:r>
              <a:rPr lang="vi-VN" altLang="en-US" sz="1170" b="1" dirty="0">
                <a:solidFill>
                  <a:srgbClr val="183B63"/>
                </a:solidFill>
                <a:latin typeface="Inter" pitchFamily="34" charset="0"/>
                <a:ea typeface="Inter" pitchFamily="34" charset="-122"/>
                <a:cs typeface="Inter" pitchFamily="34" charset="-120"/>
              </a:rPr>
              <a:t>isAuth.ts</a:t>
            </a:r>
            <a:endParaRPr lang="vi-VN" sz="1170" dirty="0"/>
          </a:p>
        </p:txBody>
      </p:sp>
      <p:sp>
        <p:nvSpPr>
          <p:cNvPr id="47" name="Text 40"/>
          <p:cNvSpPr/>
          <p:nvPr/>
        </p:nvSpPr>
        <p:spPr>
          <a:xfrm>
            <a:off x="9098280" y="3968496"/>
            <a:ext cx="2221992" cy="347472"/>
          </a:xfrm>
          <a:prstGeom prst="rect">
            <a:avLst/>
          </a:prstGeom>
          <a:noFill/>
          <a:ln/>
        </p:spPr>
        <p:txBody>
          <a:bodyPr wrap="square" lIns="0" tIns="0" rIns="0" bIns="0" rtlCol="0" anchor="ctr">
            <a:normAutofit/>
          </a:bodyPr>
          <a:lstStyle/>
          <a:p>
            <a:pPr marL="0" indent="0">
              <a:buNone/>
            </a:pPr>
            <a:r>
              <a:rPr lang="vi-VN" altLang="en-US" sz="1080" dirty="0">
                <a:solidFill>
                  <a:srgbClr val="667389"/>
                </a:solidFill>
                <a:latin typeface="Inter" pitchFamily="34" charset="0"/>
                <a:ea typeface="Inter" pitchFamily="34" charset="-122"/>
                <a:cs typeface="Inter" pitchFamily="34" charset="-120"/>
              </a:rPr>
              <a:t>Chặn Request thiếu JWT</a:t>
            </a:r>
            <a:endParaRPr lang="vi-VN" sz="1080" dirty="0"/>
          </a:p>
        </p:txBody>
      </p:sp>
      <p:sp>
        <p:nvSpPr>
          <p:cNvPr id="48" name="Shape 41"/>
          <p:cNvSpPr/>
          <p:nvPr/>
        </p:nvSpPr>
        <p:spPr>
          <a:xfrm>
            <a:off x="6583680" y="4489704"/>
            <a:ext cx="356616" cy="356616"/>
          </a:xfrm>
          <a:prstGeom prst="ellipse">
            <a:avLst/>
          </a:prstGeom>
          <a:solidFill>
            <a:srgbClr val="EBF2FE"/>
          </a:solidFill>
          <a:ln w="12700">
            <a:solidFill>
              <a:srgbClr val="EBF2FE">
                <a:alpha val="0"/>
              </a:srgbClr>
            </a:solidFill>
            <a:prstDash val="solid"/>
          </a:ln>
        </p:spPr>
        <p:txBody>
          <a:bodyPr/>
          <a:lstStyle/>
          <a:p>
            <a:endParaRPr lang="en-US"/>
          </a:p>
        </p:txBody>
      </p:sp>
      <p:pic>
        <p:nvPicPr>
          <p:cNvPr id="49" name="Image 5" descr="/mnt/data/auth_slide_work/icon_cache/9c30cd7036a8c73da19dd2a684f83394.png"/>
          <p:cNvPicPr>
            <a:picLocks noChangeAspect="1"/>
          </p:cNvPicPr>
          <p:nvPr/>
        </p:nvPicPr>
        <p:blipFill>
          <a:blip r:embed="rId8"/>
          <a:stretch>
            <a:fillRect/>
          </a:stretch>
        </p:blipFill>
        <p:spPr>
          <a:xfrm>
            <a:off x="6683532" y="4582424"/>
            <a:ext cx="153345" cy="153345"/>
          </a:xfrm>
          <a:prstGeom prst="rect">
            <a:avLst/>
          </a:prstGeom>
        </p:spPr>
      </p:pic>
      <p:sp>
        <p:nvSpPr>
          <p:cNvPr id="50" name="Text 42"/>
          <p:cNvSpPr/>
          <p:nvPr/>
        </p:nvSpPr>
        <p:spPr>
          <a:xfrm>
            <a:off x="7104888" y="4503420"/>
            <a:ext cx="2002536" cy="210312"/>
          </a:xfrm>
          <a:prstGeom prst="rect">
            <a:avLst/>
          </a:prstGeom>
          <a:noFill/>
          <a:ln/>
        </p:spPr>
        <p:txBody>
          <a:bodyPr wrap="square" lIns="0" tIns="0" rIns="0" bIns="0" rtlCol="0" anchor="ctr">
            <a:normAutofit/>
          </a:bodyPr>
          <a:lstStyle/>
          <a:p>
            <a:pPr marL="0" indent="0">
              <a:buNone/>
            </a:pPr>
            <a:r>
              <a:rPr lang="vi-VN" altLang="en-US" sz="1170" b="1" dirty="0">
                <a:solidFill>
                  <a:srgbClr val="183B63"/>
                </a:solidFill>
                <a:latin typeface="Inter" pitchFamily="34" charset="0"/>
                <a:ea typeface="Inter" pitchFamily="34" charset="-122"/>
                <a:cs typeface="Inter" pitchFamily="34" charset="-120"/>
              </a:rPr>
              <a:t>isAdmin.ts</a:t>
            </a:r>
            <a:endParaRPr lang="vi-VN" sz="1170" dirty="0"/>
          </a:p>
        </p:txBody>
      </p:sp>
      <p:sp>
        <p:nvSpPr>
          <p:cNvPr id="51" name="Text 43"/>
          <p:cNvSpPr/>
          <p:nvPr/>
        </p:nvSpPr>
        <p:spPr>
          <a:xfrm>
            <a:off x="9098280" y="4498848"/>
            <a:ext cx="2221992" cy="347472"/>
          </a:xfrm>
          <a:prstGeom prst="rect">
            <a:avLst/>
          </a:prstGeom>
          <a:noFill/>
          <a:ln/>
        </p:spPr>
        <p:txBody>
          <a:bodyPr wrap="square" lIns="0" tIns="0" rIns="0" bIns="0" rtlCol="0" anchor="ctr">
            <a:normAutofit/>
          </a:bodyPr>
          <a:lstStyle/>
          <a:p>
            <a:pPr marL="0" indent="0">
              <a:buNone/>
            </a:pPr>
            <a:r>
              <a:rPr lang="vi-VN" altLang="en-US" sz="1080" dirty="0">
                <a:solidFill>
                  <a:srgbClr val="667389"/>
                </a:solidFill>
                <a:latin typeface="Inter" pitchFamily="34" charset="0"/>
                <a:ea typeface="Inter" pitchFamily="34" charset="-122"/>
                <a:cs typeface="Inter" pitchFamily="34" charset="-120"/>
              </a:rPr>
              <a:t>Chặn Request sai vai trò</a:t>
            </a:r>
            <a:endParaRPr lang="vi-VN" sz="1080" dirty="0"/>
          </a:p>
        </p:txBody>
      </p:sp>
      <p:sp>
        <p:nvSpPr>
          <p:cNvPr id="52" name="Shape 44"/>
          <p:cNvSpPr/>
          <p:nvPr/>
        </p:nvSpPr>
        <p:spPr>
          <a:xfrm>
            <a:off x="6583680" y="5020056"/>
            <a:ext cx="356616" cy="356616"/>
          </a:xfrm>
          <a:prstGeom prst="ellipse">
            <a:avLst/>
          </a:prstGeom>
          <a:solidFill>
            <a:srgbClr val="EBF2FE"/>
          </a:solidFill>
          <a:ln w="12700">
            <a:solidFill>
              <a:srgbClr val="EBF2FE">
                <a:alpha val="0"/>
              </a:srgbClr>
            </a:solidFill>
            <a:prstDash val="solid"/>
          </a:ln>
        </p:spPr>
        <p:txBody>
          <a:bodyPr/>
          <a:lstStyle/>
          <a:p>
            <a:endParaRPr lang="en-US"/>
          </a:p>
        </p:txBody>
      </p:sp>
      <p:pic>
        <p:nvPicPr>
          <p:cNvPr id="53" name="Image 6" descr="/mnt/data/auth_slide_work/icon_cache/3783da3ca5dbf22a7def28124579d00e.png"/>
          <p:cNvPicPr>
            <a:picLocks noChangeAspect="1"/>
          </p:cNvPicPr>
          <p:nvPr/>
        </p:nvPicPr>
        <p:blipFill>
          <a:blip r:embed="rId9"/>
          <a:stretch>
            <a:fillRect/>
          </a:stretch>
        </p:blipFill>
        <p:spPr>
          <a:xfrm>
            <a:off x="6683532" y="5112776"/>
            <a:ext cx="153345" cy="153345"/>
          </a:xfrm>
          <a:prstGeom prst="rect">
            <a:avLst/>
          </a:prstGeom>
        </p:spPr>
      </p:pic>
      <p:sp>
        <p:nvSpPr>
          <p:cNvPr id="54" name="Text 45"/>
          <p:cNvSpPr/>
          <p:nvPr/>
        </p:nvSpPr>
        <p:spPr>
          <a:xfrm>
            <a:off x="7104888" y="5033772"/>
            <a:ext cx="2002536" cy="210312"/>
          </a:xfrm>
          <a:prstGeom prst="rect">
            <a:avLst/>
          </a:prstGeom>
          <a:noFill/>
          <a:ln/>
        </p:spPr>
        <p:txBody>
          <a:bodyPr wrap="square" lIns="0" tIns="0" rIns="0" bIns="0" rtlCol="0" anchor="ctr">
            <a:normAutofit/>
          </a:bodyPr>
          <a:lstStyle/>
          <a:p>
            <a:pPr marL="0" indent="0">
              <a:buNone/>
            </a:pPr>
            <a:r>
              <a:rPr lang="vi-VN" altLang="en-US" sz="1170" b="1" dirty="0">
                <a:solidFill>
                  <a:srgbClr val="183B63"/>
                </a:solidFill>
                <a:latin typeface="Inter" pitchFamily="34" charset="0"/>
                <a:ea typeface="Inter" pitchFamily="34" charset="-122"/>
                <a:cs typeface="Inter" pitchFamily="34" charset="-120"/>
              </a:rPr>
              <a:t>.env</a:t>
            </a:r>
            <a:endParaRPr lang="vi-VN" sz="1170" dirty="0"/>
          </a:p>
        </p:txBody>
      </p:sp>
      <p:sp>
        <p:nvSpPr>
          <p:cNvPr id="55" name="Text 46"/>
          <p:cNvSpPr/>
          <p:nvPr/>
        </p:nvSpPr>
        <p:spPr>
          <a:xfrm>
            <a:off x="9098280" y="5029200"/>
            <a:ext cx="2221992" cy="347472"/>
          </a:xfrm>
          <a:prstGeom prst="rect">
            <a:avLst/>
          </a:prstGeom>
          <a:noFill/>
          <a:ln/>
        </p:spPr>
        <p:txBody>
          <a:bodyPr wrap="square" lIns="0" tIns="0" rIns="0" bIns="0" rtlCol="0" anchor="ctr">
            <a:normAutofit/>
          </a:bodyPr>
          <a:lstStyle/>
          <a:p>
            <a:pPr marL="0" indent="0">
              <a:buNone/>
            </a:pPr>
            <a:r>
              <a:rPr lang="vi-VN" altLang="en-US" sz="1080" dirty="0">
                <a:solidFill>
                  <a:srgbClr val="667389"/>
                </a:solidFill>
                <a:latin typeface="Inter" pitchFamily="34" charset="0"/>
                <a:ea typeface="Inter" pitchFamily="34" charset="-122"/>
                <a:cs typeface="Inter" pitchFamily="34" charset="-120"/>
              </a:rPr>
              <a:t>Biến môi trường, JWT Secret</a:t>
            </a:r>
            <a:endParaRPr lang="vi-VN" sz="1080" dirty="0"/>
          </a:p>
        </p:txBody>
      </p:sp>
      <p:sp>
        <p:nvSpPr>
          <p:cNvPr id="56" name="Shape 47"/>
          <p:cNvSpPr/>
          <p:nvPr/>
        </p:nvSpPr>
        <p:spPr>
          <a:xfrm>
            <a:off x="475488" y="5989320"/>
            <a:ext cx="11247120" cy="448056"/>
          </a:xfrm>
          <a:prstGeom prst="roundRect">
            <a:avLst>
              <a:gd name="adj" fmla="val 24490"/>
            </a:avLst>
          </a:prstGeom>
          <a:solidFill>
            <a:srgbClr val="FFF5D5"/>
          </a:solidFill>
          <a:ln w="12700">
            <a:solidFill>
              <a:srgbClr val="FFF5D5">
                <a:alpha val="0"/>
              </a:srgbClr>
            </a:solidFill>
            <a:prstDash val="solid"/>
          </a:ln>
        </p:spPr>
        <p:txBody>
          <a:bodyPr/>
          <a:lstStyle/>
          <a:p>
            <a:endParaRPr lang="en-US"/>
          </a:p>
        </p:txBody>
      </p:sp>
      <p:pic>
        <p:nvPicPr>
          <p:cNvPr id="57" name="Image 7" descr="/mnt/data/auth_slide_work/icon_cache/19a4e8a463faa6409c49e67e1231d428.png"/>
          <p:cNvPicPr>
            <a:picLocks noChangeAspect="1"/>
          </p:cNvPicPr>
          <p:nvPr/>
        </p:nvPicPr>
        <p:blipFill>
          <a:blip r:embed="rId10"/>
          <a:stretch>
            <a:fillRect/>
          </a:stretch>
        </p:blipFill>
        <p:spPr>
          <a:xfrm>
            <a:off x="658368" y="6117336"/>
            <a:ext cx="173736" cy="173736"/>
          </a:xfrm>
          <a:prstGeom prst="rect">
            <a:avLst/>
          </a:prstGeom>
        </p:spPr>
      </p:pic>
      <p:sp>
        <p:nvSpPr>
          <p:cNvPr id="58" name="Text 48"/>
          <p:cNvSpPr/>
          <p:nvPr/>
        </p:nvSpPr>
        <p:spPr>
          <a:xfrm>
            <a:off x="932688" y="6076188"/>
            <a:ext cx="10515600" cy="283464"/>
          </a:xfrm>
          <a:prstGeom prst="rect">
            <a:avLst/>
          </a:prstGeom>
          <a:noFill/>
          <a:ln/>
        </p:spPr>
        <p:txBody>
          <a:bodyPr wrap="square" lIns="0" tIns="0" rIns="0" bIns="0" rtlCol="0" anchor="ctr">
            <a:normAutofit/>
          </a:bodyPr>
          <a:lstStyle/>
          <a:p>
            <a:pPr marL="0" indent="0">
              <a:buNone/>
            </a:pPr>
            <a:r>
              <a:rPr lang="vi-VN" altLang="en-US" sz="1220" dirty="0">
                <a:solidFill>
                  <a:srgbClr val="263345"/>
                </a:solidFill>
                <a:latin typeface="Inter" pitchFamily="34" charset="0"/>
                <a:ea typeface="Inter" pitchFamily="34" charset="-122"/>
                <a:cs typeface="Inter" pitchFamily="34" charset="-120"/>
              </a:rPr>
              <a:t>Giữ đúng cấu trúc và tên file của project thực tế; sơ đồ trên là ví dụ.</a:t>
            </a:r>
            <a:endParaRPr lang="vi-VN"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VIBE CODING</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Prompt AI viết Authentication đúng yêu cầu</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Mô tả đủ bối cảnh, nhiệm vụ, ràng buộc và định dạng đầu ra.</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22 / 24</a:t>
            </a:r>
            <a:endParaRPr lang="vi-VN" sz="850" dirty="0"/>
          </a:p>
        </p:txBody>
      </p:sp>
      <p:sp>
        <p:nvSpPr>
          <p:cNvPr id="10" name="Shape 8"/>
          <p:cNvSpPr/>
          <p:nvPr/>
        </p:nvSpPr>
        <p:spPr>
          <a:xfrm>
            <a:off x="566928" y="1929384"/>
            <a:ext cx="2139696" cy="1234440"/>
          </a:xfrm>
          <a:prstGeom prst="roundRect">
            <a:avLst>
              <a:gd name="adj" fmla="val 8889"/>
            </a:avLst>
          </a:prstGeom>
          <a:solidFill>
            <a:srgbClr val="EBF2FE"/>
          </a:solidFill>
          <a:ln w="12700">
            <a:solidFill>
              <a:srgbClr val="E0E6EF"/>
            </a:solidFill>
            <a:prstDash val="solid"/>
          </a:ln>
        </p:spPr>
        <p:txBody>
          <a:bodyPr/>
          <a:lstStyle/>
          <a:p>
            <a:endParaRPr lang="en-US"/>
          </a:p>
        </p:txBody>
      </p:sp>
      <p:sp>
        <p:nvSpPr>
          <p:cNvPr id="11" name="Text 9"/>
          <p:cNvSpPr/>
          <p:nvPr/>
        </p:nvSpPr>
        <p:spPr>
          <a:xfrm>
            <a:off x="658368" y="2167128"/>
            <a:ext cx="1956816" cy="292608"/>
          </a:xfrm>
          <a:prstGeom prst="rect">
            <a:avLst/>
          </a:prstGeom>
          <a:noFill/>
          <a:ln/>
        </p:spPr>
        <p:txBody>
          <a:bodyPr wrap="square" lIns="0" tIns="0" rIns="0" bIns="0" rtlCol="0" anchor="ctr">
            <a:normAutofit/>
          </a:bodyPr>
          <a:lstStyle/>
          <a:p>
            <a:pPr marL="0" indent="0" algn="ctr">
              <a:buNone/>
            </a:pPr>
            <a:r>
              <a:rPr lang="vi-VN" altLang="en-US" sz="1510" b="1" dirty="0">
                <a:solidFill>
                  <a:srgbClr val="2A5DAD"/>
                </a:solidFill>
                <a:latin typeface="Inter" pitchFamily="34" charset="0"/>
                <a:ea typeface="Inter" pitchFamily="34" charset="-122"/>
                <a:cs typeface="Inter" pitchFamily="34" charset="-120"/>
              </a:rPr>
              <a:t>ROLE</a:t>
            </a:r>
            <a:endParaRPr lang="vi-VN" sz="1510" dirty="0"/>
          </a:p>
        </p:txBody>
      </p:sp>
      <p:sp>
        <p:nvSpPr>
          <p:cNvPr id="12" name="Text 10"/>
          <p:cNvSpPr/>
          <p:nvPr/>
        </p:nvSpPr>
        <p:spPr>
          <a:xfrm>
            <a:off x="658368" y="2596896"/>
            <a:ext cx="1956816" cy="265176"/>
          </a:xfrm>
          <a:prstGeom prst="rect">
            <a:avLst/>
          </a:prstGeom>
          <a:noFill/>
          <a:ln/>
        </p:spPr>
        <p:txBody>
          <a:bodyPr wrap="square" lIns="0" tIns="0" rIns="0" bIns="0" rtlCol="0" anchor="ctr">
            <a:normAutofit/>
          </a:bodyPr>
          <a:lstStyle/>
          <a:p>
            <a:pPr marL="0" indent="0" algn="ctr">
              <a:buNone/>
            </a:pPr>
            <a:r>
              <a:rPr lang="vi-VN" altLang="en-US" sz="1210" dirty="0">
                <a:solidFill>
                  <a:srgbClr val="667389"/>
                </a:solidFill>
                <a:latin typeface="Inter" pitchFamily="34" charset="0"/>
                <a:ea typeface="Inter" pitchFamily="34" charset="-122"/>
                <a:cs typeface="Inter" pitchFamily="34" charset="-120"/>
              </a:rPr>
              <a:t>AI là ai?</a:t>
            </a:r>
            <a:endParaRPr lang="vi-VN" sz="1210" dirty="0"/>
          </a:p>
        </p:txBody>
      </p:sp>
      <p:sp>
        <p:nvSpPr>
          <p:cNvPr id="13" name="Shape 11"/>
          <p:cNvSpPr/>
          <p:nvPr/>
        </p:nvSpPr>
        <p:spPr>
          <a:xfrm>
            <a:off x="2889504" y="1929384"/>
            <a:ext cx="2139696" cy="1234440"/>
          </a:xfrm>
          <a:prstGeom prst="roundRect">
            <a:avLst>
              <a:gd name="adj" fmla="val 8889"/>
            </a:avLst>
          </a:prstGeom>
          <a:solidFill>
            <a:srgbClr val="FFFFFF"/>
          </a:solidFill>
          <a:ln w="12700">
            <a:solidFill>
              <a:srgbClr val="E0E6EF"/>
            </a:solidFill>
            <a:prstDash val="solid"/>
          </a:ln>
        </p:spPr>
        <p:txBody>
          <a:bodyPr/>
          <a:lstStyle/>
          <a:p>
            <a:endParaRPr lang="en-US"/>
          </a:p>
        </p:txBody>
      </p:sp>
      <p:sp>
        <p:nvSpPr>
          <p:cNvPr id="14" name="Text 12"/>
          <p:cNvSpPr/>
          <p:nvPr/>
        </p:nvSpPr>
        <p:spPr>
          <a:xfrm>
            <a:off x="2980944" y="2167128"/>
            <a:ext cx="1956816" cy="292608"/>
          </a:xfrm>
          <a:prstGeom prst="rect">
            <a:avLst/>
          </a:prstGeom>
          <a:noFill/>
          <a:ln/>
        </p:spPr>
        <p:txBody>
          <a:bodyPr wrap="square" lIns="0" tIns="0" rIns="0" bIns="0" rtlCol="0" anchor="ctr">
            <a:normAutofit/>
          </a:bodyPr>
          <a:lstStyle/>
          <a:p>
            <a:pPr marL="0" indent="0" algn="ctr">
              <a:buNone/>
            </a:pPr>
            <a:r>
              <a:rPr lang="vi-VN" altLang="en-US" sz="1510" b="1" dirty="0">
                <a:solidFill>
                  <a:srgbClr val="2A5DAD"/>
                </a:solidFill>
                <a:latin typeface="Inter" pitchFamily="34" charset="0"/>
                <a:ea typeface="Inter" pitchFamily="34" charset="-122"/>
                <a:cs typeface="Inter" pitchFamily="34" charset="-120"/>
              </a:rPr>
              <a:t>CONTEXT</a:t>
            </a:r>
            <a:endParaRPr lang="vi-VN" sz="1510" dirty="0"/>
          </a:p>
        </p:txBody>
      </p:sp>
      <p:sp>
        <p:nvSpPr>
          <p:cNvPr id="15" name="Text 13"/>
          <p:cNvSpPr/>
          <p:nvPr/>
        </p:nvSpPr>
        <p:spPr>
          <a:xfrm>
            <a:off x="2980944" y="2596896"/>
            <a:ext cx="1956816" cy="265176"/>
          </a:xfrm>
          <a:prstGeom prst="rect">
            <a:avLst/>
          </a:prstGeom>
          <a:noFill/>
          <a:ln/>
        </p:spPr>
        <p:txBody>
          <a:bodyPr wrap="square" lIns="0" tIns="0" rIns="0" bIns="0" rtlCol="0" anchor="ctr">
            <a:normAutofit/>
          </a:bodyPr>
          <a:lstStyle/>
          <a:p>
            <a:pPr marL="0" indent="0" algn="ctr">
              <a:buNone/>
            </a:pPr>
            <a:r>
              <a:rPr lang="vi-VN" altLang="en-US" sz="1210" dirty="0">
                <a:solidFill>
                  <a:srgbClr val="667389"/>
                </a:solidFill>
                <a:latin typeface="Inter" pitchFamily="34" charset="0"/>
                <a:ea typeface="Inter" pitchFamily="34" charset="-122"/>
                <a:cs typeface="Inter" pitchFamily="34" charset="-120"/>
              </a:rPr>
              <a:t>Stack nào?</a:t>
            </a:r>
            <a:endParaRPr lang="vi-VN" sz="1210" dirty="0"/>
          </a:p>
        </p:txBody>
      </p:sp>
      <p:sp>
        <p:nvSpPr>
          <p:cNvPr id="16" name="Shape 14"/>
          <p:cNvSpPr/>
          <p:nvPr/>
        </p:nvSpPr>
        <p:spPr>
          <a:xfrm>
            <a:off x="5212080" y="1929384"/>
            <a:ext cx="2139696" cy="1234440"/>
          </a:xfrm>
          <a:prstGeom prst="roundRect">
            <a:avLst>
              <a:gd name="adj" fmla="val 8889"/>
            </a:avLst>
          </a:prstGeom>
          <a:solidFill>
            <a:srgbClr val="EBF2FE"/>
          </a:solidFill>
          <a:ln w="12700">
            <a:solidFill>
              <a:srgbClr val="E0E6EF"/>
            </a:solidFill>
            <a:prstDash val="solid"/>
          </a:ln>
        </p:spPr>
        <p:txBody>
          <a:bodyPr/>
          <a:lstStyle/>
          <a:p>
            <a:endParaRPr lang="en-US"/>
          </a:p>
        </p:txBody>
      </p:sp>
      <p:sp>
        <p:nvSpPr>
          <p:cNvPr id="17" name="Text 15"/>
          <p:cNvSpPr/>
          <p:nvPr/>
        </p:nvSpPr>
        <p:spPr>
          <a:xfrm>
            <a:off x="5303520" y="2167128"/>
            <a:ext cx="1956816" cy="292608"/>
          </a:xfrm>
          <a:prstGeom prst="rect">
            <a:avLst/>
          </a:prstGeom>
          <a:noFill/>
          <a:ln/>
        </p:spPr>
        <p:txBody>
          <a:bodyPr wrap="square" lIns="0" tIns="0" rIns="0" bIns="0" rtlCol="0" anchor="ctr">
            <a:normAutofit/>
          </a:bodyPr>
          <a:lstStyle/>
          <a:p>
            <a:pPr marL="0" indent="0" algn="ctr">
              <a:buNone/>
            </a:pPr>
            <a:r>
              <a:rPr lang="vi-VN" altLang="en-US" sz="1510" b="1" dirty="0">
                <a:solidFill>
                  <a:srgbClr val="2A5DAD"/>
                </a:solidFill>
                <a:latin typeface="Inter" pitchFamily="34" charset="0"/>
                <a:ea typeface="Inter" pitchFamily="34" charset="-122"/>
                <a:cs typeface="Inter" pitchFamily="34" charset="-120"/>
              </a:rPr>
              <a:t>TASK</a:t>
            </a:r>
            <a:endParaRPr lang="vi-VN" sz="1510" dirty="0"/>
          </a:p>
        </p:txBody>
      </p:sp>
      <p:sp>
        <p:nvSpPr>
          <p:cNvPr id="18" name="Text 16"/>
          <p:cNvSpPr/>
          <p:nvPr/>
        </p:nvSpPr>
        <p:spPr>
          <a:xfrm>
            <a:off x="5303520" y="2596896"/>
            <a:ext cx="1956816" cy="265176"/>
          </a:xfrm>
          <a:prstGeom prst="rect">
            <a:avLst/>
          </a:prstGeom>
          <a:noFill/>
          <a:ln/>
        </p:spPr>
        <p:txBody>
          <a:bodyPr wrap="square" lIns="0" tIns="0" rIns="0" bIns="0" rtlCol="0" anchor="ctr">
            <a:normAutofit/>
          </a:bodyPr>
          <a:lstStyle/>
          <a:p>
            <a:pPr marL="0" indent="0" algn="ctr">
              <a:buNone/>
            </a:pPr>
            <a:r>
              <a:rPr lang="vi-VN" altLang="en-US" sz="1210" dirty="0">
                <a:solidFill>
                  <a:srgbClr val="667389"/>
                </a:solidFill>
                <a:latin typeface="Inter" pitchFamily="34" charset="0"/>
                <a:ea typeface="Inter" pitchFamily="34" charset="-122"/>
                <a:cs typeface="Inter" pitchFamily="34" charset="-120"/>
              </a:rPr>
              <a:t>Cần làm gì?</a:t>
            </a:r>
            <a:endParaRPr lang="vi-VN" sz="1210" dirty="0"/>
          </a:p>
        </p:txBody>
      </p:sp>
      <p:sp>
        <p:nvSpPr>
          <p:cNvPr id="19" name="Shape 17"/>
          <p:cNvSpPr/>
          <p:nvPr/>
        </p:nvSpPr>
        <p:spPr>
          <a:xfrm>
            <a:off x="7534656" y="1929384"/>
            <a:ext cx="2139696" cy="1234440"/>
          </a:xfrm>
          <a:prstGeom prst="roundRect">
            <a:avLst>
              <a:gd name="adj" fmla="val 8889"/>
            </a:avLst>
          </a:prstGeom>
          <a:solidFill>
            <a:srgbClr val="FFFFFF"/>
          </a:solidFill>
          <a:ln w="12700">
            <a:solidFill>
              <a:srgbClr val="E0E6EF"/>
            </a:solidFill>
            <a:prstDash val="solid"/>
          </a:ln>
        </p:spPr>
        <p:txBody>
          <a:bodyPr/>
          <a:lstStyle/>
          <a:p>
            <a:endParaRPr lang="en-US"/>
          </a:p>
        </p:txBody>
      </p:sp>
      <p:sp>
        <p:nvSpPr>
          <p:cNvPr id="20" name="Text 18"/>
          <p:cNvSpPr/>
          <p:nvPr/>
        </p:nvSpPr>
        <p:spPr>
          <a:xfrm>
            <a:off x="7626096" y="2167128"/>
            <a:ext cx="1956816" cy="292608"/>
          </a:xfrm>
          <a:prstGeom prst="rect">
            <a:avLst/>
          </a:prstGeom>
          <a:noFill/>
          <a:ln/>
        </p:spPr>
        <p:txBody>
          <a:bodyPr wrap="square" lIns="0" tIns="0" rIns="0" bIns="0" rtlCol="0" anchor="ctr">
            <a:normAutofit/>
          </a:bodyPr>
          <a:lstStyle/>
          <a:p>
            <a:pPr marL="0" indent="0" algn="ctr">
              <a:buNone/>
            </a:pPr>
            <a:r>
              <a:rPr lang="vi-VN" altLang="en-US" sz="1510" b="1" dirty="0">
                <a:solidFill>
                  <a:srgbClr val="2A5DAD"/>
                </a:solidFill>
                <a:latin typeface="Inter" pitchFamily="34" charset="0"/>
                <a:ea typeface="Inter" pitchFamily="34" charset="-122"/>
                <a:cs typeface="Inter" pitchFamily="34" charset="-120"/>
              </a:rPr>
              <a:t>CONSTRAINTS</a:t>
            </a:r>
            <a:endParaRPr lang="vi-VN" sz="1510" dirty="0"/>
          </a:p>
        </p:txBody>
      </p:sp>
      <p:sp>
        <p:nvSpPr>
          <p:cNvPr id="21" name="Text 19"/>
          <p:cNvSpPr/>
          <p:nvPr/>
        </p:nvSpPr>
        <p:spPr>
          <a:xfrm>
            <a:off x="7626096" y="2596896"/>
            <a:ext cx="1956816" cy="265176"/>
          </a:xfrm>
          <a:prstGeom prst="rect">
            <a:avLst/>
          </a:prstGeom>
          <a:noFill/>
          <a:ln/>
        </p:spPr>
        <p:txBody>
          <a:bodyPr wrap="square" lIns="0" tIns="0" rIns="0" bIns="0" rtlCol="0" anchor="ctr">
            <a:normAutofit/>
          </a:bodyPr>
          <a:lstStyle/>
          <a:p>
            <a:pPr marL="0" indent="0" algn="ctr">
              <a:buNone/>
            </a:pPr>
            <a:r>
              <a:rPr lang="vi-VN" altLang="en-US" sz="1210" dirty="0">
                <a:solidFill>
                  <a:srgbClr val="667389"/>
                </a:solidFill>
                <a:latin typeface="Inter" pitchFamily="34" charset="0"/>
                <a:ea typeface="Inter" pitchFamily="34" charset="-122"/>
                <a:cs typeface="Inter" pitchFamily="34" charset="-120"/>
              </a:rPr>
              <a:t>Điều kiện gì?</a:t>
            </a:r>
            <a:endParaRPr lang="vi-VN" sz="1210" dirty="0"/>
          </a:p>
        </p:txBody>
      </p:sp>
      <p:sp>
        <p:nvSpPr>
          <p:cNvPr id="22" name="Shape 20"/>
          <p:cNvSpPr/>
          <p:nvPr/>
        </p:nvSpPr>
        <p:spPr>
          <a:xfrm>
            <a:off x="9857232" y="1929384"/>
            <a:ext cx="2139696" cy="1234440"/>
          </a:xfrm>
          <a:prstGeom prst="roundRect">
            <a:avLst>
              <a:gd name="adj" fmla="val 8889"/>
            </a:avLst>
          </a:prstGeom>
          <a:solidFill>
            <a:srgbClr val="EBF2FE"/>
          </a:solidFill>
          <a:ln w="12700">
            <a:solidFill>
              <a:srgbClr val="E0E6EF"/>
            </a:solidFill>
            <a:prstDash val="solid"/>
          </a:ln>
        </p:spPr>
        <p:txBody>
          <a:bodyPr/>
          <a:lstStyle/>
          <a:p>
            <a:endParaRPr lang="en-US"/>
          </a:p>
        </p:txBody>
      </p:sp>
      <p:sp>
        <p:nvSpPr>
          <p:cNvPr id="23" name="Text 21"/>
          <p:cNvSpPr/>
          <p:nvPr/>
        </p:nvSpPr>
        <p:spPr>
          <a:xfrm>
            <a:off x="9948672" y="2167128"/>
            <a:ext cx="1956816" cy="292608"/>
          </a:xfrm>
          <a:prstGeom prst="rect">
            <a:avLst/>
          </a:prstGeom>
          <a:noFill/>
          <a:ln/>
        </p:spPr>
        <p:txBody>
          <a:bodyPr wrap="square" lIns="0" tIns="0" rIns="0" bIns="0" rtlCol="0" anchor="ctr">
            <a:normAutofit/>
          </a:bodyPr>
          <a:lstStyle/>
          <a:p>
            <a:pPr marL="0" indent="0" algn="ctr">
              <a:buNone/>
            </a:pPr>
            <a:r>
              <a:rPr lang="vi-VN" altLang="en-US" sz="1510" b="1" dirty="0">
                <a:solidFill>
                  <a:srgbClr val="2A5DAD"/>
                </a:solidFill>
                <a:latin typeface="Inter" pitchFamily="34" charset="0"/>
                <a:ea typeface="Inter" pitchFamily="34" charset="-122"/>
                <a:cs typeface="Inter" pitchFamily="34" charset="-120"/>
              </a:rPr>
              <a:t>OUTPUT</a:t>
            </a:r>
            <a:endParaRPr lang="vi-VN" sz="1510" dirty="0"/>
          </a:p>
        </p:txBody>
      </p:sp>
      <p:sp>
        <p:nvSpPr>
          <p:cNvPr id="24" name="Text 22"/>
          <p:cNvSpPr/>
          <p:nvPr/>
        </p:nvSpPr>
        <p:spPr>
          <a:xfrm>
            <a:off x="9948672" y="2596896"/>
            <a:ext cx="1956816" cy="265176"/>
          </a:xfrm>
          <a:prstGeom prst="rect">
            <a:avLst/>
          </a:prstGeom>
          <a:noFill/>
          <a:ln/>
        </p:spPr>
        <p:txBody>
          <a:bodyPr wrap="square" lIns="0" tIns="0" rIns="0" bIns="0" rtlCol="0" anchor="ctr">
            <a:normAutofit/>
          </a:bodyPr>
          <a:lstStyle/>
          <a:p>
            <a:pPr marL="0" indent="0" algn="ctr">
              <a:buNone/>
            </a:pPr>
            <a:r>
              <a:rPr lang="vi-VN" altLang="en-US" sz="1210" dirty="0">
                <a:solidFill>
                  <a:srgbClr val="667389"/>
                </a:solidFill>
                <a:latin typeface="Inter" pitchFamily="34" charset="0"/>
                <a:ea typeface="Inter" pitchFamily="34" charset="-122"/>
                <a:cs typeface="Inter" pitchFamily="34" charset="-120"/>
              </a:rPr>
              <a:t>Xuất kết quả ra sao?</a:t>
            </a:r>
            <a:endParaRPr lang="vi-VN" sz="1210" dirty="0"/>
          </a:p>
        </p:txBody>
      </p:sp>
      <p:sp>
        <p:nvSpPr>
          <p:cNvPr id="25" name="Shape 23"/>
          <p:cNvSpPr/>
          <p:nvPr/>
        </p:nvSpPr>
        <p:spPr>
          <a:xfrm>
            <a:off x="667512" y="3611880"/>
            <a:ext cx="5321808" cy="1490472"/>
          </a:xfrm>
          <a:prstGeom prst="roundRect">
            <a:avLst>
              <a:gd name="adj" fmla="val 7362"/>
            </a:avLst>
          </a:prstGeom>
          <a:solidFill>
            <a:srgbClr val="FDECEE"/>
          </a:solidFill>
          <a:ln w="12700">
            <a:solidFill>
              <a:srgbClr val="FDECEE">
                <a:alpha val="0"/>
              </a:srgbClr>
            </a:solidFill>
            <a:prstDash val="solid"/>
          </a:ln>
        </p:spPr>
        <p:txBody>
          <a:bodyPr/>
          <a:lstStyle/>
          <a:p>
            <a:endParaRPr lang="en-US"/>
          </a:p>
        </p:txBody>
      </p:sp>
      <p:pic>
        <p:nvPicPr>
          <p:cNvPr id="26" name="Image 0" descr="/mnt/data/auth_slide_work/icon_cache/3aa919cf6b1341f9daf11f2e6d2af60d.png"/>
          <p:cNvPicPr>
            <a:picLocks noChangeAspect="1"/>
          </p:cNvPicPr>
          <p:nvPr/>
        </p:nvPicPr>
        <p:blipFill>
          <a:blip r:embed="rId3"/>
          <a:stretch>
            <a:fillRect/>
          </a:stretch>
        </p:blipFill>
        <p:spPr>
          <a:xfrm>
            <a:off x="923544" y="3867912"/>
            <a:ext cx="265176" cy="265176"/>
          </a:xfrm>
          <a:prstGeom prst="rect">
            <a:avLst/>
          </a:prstGeom>
        </p:spPr>
      </p:pic>
      <p:sp>
        <p:nvSpPr>
          <p:cNvPr id="27" name="Text 24"/>
          <p:cNvSpPr/>
          <p:nvPr/>
        </p:nvSpPr>
        <p:spPr>
          <a:xfrm>
            <a:off x="1307592" y="3813048"/>
            <a:ext cx="3977640" cy="283464"/>
          </a:xfrm>
          <a:prstGeom prst="rect">
            <a:avLst/>
          </a:prstGeom>
          <a:noFill/>
          <a:ln/>
        </p:spPr>
        <p:txBody>
          <a:bodyPr wrap="square" lIns="0" tIns="0" rIns="0" bIns="0" rtlCol="0" anchor="ctr">
            <a:normAutofit/>
          </a:bodyPr>
          <a:lstStyle/>
          <a:p>
            <a:pPr marL="0" indent="0">
              <a:buNone/>
            </a:pPr>
            <a:r>
              <a:rPr lang="vi-VN" altLang="en-US" sz="1610" b="1" dirty="0">
                <a:solidFill>
                  <a:srgbClr val="BB4A55"/>
                </a:solidFill>
                <a:latin typeface="Inter" pitchFamily="34" charset="0"/>
                <a:ea typeface="Inter" pitchFamily="34" charset="-122"/>
                <a:cs typeface="Inter" pitchFamily="34" charset="-120"/>
              </a:rPr>
              <a:t>PROMPT CHƯA TỐT</a:t>
            </a:r>
            <a:endParaRPr lang="vi-VN" sz="1610" dirty="0"/>
          </a:p>
        </p:txBody>
      </p:sp>
      <p:sp>
        <p:nvSpPr>
          <p:cNvPr id="28" name="Text 25"/>
          <p:cNvSpPr/>
          <p:nvPr/>
        </p:nvSpPr>
        <p:spPr>
          <a:xfrm>
            <a:off x="987552" y="4325112"/>
            <a:ext cx="4617720" cy="347472"/>
          </a:xfrm>
          <a:prstGeom prst="rect">
            <a:avLst/>
          </a:prstGeom>
          <a:noFill/>
          <a:ln/>
        </p:spPr>
        <p:txBody>
          <a:bodyPr wrap="square" lIns="0" tIns="0" rIns="0" bIns="0" rtlCol="0" anchor="ctr">
            <a:normAutofit/>
          </a:bodyPr>
          <a:lstStyle/>
          <a:p>
            <a:pPr marL="0" indent="0">
              <a:buNone/>
            </a:pPr>
            <a:r>
              <a:rPr lang="vi-VN" altLang="en-US" sz="1390" dirty="0">
                <a:solidFill>
                  <a:srgbClr val="263345"/>
                </a:solidFill>
                <a:latin typeface="Inter" pitchFamily="34" charset="0"/>
                <a:ea typeface="Inter" pitchFamily="34" charset="-122"/>
                <a:cs typeface="Inter" pitchFamily="34" charset="-120"/>
              </a:rPr>
              <a:t>“Viết cho tôi chức năng đăng nhập.”</a:t>
            </a:r>
            <a:endParaRPr lang="vi-VN" sz="1390" dirty="0"/>
          </a:p>
        </p:txBody>
      </p:sp>
      <p:sp>
        <p:nvSpPr>
          <p:cNvPr id="29" name="Shape 26"/>
          <p:cNvSpPr/>
          <p:nvPr/>
        </p:nvSpPr>
        <p:spPr>
          <a:xfrm>
            <a:off x="6181344" y="3611880"/>
            <a:ext cx="5321808" cy="1490472"/>
          </a:xfrm>
          <a:prstGeom prst="roundRect">
            <a:avLst>
              <a:gd name="adj" fmla="val 7362"/>
            </a:avLst>
          </a:prstGeom>
          <a:solidFill>
            <a:srgbClr val="E6F6EF"/>
          </a:solidFill>
          <a:ln w="12700">
            <a:solidFill>
              <a:srgbClr val="E6F6EF">
                <a:alpha val="0"/>
              </a:srgbClr>
            </a:solidFill>
            <a:prstDash val="solid"/>
          </a:ln>
        </p:spPr>
        <p:txBody>
          <a:bodyPr/>
          <a:lstStyle/>
          <a:p>
            <a:endParaRPr lang="en-US"/>
          </a:p>
        </p:txBody>
      </p:sp>
      <p:pic>
        <p:nvPicPr>
          <p:cNvPr id="30" name="Image 1" descr="/mnt/data/auth_slide_work/icon_cache/ccd3bd5a6b27b39c6ad4319e9a58e23f.png"/>
          <p:cNvPicPr>
            <a:picLocks noChangeAspect="1"/>
          </p:cNvPicPr>
          <p:nvPr/>
        </p:nvPicPr>
        <p:blipFill>
          <a:blip r:embed="rId4"/>
          <a:stretch>
            <a:fillRect/>
          </a:stretch>
        </p:blipFill>
        <p:spPr>
          <a:xfrm>
            <a:off x="6428232" y="3867912"/>
            <a:ext cx="265176" cy="265176"/>
          </a:xfrm>
          <a:prstGeom prst="rect">
            <a:avLst/>
          </a:prstGeom>
        </p:spPr>
      </p:pic>
      <p:sp>
        <p:nvSpPr>
          <p:cNvPr id="31" name="Text 27"/>
          <p:cNvSpPr/>
          <p:nvPr/>
        </p:nvSpPr>
        <p:spPr>
          <a:xfrm>
            <a:off x="6830568" y="3813048"/>
            <a:ext cx="3986784" cy="283464"/>
          </a:xfrm>
          <a:prstGeom prst="rect">
            <a:avLst/>
          </a:prstGeom>
          <a:noFill/>
          <a:ln/>
        </p:spPr>
        <p:txBody>
          <a:bodyPr wrap="square" lIns="0" tIns="0" rIns="0" bIns="0" rtlCol="0" anchor="ctr">
            <a:normAutofit/>
          </a:bodyPr>
          <a:lstStyle/>
          <a:p>
            <a:pPr marL="0" indent="0">
              <a:buNone/>
            </a:pPr>
            <a:r>
              <a:rPr lang="vi-VN" altLang="en-US" sz="1610" b="1" dirty="0">
                <a:solidFill>
                  <a:srgbClr val="19805B"/>
                </a:solidFill>
                <a:latin typeface="Inter" pitchFamily="34" charset="0"/>
                <a:ea typeface="Inter" pitchFamily="34" charset="-122"/>
                <a:cs typeface="Inter" pitchFamily="34" charset="-120"/>
              </a:rPr>
              <a:t>PROMPT TỐT HƠN</a:t>
            </a:r>
            <a:endParaRPr lang="vi-VN" sz="1610" dirty="0"/>
          </a:p>
        </p:txBody>
      </p:sp>
      <p:sp>
        <p:nvSpPr>
          <p:cNvPr id="32" name="Text 28"/>
          <p:cNvSpPr/>
          <p:nvPr/>
        </p:nvSpPr>
        <p:spPr>
          <a:xfrm>
            <a:off x="6446520" y="4270248"/>
            <a:ext cx="4727448" cy="585216"/>
          </a:xfrm>
          <a:prstGeom prst="rect">
            <a:avLst/>
          </a:prstGeom>
          <a:noFill/>
          <a:ln/>
        </p:spPr>
        <p:txBody>
          <a:bodyPr wrap="square" lIns="0" tIns="0" rIns="0" bIns="0" rtlCol="0" anchor="t">
            <a:normAutofit/>
          </a:bodyPr>
          <a:lstStyle/>
          <a:p>
            <a:pPr marL="0" indent="0">
              <a:buNone/>
            </a:pPr>
            <a:r>
              <a:rPr lang="vi-VN" altLang="en-US" sz="1280" dirty="0">
                <a:solidFill>
                  <a:srgbClr val="263345"/>
                </a:solidFill>
                <a:latin typeface="Inter" pitchFamily="34" charset="0"/>
                <a:ea typeface="Inter" pitchFamily="34" charset="-122"/>
                <a:cs typeface="Inter" pitchFamily="34" charset="-120"/>
              </a:rPr>
              <a:t>Node.js + Express + TypeScript + SQL Server; bcrypt; JWT; Controller–Service–Route.</a:t>
            </a:r>
            <a:endParaRPr lang="vi-VN" sz="1280" dirty="0"/>
          </a:p>
        </p:txBody>
      </p:sp>
      <p:sp>
        <p:nvSpPr>
          <p:cNvPr id="33" name="Shape 29"/>
          <p:cNvSpPr/>
          <p:nvPr/>
        </p:nvSpPr>
        <p:spPr>
          <a:xfrm>
            <a:off x="475488" y="5907024"/>
            <a:ext cx="11247120" cy="448056"/>
          </a:xfrm>
          <a:prstGeom prst="roundRect">
            <a:avLst>
              <a:gd name="adj" fmla="val 24490"/>
            </a:avLst>
          </a:prstGeom>
          <a:solidFill>
            <a:srgbClr val="FFF5D5"/>
          </a:solidFill>
          <a:ln w="12700">
            <a:solidFill>
              <a:srgbClr val="FFF5D5">
                <a:alpha val="0"/>
              </a:srgbClr>
            </a:solidFill>
            <a:prstDash val="solid"/>
          </a:ln>
        </p:spPr>
        <p:txBody>
          <a:bodyPr/>
          <a:lstStyle/>
          <a:p>
            <a:endParaRPr lang="en-US"/>
          </a:p>
        </p:txBody>
      </p:sp>
      <p:pic>
        <p:nvPicPr>
          <p:cNvPr id="34" name="Image 2" descr="/mnt/data/auth_slide_work/icon_cache/19a4e8a463faa6409c49e67e1231d428.png"/>
          <p:cNvPicPr>
            <a:picLocks noChangeAspect="1"/>
          </p:cNvPicPr>
          <p:nvPr/>
        </p:nvPicPr>
        <p:blipFill>
          <a:blip r:embed="rId5"/>
          <a:stretch>
            <a:fillRect/>
          </a:stretch>
        </p:blipFill>
        <p:spPr>
          <a:xfrm>
            <a:off x="658368" y="6035040"/>
            <a:ext cx="173736" cy="173736"/>
          </a:xfrm>
          <a:prstGeom prst="rect">
            <a:avLst/>
          </a:prstGeom>
        </p:spPr>
      </p:pic>
      <p:sp>
        <p:nvSpPr>
          <p:cNvPr id="35" name="Text 30"/>
          <p:cNvSpPr/>
          <p:nvPr/>
        </p:nvSpPr>
        <p:spPr>
          <a:xfrm>
            <a:off x="932688" y="5993892"/>
            <a:ext cx="10515600" cy="283464"/>
          </a:xfrm>
          <a:prstGeom prst="rect">
            <a:avLst/>
          </a:prstGeom>
          <a:noFill/>
          <a:ln/>
        </p:spPr>
        <p:txBody>
          <a:bodyPr wrap="square" lIns="0" tIns="0" rIns="0" bIns="0" rtlCol="0" anchor="ctr">
            <a:normAutofit/>
          </a:bodyPr>
          <a:lstStyle/>
          <a:p>
            <a:pPr marL="0" indent="0">
              <a:buNone/>
            </a:pPr>
            <a:r>
              <a:rPr lang="vi-VN" altLang="en-US" sz="1220" dirty="0">
                <a:solidFill>
                  <a:srgbClr val="263345"/>
                </a:solidFill>
                <a:latin typeface="Inter" pitchFamily="34" charset="0"/>
                <a:ea typeface="Inter" pitchFamily="34" charset="-122"/>
                <a:cs typeface="Inter" pitchFamily="34" charset="-120"/>
              </a:rPr>
              <a:t>AI viết code nhanh, nhưng sinh viên phải hiểu, chạy thử và tự đánh giá mã nguồn.</a:t>
            </a:r>
            <a:endParaRPr lang="vi-VN" sz="12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VIBE CODING</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Ba Prompt mẫu để thực hành và Code Review</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Tách yêu cầu thành bước nhỏ để AI sinh mã nguồn nhất quán với dự án.</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23 / 24</a:t>
            </a:r>
            <a:endParaRPr lang="vi-VN" sz="850" dirty="0"/>
          </a:p>
        </p:txBody>
      </p:sp>
      <p:sp>
        <p:nvSpPr>
          <p:cNvPr id="10" name="Shape 8"/>
          <p:cNvSpPr/>
          <p:nvPr/>
        </p:nvSpPr>
        <p:spPr>
          <a:xfrm>
            <a:off x="576072" y="1801368"/>
            <a:ext cx="3639312" cy="3401568"/>
          </a:xfrm>
          <a:prstGeom prst="roundRect">
            <a:avLst>
              <a:gd name="adj" fmla="val 3226"/>
            </a:avLst>
          </a:prstGeom>
          <a:solidFill>
            <a:srgbClr val="FFFFFF"/>
          </a:solidFill>
          <a:ln w="12700">
            <a:solidFill>
              <a:srgbClr val="E0E6EF"/>
            </a:solidFill>
            <a:prstDash val="solid"/>
          </a:ln>
        </p:spPr>
        <p:txBody>
          <a:bodyPr/>
          <a:lstStyle/>
          <a:p>
            <a:endParaRPr lang="en-US"/>
          </a:p>
        </p:txBody>
      </p:sp>
      <p:sp>
        <p:nvSpPr>
          <p:cNvPr id="11" name="Shape 9"/>
          <p:cNvSpPr/>
          <p:nvPr/>
        </p:nvSpPr>
        <p:spPr>
          <a:xfrm>
            <a:off x="731520" y="1965960"/>
            <a:ext cx="3319272" cy="566928"/>
          </a:xfrm>
          <a:prstGeom prst="roundRect">
            <a:avLst>
              <a:gd name="adj" fmla="val 19355"/>
            </a:avLst>
          </a:prstGeom>
          <a:solidFill>
            <a:srgbClr val="EBF2FE"/>
          </a:solidFill>
          <a:ln w="12700">
            <a:solidFill>
              <a:srgbClr val="EBF2FE">
                <a:alpha val="0"/>
              </a:srgbClr>
            </a:solidFill>
            <a:prstDash val="solid"/>
          </a:ln>
        </p:spPr>
        <p:txBody>
          <a:bodyPr/>
          <a:lstStyle/>
          <a:p>
            <a:endParaRPr lang="en-US"/>
          </a:p>
        </p:txBody>
      </p:sp>
      <p:sp>
        <p:nvSpPr>
          <p:cNvPr id="12" name="Text 10"/>
          <p:cNvSpPr/>
          <p:nvPr/>
        </p:nvSpPr>
        <p:spPr>
          <a:xfrm>
            <a:off x="822960" y="2148840"/>
            <a:ext cx="3127248" cy="237744"/>
          </a:xfrm>
          <a:prstGeom prst="rect">
            <a:avLst/>
          </a:prstGeom>
          <a:noFill/>
          <a:ln/>
        </p:spPr>
        <p:txBody>
          <a:bodyPr wrap="square" lIns="0" tIns="0" rIns="0" bIns="0" rtlCol="0" anchor="ctr">
            <a:normAutofit/>
          </a:bodyPr>
          <a:lstStyle/>
          <a:p>
            <a:pPr marL="0" indent="0" algn="ctr">
              <a:buNone/>
            </a:pPr>
            <a:r>
              <a:rPr lang="vi-VN" altLang="en-US" sz="1300" b="1" dirty="0">
                <a:solidFill>
                  <a:srgbClr val="2A5DAD"/>
                </a:solidFill>
                <a:latin typeface="Inter" pitchFamily="34" charset="0"/>
                <a:ea typeface="Inter" pitchFamily="34" charset="-122"/>
                <a:cs typeface="Inter" pitchFamily="34" charset="-120"/>
              </a:rPr>
              <a:t>PROMPT 1 · REGISTER / LOGIN</a:t>
            </a:r>
            <a:endParaRPr lang="vi-VN" sz="1300" dirty="0"/>
          </a:p>
        </p:txBody>
      </p:sp>
      <p:sp>
        <p:nvSpPr>
          <p:cNvPr id="13" name="Text 11"/>
          <p:cNvSpPr/>
          <p:nvPr/>
        </p:nvSpPr>
        <p:spPr>
          <a:xfrm>
            <a:off x="813816" y="2770632"/>
            <a:ext cx="3172968" cy="2084832"/>
          </a:xfrm>
          <a:prstGeom prst="rect">
            <a:avLst/>
          </a:prstGeom>
          <a:noFill/>
          <a:ln/>
        </p:spPr>
        <p:txBody>
          <a:bodyPr wrap="square" lIns="0" tIns="0" rIns="0" bIns="0" rtlCol="0" anchor="t">
            <a:normAutofit/>
          </a:bodyPr>
          <a:lstStyle/>
          <a:p>
            <a:pPr marL="0" indent="0">
              <a:buNone/>
            </a:pPr>
            <a:r>
              <a:rPr lang="vi-VN" altLang="en-US" sz="1225" dirty="0">
                <a:solidFill>
                  <a:srgbClr val="263345"/>
                </a:solidFill>
                <a:latin typeface="Inter" pitchFamily="34" charset="0"/>
                <a:ea typeface="Inter" pitchFamily="34" charset="-122"/>
                <a:cs typeface="Inter" pitchFamily="34" charset="-120"/>
              </a:rPr>
              <a:t>“Bạn là Backend Developer. Dự án Express + TypeScript + SQL Server + Sequelize. Tạo Register/Login theo Controller–Service–Route; bcrypt hash/compare; JWT 1 giờ; kiểm tra email trùng; không lộ passwordHash; mặc định role User; giải thích vị trí từng file.”</a:t>
            </a:r>
            <a:endParaRPr lang="vi-VN" sz="1225" dirty="0"/>
          </a:p>
        </p:txBody>
      </p:sp>
      <p:sp>
        <p:nvSpPr>
          <p:cNvPr id="14" name="Shape 12"/>
          <p:cNvSpPr/>
          <p:nvPr/>
        </p:nvSpPr>
        <p:spPr>
          <a:xfrm>
            <a:off x="4462272" y="1801368"/>
            <a:ext cx="3639312" cy="3401568"/>
          </a:xfrm>
          <a:prstGeom prst="roundRect">
            <a:avLst>
              <a:gd name="adj" fmla="val 3226"/>
            </a:avLst>
          </a:prstGeom>
          <a:solidFill>
            <a:srgbClr val="FFFFFF"/>
          </a:solidFill>
          <a:ln w="12700">
            <a:solidFill>
              <a:srgbClr val="E0E6EF"/>
            </a:solidFill>
            <a:prstDash val="solid"/>
          </a:ln>
        </p:spPr>
        <p:txBody>
          <a:bodyPr/>
          <a:lstStyle/>
          <a:p>
            <a:endParaRPr lang="en-US"/>
          </a:p>
        </p:txBody>
      </p:sp>
      <p:sp>
        <p:nvSpPr>
          <p:cNvPr id="15" name="Shape 13"/>
          <p:cNvSpPr/>
          <p:nvPr/>
        </p:nvSpPr>
        <p:spPr>
          <a:xfrm>
            <a:off x="4617720" y="1965960"/>
            <a:ext cx="3319272" cy="566928"/>
          </a:xfrm>
          <a:prstGeom prst="roundRect">
            <a:avLst>
              <a:gd name="adj" fmla="val 19355"/>
            </a:avLst>
          </a:prstGeom>
          <a:solidFill>
            <a:srgbClr val="E6F6EF"/>
          </a:solidFill>
          <a:ln w="12700">
            <a:solidFill>
              <a:srgbClr val="E6F6EF">
                <a:alpha val="0"/>
              </a:srgbClr>
            </a:solidFill>
            <a:prstDash val="solid"/>
          </a:ln>
        </p:spPr>
        <p:txBody>
          <a:bodyPr/>
          <a:lstStyle/>
          <a:p>
            <a:endParaRPr lang="en-US"/>
          </a:p>
        </p:txBody>
      </p:sp>
      <p:sp>
        <p:nvSpPr>
          <p:cNvPr id="16" name="Text 14"/>
          <p:cNvSpPr/>
          <p:nvPr/>
        </p:nvSpPr>
        <p:spPr>
          <a:xfrm>
            <a:off x="4709160" y="2148840"/>
            <a:ext cx="3127248" cy="237744"/>
          </a:xfrm>
          <a:prstGeom prst="rect">
            <a:avLst/>
          </a:prstGeom>
          <a:noFill/>
          <a:ln/>
        </p:spPr>
        <p:txBody>
          <a:bodyPr wrap="square" lIns="0" tIns="0" rIns="0" bIns="0" rtlCol="0" anchor="ctr">
            <a:normAutofit/>
          </a:bodyPr>
          <a:lstStyle/>
          <a:p>
            <a:pPr marL="0" indent="0" algn="ctr">
              <a:buNone/>
            </a:pPr>
            <a:r>
              <a:rPr lang="vi-VN" altLang="en-US" sz="1300" b="1" dirty="0">
                <a:solidFill>
                  <a:srgbClr val="19805B"/>
                </a:solidFill>
                <a:latin typeface="Inter" pitchFamily="34" charset="0"/>
                <a:ea typeface="Inter" pitchFamily="34" charset="-122"/>
                <a:cs typeface="Inter" pitchFamily="34" charset="-120"/>
              </a:rPr>
              <a:t>PROMPT 2 · MIDDLEWARE</a:t>
            </a:r>
            <a:endParaRPr lang="vi-VN" sz="1300" dirty="0"/>
          </a:p>
        </p:txBody>
      </p:sp>
      <p:sp>
        <p:nvSpPr>
          <p:cNvPr id="17" name="Text 15"/>
          <p:cNvSpPr/>
          <p:nvPr/>
        </p:nvSpPr>
        <p:spPr>
          <a:xfrm>
            <a:off x="4700016" y="2770632"/>
            <a:ext cx="3172968" cy="2084832"/>
          </a:xfrm>
          <a:prstGeom prst="rect">
            <a:avLst/>
          </a:prstGeom>
          <a:noFill/>
          <a:ln/>
        </p:spPr>
        <p:txBody>
          <a:bodyPr wrap="square" lIns="0" tIns="0" rIns="0" bIns="0" rtlCol="0" anchor="t">
            <a:normAutofit/>
          </a:bodyPr>
          <a:lstStyle/>
          <a:p>
            <a:pPr marL="0" indent="0">
              <a:buNone/>
            </a:pPr>
            <a:r>
              <a:rPr lang="vi-VN" altLang="en-US" sz="1225" dirty="0">
                <a:solidFill>
                  <a:srgbClr val="263345"/>
                </a:solidFill>
                <a:latin typeface="Inter" pitchFamily="34" charset="0"/>
                <a:ea typeface="Inter" pitchFamily="34" charset="-122"/>
                <a:cs typeface="Inter" pitchFamily="34" charset="-120"/>
              </a:rPr>
              <a:t>“Tiếp tục dự án hiện tại. Tạo isAuth lấy Bearer Token từ Authorization, verify JWT, lưu req.user, trả 401 nếu không hợp lệ. Tạo isAdmin kiểm tra Role, trả 403 nếu không đủ quyền. Minh họa /profile và DELETE /users/:id.”</a:t>
            </a:r>
            <a:endParaRPr lang="vi-VN" sz="1225" dirty="0"/>
          </a:p>
        </p:txBody>
      </p:sp>
      <p:sp>
        <p:nvSpPr>
          <p:cNvPr id="18" name="Shape 16"/>
          <p:cNvSpPr/>
          <p:nvPr/>
        </p:nvSpPr>
        <p:spPr>
          <a:xfrm>
            <a:off x="8348472" y="1801368"/>
            <a:ext cx="3639312" cy="3401568"/>
          </a:xfrm>
          <a:prstGeom prst="roundRect">
            <a:avLst>
              <a:gd name="adj" fmla="val 3226"/>
            </a:avLst>
          </a:prstGeom>
          <a:solidFill>
            <a:srgbClr val="FFFFFF"/>
          </a:solidFill>
          <a:ln w="12700">
            <a:solidFill>
              <a:srgbClr val="E0E6EF"/>
            </a:solidFill>
            <a:prstDash val="solid"/>
          </a:ln>
        </p:spPr>
        <p:txBody>
          <a:bodyPr/>
          <a:lstStyle/>
          <a:p>
            <a:endParaRPr lang="en-US"/>
          </a:p>
        </p:txBody>
      </p:sp>
      <p:sp>
        <p:nvSpPr>
          <p:cNvPr id="19" name="Shape 17"/>
          <p:cNvSpPr/>
          <p:nvPr/>
        </p:nvSpPr>
        <p:spPr>
          <a:xfrm>
            <a:off x="8503920" y="1965960"/>
            <a:ext cx="3319272" cy="566928"/>
          </a:xfrm>
          <a:prstGeom prst="roundRect">
            <a:avLst>
              <a:gd name="adj" fmla="val 19355"/>
            </a:avLst>
          </a:prstGeom>
          <a:solidFill>
            <a:srgbClr val="FFF5D5"/>
          </a:solidFill>
          <a:ln w="12700">
            <a:solidFill>
              <a:srgbClr val="FFF5D5">
                <a:alpha val="0"/>
              </a:srgbClr>
            </a:solidFill>
            <a:prstDash val="solid"/>
          </a:ln>
        </p:spPr>
        <p:txBody>
          <a:bodyPr/>
          <a:lstStyle/>
          <a:p>
            <a:endParaRPr lang="en-US"/>
          </a:p>
        </p:txBody>
      </p:sp>
      <p:sp>
        <p:nvSpPr>
          <p:cNvPr id="20" name="Text 18"/>
          <p:cNvSpPr/>
          <p:nvPr/>
        </p:nvSpPr>
        <p:spPr>
          <a:xfrm>
            <a:off x="8595360" y="2148840"/>
            <a:ext cx="3127248" cy="237744"/>
          </a:xfrm>
          <a:prstGeom prst="rect">
            <a:avLst/>
          </a:prstGeom>
          <a:noFill/>
          <a:ln/>
        </p:spPr>
        <p:txBody>
          <a:bodyPr wrap="square" lIns="0" tIns="0" rIns="0" bIns="0" rtlCol="0" anchor="ctr">
            <a:normAutofit/>
          </a:bodyPr>
          <a:lstStyle/>
          <a:p>
            <a:pPr marL="0" indent="0" algn="ctr">
              <a:buNone/>
            </a:pPr>
            <a:r>
              <a:rPr lang="vi-VN" altLang="en-US" sz="1300" b="1" dirty="0">
                <a:solidFill>
                  <a:srgbClr val="B38A20"/>
                </a:solidFill>
                <a:latin typeface="Inter" pitchFamily="34" charset="0"/>
                <a:ea typeface="Inter" pitchFamily="34" charset="-122"/>
                <a:cs typeface="Inter" pitchFamily="34" charset="-120"/>
              </a:rPr>
              <a:t>PROMPT 3 · SECURITY REVIEW</a:t>
            </a:r>
            <a:endParaRPr lang="vi-VN" sz="1300" dirty="0"/>
          </a:p>
        </p:txBody>
      </p:sp>
      <p:sp>
        <p:nvSpPr>
          <p:cNvPr id="21" name="Text 19"/>
          <p:cNvSpPr/>
          <p:nvPr/>
        </p:nvSpPr>
        <p:spPr>
          <a:xfrm>
            <a:off x="8586216" y="2770632"/>
            <a:ext cx="3172968" cy="2084832"/>
          </a:xfrm>
          <a:prstGeom prst="rect">
            <a:avLst/>
          </a:prstGeom>
          <a:noFill/>
          <a:ln/>
        </p:spPr>
        <p:txBody>
          <a:bodyPr wrap="square" lIns="0" tIns="0" rIns="0" bIns="0" rtlCol="0" anchor="t">
            <a:normAutofit/>
          </a:bodyPr>
          <a:lstStyle/>
          <a:p>
            <a:pPr marL="0" indent="0">
              <a:buNone/>
            </a:pPr>
            <a:r>
              <a:rPr lang="vi-VN" altLang="en-US" sz="1225" dirty="0">
                <a:solidFill>
                  <a:srgbClr val="263345"/>
                </a:solidFill>
                <a:latin typeface="Inter" pitchFamily="34" charset="0"/>
                <a:ea typeface="Inter" pitchFamily="34" charset="-122"/>
                <a:cs typeface="Inter" pitchFamily="34" charset="-120"/>
              </a:rPr>
              <a:t>“Đóng vai Senior Security Reviewer. Kiểm tra code Authentication/Authorization, chỉ ra lỗi plaintext password, JWT_SECRET hard-code, JWT không hết hạn, thiếu kiểm tra chữ ký, tin role từ Client và Route không bảo vệ. Giải thích rủi ro và đề xuất sửa.”</a:t>
            </a:r>
            <a:endParaRPr lang="vi-VN" sz="1225" dirty="0"/>
          </a:p>
        </p:txBody>
      </p:sp>
      <p:sp>
        <p:nvSpPr>
          <p:cNvPr id="22" name="Shape 20"/>
          <p:cNvSpPr/>
          <p:nvPr/>
        </p:nvSpPr>
        <p:spPr>
          <a:xfrm>
            <a:off x="758952" y="5367528"/>
            <a:ext cx="6574536" cy="905256"/>
          </a:xfrm>
          <a:prstGeom prst="roundRect">
            <a:avLst>
              <a:gd name="adj" fmla="val 12121"/>
            </a:avLst>
          </a:prstGeom>
          <a:solidFill>
            <a:srgbClr val="16273C"/>
          </a:solidFill>
          <a:ln w="12700">
            <a:solidFill>
              <a:srgbClr val="16273C">
                <a:alpha val="0"/>
              </a:srgbClr>
            </a:solidFill>
            <a:prstDash val="solid"/>
          </a:ln>
        </p:spPr>
        <p:txBody>
          <a:bodyPr/>
          <a:lstStyle/>
          <a:p>
            <a:endParaRPr lang="en-US"/>
          </a:p>
        </p:txBody>
      </p:sp>
      <p:sp>
        <p:nvSpPr>
          <p:cNvPr id="23" name="Text 21"/>
          <p:cNvSpPr/>
          <p:nvPr/>
        </p:nvSpPr>
        <p:spPr>
          <a:xfrm>
            <a:off x="4937760" y="5477256"/>
            <a:ext cx="2139696" cy="210312"/>
          </a:xfrm>
          <a:prstGeom prst="rect">
            <a:avLst/>
          </a:prstGeom>
          <a:noFill/>
          <a:ln/>
        </p:spPr>
        <p:txBody>
          <a:bodyPr wrap="square" lIns="0" tIns="0" rIns="0" bIns="0" rtlCol="0" anchor="ctr">
            <a:normAutofit/>
          </a:bodyPr>
          <a:lstStyle/>
          <a:p>
            <a:pPr marL="0" indent="0" algn="r">
              <a:buNone/>
            </a:pPr>
            <a:r>
              <a:rPr lang="vi-VN" altLang="en-US" sz="980" b="1" dirty="0">
                <a:solidFill>
                  <a:srgbClr val="91AECF"/>
                </a:solidFill>
                <a:latin typeface="Inter" pitchFamily="34" charset="0"/>
                <a:ea typeface="Inter" pitchFamily="34" charset="-122"/>
                <a:cs typeface="Inter" pitchFamily="34" charset="-120"/>
              </a:rPr>
              <a:t>ĐOẠN CODE CẦN REVIEW</a:t>
            </a:r>
            <a:endParaRPr lang="vi-VN" sz="980" dirty="0"/>
          </a:p>
        </p:txBody>
      </p:sp>
      <p:sp>
        <p:nvSpPr>
          <p:cNvPr id="24" name="Text 22"/>
          <p:cNvSpPr/>
          <p:nvPr/>
        </p:nvSpPr>
        <p:spPr>
          <a:xfrm>
            <a:off x="969264" y="5605272"/>
            <a:ext cx="5989320" cy="192024"/>
          </a:xfrm>
          <a:prstGeom prst="rect">
            <a:avLst/>
          </a:prstGeom>
          <a:noFill/>
          <a:ln/>
        </p:spPr>
        <p:txBody>
          <a:bodyPr wrap="square" lIns="0" tIns="0" rIns="0" bIns="0" rtlCol="0" anchor="ctr">
            <a:normAutofit/>
          </a:bodyPr>
          <a:lstStyle/>
          <a:p>
            <a:pPr marL="0" indent="0">
              <a:buNone/>
            </a:pPr>
            <a:r>
              <a:rPr lang="vi-VN" altLang="en-US" sz="1130" dirty="0">
                <a:solidFill>
                  <a:srgbClr val="E9F0FC"/>
                </a:solidFill>
                <a:latin typeface="DejaVu Sans Mono" pitchFamily="34" charset="0"/>
                <a:ea typeface="DejaVu Sans Mono" pitchFamily="34" charset="-122"/>
                <a:cs typeface="DejaVu Sans Mono" pitchFamily="34" charset="-120"/>
              </a:rPr>
              <a:t>if (user.password === password) {</a:t>
            </a:r>
            <a:endParaRPr lang="vi-VN" sz="1130" dirty="0"/>
          </a:p>
        </p:txBody>
      </p:sp>
      <p:sp>
        <p:nvSpPr>
          <p:cNvPr id="25" name="Text 23"/>
          <p:cNvSpPr/>
          <p:nvPr/>
        </p:nvSpPr>
        <p:spPr>
          <a:xfrm>
            <a:off x="969264" y="5797296"/>
            <a:ext cx="5989320" cy="192024"/>
          </a:xfrm>
          <a:prstGeom prst="rect">
            <a:avLst/>
          </a:prstGeom>
          <a:noFill/>
          <a:ln/>
        </p:spPr>
        <p:txBody>
          <a:bodyPr wrap="square" lIns="0" tIns="0" rIns="0" bIns="0" rtlCol="0" anchor="ctr">
            <a:normAutofit/>
          </a:bodyPr>
          <a:lstStyle/>
          <a:p>
            <a:pPr marL="0" indent="0">
              <a:buNone/>
            </a:pPr>
            <a:r>
              <a:rPr lang="vi-VN" altLang="en-US" sz="1130" dirty="0">
                <a:solidFill>
                  <a:srgbClr val="E9F0FC"/>
                </a:solidFill>
                <a:latin typeface="DejaVu Sans Mono" pitchFamily="34" charset="0"/>
                <a:ea typeface="DejaVu Sans Mono" pitchFamily="34" charset="-122"/>
                <a:cs typeface="DejaVu Sans Mono" pitchFamily="34" charset="-120"/>
              </a:rPr>
              <a:t>  jwt.sign({ id: user.id }, "123456");</a:t>
            </a:r>
            <a:endParaRPr lang="vi-VN" sz="1130" dirty="0"/>
          </a:p>
        </p:txBody>
      </p:sp>
      <p:sp>
        <p:nvSpPr>
          <p:cNvPr id="26" name="Text 24"/>
          <p:cNvSpPr/>
          <p:nvPr/>
        </p:nvSpPr>
        <p:spPr>
          <a:xfrm>
            <a:off x="969264" y="5989320"/>
            <a:ext cx="5852160" cy="173736"/>
          </a:xfrm>
          <a:prstGeom prst="rect">
            <a:avLst/>
          </a:prstGeom>
          <a:noFill/>
          <a:ln/>
        </p:spPr>
        <p:txBody>
          <a:bodyPr wrap="square" lIns="0" tIns="0" rIns="0" bIns="0" rtlCol="0" anchor="ctr">
            <a:normAutofit/>
          </a:bodyPr>
          <a:lstStyle/>
          <a:p>
            <a:pPr marL="0" indent="0">
              <a:buNone/>
            </a:pPr>
            <a:r>
              <a:rPr lang="vi-VN" altLang="en-US" sz="1130" dirty="0">
                <a:solidFill>
                  <a:srgbClr val="E9F0FC"/>
                </a:solidFill>
                <a:latin typeface="DejaVu Sans Mono" pitchFamily="34" charset="0"/>
                <a:ea typeface="DejaVu Sans Mono" pitchFamily="34" charset="-122"/>
                <a:cs typeface="DejaVu Sans Mono" pitchFamily="34" charset="-120"/>
              </a:rPr>
              <a:t>}</a:t>
            </a:r>
            <a:endParaRPr lang="vi-VN" sz="1130" dirty="0"/>
          </a:p>
        </p:txBody>
      </p:sp>
      <p:sp>
        <p:nvSpPr>
          <p:cNvPr id="27" name="Shape 25"/>
          <p:cNvSpPr/>
          <p:nvPr/>
        </p:nvSpPr>
        <p:spPr>
          <a:xfrm>
            <a:off x="7498080" y="5358384"/>
            <a:ext cx="3959352" cy="941832"/>
          </a:xfrm>
          <a:prstGeom prst="roundRect">
            <a:avLst>
              <a:gd name="adj" fmla="val 11650"/>
            </a:avLst>
          </a:prstGeom>
          <a:solidFill>
            <a:srgbClr val="FDECEE"/>
          </a:solidFill>
          <a:ln w="12700">
            <a:solidFill>
              <a:srgbClr val="FDECEE">
                <a:alpha val="0"/>
              </a:srgbClr>
            </a:solidFill>
            <a:prstDash val="solid"/>
          </a:ln>
        </p:spPr>
        <p:txBody>
          <a:bodyPr/>
          <a:lstStyle/>
          <a:p>
            <a:endParaRPr lang="en-US"/>
          </a:p>
        </p:txBody>
      </p:sp>
      <p:sp>
        <p:nvSpPr>
          <p:cNvPr id="28" name="Text 26"/>
          <p:cNvSpPr/>
          <p:nvPr/>
        </p:nvSpPr>
        <p:spPr>
          <a:xfrm>
            <a:off x="7726680" y="5550408"/>
            <a:ext cx="1143000" cy="210312"/>
          </a:xfrm>
          <a:prstGeom prst="rect">
            <a:avLst/>
          </a:prstGeom>
          <a:noFill/>
          <a:ln/>
        </p:spPr>
        <p:txBody>
          <a:bodyPr wrap="square" lIns="0" tIns="0" rIns="0" bIns="0" rtlCol="0" anchor="ctr">
            <a:normAutofit/>
          </a:bodyPr>
          <a:lstStyle/>
          <a:p>
            <a:pPr marL="0" indent="0">
              <a:buNone/>
            </a:pPr>
            <a:r>
              <a:rPr lang="vi-VN" altLang="en-US" sz="1220" b="1" dirty="0">
                <a:solidFill>
                  <a:srgbClr val="BB4A55"/>
                </a:solidFill>
                <a:latin typeface="Inter" pitchFamily="34" charset="0"/>
                <a:ea typeface="Inter" pitchFamily="34" charset="-122"/>
                <a:cs typeface="Inter" pitchFamily="34" charset="-120"/>
              </a:rPr>
              <a:t>TÌM LỖI:</a:t>
            </a:r>
            <a:endParaRPr lang="vi-VN" sz="1220" dirty="0"/>
          </a:p>
        </p:txBody>
      </p:sp>
      <p:sp>
        <p:nvSpPr>
          <p:cNvPr id="29" name="Text 27"/>
          <p:cNvSpPr/>
          <p:nvPr/>
        </p:nvSpPr>
        <p:spPr>
          <a:xfrm>
            <a:off x="8787384" y="5477256"/>
            <a:ext cx="2459736" cy="649224"/>
          </a:xfrm>
          <a:prstGeom prst="rect">
            <a:avLst/>
          </a:prstGeom>
          <a:noFill/>
          <a:ln/>
        </p:spPr>
        <p:txBody>
          <a:bodyPr wrap="square" lIns="0" tIns="0" rIns="0" bIns="0" rtlCol="0" anchor="t">
            <a:normAutofit/>
          </a:bodyPr>
          <a:lstStyle/>
          <a:p>
            <a:pPr marL="0" indent="0">
              <a:buNone/>
            </a:pPr>
            <a:r>
              <a:rPr lang="vi-VN" altLang="en-US" sz="1080" dirty="0">
                <a:solidFill>
                  <a:srgbClr val="263345"/>
                </a:solidFill>
                <a:latin typeface="Inter" pitchFamily="34" charset="0"/>
                <a:ea typeface="Inter" pitchFamily="34" charset="-122"/>
                <a:cs typeface="Inter" pitchFamily="34" charset="-120"/>
              </a:rPr>
              <a:t>So sánh mật khẩu trực tiếp; Secret yếu và hard-code; thiếu expiresIn.</a:t>
            </a:r>
            <a:endParaRPr lang="vi-VN" sz="10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9FD"/>
        </a:solidFill>
        <a:effectLst/>
      </p:bgPr>
    </p:bg>
    <p:spTree>
      <p:nvGrpSpPr>
        <p:cNvPr id="1" name=""/>
        <p:cNvGrpSpPr/>
        <p:nvPr/>
      </p:nvGrpSpPr>
      <p:grpSpPr>
        <a:xfrm>
          <a:off x="0" y="0"/>
          <a:ext cx="0" cy="0"/>
          <a:chOff x="0" y="0"/>
          <a:chExt cx="0" cy="0"/>
        </a:xfrm>
      </p:grpSpPr>
      <p:sp>
        <p:nvSpPr>
          <p:cNvPr id="2" name="Shape 0"/>
          <p:cNvSpPr/>
          <p:nvPr/>
        </p:nvSpPr>
        <p:spPr>
          <a:xfrm>
            <a:off x="0" y="0"/>
            <a:ext cx="91440" cy="6858000"/>
          </a:xfrm>
          <a:prstGeom prst="rect">
            <a:avLst/>
          </a:prstGeom>
          <a:solidFill>
            <a:srgbClr val="B38A20"/>
          </a:solidFill>
          <a:ln w="12700">
            <a:solidFill>
              <a:srgbClr val="B38A20">
                <a:alpha val="0"/>
              </a:srgbClr>
            </a:solidFill>
            <a:prstDash val="solid"/>
          </a:ln>
        </p:spPr>
        <p:txBody>
          <a:bodyPr/>
          <a:lstStyle/>
          <a:p>
            <a:endParaRPr lang="en-US"/>
          </a:p>
        </p:txBody>
      </p:sp>
      <p:sp>
        <p:nvSpPr>
          <p:cNvPr id="3" name="Text 1"/>
          <p:cNvSpPr/>
          <p:nvPr/>
        </p:nvSpPr>
        <p:spPr>
          <a:xfrm>
            <a:off x="457200" y="274320"/>
            <a:ext cx="6400800" cy="219456"/>
          </a:xfrm>
          <a:prstGeom prst="rect">
            <a:avLst/>
          </a:prstGeom>
          <a:noFill/>
          <a:ln/>
        </p:spPr>
        <p:txBody>
          <a:bodyPr wrap="square" lIns="0" tIns="0" rIns="0" bIns="0" rtlCol="0" anchor="ctr">
            <a:normAutofit/>
          </a:bodyPr>
          <a:lstStyle/>
          <a:p>
            <a:pPr marL="0" indent="0">
              <a:buNone/>
            </a:pPr>
            <a:r>
              <a:rPr lang="vi-VN" altLang="en-US" sz="1070" b="1" kern="0" spc="100" dirty="0">
                <a:solidFill>
                  <a:srgbClr val="B38A20"/>
                </a:solidFill>
                <a:latin typeface="Inter" pitchFamily="34" charset="0"/>
                <a:ea typeface="Inter" pitchFamily="34" charset="-122"/>
                <a:cs typeface="Inter" pitchFamily="34" charset="-120"/>
              </a:rPr>
              <a:t>LẬP TRÌNH BACKEND  •  BUỔI 7</a:t>
            </a:r>
            <a:endParaRPr lang="vi-VN" sz="1070" dirty="0"/>
          </a:p>
        </p:txBody>
      </p:sp>
      <p:sp>
        <p:nvSpPr>
          <p:cNvPr id="4" name="Text 2"/>
          <p:cNvSpPr/>
          <p:nvPr/>
        </p:nvSpPr>
        <p:spPr>
          <a:xfrm>
            <a:off x="9601200" y="292608"/>
            <a:ext cx="2148840" cy="201168"/>
          </a:xfrm>
          <a:prstGeom prst="rect">
            <a:avLst/>
          </a:prstGeom>
          <a:noFill/>
          <a:ln/>
        </p:spPr>
        <p:txBody>
          <a:bodyPr wrap="square" lIns="0" tIns="0" rIns="0" bIns="0" rtlCol="0" anchor="ctr">
            <a:normAutofit/>
          </a:bodyPr>
          <a:lstStyle/>
          <a:p>
            <a:pPr marL="0" indent="0" algn="r">
              <a:buNone/>
            </a:pPr>
            <a:r>
              <a:rPr lang="vi-VN" altLang="en-US" sz="940" b="1" dirty="0">
                <a:solidFill>
                  <a:srgbClr val="667389"/>
                </a:solidFill>
                <a:latin typeface="Inter" pitchFamily="34" charset="0"/>
                <a:ea typeface="Inter" pitchFamily="34" charset="-122"/>
                <a:cs typeface="Inter" pitchFamily="34" charset="-120"/>
              </a:rPr>
              <a:t>TỔNG KẾT</a:t>
            </a:r>
            <a:endParaRPr lang="vi-VN" sz="940" dirty="0"/>
          </a:p>
        </p:txBody>
      </p:sp>
      <p:sp>
        <p:nvSpPr>
          <p:cNvPr id="5" name="Text 3"/>
          <p:cNvSpPr/>
          <p:nvPr/>
        </p:nvSpPr>
        <p:spPr>
          <a:xfrm>
            <a:off x="457200" y="640080"/>
            <a:ext cx="11283696" cy="594360"/>
          </a:xfrm>
          <a:prstGeom prst="rect">
            <a:avLst/>
          </a:prstGeom>
          <a:noFill/>
          <a:ln/>
        </p:spPr>
        <p:txBody>
          <a:bodyPr wrap="square" lIns="0" tIns="0" rIns="0" bIns="0" rtlCol="0" anchor="ctr">
            <a:normAutofit/>
          </a:bodyPr>
          <a:lstStyle/>
          <a:p>
            <a:pPr marL="0" indent="0">
              <a:buNone/>
            </a:pPr>
            <a:r>
              <a:rPr lang="vi-VN" altLang="en-US" sz="2850" b="1" dirty="0">
                <a:solidFill>
                  <a:srgbClr val="183B63"/>
                </a:solidFill>
                <a:latin typeface="Inter Display" pitchFamily="34" charset="0"/>
                <a:ea typeface="Inter Display" pitchFamily="34" charset="-122"/>
                <a:cs typeface="Inter Display" pitchFamily="34" charset="-120"/>
              </a:rPr>
              <a:t>Kiểm thử API và ghi nhớ kiến thức buổi 7</a:t>
            </a:r>
            <a:endParaRPr lang="vi-VN" sz="2850" dirty="0"/>
          </a:p>
        </p:txBody>
      </p:sp>
      <p:sp>
        <p:nvSpPr>
          <p:cNvPr id="6" name="Text 4"/>
          <p:cNvSpPr/>
          <p:nvPr/>
        </p:nvSpPr>
        <p:spPr>
          <a:xfrm>
            <a:off x="475488" y="1298448"/>
            <a:ext cx="11064240" cy="310896"/>
          </a:xfrm>
          <a:prstGeom prst="rect">
            <a:avLst/>
          </a:prstGeom>
          <a:noFill/>
          <a:ln/>
        </p:spPr>
        <p:txBody>
          <a:bodyPr wrap="square" lIns="0" tIns="0" rIns="0" bIns="0" rtlCol="0" anchor="ctr">
            <a:normAutofit/>
          </a:bodyPr>
          <a:lstStyle/>
          <a:p>
            <a:pPr marL="0" indent="0">
              <a:buNone/>
            </a:pPr>
            <a:r>
              <a:rPr lang="vi-VN" altLang="en-US" sz="1240" dirty="0">
                <a:solidFill>
                  <a:srgbClr val="667389"/>
                </a:solidFill>
                <a:latin typeface="Inter" pitchFamily="34" charset="0"/>
                <a:ea typeface="Inter" pitchFamily="34" charset="-122"/>
                <a:cs typeface="Inter" pitchFamily="34" charset="-120"/>
              </a:rPr>
              <a:t>Kiểm thử trên Postman: cả trường hợp đúng lẫn trường hợp thất bại.</a:t>
            </a:r>
            <a:endParaRPr lang="vi-VN" sz="1240" dirty="0"/>
          </a:p>
        </p:txBody>
      </p:sp>
      <p:sp>
        <p:nvSpPr>
          <p:cNvPr id="7" name="Shape 5"/>
          <p:cNvSpPr/>
          <p:nvPr/>
        </p:nvSpPr>
        <p:spPr>
          <a:xfrm>
            <a:off x="457200" y="6519672"/>
            <a:ext cx="11274552" cy="0"/>
          </a:xfrm>
          <a:prstGeom prst="line">
            <a:avLst/>
          </a:prstGeom>
          <a:noFill/>
          <a:ln w="12700">
            <a:solidFill>
              <a:srgbClr val="E0E6EF"/>
            </a:solidFill>
            <a:prstDash val="solid"/>
          </a:ln>
        </p:spPr>
        <p:txBody>
          <a:bodyPr/>
          <a:lstStyle/>
          <a:p>
            <a:endParaRPr lang="en-US"/>
          </a:p>
        </p:txBody>
      </p:sp>
      <p:sp>
        <p:nvSpPr>
          <p:cNvPr id="8" name="Text 6"/>
          <p:cNvSpPr/>
          <p:nvPr/>
        </p:nvSpPr>
        <p:spPr>
          <a:xfrm>
            <a:off x="484632" y="6592824"/>
            <a:ext cx="5486400" cy="164592"/>
          </a:xfrm>
          <a:prstGeom prst="rect">
            <a:avLst/>
          </a:prstGeom>
          <a:noFill/>
          <a:ln/>
        </p:spPr>
        <p:txBody>
          <a:bodyPr wrap="square" lIns="0" tIns="0" rIns="0" bIns="0" rtlCol="0" anchor="ctr">
            <a:normAutofit/>
          </a:bodyPr>
          <a:lstStyle/>
          <a:p>
            <a:pPr marL="0" indent="0">
              <a:buNone/>
            </a:pPr>
            <a:r>
              <a:rPr lang="vi-VN" altLang="en-US" sz="810" b="1" dirty="0">
                <a:solidFill>
                  <a:srgbClr val="667389"/>
                </a:solidFill>
                <a:latin typeface="Inter" pitchFamily="34" charset="0"/>
                <a:ea typeface="Inter" pitchFamily="34" charset="-122"/>
                <a:cs typeface="Inter" pitchFamily="34" charset="-120"/>
              </a:rPr>
              <a:t>NODE.JS  •  TYPESCRIPT  •  JWT</a:t>
            </a:r>
            <a:endParaRPr lang="vi-VN" sz="810" dirty="0"/>
          </a:p>
        </p:txBody>
      </p:sp>
      <p:sp>
        <p:nvSpPr>
          <p:cNvPr id="9" name="Text 7"/>
          <p:cNvSpPr/>
          <p:nvPr/>
        </p:nvSpPr>
        <p:spPr>
          <a:xfrm>
            <a:off x="10698480" y="6592824"/>
            <a:ext cx="1005840" cy="164592"/>
          </a:xfrm>
          <a:prstGeom prst="rect">
            <a:avLst/>
          </a:prstGeom>
          <a:noFill/>
          <a:ln/>
        </p:spPr>
        <p:txBody>
          <a:bodyPr wrap="square" lIns="0" tIns="0" rIns="0" bIns="0" rtlCol="0" anchor="ctr">
            <a:normAutofit/>
          </a:bodyPr>
          <a:lstStyle/>
          <a:p>
            <a:pPr marL="0" indent="0" algn="r">
              <a:buNone/>
            </a:pPr>
            <a:r>
              <a:rPr lang="vi-VN" altLang="en-US" sz="850" b="1" dirty="0">
                <a:solidFill>
                  <a:srgbClr val="667389"/>
                </a:solidFill>
                <a:latin typeface="Inter" pitchFamily="34" charset="0"/>
                <a:ea typeface="Inter" pitchFamily="34" charset="-122"/>
                <a:cs typeface="Inter" pitchFamily="34" charset="-120"/>
              </a:rPr>
              <a:t>24 / 24</a:t>
            </a:r>
            <a:endParaRPr lang="vi-VN" sz="850" dirty="0"/>
          </a:p>
        </p:txBody>
      </p:sp>
      <p:sp>
        <p:nvSpPr>
          <p:cNvPr id="10" name="Shape 8"/>
          <p:cNvSpPr/>
          <p:nvPr/>
        </p:nvSpPr>
        <p:spPr>
          <a:xfrm>
            <a:off x="667512" y="1810512"/>
            <a:ext cx="5614416" cy="4142232"/>
          </a:xfrm>
          <a:prstGeom prst="roundRect">
            <a:avLst>
              <a:gd name="adj" fmla="val 2649"/>
            </a:avLst>
          </a:prstGeom>
          <a:solidFill>
            <a:srgbClr val="FFFFFF"/>
          </a:solidFill>
          <a:ln w="12700">
            <a:solidFill>
              <a:srgbClr val="E0E6EF"/>
            </a:solidFill>
            <a:prstDash val="solid"/>
          </a:ln>
        </p:spPr>
        <p:txBody>
          <a:bodyPr/>
          <a:lstStyle/>
          <a:p>
            <a:endParaRPr lang="en-US"/>
          </a:p>
        </p:txBody>
      </p:sp>
      <p:sp>
        <p:nvSpPr>
          <p:cNvPr id="11" name="Text 9"/>
          <p:cNvSpPr/>
          <p:nvPr/>
        </p:nvSpPr>
        <p:spPr>
          <a:xfrm>
            <a:off x="950976" y="2057400"/>
            <a:ext cx="4928616" cy="320040"/>
          </a:xfrm>
          <a:prstGeom prst="rect">
            <a:avLst/>
          </a:prstGeom>
          <a:noFill/>
          <a:ln/>
        </p:spPr>
        <p:txBody>
          <a:bodyPr wrap="square" lIns="0" tIns="0" rIns="0" bIns="0" rtlCol="0" anchor="ctr">
            <a:normAutofit/>
          </a:bodyPr>
          <a:lstStyle/>
          <a:p>
            <a:pPr marL="0" indent="0">
              <a:buNone/>
            </a:pPr>
            <a:r>
              <a:rPr lang="vi-VN" altLang="en-US" sz="1800" b="1" dirty="0">
                <a:solidFill>
                  <a:srgbClr val="183B63"/>
                </a:solidFill>
                <a:latin typeface="Inter" pitchFamily="34" charset="0"/>
                <a:ea typeface="Inter" pitchFamily="34" charset="-122"/>
                <a:cs typeface="Inter" pitchFamily="34" charset="-120"/>
              </a:rPr>
              <a:t>TÌNH HUỐNG KIỂM THỬ</a:t>
            </a:r>
            <a:endParaRPr lang="vi-VN" sz="1800" dirty="0"/>
          </a:p>
        </p:txBody>
      </p:sp>
      <p:sp>
        <p:nvSpPr>
          <p:cNvPr id="12" name="Shape 10"/>
          <p:cNvSpPr/>
          <p:nvPr/>
        </p:nvSpPr>
        <p:spPr>
          <a:xfrm>
            <a:off x="941832" y="2624328"/>
            <a:ext cx="5038344" cy="457200"/>
          </a:xfrm>
          <a:prstGeom prst="rect">
            <a:avLst/>
          </a:prstGeom>
          <a:solidFill>
            <a:srgbClr val="FFFFFF"/>
          </a:solidFill>
          <a:ln w="12700">
            <a:solidFill>
              <a:srgbClr val="FFFFFF">
                <a:alpha val="0"/>
              </a:srgbClr>
            </a:solidFill>
            <a:prstDash val="solid"/>
          </a:ln>
        </p:spPr>
        <p:txBody>
          <a:bodyPr/>
          <a:lstStyle/>
          <a:p>
            <a:endParaRPr lang="en-US"/>
          </a:p>
        </p:txBody>
      </p:sp>
      <p:sp>
        <p:nvSpPr>
          <p:cNvPr id="13" name="Text 11"/>
          <p:cNvSpPr/>
          <p:nvPr/>
        </p:nvSpPr>
        <p:spPr>
          <a:xfrm>
            <a:off x="1078992" y="2729484"/>
            <a:ext cx="3584448" cy="201168"/>
          </a:xfrm>
          <a:prstGeom prst="rect">
            <a:avLst/>
          </a:prstGeom>
          <a:noFill/>
          <a:ln/>
        </p:spPr>
        <p:txBody>
          <a:bodyPr wrap="square" lIns="0" tIns="0" rIns="0" bIns="0" rtlCol="0" anchor="ctr">
            <a:normAutofit/>
          </a:bodyPr>
          <a:lstStyle/>
          <a:p>
            <a:pPr marL="0" indent="0">
              <a:buNone/>
            </a:pPr>
            <a:r>
              <a:rPr lang="vi-VN" altLang="en-US" sz="1230" dirty="0">
                <a:solidFill>
                  <a:srgbClr val="263345"/>
                </a:solidFill>
                <a:latin typeface="Inter" pitchFamily="34" charset="0"/>
                <a:ea typeface="Inter" pitchFamily="34" charset="-122"/>
                <a:cs typeface="Inter" pitchFamily="34" charset="-120"/>
              </a:rPr>
              <a:t>Register hợp lệ</a:t>
            </a:r>
            <a:endParaRPr lang="vi-VN" sz="1230" dirty="0"/>
          </a:p>
        </p:txBody>
      </p:sp>
      <p:sp>
        <p:nvSpPr>
          <p:cNvPr id="14" name="Shape 12"/>
          <p:cNvSpPr/>
          <p:nvPr/>
        </p:nvSpPr>
        <p:spPr>
          <a:xfrm>
            <a:off x="4672584" y="2709367"/>
            <a:ext cx="1161288" cy="292608"/>
          </a:xfrm>
          <a:prstGeom prst="roundRect">
            <a:avLst>
              <a:gd name="adj" fmla="val 37500"/>
            </a:avLst>
          </a:prstGeom>
          <a:solidFill>
            <a:srgbClr val="E6F6EF"/>
          </a:solidFill>
          <a:ln w="12700">
            <a:solidFill>
              <a:srgbClr val="E6F6EF">
                <a:alpha val="0"/>
              </a:srgbClr>
            </a:solidFill>
            <a:prstDash val="solid"/>
          </a:ln>
        </p:spPr>
        <p:txBody>
          <a:bodyPr/>
          <a:lstStyle/>
          <a:p>
            <a:endParaRPr lang="en-US"/>
          </a:p>
        </p:txBody>
      </p:sp>
      <p:sp>
        <p:nvSpPr>
          <p:cNvPr id="15" name="Text 13"/>
          <p:cNvSpPr/>
          <p:nvPr/>
        </p:nvSpPr>
        <p:spPr>
          <a:xfrm>
            <a:off x="4754880" y="2732227"/>
            <a:ext cx="996696" cy="237744"/>
          </a:xfrm>
          <a:prstGeom prst="rect">
            <a:avLst/>
          </a:prstGeom>
          <a:noFill/>
          <a:ln/>
        </p:spPr>
        <p:txBody>
          <a:bodyPr wrap="square" lIns="0" tIns="0" rIns="0" bIns="0" rtlCol="0" anchor="ctr">
            <a:normAutofit/>
          </a:bodyPr>
          <a:lstStyle/>
          <a:p>
            <a:pPr marL="0" indent="0" algn="ctr">
              <a:buNone/>
            </a:pPr>
            <a:r>
              <a:rPr lang="vi-VN" altLang="en-US" sz="1010" b="1" dirty="0">
                <a:solidFill>
                  <a:srgbClr val="19805B"/>
                </a:solidFill>
                <a:latin typeface="Inter" pitchFamily="34" charset="0"/>
                <a:ea typeface="Inter" pitchFamily="34" charset="-122"/>
                <a:cs typeface="Inter" pitchFamily="34" charset="-120"/>
              </a:rPr>
              <a:t>201</a:t>
            </a:r>
            <a:endParaRPr lang="vi-VN" sz="1010" dirty="0"/>
          </a:p>
        </p:txBody>
      </p:sp>
      <p:sp>
        <p:nvSpPr>
          <p:cNvPr id="16" name="Shape 14"/>
          <p:cNvSpPr/>
          <p:nvPr/>
        </p:nvSpPr>
        <p:spPr>
          <a:xfrm>
            <a:off x="941832" y="3108960"/>
            <a:ext cx="5038344" cy="457200"/>
          </a:xfrm>
          <a:prstGeom prst="rect">
            <a:avLst/>
          </a:prstGeom>
          <a:solidFill>
            <a:srgbClr val="EFF2F7"/>
          </a:solidFill>
          <a:ln w="12700">
            <a:solidFill>
              <a:srgbClr val="EFF2F7">
                <a:alpha val="0"/>
              </a:srgbClr>
            </a:solidFill>
            <a:prstDash val="solid"/>
          </a:ln>
        </p:spPr>
        <p:txBody>
          <a:bodyPr/>
          <a:lstStyle/>
          <a:p>
            <a:endParaRPr lang="en-US"/>
          </a:p>
        </p:txBody>
      </p:sp>
      <p:sp>
        <p:nvSpPr>
          <p:cNvPr id="17" name="Text 15"/>
          <p:cNvSpPr/>
          <p:nvPr/>
        </p:nvSpPr>
        <p:spPr>
          <a:xfrm>
            <a:off x="1078992" y="3214116"/>
            <a:ext cx="3584448" cy="201168"/>
          </a:xfrm>
          <a:prstGeom prst="rect">
            <a:avLst/>
          </a:prstGeom>
          <a:noFill/>
          <a:ln/>
        </p:spPr>
        <p:txBody>
          <a:bodyPr wrap="square" lIns="0" tIns="0" rIns="0" bIns="0" rtlCol="0" anchor="ctr">
            <a:normAutofit/>
          </a:bodyPr>
          <a:lstStyle/>
          <a:p>
            <a:pPr marL="0" indent="0">
              <a:buNone/>
            </a:pPr>
            <a:r>
              <a:rPr lang="vi-VN" altLang="en-US" sz="1230" dirty="0">
                <a:solidFill>
                  <a:srgbClr val="263345"/>
                </a:solidFill>
                <a:latin typeface="Inter" pitchFamily="34" charset="0"/>
                <a:ea typeface="Inter" pitchFamily="34" charset="-122"/>
                <a:cs typeface="Inter" pitchFamily="34" charset="-120"/>
              </a:rPr>
              <a:t>Login đúng</a:t>
            </a:r>
            <a:endParaRPr lang="vi-VN" sz="1230" dirty="0"/>
          </a:p>
        </p:txBody>
      </p:sp>
      <p:sp>
        <p:nvSpPr>
          <p:cNvPr id="18" name="Shape 16"/>
          <p:cNvSpPr/>
          <p:nvPr/>
        </p:nvSpPr>
        <p:spPr>
          <a:xfrm>
            <a:off x="4672584" y="3193999"/>
            <a:ext cx="1161288" cy="292608"/>
          </a:xfrm>
          <a:prstGeom prst="roundRect">
            <a:avLst>
              <a:gd name="adj" fmla="val 37500"/>
            </a:avLst>
          </a:prstGeom>
          <a:solidFill>
            <a:srgbClr val="E6F6EF"/>
          </a:solidFill>
          <a:ln w="12700">
            <a:solidFill>
              <a:srgbClr val="E6F6EF">
                <a:alpha val="0"/>
              </a:srgbClr>
            </a:solidFill>
            <a:prstDash val="solid"/>
          </a:ln>
        </p:spPr>
        <p:txBody>
          <a:bodyPr/>
          <a:lstStyle/>
          <a:p>
            <a:endParaRPr lang="en-US"/>
          </a:p>
        </p:txBody>
      </p:sp>
      <p:sp>
        <p:nvSpPr>
          <p:cNvPr id="19" name="Text 17"/>
          <p:cNvSpPr/>
          <p:nvPr/>
        </p:nvSpPr>
        <p:spPr>
          <a:xfrm>
            <a:off x="4754880" y="3216859"/>
            <a:ext cx="996696" cy="237744"/>
          </a:xfrm>
          <a:prstGeom prst="rect">
            <a:avLst/>
          </a:prstGeom>
          <a:noFill/>
          <a:ln/>
        </p:spPr>
        <p:txBody>
          <a:bodyPr wrap="square" lIns="0" tIns="0" rIns="0" bIns="0" rtlCol="0" anchor="ctr">
            <a:normAutofit/>
          </a:bodyPr>
          <a:lstStyle/>
          <a:p>
            <a:pPr marL="0" indent="0" algn="ctr">
              <a:buNone/>
            </a:pPr>
            <a:r>
              <a:rPr lang="vi-VN" altLang="en-US" sz="1010" b="1" dirty="0">
                <a:solidFill>
                  <a:srgbClr val="19805B"/>
                </a:solidFill>
                <a:latin typeface="Inter" pitchFamily="34" charset="0"/>
                <a:ea typeface="Inter" pitchFamily="34" charset="-122"/>
                <a:cs typeface="Inter" pitchFamily="34" charset="-120"/>
              </a:rPr>
              <a:t>200 + JWT</a:t>
            </a:r>
            <a:endParaRPr lang="vi-VN" sz="1010" dirty="0"/>
          </a:p>
        </p:txBody>
      </p:sp>
      <p:sp>
        <p:nvSpPr>
          <p:cNvPr id="20" name="Shape 18"/>
          <p:cNvSpPr/>
          <p:nvPr/>
        </p:nvSpPr>
        <p:spPr>
          <a:xfrm>
            <a:off x="941832" y="3593592"/>
            <a:ext cx="5038344" cy="457200"/>
          </a:xfrm>
          <a:prstGeom prst="rect">
            <a:avLst/>
          </a:prstGeom>
          <a:solidFill>
            <a:srgbClr val="FFFFFF"/>
          </a:solidFill>
          <a:ln w="12700">
            <a:solidFill>
              <a:srgbClr val="FFFFFF">
                <a:alpha val="0"/>
              </a:srgbClr>
            </a:solidFill>
            <a:prstDash val="solid"/>
          </a:ln>
        </p:spPr>
        <p:txBody>
          <a:bodyPr/>
          <a:lstStyle/>
          <a:p>
            <a:endParaRPr lang="en-US"/>
          </a:p>
        </p:txBody>
      </p:sp>
      <p:sp>
        <p:nvSpPr>
          <p:cNvPr id="21" name="Text 19"/>
          <p:cNvSpPr/>
          <p:nvPr/>
        </p:nvSpPr>
        <p:spPr>
          <a:xfrm>
            <a:off x="1078992" y="3698748"/>
            <a:ext cx="3584448" cy="201168"/>
          </a:xfrm>
          <a:prstGeom prst="rect">
            <a:avLst/>
          </a:prstGeom>
          <a:noFill/>
          <a:ln/>
        </p:spPr>
        <p:txBody>
          <a:bodyPr wrap="square" lIns="0" tIns="0" rIns="0" bIns="0" rtlCol="0" anchor="ctr">
            <a:normAutofit/>
          </a:bodyPr>
          <a:lstStyle/>
          <a:p>
            <a:pPr marL="0" indent="0">
              <a:buNone/>
            </a:pPr>
            <a:r>
              <a:rPr lang="vi-VN" altLang="en-US" sz="1230" dirty="0">
                <a:solidFill>
                  <a:srgbClr val="263345"/>
                </a:solidFill>
                <a:latin typeface="Inter" pitchFamily="34" charset="0"/>
                <a:ea typeface="Inter" pitchFamily="34" charset="-122"/>
                <a:cs typeface="Inter" pitchFamily="34" charset="-120"/>
              </a:rPr>
              <a:t>Sai mật khẩu</a:t>
            </a:r>
            <a:endParaRPr lang="vi-VN" sz="1230" dirty="0"/>
          </a:p>
        </p:txBody>
      </p:sp>
      <p:sp>
        <p:nvSpPr>
          <p:cNvPr id="22" name="Shape 20"/>
          <p:cNvSpPr/>
          <p:nvPr/>
        </p:nvSpPr>
        <p:spPr>
          <a:xfrm>
            <a:off x="4672584" y="3678631"/>
            <a:ext cx="1161288" cy="292608"/>
          </a:xfrm>
          <a:prstGeom prst="roundRect">
            <a:avLst>
              <a:gd name="adj" fmla="val 37500"/>
            </a:avLst>
          </a:prstGeom>
          <a:solidFill>
            <a:srgbClr val="FDECEE"/>
          </a:solidFill>
          <a:ln w="12700">
            <a:solidFill>
              <a:srgbClr val="FDECEE">
                <a:alpha val="0"/>
              </a:srgbClr>
            </a:solidFill>
            <a:prstDash val="solid"/>
          </a:ln>
        </p:spPr>
        <p:txBody>
          <a:bodyPr/>
          <a:lstStyle/>
          <a:p>
            <a:endParaRPr lang="en-US"/>
          </a:p>
        </p:txBody>
      </p:sp>
      <p:sp>
        <p:nvSpPr>
          <p:cNvPr id="23" name="Text 21"/>
          <p:cNvSpPr/>
          <p:nvPr/>
        </p:nvSpPr>
        <p:spPr>
          <a:xfrm>
            <a:off x="4754880" y="3701491"/>
            <a:ext cx="996696" cy="237744"/>
          </a:xfrm>
          <a:prstGeom prst="rect">
            <a:avLst/>
          </a:prstGeom>
          <a:noFill/>
          <a:ln/>
        </p:spPr>
        <p:txBody>
          <a:bodyPr wrap="square" lIns="0" tIns="0" rIns="0" bIns="0" rtlCol="0" anchor="ctr">
            <a:normAutofit/>
          </a:bodyPr>
          <a:lstStyle/>
          <a:p>
            <a:pPr marL="0" indent="0" algn="ctr">
              <a:buNone/>
            </a:pPr>
            <a:r>
              <a:rPr lang="vi-VN" altLang="en-US" sz="1010" b="1" dirty="0">
                <a:solidFill>
                  <a:srgbClr val="BB4A55"/>
                </a:solidFill>
                <a:latin typeface="Inter" pitchFamily="34" charset="0"/>
                <a:ea typeface="Inter" pitchFamily="34" charset="-122"/>
                <a:cs typeface="Inter" pitchFamily="34" charset="-120"/>
              </a:rPr>
              <a:t>401</a:t>
            </a:r>
            <a:endParaRPr lang="vi-VN" sz="1010" dirty="0"/>
          </a:p>
        </p:txBody>
      </p:sp>
      <p:sp>
        <p:nvSpPr>
          <p:cNvPr id="24" name="Shape 22"/>
          <p:cNvSpPr/>
          <p:nvPr/>
        </p:nvSpPr>
        <p:spPr>
          <a:xfrm>
            <a:off x="941832" y="4078224"/>
            <a:ext cx="5038344" cy="457200"/>
          </a:xfrm>
          <a:prstGeom prst="rect">
            <a:avLst/>
          </a:prstGeom>
          <a:solidFill>
            <a:srgbClr val="EFF2F7"/>
          </a:solidFill>
          <a:ln w="12700">
            <a:solidFill>
              <a:srgbClr val="EFF2F7">
                <a:alpha val="0"/>
              </a:srgbClr>
            </a:solidFill>
            <a:prstDash val="solid"/>
          </a:ln>
        </p:spPr>
        <p:txBody>
          <a:bodyPr/>
          <a:lstStyle/>
          <a:p>
            <a:endParaRPr lang="en-US"/>
          </a:p>
        </p:txBody>
      </p:sp>
      <p:sp>
        <p:nvSpPr>
          <p:cNvPr id="25" name="Text 23"/>
          <p:cNvSpPr/>
          <p:nvPr/>
        </p:nvSpPr>
        <p:spPr>
          <a:xfrm>
            <a:off x="1078992" y="4183380"/>
            <a:ext cx="3584448" cy="201168"/>
          </a:xfrm>
          <a:prstGeom prst="rect">
            <a:avLst/>
          </a:prstGeom>
          <a:noFill/>
          <a:ln/>
        </p:spPr>
        <p:txBody>
          <a:bodyPr wrap="square" lIns="0" tIns="0" rIns="0" bIns="0" rtlCol="0" anchor="ctr">
            <a:normAutofit/>
          </a:bodyPr>
          <a:lstStyle/>
          <a:p>
            <a:pPr marL="0" indent="0">
              <a:buNone/>
            </a:pPr>
            <a:r>
              <a:rPr lang="vi-VN" altLang="en-US" sz="1230" dirty="0">
                <a:solidFill>
                  <a:srgbClr val="263345"/>
                </a:solidFill>
                <a:latin typeface="Inter" pitchFamily="34" charset="0"/>
                <a:ea typeface="Inter" pitchFamily="34" charset="-122"/>
                <a:cs typeface="Inter" pitchFamily="34" charset="-120"/>
              </a:rPr>
              <a:t>API thiếu / hết hạn JWT</a:t>
            </a:r>
            <a:endParaRPr lang="vi-VN" sz="1230" dirty="0"/>
          </a:p>
        </p:txBody>
      </p:sp>
      <p:sp>
        <p:nvSpPr>
          <p:cNvPr id="26" name="Shape 24"/>
          <p:cNvSpPr/>
          <p:nvPr/>
        </p:nvSpPr>
        <p:spPr>
          <a:xfrm>
            <a:off x="4672584" y="4163263"/>
            <a:ext cx="1161288" cy="292608"/>
          </a:xfrm>
          <a:prstGeom prst="roundRect">
            <a:avLst>
              <a:gd name="adj" fmla="val 37500"/>
            </a:avLst>
          </a:prstGeom>
          <a:solidFill>
            <a:srgbClr val="FDECEE"/>
          </a:solidFill>
          <a:ln w="12700">
            <a:solidFill>
              <a:srgbClr val="FDECEE">
                <a:alpha val="0"/>
              </a:srgbClr>
            </a:solidFill>
            <a:prstDash val="solid"/>
          </a:ln>
        </p:spPr>
        <p:txBody>
          <a:bodyPr/>
          <a:lstStyle/>
          <a:p>
            <a:endParaRPr lang="en-US"/>
          </a:p>
        </p:txBody>
      </p:sp>
      <p:sp>
        <p:nvSpPr>
          <p:cNvPr id="27" name="Text 25"/>
          <p:cNvSpPr/>
          <p:nvPr/>
        </p:nvSpPr>
        <p:spPr>
          <a:xfrm>
            <a:off x="4754880" y="4186123"/>
            <a:ext cx="996696" cy="237744"/>
          </a:xfrm>
          <a:prstGeom prst="rect">
            <a:avLst/>
          </a:prstGeom>
          <a:noFill/>
          <a:ln/>
        </p:spPr>
        <p:txBody>
          <a:bodyPr wrap="square" lIns="0" tIns="0" rIns="0" bIns="0" rtlCol="0" anchor="ctr">
            <a:normAutofit/>
          </a:bodyPr>
          <a:lstStyle/>
          <a:p>
            <a:pPr marL="0" indent="0" algn="ctr">
              <a:buNone/>
            </a:pPr>
            <a:r>
              <a:rPr lang="vi-VN" altLang="en-US" sz="1010" b="1" dirty="0">
                <a:solidFill>
                  <a:srgbClr val="BB4A55"/>
                </a:solidFill>
                <a:latin typeface="Inter" pitchFamily="34" charset="0"/>
                <a:ea typeface="Inter" pitchFamily="34" charset="-122"/>
                <a:cs typeface="Inter" pitchFamily="34" charset="-120"/>
              </a:rPr>
              <a:t>401</a:t>
            </a:r>
            <a:endParaRPr lang="vi-VN" sz="1010" dirty="0"/>
          </a:p>
        </p:txBody>
      </p:sp>
      <p:sp>
        <p:nvSpPr>
          <p:cNvPr id="28" name="Shape 26"/>
          <p:cNvSpPr/>
          <p:nvPr/>
        </p:nvSpPr>
        <p:spPr>
          <a:xfrm>
            <a:off x="941832" y="4562856"/>
            <a:ext cx="5038344" cy="457200"/>
          </a:xfrm>
          <a:prstGeom prst="rect">
            <a:avLst/>
          </a:prstGeom>
          <a:solidFill>
            <a:srgbClr val="FFFFFF"/>
          </a:solidFill>
          <a:ln w="12700">
            <a:solidFill>
              <a:srgbClr val="FFFFFF">
                <a:alpha val="0"/>
              </a:srgbClr>
            </a:solidFill>
            <a:prstDash val="solid"/>
          </a:ln>
        </p:spPr>
        <p:txBody>
          <a:bodyPr/>
          <a:lstStyle/>
          <a:p>
            <a:endParaRPr lang="en-US"/>
          </a:p>
        </p:txBody>
      </p:sp>
      <p:sp>
        <p:nvSpPr>
          <p:cNvPr id="29" name="Text 27"/>
          <p:cNvSpPr/>
          <p:nvPr/>
        </p:nvSpPr>
        <p:spPr>
          <a:xfrm>
            <a:off x="1078992" y="4668012"/>
            <a:ext cx="3584448" cy="201168"/>
          </a:xfrm>
          <a:prstGeom prst="rect">
            <a:avLst/>
          </a:prstGeom>
          <a:noFill/>
          <a:ln/>
        </p:spPr>
        <p:txBody>
          <a:bodyPr wrap="square" lIns="0" tIns="0" rIns="0" bIns="0" rtlCol="0" anchor="ctr">
            <a:normAutofit/>
          </a:bodyPr>
          <a:lstStyle/>
          <a:p>
            <a:pPr marL="0" indent="0">
              <a:buNone/>
            </a:pPr>
            <a:r>
              <a:rPr lang="vi-VN" altLang="en-US" sz="1230" dirty="0">
                <a:solidFill>
                  <a:srgbClr val="263345"/>
                </a:solidFill>
                <a:latin typeface="Inter" pitchFamily="34" charset="0"/>
                <a:ea typeface="Inter" pitchFamily="34" charset="-122"/>
                <a:cs typeface="Inter" pitchFamily="34" charset="-120"/>
              </a:rPr>
              <a:t>User gọi API Admin</a:t>
            </a:r>
            <a:endParaRPr lang="vi-VN" sz="1230" dirty="0"/>
          </a:p>
        </p:txBody>
      </p:sp>
      <p:sp>
        <p:nvSpPr>
          <p:cNvPr id="30" name="Shape 28"/>
          <p:cNvSpPr/>
          <p:nvPr/>
        </p:nvSpPr>
        <p:spPr>
          <a:xfrm>
            <a:off x="4672584" y="4647895"/>
            <a:ext cx="1161288" cy="292608"/>
          </a:xfrm>
          <a:prstGeom prst="roundRect">
            <a:avLst>
              <a:gd name="adj" fmla="val 37500"/>
            </a:avLst>
          </a:prstGeom>
          <a:solidFill>
            <a:srgbClr val="FDECEE"/>
          </a:solidFill>
          <a:ln w="12700">
            <a:solidFill>
              <a:srgbClr val="FDECEE">
                <a:alpha val="0"/>
              </a:srgbClr>
            </a:solidFill>
            <a:prstDash val="solid"/>
          </a:ln>
        </p:spPr>
        <p:txBody>
          <a:bodyPr/>
          <a:lstStyle/>
          <a:p>
            <a:endParaRPr lang="en-US"/>
          </a:p>
        </p:txBody>
      </p:sp>
      <p:sp>
        <p:nvSpPr>
          <p:cNvPr id="31" name="Text 29"/>
          <p:cNvSpPr/>
          <p:nvPr/>
        </p:nvSpPr>
        <p:spPr>
          <a:xfrm>
            <a:off x="4754880" y="4670755"/>
            <a:ext cx="996696" cy="237744"/>
          </a:xfrm>
          <a:prstGeom prst="rect">
            <a:avLst/>
          </a:prstGeom>
          <a:noFill/>
          <a:ln/>
        </p:spPr>
        <p:txBody>
          <a:bodyPr wrap="square" lIns="0" tIns="0" rIns="0" bIns="0" rtlCol="0" anchor="ctr">
            <a:normAutofit/>
          </a:bodyPr>
          <a:lstStyle/>
          <a:p>
            <a:pPr marL="0" indent="0" algn="ctr">
              <a:buNone/>
            </a:pPr>
            <a:r>
              <a:rPr lang="vi-VN" altLang="en-US" sz="1010" b="1" dirty="0">
                <a:solidFill>
                  <a:srgbClr val="BB4A55"/>
                </a:solidFill>
                <a:latin typeface="Inter" pitchFamily="34" charset="0"/>
                <a:ea typeface="Inter" pitchFamily="34" charset="-122"/>
                <a:cs typeface="Inter" pitchFamily="34" charset="-120"/>
              </a:rPr>
              <a:t>403</a:t>
            </a:r>
            <a:endParaRPr lang="vi-VN" sz="1010" dirty="0"/>
          </a:p>
        </p:txBody>
      </p:sp>
      <p:sp>
        <p:nvSpPr>
          <p:cNvPr id="32" name="Shape 30"/>
          <p:cNvSpPr/>
          <p:nvPr/>
        </p:nvSpPr>
        <p:spPr>
          <a:xfrm>
            <a:off x="941832" y="5047488"/>
            <a:ext cx="5038344" cy="457200"/>
          </a:xfrm>
          <a:prstGeom prst="rect">
            <a:avLst/>
          </a:prstGeom>
          <a:solidFill>
            <a:srgbClr val="EFF2F7"/>
          </a:solidFill>
          <a:ln w="12700">
            <a:solidFill>
              <a:srgbClr val="EFF2F7">
                <a:alpha val="0"/>
              </a:srgbClr>
            </a:solidFill>
            <a:prstDash val="solid"/>
          </a:ln>
        </p:spPr>
        <p:txBody>
          <a:bodyPr/>
          <a:lstStyle/>
          <a:p>
            <a:endParaRPr lang="en-US"/>
          </a:p>
        </p:txBody>
      </p:sp>
      <p:sp>
        <p:nvSpPr>
          <p:cNvPr id="33" name="Text 31"/>
          <p:cNvSpPr/>
          <p:nvPr/>
        </p:nvSpPr>
        <p:spPr>
          <a:xfrm>
            <a:off x="1078992" y="5152644"/>
            <a:ext cx="3584448" cy="201168"/>
          </a:xfrm>
          <a:prstGeom prst="rect">
            <a:avLst/>
          </a:prstGeom>
          <a:noFill/>
          <a:ln/>
        </p:spPr>
        <p:txBody>
          <a:bodyPr wrap="square" lIns="0" tIns="0" rIns="0" bIns="0" rtlCol="0" anchor="ctr">
            <a:normAutofit/>
          </a:bodyPr>
          <a:lstStyle/>
          <a:p>
            <a:pPr marL="0" indent="0">
              <a:buNone/>
            </a:pPr>
            <a:r>
              <a:rPr lang="vi-VN" altLang="en-US" sz="1230" dirty="0">
                <a:solidFill>
                  <a:srgbClr val="263345"/>
                </a:solidFill>
                <a:latin typeface="Inter" pitchFamily="34" charset="0"/>
                <a:ea typeface="Inter" pitchFamily="34" charset="-122"/>
                <a:cs typeface="Inter" pitchFamily="34" charset="-120"/>
              </a:rPr>
              <a:t>Admin có đủ quyền</a:t>
            </a:r>
            <a:endParaRPr lang="vi-VN" sz="1230" dirty="0"/>
          </a:p>
        </p:txBody>
      </p:sp>
      <p:sp>
        <p:nvSpPr>
          <p:cNvPr id="34" name="Shape 32"/>
          <p:cNvSpPr/>
          <p:nvPr/>
        </p:nvSpPr>
        <p:spPr>
          <a:xfrm>
            <a:off x="4672584" y="5132527"/>
            <a:ext cx="1161288" cy="292608"/>
          </a:xfrm>
          <a:prstGeom prst="roundRect">
            <a:avLst>
              <a:gd name="adj" fmla="val 37500"/>
            </a:avLst>
          </a:prstGeom>
          <a:solidFill>
            <a:srgbClr val="E6F6EF"/>
          </a:solidFill>
          <a:ln w="12700">
            <a:solidFill>
              <a:srgbClr val="E6F6EF">
                <a:alpha val="0"/>
              </a:srgbClr>
            </a:solidFill>
            <a:prstDash val="solid"/>
          </a:ln>
        </p:spPr>
        <p:txBody>
          <a:bodyPr/>
          <a:lstStyle/>
          <a:p>
            <a:endParaRPr lang="en-US"/>
          </a:p>
        </p:txBody>
      </p:sp>
      <p:sp>
        <p:nvSpPr>
          <p:cNvPr id="35" name="Text 33"/>
          <p:cNvSpPr/>
          <p:nvPr/>
        </p:nvSpPr>
        <p:spPr>
          <a:xfrm>
            <a:off x="4754880" y="5155387"/>
            <a:ext cx="996696" cy="237744"/>
          </a:xfrm>
          <a:prstGeom prst="rect">
            <a:avLst/>
          </a:prstGeom>
          <a:noFill/>
          <a:ln/>
        </p:spPr>
        <p:txBody>
          <a:bodyPr wrap="square" lIns="0" tIns="0" rIns="0" bIns="0" rtlCol="0" anchor="ctr">
            <a:normAutofit/>
          </a:bodyPr>
          <a:lstStyle/>
          <a:p>
            <a:pPr marL="0" indent="0" algn="ctr">
              <a:buNone/>
            </a:pPr>
            <a:r>
              <a:rPr lang="vi-VN" altLang="en-US" sz="1010" b="1" dirty="0">
                <a:solidFill>
                  <a:srgbClr val="19805B"/>
                </a:solidFill>
                <a:latin typeface="Inter" pitchFamily="34" charset="0"/>
                <a:ea typeface="Inter" pitchFamily="34" charset="-122"/>
                <a:cs typeface="Inter" pitchFamily="34" charset="-120"/>
              </a:rPr>
              <a:t>Thực thi API</a:t>
            </a:r>
            <a:endParaRPr lang="vi-VN" sz="1010" dirty="0"/>
          </a:p>
        </p:txBody>
      </p:sp>
      <p:sp>
        <p:nvSpPr>
          <p:cNvPr id="36" name="Shape 34"/>
          <p:cNvSpPr/>
          <p:nvPr/>
        </p:nvSpPr>
        <p:spPr>
          <a:xfrm>
            <a:off x="6492240" y="1810512"/>
            <a:ext cx="4974336" cy="4142232"/>
          </a:xfrm>
          <a:prstGeom prst="roundRect">
            <a:avLst>
              <a:gd name="adj" fmla="val 2649"/>
            </a:avLst>
          </a:prstGeom>
          <a:solidFill>
            <a:srgbClr val="FFFFFF"/>
          </a:solidFill>
          <a:ln w="12700">
            <a:solidFill>
              <a:srgbClr val="E0E6EF"/>
            </a:solidFill>
            <a:prstDash val="solid"/>
          </a:ln>
        </p:spPr>
        <p:txBody>
          <a:bodyPr/>
          <a:lstStyle/>
          <a:p>
            <a:endParaRPr lang="en-US"/>
          </a:p>
        </p:txBody>
      </p:sp>
      <p:sp>
        <p:nvSpPr>
          <p:cNvPr id="37" name="Text 35"/>
          <p:cNvSpPr/>
          <p:nvPr/>
        </p:nvSpPr>
        <p:spPr>
          <a:xfrm>
            <a:off x="6766560" y="2057400"/>
            <a:ext cx="4343400" cy="329184"/>
          </a:xfrm>
          <a:prstGeom prst="rect">
            <a:avLst/>
          </a:prstGeom>
          <a:noFill/>
          <a:ln/>
        </p:spPr>
        <p:txBody>
          <a:bodyPr wrap="square" lIns="0" tIns="0" rIns="0" bIns="0" rtlCol="0" anchor="ctr">
            <a:normAutofit/>
          </a:bodyPr>
          <a:lstStyle/>
          <a:p>
            <a:pPr marL="0" indent="0">
              <a:buNone/>
            </a:pPr>
            <a:r>
              <a:rPr lang="vi-VN" altLang="en-US" sz="1820" b="1" dirty="0">
                <a:solidFill>
                  <a:srgbClr val="183B63"/>
                </a:solidFill>
                <a:latin typeface="Inter" pitchFamily="34" charset="0"/>
                <a:ea typeface="Inter" pitchFamily="34" charset="-122"/>
                <a:cs typeface="Inter" pitchFamily="34" charset="-120"/>
              </a:rPr>
              <a:t>5 ĐIỀU CẦN NHỚ</a:t>
            </a:r>
            <a:endParaRPr lang="vi-VN" sz="1820" dirty="0"/>
          </a:p>
        </p:txBody>
      </p:sp>
      <p:sp>
        <p:nvSpPr>
          <p:cNvPr id="38" name="Shape 36"/>
          <p:cNvSpPr/>
          <p:nvPr/>
        </p:nvSpPr>
        <p:spPr>
          <a:xfrm>
            <a:off x="6821424" y="2642616"/>
            <a:ext cx="320040" cy="320040"/>
          </a:xfrm>
          <a:prstGeom prst="ellipse">
            <a:avLst/>
          </a:prstGeom>
          <a:solidFill>
            <a:srgbClr val="E6F6EF"/>
          </a:solidFill>
          <a:ln w="12700">
            <a:solidFill>
              <a:srgbClr val="E6F6EF">
                <a:alpha val="0"/>
              </a:srgbClr>
            </a:solidFill>
            <a:prstDash val="solid"/>
          </a:ln>
        </p:spPr>
        <p:txBody>
          <a:bodyPr/>
          <a:lstStyle/>
          <a:p>
            <a:endParaRPr lang="en-US"/>
          </a:p>
        </p:txBody>
      </p:sp>
      <p:pic>
        <p:nvPicPr>
          <p:cNvPr id="39" name="Image 0" descr="/mnt/data/auth_slide_work/icon_cache/cafd176335e8a0028c23c42142d43520.png"/>
          <p:cNvPicPr>
            <a:picLocks noChangeAspect="1"/>
          </p:cNvPicPr>
          <p:nvPr/>
        </p:nvPicPr>
        <p:blipFill>
          <a:blip r:embed="rId3"/>
          <a:stretch>
            <a:fillRect/>
          </a:stretch>
        </p:blipFill>
        <p:spPr>
          <a:xfrm>
            <a:off x="6911035" y="2725826"/>
            <a:ext cx="137617" cy="137617"/>
          </a:xfrm>
          <a:prstGeom prst="rect">
            <a:avLst/>
          </a:prstGeom>
        </p:spPr>
      </p:pic>
      <p:sp>
        <p:nvSpPr>
          <p:cNvPr id="40" name="Text 37"/>
          <p:cNvSpPr/>
          <p:nvPr/>
        </p:nvSpPr>
        <p:spPr>
          <a:xfrm>
            <a:off x="7278624" y="2688336"/>
            <a:ext cx="3895344" cy="329184"/>
          </a:xfrm>
          <a:prstGeom prst="rect">
            <a:avLst/>
          </a:prstGeom>
          <a:noFill/>
          <a:ln/>
        </p:spPr>
        <p:txBody>
          <a:bodyPr wrap="square" lIns="0" tIns="0" rIns="0" bIns="0" rtlCol="0" anchor="ctr">
            <a:normAutofit/>
          </a:bodyPr>
          <a:lstStyle/>
          <a:p>
            <a:pPr marL="0" indent="0">
              <a:buNone/>
            </a:pPr>
            <a:r>
              <a:rPr lang="vi-VN" altLang="en-US" sz="1260" dirty="0">
                <a:solidFill>
                  <a:srgbClr val="263345"/>
                </a:solidFill>
                <a:latin typeface="Inter" pitchFamily="34" charset="0"/>
                <a:ea typeface="Inter" pitchFamily="34" charset="-122"/>
                <a:cs typeface="Inter" pitchFamily="34" charset="-120"/>
              </a:rPr>
              <a:t>Authentication = kiểm tra danh tính</a:t>
            </a:r>
            <a:endParaRPr lang="vi-VN" sz="1260" dirty="0"/>
          </a:p>
        </p:txBody>
      </p:sp>
      <p:sp>
        <p:nvSpPr>
          <p:cNvPr id="41" name="Shape 38"/>
          <p:cNvSpPr/>
          <p:nvPr/>
        </p:nvSpPr>
        <p:spPr>
          <a:xfrm>
            <a:off x="6821424" y="3218688"/>
            <a:ext cx="320040" cy="320040"/>
          </a:xfrm>
          <a:prstGeom prst="ellipse">
            <a:avLst/>
          </a:prstGeom>
          <a:solidFill>
            <a:srgbClr val="E6F6EF"/>
          </a:solidFill>
          <a:ln w="12700">
            <a:solidFill>
              <a:srgbClr val="E6F6EF">
                <a:alpha val="0"/>
              </a:srgbClr>
            </a:solidFill>
            <a:prstDash val="solid"/>
          </a:ln>
        </p:spPr>
        <p:txBody>
          <a:bodyPr/>
          <a:lstStyle/>
          <a:p>
            <a:endParaRPr lang="en-US"/>
          </a:p>
        </p:txBody>
      </p:sp>
      <p:pic>
        <p:nvPicPr>
          <p:cNvPr id="42" name="Image 1" descr="/mnt/data/auth_slide_work/icon_cache/cafd176335e8a0028c23c42142d43520.png"/>
          <p:cNvPicPr>
            <a:picLocks noChangeAspect="1"/>
          </p:cNvPicPr>
          <p:nvPr/>
        </p:nvPicPr>
        <p:blipFill>
          <a:blip r:embed="rId3"/>
          <a:stretch>
            <a:fillRect/>
          </a:stretch>
        </p:blipFill>
        <p:spPr>
          <a:xfrm>
            <a:off x="6911035" y="3301898"/>
            <a:ext cx="137617" cy="137617"/>
          </a:xfrm>
          <a:prstGeom prst="rect">
            <a:avLst/>
          </a:prstGeom>
        </p:spPr>
      </p:pic>
      <p:sp>
        <p:nvSpPr>
          <p:cNvPr id="43" name="Text 39"/>
          <p:cNvSpPr/>
          <p:nvPr/>
        </p:nvSpPr>
        <p:spPr>
          <a:xfrm>
            <a:off x="7278624" y="3264408"/>
            <a:ext cx="3895344" cy="329184"/>
          </a:xfrm>
          <a:prstGeom prst="rect">
            <a:avLst/>
          </a:prstGeom>
          <a:noFill/>
          <a:ln/>
        </p:spPr>
        <p:txBody>
          <a:bodyPr wrap="square" lIns="0" tIns="0" rIns="0" bIns="0" rtlCol="0" anchor="ctr">
            <a:normAutofit/>
          </a:bodyPr>
          <a:lstStyle/>
          <a:p>
            <a:pPr marL="0" indent="0">
              <a:buNone/>
            </a:pPr>
            <a:r>
              <a:rPr lang="vi-VN" altLang="en-US" sz="1260" dirty="0">
                <a:solidFill>
                  <a:srgbClr val="263345"/>
                </a:solidFill>
                <a:latin typeface="Inter" pitchFamily="34" charset="0"/>
                <a:ea typeface="Inter" pitchFamily="34" charset="-122"/>
                <a:cs typeface="Inter" pitchFamily="34" charset="-120"/>
              </a:rPr>
              <a:t>Authorization = kiểm tra quyền</a:t>
            </a:r>
            <a:endParaRPr lang="vi-VN" sz="1260" dirty="0"/>
          </a:p>
        </p:txBody>
      </p:sp>
      <p:sp>
        <p:nvSpPr>
          <p:cNvPr id="44" name="Shape 40"/>
          <p:cNvSpPr/>
          <p:nvPr/>
        </p:nvSpPr>
        <p:spPr>
          <a:xfrm>
            <a:off x="6821424" y="3794760"/>
            <a:ext cx="320040" cy="320040"/>
          </a:xfrm>
          <a:prstGeom prst="ellipse">
            <a:avLst/>
          </a:prstGeom>
          <a:solidFill>
            <a:srgbClr val="E6F6EF"/>
          </a:solidFill>
          <a:ln w="12700">
            <a:solidFill>
              <a:srgbClr val="E6F6EF">
                <a:alpha val="0"/>
              </a:srgbClr>
            </a:solidFill>
            <a:prstDash val="solid"/>
          </a:ln>
        </p:spPr>
        <p:txBody>
          <a:bodyPr/>
          <a:lstStyle/>
          <a:p>
            <a:endParaRPr lang="en-US"/>
          </a:p>
        </p:txBody>
      </p:sp>
      <p:pic>
        <p:nvPicPr>
          <p:cNvPr id="45" name="Image 2" descr="/mnt/data/auth_slide_work/icon_cache/cafd176335e8a0028c23c42142d43520.png"/>
          <p:cNvPicPr>
            <a:picLocks noChangeAspect="1"/>
          </p:cNvPicPr>
          <p:nvPr/>
        </p:nvPicPr>
        <p:blipFill>
          <a:blip r:embed="rId3"/>
          <a:stretch>
            <a:fillRect/>
          </a:stretch>
        </p:blipFill>
        <p:spPr>
          <a:xfrm>
            <a:off x="6911035" y="3877970"/>
            <a:ext cx="137617" cy="137617"/>
          </a:xfrm>
          <a:prstGeom prst="rect">
            <a:avLst/>
          </a:prstGeom>
        </p:spPr>
      </p:pic>
      <p:sp>
        <p:nvSpPr>
          <p:cNvPr id="46" name="Text 41"/>
          <p:cNvSpPr/>
          <p:nvPr/>
        </p:nvSpPr>
        <p:spPr>
          <a:xfrm>
            <a:off x="7278624" y="3840480"/>
            <a:ext cx="3895344" cy="329184"/>
          </a:xfrm>
          <a:prstGeom prst="rect">
            <a:avLst/>
          </a:prstGeom>
          <a:noFill/>
          <a:ln/>
        </p:spPr>
        <p:txBody>
          <a:bodyPr wrap="square" lIns="0" tIns="0" rIns="0" bIns="0" rtlCol="0" anchor="ctr">
            <a:normAutofit/>
          </a:bodyPr>
          <a:lstStyle/>
          <a:p>
            <a:pPr marL="0" indent="0">
              <a:buNone/>
            </a:pPr>
            <a:r>
              <a:rPr lang="vi-VN" altLang="en-US" sz="1260" dirty="0">
                <a:solidFill>
                  <a:srgbClr val="263345"/>
                </a:solidFill>
                <a:latin typeface="Inter" pitchFamily="34" charset="0"/>
                <a:ea typeface="Inter" pitchFamily="34" charset="-122"/>
                <a:cs typeface="Inter" pitchFamily="34" charset="-120"/>
              </a:rPr>
              <a:t>bcrypt = băm và so khớp mật khẩu</a:t>
            </a:r>
            <a:endParaRPr lang="vi-VN" sz="1260" dirty="0"/>
          </a:p>
        </p:txBody>
      </p:sp>
      <p:sp>
        <p:nvSpPr>
          <p:cNvPr id="47" name="Shape 42"/>
          <p:cNvSpPr/>
          <p:nvPr/>
        </p:nvSpPr>
        <p:spPr>
          <a:xfrm>
            <a:off x="6821424" y="4370832"/>
            <a:ext cx="320040" cy="320040"/>
          </a:xfrm>
          <a:prstGeom prst="ellipse">
            <a:avLst/>
          </a:prstGeom>
          <a:solidFill>
            <a:srgbClr val="E6F6EF"/>
          </a:solidFill>
          <a:ln w="12700">
            <a:solidFill>
              <a:srgbClr val="E6F6EF">
                <a:alpha val="0"/>
              </a:srgbClr>
            </a:solidFill>
            <a:prstDash val="solid"/>
          </a:ln>
        </p:spPr>
        <p:txBody>
          <a:bodyPr/>
          <a:lstStyle/>
          <a:p>
            <a:endParaRPr lang="en-US"/>
          </a:p>
        </p:txBody>
      </p:sp>
      <p:pic>
        <p:nvPicPr>
          <p:cNvPr id="48" name="Image 3" descr="/mnt/data/auth_slide_work/icon_cache/cafd176335e8a0028c23c42142d43520.png"/>
          <p:cNvPicPr>
            <a:picLocks noChangeAspect="1"/>
          </p:cNvPicPr>
          <p:nvPr/>
        </p:nvPicPr>
        <p:blipFill>
          <a:blip r:embed="rId3"/>
          <a:stretch>
            <a:fillRect/>
          </a:stretch>
        </p:blipFill>
        <p:spPr>
          <a:xfrm>
            <a:off x="6911035" y="4454042"/>
            <a:ext cx="137617" cy="137617"/>
          </a:xfrm>
          <a:prstGeom prst="rect">
            <a:avLst/>
          </a:prstGeom>
        </p:spPr>
      </p:pic>
      <p:sp>
        <p:nvSpPr>
          <p:cNvPr id="49" name="Text 43"/>
          <p:cNvSpPr/>
          <p:nvPr/>
        </p:nvSpPr>
        <p:spPr>
          <a:xfrm>
            <a:off x="7278624" y="4416552"/>
            <a:ext cx="3895344" cy="329184"/>
          </a:xfrm>
          <a:prstGeom prst="rect">
            <a:avLst/>
          </a:prstGeom>
          <a:noFill/>
          <a:ln/>
        </p:spPr>
        <p:txBody>
          <a:bodyPr wrap="square" lIns="0" tIns="0" rIns="0" bIns="0" rtlCol="0" anchor="ctr">
            <a:normAutofit/>
          </a:bodyPr>
          <a:lstStyle/>
          <a:p>
            <a:pPr marL="0" indent="0">
              <a:buNone/>
            </a:pPr>
            <a:r>
              <a:rPr lang="vi-VN" altLang="en-US" sz="1260" dirty="0">
                <a:solidFill>
                  <a:srgbClr val="263345"/>
                </a:solidFill>
                <a:latin typeface="Inter" pitchFamily="34" charset="0"/>
                <a:ea typeface="Inter" pitchFamily="34" charset="-122"/>
                <a:cs typeface="Inter" pitchFamily="34" charset="-120"/>
              </a:rPr>
              <a:t>JWT = Token có chữ ký kiểm chứng</a:t>
            </a:r>
            <a:endParaRPr lang="vi-VN" sz="1260" dirty="0"/>
          </a:p>
        </p:txBody>
      </p:sp>
      <p:sp>
        <p:nvSpPr>
          <p:cNvPr id="50" name="Shape 44"/>
          <p:cNvSpPr/>
          <p:nvPr/>
        </p:nvSpPr>
        <p:spPr>
          <a:xfrm>
            <a:off x="6821424" y="4946904"/>
            <a:ext cx="320040" cy="320040"/>
          </a:xfrm>
          <a:prstGeom prst="ellipse">
            <a:avLst/>
          </a:prstGeom>
          <a:solidFill>
            <a:srgbClr val="E6F6EF"/>
          </a:solidFill>
          <a:ln w="12700">
            <a:solidFill>
              <a:srgbClr val="E6F6EF">
                <a:alpha val="0"/>
              </a:srgbClr>
            </a:solidFill>
            <a:prstDash val="solid"/>
          </a:ln>
        </p:spPr>
        <p:txBody>
          <a:bodyPr/>
          <a:lstStyle/>
          <a:p>
            <a:endParaRPr lang="en-US"/>
          </a:p>
        </p:txBody>
      </p:sp>
      <p:pic>
        <p:nvPicPr>
          <p:cNvPr id="51" name="Image 4" descr="/mnt/data/auth_slide_work/icon_cache/cafd176335e8a0028c23c42142d43520.png"/>
          <p:cNvPicPr>
            <a:picLocks noChangeAspect="1"/>
          </p:cNvPicPr>
          <p:nvPr/>
        </p:nvPicPr>
        <p:blipFill>
          <a:blip r:embed="rId3"/>
          <a:stretch>
            <a:fillRect/>
          </a:stretch>
        </p:blipFill>
        <p:spPr>
          <a:xfrm>
            <a:off x="6911035" y="5030114"/>
            <a:ext cx="137617" cy="137617"/>
          </a:xfrm>
          <a:prstGeom prst="rect">
            <a:avLst/>
          </a:prstGeom>
        </p:spPr>
      </p:pic>
      <p:sp>
        <p:nvSpPr>
          <p:cNvPr id="52" name="Text 45"/>
          <p:cNvSpPr/>
          <p:nvPr/>
        </p:nvSpPr>
        <p:spPr>
          <a:xfrm>
            <a:off x="7278624" y="4992624"/>
            <a:ext cx="3895344" cy="329184"/>
          </a:xfrm>
          <a:prstGeom prst="rect">
            <a:avLst/>
          </a:prstGeom>
          <a:noFill/>
          <a:ln/>
        </p:spPr>
        <p:txBody>
          <a:bodyPr wrap="square" lIns="0" tIns="0" rIns="0" bIns="0" rtlCol="0" anchor="ctr">
            <a:normAutofit/>
          </a:bodyPr>
          <a:lstStyle/>
          <a:p>
            <a:pPr marL="0" indent="0">
              <a:buNone/>
            </a:pPr>
            <a:r>
              <a:rPr lang="vi-VN" altLang="en-US" sz="1260" dirty="0">
                <a:solidFill>
                  <a:srgbClr val="263345"/>
                </a:solidFill>
                <a:latin typeface="Inter" pitchFamily="34" charset="0"/>
                <a:ea typeface="Inter" pitchFamily="34" charset="-122"/>
                <a:cs typeface="Inter" pitchFamily="34" charset="-120"/>
              </a:rPr>
              <a:t>Middleware = trạm kiểm soát Request</a:t>
            </a:r>
            <a:endParaRPr lang="vi-VN" sz="1260" dirty="0"/>
          </a:p>
        </p:txBody>
      </p:sp>
      <p:sp>
        <p:nvSpPr>
          <p:cNvPr id="53" name="Shape 46"/>
          <p:cNvSpPr/>
          <p:nvPr/>
        </p:nvSpPr>
        <p:spPr>
          <a:xfrm>
            <a:off x="1014984" y="6099048"/>
            <a:ext cx="10195560" cy="329184"/>
          </a:xfrm>
          <a:prstGeom prst="roundRect">
            <a:avLst>
              <a:gd name="adj" fmla="val 33333"/>
            </a:avLst>
          </a:prstGeom>
          <a:solidFill>
            <a:srgbClr val="FFF5D5"/>
          </a:solidFill>
          <a:ln w="12700">
            <a:solidFill>
              <a:srgbClr val="FFF5D5">
                <a:alpha val="0"/>
              </a:srgbClr>
            </a:solidFill>
            <a:prstDash val="solid"/>
          </a:ln>
        </p:spPr>
        <p:txBody>
          <a:bodyPr/>
          <a:lstStyle/>
          <a:p>
            <a:endParaRPr lang="en-US"/>
          </a:p>
        </p:txBody>
      </p:sp>
      <p:sp>
        <p:nvSpPr>
          <p:cNvPr id="54" name="Text 47"/>
          <p:cNvSpPr/>
          <p:nvPr/>
        </p:nvSpPr>
        <p:spPr>
          <a:xfrm>
            <a:off x="1188720" y="6135624"/>
            <a:ext cx="9829800" cy="201168"/>
          </a:xfrm>
          <a:prstGeom prst="rect">
            <a:avLst/>
          </a:prstGeom>
          <a:noFill/>
          <a:ln/>
        </p:spPr>
        <p:txBody>
          <a:bodyPr wrap="square" lIns="0" tIns="0" rIns="0" bIns="0" rtlCol="0" anchor="ctr">
            <a:normAutofit/>
          </a:bodyPr>
          <a:lstStyle/>
          <a:p>
            <a:pPr marL="0" indent="0" algn="ctr">
              <a:buNone/>
            </a:pPr>
            <a:r>
              <a:rPr lang="vi-VN" altLang="en-US" sz="1190" b="1" dirty="0">
                <a:solidFill>
                  <a:srgbClr val="183B63"/>
                </a:solidFill>
                <a:latin typeface="Inter" pitchFamily="34" charset="0"/>
                <a:ea typeface="Inter" pitchFamily="34" charset="-122"/>
                <a:cs typeface="Inter" pitchFamily="34" charset="-120"/>
              </a:rPr>
              <a:t>CÂU HỎI: Tại sao isAuth phải chạy trước isAdmin?</a:t>
            </a:r>
            <a:endParaRPr lang="vi-VN" sz="119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3197</Words>
  <Application>Microsoft Office PowerPoint</Application>
  <PresentationFormat>Widescreen</PresentationFormat>
  <Paragraphs>501</Paragraphs>
  <Slides>24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DejaVu Sans Mono</vt:lpstr>
      <vt:lpstr>Inter</vt:lpstr>
      <vt:lpstr>Inter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Tài liệu giảng dạy Backend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Authentication &amp; Authorization với JWT trong Node.js</dc:title>
  <dc:subject>Buổi 7 — Authentication &amp; Authorization JWT</dc:subject>
  <dc:creator>Học phần Lập trình Backend</dc:creator>
  <cp:lastModifiedBy>NhatPot</cp:lastModifiedBy>
  <cp:revision>2</cp:revision>
  <dcterms:created xsi:type="dcterms:W3CDTF">2026-10-15T10:05:24Z</dcterms:created>
  <dcterms:modified xsi:type="dcterms:W3CDTF">2026-10-15T11:19:20Z</dcterms:modified>
</cp:coreProperties>
</file>