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2"/>
  </p:notesMasterIdLst>
  <p:sldIdLst>
    <p:sldId id="275" r:id="rId3"/>
    <p:sldId id="276" r:id="rId4"/>
    <p:sldId id="258" r:id="rId5"/>
    <p:sldId id="259" r:id="rId6"/>
    <p:sldId id="260" r:id="rId7"/>
    <p:sldId id="261" r:id="rId8"/>
    <p:sldId id="262" r:id="rId9"/>
    <p:sldId id="277" r:id="rId10"/>
    <p:sldId id="264" r:id="rId11"/>
    <p:sldId id="265" r:id="rId12"/>
    <p:sldId id="278" r:id="rId13"/>
    <p:sldId id="267" r:id="rId14"/>
    <p:sldId id="268" r:id="rId15"/>
    <p:sldId id="269" r:id="rId16"/>
    <p:sldId id="270" r:id="rId17"/>
    <p:sldId id="271" r:id="rId18"/>
    <p:sldId id="272"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87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1807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DỰ KIẾN</a:t>
            </a:r>
            <a:r>
              <a:rPr lang="en-US"/>
              <a:t>:  </a:t>
            </a:r>
            <a:r>
              <a:rPr lang="en-US" dirty="0"/>
              <a:t>
LỜI GIẢNG / CÁCH DẪN DẮT:
Hôm nay chúng ta gộp hai chủ đề: truy vấn nâng cao/phân trang và xử lý lỗi tập trung. Các em đã làm REST API, Sequelize, JWT, Multer và đã thử gọi API từ Vite + Axios. Chúng ta KHÔNG khởi tạo một project khác; mọi thực hành sẽ nâng cấp project backend-quan-ly-sinh-vien hiện có. Tôi sẽ nói lý thuyết trong 40 phút, sau đó để các nhóm dùng AI để sửa code và tự kiểm chứng trong 70 phút, cuối cùng 10 phút kiểm tra.
TƯƠNG TÁC VỚI SINH VIÊN:
Hỏi nhanh: Khi vào một trang xem phim, màn hình hiển thị bao nhiêu phim? Có phải toàn bộ kho phim không?
LƯU Ý KỸ THUẬT / ĐÁP ÁN:
Trong các slide sau, phân biệt rõ kỹ thuật phân trang DANH SÁCH và streaming dữ liệu video. Hình phim chỉ là hình minh họa giả lập, không phải giao diện của website cụ thể.
CHUYỂN SANG SLIDE TIẾP THEO:
Đi vào bài toán dữ liệu lớn của trang phim.</a:t>
            </a:r>
          </a:p>
          <a:p>
            <a:endParaRPr lang="en-US" dirty="0"/>
          </a:p>
          <a:p>
            <a:r>
              <a:t>MINH HOẠ BỔ SUNG</a:t>
            </a:r>
          </a:p>
          <a:p>
            <a:r>
              <a:t>Ảnh chụp ứng dụng demo chạy cục bộ, tạo phục vụ bài giảng, dữ liệu sinh viên giả lập. Truy vấn đọc SQL Server dùng bảng tạm #SinhVien và #Lop, không sửa dữ liệu có sẵn. Ảnh là giao diện riêng của demo, không phải Postman hoặc SSMS. Tên phim là giả lập. Ảnh thật: Noah Grossenbacher — https://unsplash.com/photos/_7hiYkKVmsk ; Alim — https://unsplash.com/photos/0X5nG32Y1gc ; odya kun — https://unsplash.com/photos/0x6z5CwSR5g ; https://images.unsplash.com/photo-1761662826595-a379027d6c0f ; Gaétan Meyer — https://unsplash.com/photos/aIwwxXUs1ME ; Zakopane — https://images.trvl-media.com/place/5067/bf089230-1d1a-4274-b691-f4668bbf816d.jpg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a:t>
            </a:r>
            <a:r>
              <a:rPr lang="en-US"/>
              <a:t> </a:t>
            </a:r>
            <a:r>
              <a:t>)</a:t>
            </a:r>
          </a:p>
          <a:p>
            <a:r>
              <a:t>Đặt tình huống: website xem phim có 50.000 bộ phim. Nếu Backend trả toàn bộ ngay khi mở trang thì Database phải đọc và serialize 50.000 bản ghi, mạng phải truyền một lượng dữ liệu lớn, Frontend phải render rất nhiều phần tử — trang chậm, tốn tài nguyên ở cả ba tầng.</a:t>
            </a:r>
          </a:p>
          <a:p>
            <a:r>
              <a:t>Phân trang giải quyết bằng cách chỉ lấy đúng phần dữ liệu của trang hiện tại (ví dụ 20 phim).</a:t>
            </a:r>
          </a:p>
          <a:p>
            <a:r>
              <a:t>Lưu ý khi giảng: tránh khẳng định cứ 1.000 dòng là hệ thống sẽ chậm; mức độ ảnh hưởng còn phụ thuộc kích thước từng bản ghi và hạ tầng. Điểm cốt lõi là nguyên tắc: chỉ tải dữ liệu cần thiết.</a:t>
            </a:r>
          </a:p>
          <a:p>
            <a:r>
              <a:t>Hỏi lớp và gọi 1–2 sinh viên trả lời trước khi sang slide 3.</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a:t>
            </a:r>
            <a:r>
              <a:rPr lang="en-US"/>
              <a:t> </a:t>
            </a:r>
            <a:r>
              <a:t>)</a:t>
            </a:r>
          </a:p>
          <a:p>
            <a:r>
              <a:t>Hai kiểu hiển thị phổ biến: Pagination — người dùng chủ động chọn trang (rất hợp với màn hình quản trị sinh viên của đồ án); Infinite Scroll — cuộn xuống là tải thêm (mạng xã hội, web đọc truyện).</a:t>
            </a:r>
          </a:p>
          <a:p>
            <a:r>
              <a:t>Điểm chung: Backend đều trả dữ liệu theo từng đợt nhỏ. Khác biệt nằm ở cách Frontend điều hướng và cách Backend xác định đợt tiếp theo.</a:t>
            </a:r>
          </a:p>
          <a:p>
            <a:r>
              <a:t>Không đi sâu vào Cursor Pagination trong buổi này vì vượt trọng tâm thực hành; chỉ nhắc để sinh viên biết Infinite Scroll thường dùng cursor thay cho offset.</a:t>
            </a:r>
          </a:p>
          <a:p>
            <a:endParaRPr/>
          </a:p>
          <a:p>
            <a:r>
              <a:t>MINH HOẠ BỔ SUNG</a:t>
            </a:r>
          </a:p>
          <a:p>
            <a:r>
              <a:t>Ảnh chụp ứng dụng demo chạy cục bộ, tạo phục vụ bài giảng, dữ liệu sinh viên giả lập. Truy vấn đọc SQL Server dùng bảng tạm #SinhVien và #Lop, không sửa dữ liệu có sẵn. Ảnh là giao diện riêng của demo, không phải Postman hoặc SSMS. Ảnh bảng tin có sử dụng ảnh Noah Grossenbacher: https://unsplash.com/photos/_7hiYkKVmsk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a:t>
            </a:r>
            <a:r>
              <a:rPr lang="en-US"/>
              <a:t> </a:t>
            </a:r>
            <a:r>
              <a:t>)</a:t>
            </a:r>
          </a:p>
          <a:p>
            <a:r>
              <a:t>Ba khái niệm cốt lõi: page — trang muốn xem; limit — số bản ghi tối đa trên mỗi trang; offset — số bản ghi bỏ qua trước khi bắt đầu lấy.</a:t>
            </a:r>
          </a:p>
          <a:p>
            <a:r>
              <a:t>Ví dụ 12 sinh viên, limit = 5: trang 1 có SV001–SV005, trang 2 có SV006–SV010, trang 3 chỉ còn 2 sinh viên SV011–SV012 (trang cuối thường không đủ limit).</a:t>
            </a:r>
          </a:p>
          <a:p>
            <a:r>
              <a:t>Nhấn mạnh: page và limit là tham số Client gửi lên (query string); offset do Backend tính. Muốn chia trang đúng, dữ liệu phải được sắp xếp theo một thứ tự ổn định (ví dụ maSV ASC) — nếu không, cùng một sinh viên có thể xuất hiện ở hai trang hoặc bị bỏ sót.</a:t>
            </a:r>
          </a:p>
          <a:p>
            <a:endParaRPr/>
          </a:p>
          <a:p>
            <a:r>
              <a:t>MINH HOẠ BỔ SUNG</a:t>
            </a:r>
          </a:p>
          <a:p>
            <a:r>
              <a:t>Ảnh chụp ứng dụng demo chạy cục bộ, tạo phục vụ bài giảng, dữ liệu sinh viên giả lập. Truy vấn đọc SQL Server dùng bảng tạm #SinhVien và #Lop, không sửa dữ liệu có sẵn. Ảnh là giao diện riêng của demo, không phải Postman hoặc SSMS.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a:t>
            </a:r>
            <a:r>
              <a:rPr lang="en-US"/>
              <a:t> </a:t>
            </a:r>
            <a:r>
              <a:t>)</a:t>
            </a:r>
          </a:p>
          <a:p>
            <a:r>
              <a:t>Công thức: offset = (page − 1) × limit. Trang 1 luôn có offset = 0.</a:t>
            </a:r>
          </a:p>
          <a:p>
            <a:r>
              <a:t>Ví dụ: page = 3, limit = 10 → offset = (3 − 1) × 10 = 20. Backend bỏ qua 20 bản ghi đầu (ô 1–20 trên slide) và lấy tối đa 10 bản ghi tiếp theo (ô 21–30).</a:t>
            </a:r>
          </a:p>
          <a:p>
            <a:r>
              <a:t>CÂU HỎI TƯƠNG TÁC — ĐÁP ÁN: page = 5, limit = 20 → offset = (5 − 1) × 20 = 80.</a:t>
            </a:r>
          </a:p>
          <a:p>
            <a:r>
              <a:t>Cho sinh viên 20–30 giây tự tính trước khi công bố đáp án.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a:t>
            </a:r>
            <a:r>
              <a:rPr lang="en-US"/>
              <a:t> </a:t>
            </a:r>
            <a:r>
              <a:t>)</a:t>
            </a:r>
          </a:p>
          <a:p>
            <a:r>
              <a:t>Cách A (phân trang ở Frontend): Backend vẫn trả 100.000 dòng, React dùng .slice() để cắt trang khi hiển thị. Cách này chỉ 'giấu' dữ liệu chứ không giảm tải — mạng và bộ nhớ vẫn gánh toàn bộ.</a:t>
            </a:r>
          </a:p>
          <a:p>
            <a:r>
              <a:t>Cách B (phân trang ở Backend): câu truy vấn tại Database đã giới hạn sẵn, chỉ 10 dòng của trang hiện tại được truyền đi.</a:t>
            </a:r>
          </a:p>
          <a:p>
            <a:r>
              <a:t>Chốt: trong project của lớp, phân trang phải thực hiện tại Database thông qua Backend. Đây cũng là tiêu chí chấm Lab 1.</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a:t>
            </a:r>
            <a:r>
              <a:rPr lang="en-US"/>
              <a:t> </a:t>
            </a:r>
            <a:r>
              <a:t>)</a:t>
            </a:r>
          </a:p>
          <a:p>
            <a:r>
              <a:t>SQL Server phân trang bằng cặp OFFSET ... FETCH NEXT, và luôn phải đi kèm ORDER BY.</a:t>
            </a:r>
          </a:p>
          <a:p>
            <a:r>
              <a:t>Ví dụ trên: sắp xếp theo maSV tăng dần, bỏ qua 10 dòng, lấy 10 dòng tiếp theo — tức trang 2 khi limit = 10.</a:t>
            </a:r>
          </a:p>
          <a:p>
            <a:r>
              <a:t>Cho sinh viên biết: khi dùng Sequelize ở slide sau, thư viện sẽ tự sinh câu SQL tương tự. Các em cần hiểu logic truy vấn, chưa cần học thuộc cú pháp SQL Server.</a:t>
            </a:r>
          </a:p>
          <a:p>
            <a:endParaRPr/>
          </a:p>
          <a:p>
            <a:r>
              <a:t>MINH HOẠ BỔ SUNG</a:t>
            </a:r>
          </a:p>
          <a:p>
            <a:r>
              <a:t>Ảnh chụp ứng dụng demo chạy cục bộ, tạo phục vụ bài giảng, dữ liệu sinh viên giả lập. Truy vấn đọc SQL Server dùng bảng tạm #SinhVien và #Lop, không sửa dữ liệu có sẵn. Ảnh là giao diện riêng của demo, không phải Postman hoặc SSMS. </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a:t>
            </a:r>
            <a:r>
              <a:rPr lang="en-US"/>
              <a:t> </a:t>
            </a:r>
            <a:r>
              <a:t>)</a:t>
            </a:r>
          </a:p>
          <a:p>
            <a:r>
              <a:t>findAll() không giới hạn sẽ lấy toàn bộ bản ghi — nguy hiểm khi bảng lớn.</a:t>
            </a:r>
          </a:p>
          <a:p>
            <a:r>
              <a:t>findAndCountAll() thực hiện hai việc: lấy danh sách của trang hiện tại (rows) theo limit + offset + order, và đếm tổng số bản ghi phù hợp (count).</a:t>
            </a:r>
          </a:p>
          <a:p>
            <a:r>
              <a:t>Giải thích vì sao Frontend cần count: để vẽ đúng số nút phân trang và biết tổng số trang, trong khi data chỉ chứa bản ghi của trang hiện tại.</a:t>
            </a:r>
          </a:p>
          <a:p>
            <a:r>
              <a:t>Không yêu cầu sinh viên nhớ thuộc cú pháp — khi thực hành các em sẽ dùng AI hỗ trợ.</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a:t>
            </a:r>
            <a:r>
              <a:rPr lang="en-US"/>
              <a:t> </a:t>
            </a:r>
            <a:r>
              <a:t>)</a:t>
            </a:r>
          </a:p>
          <a:p>
            <a:r>
              <a:t>Trình tự đúng khi kết hợp tìm kiếm và phân trang: (1) lọc toàn bộ tập dữ liệu theo từ khóa search bằng where + Op.like (ví dụ tìm họ tên có chữ 'Anh'); (2) đếm tổng số kết quả phù hợp; (3) sắp xếp và lấy đúng trang bằng limit/offset.</a:t>
            </a:r>
          </a:p>
          <a:p>
            <a:r>
              <a:t>ĐÁP ÁN câu hỏi: KHÔNG. Phải tìm kiếm trong toàn bộ tập dữ liệu phù hợp trước rồi mới phân trang. Nếu phân trang trước (chỉ lấy 10 bản ghi) rồi mới tìm trên 10 bản ghi đó, kết quả sẽ thiếu — ví dụ một bạn tên Anh ở trang 5 sẽ không bao giờ xuất hiện.</a:t>
            </a:r>
          </a:p>
          <a:p>
            <a:endParaRPr/>
          </a:p>
          <a:p>
            <a:r>
              <a:t>MINH HOẠ BỔ SUNG</a:t>
            </a:r>
          </a:p>
          <a:p>
            <a:r>
              <a:t>Ảnh chụp ứng dụng demo chạy cục bộ, tạo phục vụ bài giảng, dữ liệu sinh viên giả lập. Truy vấn đọc SQL Server dùng bảng tạm #SinhVien và #Lop, không sửa dữ liệu có sẵn. Ảnh là giao diện riêng của demo, không phải Postman hoặc SSMS.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a:t>
            </a:r>
            <a:r>
              <a:rPr lang="en-US"/>
              <a:t> </a:t>
            </a:r>
            <a:r>
              <a:t>) — slide chốt Phần 1</a:t>
            </a:r>
          </a:p>
          <a:p>
            <a:r>
              <a:t>Đi theo mũi tên từ trái sang phải: người dùng bấm trang 2 trên giao diện Vite/React → Axios gửi HTTP GET với query ?page=2&amp;limit=10 → Express nhận request, Controller gọi Service → Sequelize chạy findAndCountAll() → SQL Server thực thi OFFSET…FETCH NEXT và trả kết quả về.</a:t>
            </a:r>
          </a:p>
          <a:p>
            <a:r>
              <a:t>Nhấn mạnh với lớp: Axios KHÔNG chạy truy vấn SQL — nó chỉ gửi HTTP request; Backend mới nói chuyện với Database. Đây là slide kết nối kiến thức Buổi 9 (Axios) với bài hôm nay.</a:t>
            </a:r>
          </a:p>
          <a:p>
            <a:r>
              <a:t>Response chuẩn có: success, message, data (bản ghi của trang), pagination (page, limit, totalItems, totalPages). Trong ví dụ: tổng 35 bản ghi, 10 bản ghi/trang → 4 trang.</a:t>
            </a:r>
          </a:p>
          <a:p>
            <a:endParaRPr/>
          </a:p>
          <a:p>
            <a:r>
              <a:t>MINH HOẠ BỔ SUNG</a:t>
            </a:r>
          </a:p>
          <a:p>
            <a:r>
              <a:t>Ảnh chụp ứng dụng demo chạy cục bộ, tạo phục vụ bài giảng, dữ liệu sinh viên giả lập. Truy vấn đọc SQL Server dùng bảng tạm #SinhVien và #Lop, không sửa dữ liệu có sẵn. Ảnh là giao diện riêng của demo, không phải Postman hoặc SSMS. HTTP request và metadata lấy từ demo thật. Phần data được rút gọn bằng dấu … để dễ đọc, không phải JSON để sao chép chạy.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(2 phút)</a:t>
            </a:r>
          </a:p>
          <a:p>
            <a:r>
              <a:t>Slide này giới thiệu hai kỹ thuật truy vấn nâng cao ở mức biết thêm.</a:t>
            </a:r>
          </a:p>
          <a:p>
            <a:r>
              <a:t>A. JOIN: khi dữ liệu nằm ở nhiều bảng (tên lớp ở bảng Lop, thông tin SV ở bảng SinhVien), dùng JOIN qua khóa maLop để lấy kết quả kết hợp: tên sinh viên + mã lớp + tên lớp. Trong Sequelize, dùng include khi đã khai báo Association phù hợp.</a:t>
            </a:r>
          </a:p>
          <a:p>
            <a:r>
              <a:t>B. Lấy 5 bản ghi mới nhất: sắp xếp giảm dần theo thời gian tạo (DESC) và limit 5. Nhấn mạnh điều kiện: chỉ áp dụng khi bảng/Model thực sự có trường createdAt hoặc một trường thời gian tạo tương đương.</a:t>
            </a:r>
          </a:p>
          <a:p>
            <a:r>
              <a:t>Chốt: đây là nội dung mở rộng, sinh viên có thể nhờ AI thực hành thêm sau buổi học; hai Lab bắt buộc chỉ tập trung Pagination + Search và Global Error Handling.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a:t>
            </a:r>
            <a:r>
              <a:rPr lang="en-US"/>
              <a:t> </a:t>
            </a:r>
            <a:r>
              <a:t>)</a:t>
            </a:r>
          </a:p>
          <a:p>
            <a:r>
              <a:t>Ba tình huống thực tế: (1) người dùng gửi page = -5 → lỗi 400 (dữ liệu đầu vào sai); (2) tìm sinh viên SV999 không tồn tại → lỗi 404; (3) SQL Server gặp sự cố → lỗi 500.</a:t>
            </a:r>
          </a:p>
          <a:p>
            <a:r>
              <a:t>Dù là lỗi nào, Response đều có cùng một cấu trúc JSON: success, message, data. Nguyên tắc an toàn: lỗi hệ thống KHÔNG được làm lộ mật khẩu, thông tin kết nối hoặc stack trace cho Client — đó là thông tin chỉ dùng để debug phía server.</a:t>
            </a:r>
          </a:p>
          <a:p>
            <a:r>
              <a:t>Nhắc lại nhanh 401/403 đã học ở bài JWT, nhưng trong thực hành hôm nay chỉ tập trung ba lỗi 400, 404, 500.</a:t>
            </a:r>
          </a:p>
          <a:p>
            <a:endParaRPr/>
          </a:p>
          <a:p>
            <a:r>
              <a:t>MINH HOẠ BỔ SUNG</a:t>
            </a:r>
          </a:p>
          <a:p>
            <a:r>
              <a:t>Ảnh chụp ứng dụng demo chạy cục bộ, tạo phục vụ bài giảng, dữ liệu sinh viên giả lập. Truy vấn đọc SQL Server dùng bảng tạm #SinhVien và #Lop, không sửa dữ liệu có sẵn. Ảnh là giao diện riêng của demo, không phải Postman hoặc SSMS. Lỗi 400/404 được tạo bằng đầu vào không hợp lệ hoặc mã không có. HTTP 500 được mô phỏng có chủ đích ở /api/dev/error, không ngắt SQL Server.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a:t>
            </a:r>
            <a:r>
              <a:rPr lang="en-US"/>
              <a:t> </a:t>
            </a:r>
            <a:r>
              <a:t>)</a:t>
            </a:r>
          </a:p>
          <a:p>
            <a:r>
              <a:t>Ý tưởng Global Error Handling: thay vì mỗi Controller tự bắt lỗi và tự dựng Response theo một kiểu khác nhau, mọi lỗi được 'gom' về một nơi xử lý tập trung.</a:t>
            </a:r>
          </a:p>
          <a:p>
            <a:r>
              <a:t>Hai thành phần: (1) AppError — class biểu diễn lỗi có chủ đích do mình tạo ra, ví dụ tham số page không hợp lệ (throw new AppError(400, 'Tham số page không hợp lệ')); (2) errorHandler — Error Middleware cuối cùng tiếp nhận mọi lỗi, chuyển thành HTTP status + JSON nhất quán trả về Client.</a:t>
            </a:r>
          </a:p>
          <a:p>
            <a:r>
              <a:t>Nhấn mạnh với lớp: sinh viên phải tận dụng AppError và Error Middleware ĐÃ CÓ trong project cũ — nhiệm vụ của Lab 2 là rà soát và chuẩn hóa, không xóa đi viết lại từ đầu.</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a:t>
            </a:r>
            <a:r>
              <a:rPr lang="en-US"/>
              <a:t> </a:t>
            </a:r>
            <a:r>
              <a:t>)</a:t>
            </a:r>
          </a:p>
          <a:p>
            <a:r>
              <a:t>Khi một route dùng async/await gọi Database, nếu SQL Server lỗi, Promise sẽ bị reject. Trong Express 5, lỗi từ async handler trả về Promise được framework tự động chuyển tới Error Middleware — không cần bọc thêm.</a:t>
            </a:r>
          </a:p>
          <a:p>
            <a:r>
              <a:t>asyncHandler là kỹ thuật bọc các hàm async để chuyển lỗi thủ công, rất phổ biến trong dự án Express 4 và vẫn xuất hiện ở nhiều codebase sinh viên sẽ gặp khi đi làm — nên cần biết để đọc hiểu.</a:t>
            </a:r>
          </a:p>
          <a:p>
            <a:r>
              <a:t>Ghi nhớ: không phải cứ thấy async là bọc try-catch hay asyncHandler một cách máy móc. Những lỗi cần xử lý/phục hồi ngay tại chỗ (ví dụ fallback) thì try-catch tại Controller vẫn hợp lý.</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GIẢNG (</a:t>
            </a:r>
            <a:r>
              <a:rPr lang="en-US"/>
              <a:t> </a:t>
            </a:r>
            <a:r>
              <a:t>)</a:t>
            </a:r>
          </a:p>
          <a:p>
            <a:r>
              <a:t>Quy trình Vibe Coding gồm 5 bước: Mô tả yêu cầu → Viết Prompt → AI sửa code → Chạy thử → Review.</a:t>
            </a:r>
          </a:p>
          <a:p>
            <a:r>
              <a:t>Nhắc lại kỹ thuật viết prompt CTCO đã học ở các buổi trước: Context (ngữ cảnh) – Task (nhiệm vụ) – Constraint (ràng buộc) – Output (đầu ra mong muốn). Khi thực hành, nên bổ sung yêu cầu kiểm thử cụ thể.</a:t>
            </a:r>
          </a:p>
          <a:p>
            <a:r>
              <a:t>Chốt quy tắc: AI được phép hỗ trợ viết code, nhưng sinh viên phải biết mình đang sửa file nào và vì sao, chạy API để kiểm chứng, và giải thích được những dòng code quan trọng. Không copy–paste mù quáng: code không chạy được hoặc không giải thích được thì không tính là hoàn thành.</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1 — PHÂN TRANG VÀ TÌM KIẾM (40 phút)</a:t>
            </a:r>
          </a:p>
          <a:p>
            <a:r>
              <a:t>MỞ ĐẦU (5 phút): sinh viên mở project backend-quan-ly-sinh-vien, chạy pnpm build, pnpm dev và gọi thử GET danh sách cũ để chắc chắn project đang chạy. Sau đó mới gửi prompt cho AI.</a:t>
            </a:r>
          </a:p>
          <a:p>
            <a:endParaRPr/>
          </a:p>
          <a:p>
            <a:r>
              <a:t>PROMPT ĐẦY ĐỦ (sinh viên sao chép từ Notes):</a:t>
            </a:r>
          </a:p>
          <a:p>
            <a:r>
              <a:t>“Tôi đang tiếp tục dự án quản lý sinh viên bằng Express 5, TypeScript, Sequelize 6 và SQL Server. Hãy đọc các file hiện tại trước khi sửa. Nâng cấp GET danh sách hỗ trợ page, limit, search, sử dụng findAndCountAll, giữ cấu trúc cũ, validate query, không tạo project mới. Chỉ ra file thay đổi, giải thích code và hướng dẫn kiểm thử bằng Postman.”</a:t>
            </a:r>
          </a:p>
          <a:p>
            <a:endParaRPr/>
          </a:p>
          <a:p>
            <a:r>
              <a:t>THỜI GIAN: khoảng 25 phút triển khai cùng AI, sau đó kiểm thử theo slide 17. Nhóm xong sớm: tích hợp thêm Axios vào Frontend Vite (ô tìm kiếm, nút chuyển trang).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KIỂM THỬ LAB 1</a:t>
            </a:r>
          </a:p>
          <a:p>
            <a:r>
              <a:t>5 ca kiểm thử bắt buộc trên slide. Lưu ý Test 2 phải kiểm tra dữ liệu KHÔNG trùng với trang 1 — đây là dấu hiệu offset tính đúng và có ORDER BY ổn định.</a:t>
            </a:r>
          </a:p>
          <a:p>
            <a:r>
              <a:t>Test 4 và 5 là kiểm thử validate: page=-1 và limit=abc phải trả HTTP 400 thay vì lỗi 500 hoặc kết quả kỳ lạ. Hai ca này nối trực tiếp sang nội dung Lab 2.</a:t>
            </a:r>
          </a:p>
          <a:p>
            <a:r>
              <a:t>PHÂN BỔ: 25 phút triển khai với AI + 10 phút kiểm thử (tổng trong khung 40 phút của Lab 1 kể cả 5 phút mở đầu ở slide 16).</a:t>
            </a:r>
          </a:p>
          <a:p>
            <a:r>
              <a:t>ĐIỂM DỪNG: không chuyển sang Lab 2 nếu API CRUD cũ bị hỏng hoặc các ca cơ bản chưa đạt — dừng lại sửa cho xong trước.</a:t>
            </a:r>
          </a:p>
          <a:p>
            <a:endParaRPr/>
          </a:p>
          <a:p>
            <a:r>
              <a:t>MINH HOẠ BỔ SUNG</a:t>
            </a:r>
          </a:p>
          <a:p>
            <a:r>
              <a:t>Ảnh chụp ứng dụng demo chạy cục bộ, tạo phục vụ bài giảng, dữ liệu sinh viên giả lập. Truy vấn đọc SQL Server dùng bảng tạm #SinhVien và #Lop, không sửa dữ liệu có sẵn. Ảnh là giao diện riêng của demo, không phải Postman hoặc SSMS. </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2 — XỬ LÝ LỖI TẬP TRUNG (30 phút)</a:t>
            </a:r>
          </a:p>
          <a:p>
            <a:r>
              <a:t>Sinh viên bắt đầu bằng việc ĐỌC code hiện tại: AppError (src/utils/AppError.ts), Error Middleware (src/middlewares/error.middleware.ts) và Controller sinh viên (src/controllers/sinhVien.controller.ts) — xem project đã có những gì trước khi nhờ AI chỉnh sửa.</a:t>
            </a:r>
          </a:p>
          <a:p>
            <a:r>
              <a:t>Prompt trên slide yêu cầu AI: kiểm tra 400/404/500 đã xử lý tập trung và trả JSON nhất quán chưa, đề xuất chỉnh sửa NHỎ NHẤT, giữ nguyên cấu trúc, đúng cơ chế Express 5, kèm hướng dẫn kiểm thử.</a:t>
            </a:r>
          </a:p>
          <a:p>
            <a:r>
              <a:t>PHÂN BỔ: 15 phút rà soát và sửa code, 10 phút kiểm thử (slide 19), còn lại dự phòng.</a:t>
            </a:r>
          </a:p>
          <a:p>
            <a:r>
              <a:t>Cảnh báo với lớp: không được xóa middleware cũ rồi tạo bộ xử lý lỗi khác khi chưa hiểu code hiện tại.</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KIỂM THỬ LAB 2</a:t>
            </a:r>
          </a:p>
          <a:p>
            <a:r>
              <a:t>Ba ca kiểm thử bằng cách CỐ TÌNH tạo lỗi: (1) 400 — truyền page=-5; (2) 404 — gọi GET sinh viên SV999 không tồn tại; (3) 500 — giả lập lỗi nội bộ bằng một test route chỉ dùng trong môi trường phát triển (dev).</a:t>
            </a:r>
          </a:p>
          <a:p>
            <a:r>
              <a:t>Kiểm tra ở mỗi ca: HTTP status đúng? JSON có cùng định dạng {success: false, message, data: null}? Có lộ stack trace hay thông tin nhạy cảm không?</a:t>
            </a:r>
          </a:p>
          <a:p>
            <a:r>
              <a:t>PHÂN BỔ: 15 phút rà soát/sửa code + 10 phút kiểm thử.</a:t>
            </a:r>
          </a:p>
          <a:p>
            <a:r>
              <a:t>NHẮC LẠI trước khi kết thúc Lab 2: nếu nhóm nào tạo route test 500 tạm thời thì phải xóa route đó trước khi nộp bài.</a:t>
            </a:r>
          </a:p>
          <a:p>
            <a:endParaRPr/>
          </a:p>
          <a:p>
            <a:r>
              <a:t>MINH HOẠ BỔ SUNG</a:t>
            </a:r>
          </a:p>
          <a:p>
            <a:r>
              <a:t>Ảnh chụp ứng dụng demo chạy cục bộ, tạo phục vụ bài giảng, dữ liệu sinh viên giả lập. Truy vấn đọc SQL Server dùng bảng tạm #SinhVien và #Lop, không sửa dữ liệu có sẵn. Ảnh là giao diện riêng của demo, không phải Postman hoặc SSMS. Lỗi 400/404 được tạo bằng đầu vào không hợp lệ hoặc mã không có. HTTP 500 được mô phỏng có chủ đích ở /api/dev/error, không ngắt SQL Server.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9759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1211680"/>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6"/>
        </a:solidFill>
        <a:effectLst/>
      </p:bgPr>
    </p:bg>
    <p:spTree>
      <p:nvGrpSpPr>
        <p:cNvPr id="1" name=""/>
        <p:cNvGrpSpPr/>
        <p:nvPr/>
      </p:nvGrpSpPr>
      <p:grpSpPr>
        <a:xfrm>
          <a:off x="0" y="0"/>
          <a:ext cx="0" cy="0"/>
          <a:chOff x="0" y="0"/>
          <a:chExt cx="0" cy="0"/>
        </a:xfrm>
      </p:grpSpPr>
      <p:sp>
        <p:nvSpPr>
          <p:cNvPr id="2" name="Shape 0"/>
          <p:cNvSpPr/>
          <p:nvPr/>
        </p:nvSpPr>
        <p:spPr>
          <a:xfrm>
            <a:off x="731520" y="694944"/>
            <a:ext cx="78638" cy="594360"/>
          </a:xfrm>
          <a:prstGeom prst="rect">
            <a:avLst/>
          </a:prstGeom>
          <a:solidFill>
            <a:srgbClr val="00A2B5"/>
          </a:solidFill>
          <a:ln w="12700">
            <a:solidFill>
              <a:srgbClr val="00A2B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mo"/>
              <a:ea typeface="+mn-ea"/>
              <a:cs typeface="+mn-cs"/>
            </a:endParaRPr>
          </a:p>
        </p:txBody>
      </p:sp>
      <p:sp>
        <p:nvSpPr>
          <p:cNvPr id="3" name="Text 1"/>
          <p:cNvSpPr/>
          <p:nvPr/>
        </p:nvSpPr>
        <p:spPr>
          <a:xfrm>
            <a:off x="978408" y="840834"/>
            <a:ext cx="6172200" cy="30175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20" b="1" i="0" u="none" strike="noStrike" kern="0" cap="none" spc="110" normalizeH="0" baseline="0" noProof="0" dirty="0">
                <a:ln>
                  <a:noFill/>
                </a:ln>
                <a:solidFill>
                  <a:srgbClr val="62D5E0"/>
                </a:solidFill>
                <a:effectLst/>
                <a:uLnTx/>
                <a:uFillTx/>
                <a:latin typeface="Arimo" pitchFamily="34" charset="0"/>
                <a:ea typeface="Arimo" pitchFamily="34" charset="-122"/>
                <a:cs typeface="Arimo" pitchFamily="34" charset="-120"/>
              </a:rPr>
              <a:t>HỌC PHẦN LẬP TRÌNH BACKEND</a:t>
            </a:r>
            <a:endParaRPr kumimoji="0" lang="en-US" sz="1520" b="0" i="0" u="none" strike="noStrike" kern="1200" cap="none" spc="0" normalizeH="0" baseline="0" noProof="0" dirty="0">
              <a:ln>
                <a:noFill/>
              </a:ln>
              <a:solidFill>
                <a:prstClr val="black"/>
              </a:solidFill>
              <a:effectLst/>
              <a:uLnTx/>
              <a:uFillTx/>
              <a:ea typeface="+mn-ea"/>
              <a:cs typeface="+mn-cs"/>
            </a:endParaRPr>
          </a:p>
        </p:txBody>
      </p:sp>
      <p:sp>
        <p:nvSpPr>
          <p:cNvPr id="5" name="Text 3"/>
          <p:cNvSpPr/>
          <p:nvPr/>
        </p:nvSpPr>
        <p:spPr>
          <a:xfrm>
            <a:off x="810158" y="1451402"/>
            <a:ext cx="6858000" cy="170992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570" b="1" i="0" u="none" strike="noStrike" kern="1200" cap="none" spc="0" normalizeH="0" baseline="0" noProof="0" dirty="0">
                <a:ln>
                  <a:noFill/>
                </a:ln>
                <a:solidFill>
                  <a:srgbClr val="FFFFFF"/>
                </a:solidFill>
                <a:effectLst/>
                <a:uLnTx/>
                <a:uFillTx/>
                <a:latin typeface="Arimo" pitchFamily="34" charset="0"/>
                <a:ea typeface="Arimo" pitchFamily="34" charset="-122"/>
                <a:cs typeface="Arimo" pitchFamily="34" charset="-120"/>
              </a:rPr>
              <a:t>PHÂN TRANG</a:t>
            </a:r>
            <a:endParaRPr kumimoji="0" lang="en-US" sz="4570" b="0" i="0" u="none" strike="noStrike" kern="1200" cap="none" spc="0" normalizeH="0" baseline="0" noProof="0" dirty="0">
              <a:ln>
                <a:noFill/>
              </a:ln>
              <a:solidFill>
                <a:prstClr val="black"/>
              </a:solidFill>
              <a:effectLst/>
              <a:uLnTx/>
              <a:uFillTx/>
              <a:latin typeface="Arim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570" b="1" i="0" u="none" strike="noStrike" kern="1200" cap="none" spc="0" normalizeH="0" baseline="0" noProof="0" dirty="0">
                <a:ln>
                  <a:noFill/>
                </a:ln>
                <a:solidFill>
                  <a:srgbClr val="FFFFFF"/>
                </a:solidFill>
                <a:effectLst/>
                <a:uLnTx/>
                <a:uFillTx/>
                <a:latin typeface="Arimo" pitchFamily="34" charset="0"/>
                <a:ea typeface="Arimo" pitchFamily="34" charset="-122"/>
                <a:cs typeface="Arimo" pitchFamily="34" charset="-120"/>
              </a:rPr>
              <a:t>&amp; XỬ LÝ LỖI</a:t>
            </a:r>
            <a:endParaRPr kumimoji="0" lang="en-US" sz="4570" b="0" i="0" u="none" strike="noStrike" kern="1200" cap="none" spc="0" normalizeH="0" baseline="0" noProof="0" dirty="0">
              <a:ln>
                <a:noFill/>
              </a:ln>
              <a:solidFill>
                <a:prstClr val="black"/>
              </a:solidFill>
              <a:effectLst/>
              <a:uLnTx/>
              <a:uFillTx/>
              <a:latin typeface="Arimo"/>
              <a:ea typeface="+mn-ea"/>
              <a:cs typeface="+mn-cs"/>
            </a:endParaRPr>
          </a:p>
        </p:txBody>
      </p:sp>
      <p:sp>
        <p:nvSpPr>
          <p:cNvPr id="6" name="Shape 4"/>
          <p:cNvSpPr/>
          <p:nvPr/>
        </p:nvSpPr>
        <p:spPr>
          <a:xfrm>
            <a:off x="832104" y="3840480"/>
            <a:ext cx="685800" cy="77724"/>
          </a:xfrm>
          <a:prstGeom prst="rect">
            <a:avLst/>
          </a:prstGeom>
          <a:solidFill>
            <a:srgbClr val="00A2B5"/>
          </a:solidFill>
          <a:ln w="12700">
            <a:solidFill>
              <a:srgbClr val="00A2B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mo"/>
              <a:ea typeface="+mn-ea"/>
              <a:cs typeface="+mn-cs"/>
            </a:endParaRPr>
          </a:p>
        </p:txBody>
      </p:sp>
      <p:sp>
        <p:nvSpPr>
          <p:cNvPr id="7" name="Text 5"/>
          <p:cNvSpPr/>
          <p:nvPr/>
        </p:nvSpPr>
        <p:spPr>
          <a:xfrm>
            <a:off x="850392" y="4096512"/>
            <a:ext cx="6647688" cy="630936"/>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30" b="0" i="0" u="none" strike="noStrike" kern="1200" cap="none" spc="0" normalizeH="0" baseline="0" noProof="0" dirty="0">
                <a:ln>
                  <a:noFill/>
                </a:ln>
                <a:solidFill>
                  <a:srgbClr val="C0D7E6"/>
                </a:solidFill>
                <a:effectLst/>
                <a:uLnTx/>
                <a:uFillTx/>
                <a:latin typeface="Arimo" pitchFamily="34" charset="0"/>
                <a:ea typeface="Arimo" pitchFamily="34" charset="-122"/>
                <a:cs typeface="Arimo" pitchFamily="34" charset="-120"/>
              </a:rPr>
              <a:t>Pagination  ·  Search  ·  Sequelize  ·  Global Error Handling</a:t>
            </a:r>
            <a:endParaRPr kumimoji="0" lang="en-US" sz="1830" b="0" i="0" u="none" strike="noStrike" kern="1200" cap="none" spc="0" normalizeH="0" baseline="0" noProof="0" dirty="0">
              <a:ln>
                <a:noFill/>
              </a:ln>
              <a:solidFill>
                <a:prstClr val="black"/>
              </a:solidFill>
              <a:effectLst/>
              <a:uLnTx/>
              <a:uFillTx/>
              <a:latin typeface="Arimo"/>
              <a:ea typeface="+mn-ea"/>
              <a:cs typeface="+mn-cs"/>
            </a:endParaRPr>
          </a:p>
        </p:txBody>
      </p:sp>
      <p:sp>
        <p:nvSpPr>
          <p:cNvPr id="60" name="Text 58"/>
          <p:cNvSpPr/>
          <p:nvPr/>
        </p:nvSpPr>
        <p:spPr>
          <a:xfrm>
            <a:off x="841248" y="6217920"/>
            <a:ext cx="8778240" cy="24688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9DBDCE"/>
                </a:solidFill>
                <a:effectLst/>
                <a:uLnTx/>
                <a:uFillTx/>
                <a:latin typeface="Arimo" pitchFamily="34" charset="0"/>
                <a:ea typeface="Arimo" pitchFamily="34" charset="-122"/>
                <a:cs typeface="Arimo" pitchFamily="34" charset="-120"/>
              </a:rPr>
              <a:t>TIẾP NỐI PROJECT: backend-quan-ly-sinh-vien</a:t>
            </a:r>
            <a:endParaRPr kumimoji="0" lang="en-US" sz="1150" b="0" i="0" u="none" strike="noStrike" kern="1200" cap="none" spc="0" normalizeH="0" baseline="0" noProof="0" dirty="0">
              <a:ln>
                <a:noFill/>
              </a:ln>
              <a:solidFill>
                <a:prstClr val="black"/>
              </a:solidFill>
              <a:effectLst/>
              <a:uLnTx/>
              <a:uFillTx/>
              <a:latin typeface="Arimo"/>
              <a:ea typeface="+mn-ea"/>
              <a:cs typeface="+mn-cs"/>
            </a:endParaRPr>
          </a:p>
        </p:txBody>
      </p:sp>
      <p:pic>
        <p:nvPicPr>
          <p:cNvPr id="1001" name="Demo 01-movies" descr="Website danh mục phim demo có ảnh phong cảnh thật và thanh chuyển trang. Tên phim là giả lập."/>
          <p:cNvPicPr>
            <a:picLocks noChangeAspect="1"/>
          </p:cNvPicPr>
          <p:nvPr/>
        </p:nvPicPr>
        <p:blipFill>
          <a:blip r:embed="rId3"/>
          <a:stretch>
            <a:fillRect/>
          </a:stretch>
        </p:blipFill>
        <p:spPr>
          <a:xfrm>
            <a:off x="7086600" y="935696"/>
            <a:ext cx="4434840" cy="52517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0B5FA5"/>
                </a:solidFill>
                <a:effectLst/>
                <a:uLnTx/>
                <a:uFillTx/>
                <a:latin typeface="Segoe UI"/>
                <a:ea typeface="+mn-ea"/>
                <a:cs typeface="+mn-cs"/>
              </a:rPr>
              <a:t>PHẦN 1 · GIỚI THIỆU VÀ TRUY VẤN PHÂN TRANG</a:t>
            </a:r>
          </a:p>
        </p:txBody>
      </p:sp>
      <p:sp>
        <p:nvSpPr>
          <p:cNvPr id="4" name="TextBox 3"/>
          <p:cNvSpPr txBox="1"/>
          <p:nvPr/>
        </p:nvSpPr>
        <p:spPr>
          <a:xfrm>
            <a:off x="9613087" y="292608"/>
            <a:ext cx="2011680" cy="176972"/>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64748B"/>
                </a:solidFill>
                <a:effectLst/>
                <a:uLnTx/>
                <a:uFillTx/>
                <a:latin typeface="Segoe UI"/>
                <a:ea typeface="+mn-ea"/>
                <a:cs typeface="+mn-cs"/>
              </a:rPr>
              <a:t> </a:t>
            </a:r>
            <a:endParaRPr kumimoji="0" sz="1150" b="1" i="0" u="none" strike="noStrike" kern="1200" cap="none" spc="0" normalizeH="0" baseline="0" noProof="0">
              <a:ln>
                <a:noFill/>
              </a:ln>
              <a:solidFill>
                <a:srgbClr val="64748B"/>
              </a:solidFill>
              <a:effectLst/>
              <a:uLnTx/>
              <a:uFillTx/>
              <a:latin typeface="Segoe UI"/>
              <a:ea typeface="+mn-ea"/>
              <a:cs typeface="+mn-cs"/>
            </a:endParaRP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1" i="0" u="none" strike="noStrike" kern="1200" cap="none" spc="0" normalizeH="0" baseline="0" noProof="0">
                <a:ln>
                  <a:noFill/>
                </a:ln>
                <a:solidFill>
                  <a:srgbClr val="1B2A3B"/>
                </a:solidFill>
                <a:effectLst/>
                <a:uLnTx/>
                <a:uFillTx/>
                <a:latin typeface="Segoe UI"/>
                <a:ea typeface="+mn-ea"/>
                <a:cs typeface="+mn-cs"/>
              </a:rPr>
              <a:t>Tại sao website xem phim phải phân trang?</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64748B"/>
                </a:solidFill>
                <a:effectLst/>
                <a:uLnTx/>
                <a:uFillTx/>
                <a:latin typeface="Segoe UI"/>
                <a:ea typeface="+mn-ea"/>
                <a:cs typeface="+mn-cs"/>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64748B"/>
                </a:solidFill>
                <a:effectLst/>
                <a:uLnTx/>
                <a:uFillTx/>
                <a:latin typeface="Segoe UI"/>
                <a:ea typeface="+mn-ea"/>
                <a:cs typeface="+mn-cs"/>
              </a:rPr>
              <a:t>2 / 20</a:t>
            </a:r>
          </a:p>
        </p:txBody>
      </p:sp>
      <p:sp>
        <p:nvSpPr>
          <p:cNvPr id="9" name="TextBox 8"/>
          <p:cNvSpPr txBox="1"/>
          <p:nvPr/>
        </p:nvSpPr>
        <p:spPr>
          <a:xfrm>
            <a:off x="566928" y="1389888"/>
            <a:ext cx="10972800" cy="36576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50" b="0" i="0" u="none" strike="noStrike" kern="1200" cap="none" spc="0" normalizeH="0" baseline="0" noProof="0">
                <a:ln>
                  <a:noFill/>
                </a:ln>
                <a:solidFill>
                  <a:srgbClr val="1B2A3B"/>
                </a:solidFill>
                <a:effectLst/>
                <a:uLnTx/>
                <a:uFillTx/>
                <a:latin typeface="Segoe UI"/>
                <a:ea typeface="+mn-ea"/>
                <a:cs typeface="+mn-cs"/>
              </a:rPr>
              <a:t>Tình huống: một website có 50.000 bộ phim.</a:t>
            </a:r>
          </a:p>
        </p:txBody>
      </p:sp>
      <p:sp>
        <p:nvSpPr>
          <p:cNvPr id="10" name="Rounded Rectangle 9"/>
          <p:cNvSpPr/>
          <p:nvPr/>
        </p:nvSpPr>
        <p:spPr>
          <a:xfrm>
            <a:off x="566928" y="1874519"/>
            <a:ext cx="5440680" cy="265176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566928" y="1874519"/>
            <a:ext cx="5440680" cy="128016"/>
          </a:xfrm>
          <a:prstGeom prst="rect">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886968" y="2084831"/>
            <a:ext cx="4937760" cy="41148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D64545"/>
                </a:solidFill>
                <a:effectLst/>
                <a:uLnTx/>
                <a:uFillTx/>
                <a:latin typeface="Segoe UI"/>
                <a:ea typeface="+mn-ea"/>
                <a:cs typeface="+mn-cs"/>
              </a:rPr>
              <a:t>Cách 1 — Lấy toàn bộ</a:t>
            </a:r>
          </a:p>
        </p:txBody>
      </p:sp>
      <p:sp>
        <p:nvSpPr>
          <p:cNvPr id="13" name="TextBox 12"/>
          <p:cNvSpPr txBox="1"/>
          <p:nvPr/>
        </p:nvSpPr>
        <p:spPr>
          <a:xfrm>
            <a:off x="886968" y="2606040"/>
            <a:ext cx="4892040" cy="1097280"/>
          </a:xfrm>
          <a:prstGeom prst="rect">
            <a:avLst/>
          </a:prstGeom>
          <a:noFill/>
        </p:spPr>
        <p:txBody>
          <a:bodyPr wrap="square" lIns="0" tIns="0" rIns="0" bIns="0" anchor="t">
            <a:spAutoFit/>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kumimoji="0" sz="1500" b="0" i="0" u="none" strike="noStrike" kern="1200" cap="none" spc="0" normalizeH="0" baseline="0" noProof="0">
                <a:ln>
                  <a:noFill/>
                </a:ln>
                <a:solidFill>
                  <a:srgbClr val="1B2A3B"/>
                </a:solidFill>
                <a:effectLst/>
                <a:uLnTx/>
                <a:uFillTx/>
                <a:latin typeface="Segoe UI"/>
                <a:ea typeface="+mn-ea"/>
                <a:cs typeface="+mn-cs"/>
              </a:rPr>
              <a:t>Truy vấn và gửi 50.000 bộ phim</a:t>
            </a:r>
          </a:p>
          <a:p>
            <a:pPr marL="0" marR="0" lvl="0" indent="0" algn="l" defTabSz="457200" rtl="0" eaLnBrk="1" fontAlgn="auto" latinLnBrk="0" hangingPunct="1">
              <a:lnSpc>
                <a:spcPct val="115000"/>
              </a:lnSpc>
              <a:spcBef>
                <a:spcPts val="0"/>
              </a:spcBef>
              <a:spcAft>
                <a:spcPts val="0"/>
              </a:spcAft>
              <a:buClrTx/>
              <a:buSzTx/>
              <a:buFontTx/>
              <a:buNone/>
              <a:tabLst/>
              <a:defRPr/>
            </a:pPr>
            <a:r>
              <a:rPr kumimoji="0" sz="1500" b="0" i="0" u="none" strike="noStrike" kern="1200" cap="none" spc="0" normalizeH="0" baseline="0" noProof="0">
                <a:ln>
                  <a:noFill/>
                </a:ln>
                <a:solidFill>
                  <a:srgbClr val="1B2A3B"/>
                </a:solidFill>
                <a:effectLst/>
                <a:uLnTx/>
                <a:uFillTx/>
                <a:latin typeface="Segoe UI"/>
                <a:ea typeface="+mn-ea"/>
                <a:cs typeface="+mn-cs"/>
              </a:rPr>
              <a:t>ngay khi mở trang.</a:t>
            </a:r>
          </a:p>
        </p:txBody>
      </p:sp>
      <p:sp>
        <p:nvSpPr>
          <p:cNvPr id="14" name="TextBox 13"/>
          <p:cNvSpPr txBox="1"/>
          <p:nvPr/>
        </p:nvSpPr>
        <p:spPr>
          <a:xfrm>
            <a:off x="886968" y="3794760"/>
            <a:ext cx="4892040" cy="54864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50" b="0" i="1" u="none" strike="noStrike" kern="1200" cap="none" spc="0" normalizeH="0" baseline="0" noProof="0">
                <a:ln>
                  <a:noFill/>
                </a:ln>
                <a:solidFill>
                  <a:srgbClr val="64748B"/>
                </a:solidFill>
                <a:effectLst/>
                <a:uLnTx/>
                <a:uFillTx/>
                <a:latin typeface="Segoe UI"/>
                <a:ea typeface="+mn-ea"/>
                <a:cs typeface="+mn-cs"/>
              </a:rPr>
              <a:t>Chậm · tốn băng thông · dễ treo giao diện</a:t>
            </a:r>
          </a:p>
        </p:txBody>
      </p:sp>
      <p:sp>
        <p:nvSpPr>
          <p:cNvPr id="15" name="Rounded Rectangle 14"/>
          <p:cNvSpPr/>
          <p:nvPr/>
        </p:nvSpPr>
        <p:spPr>
          <a:xfrm>
            <a:off x="6236208" y="1874519"/>
            <a:ext cx="5394960" cy="265176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6236208" y="1874519"/>
            <a:ext cx="5394960" cy="128016"/>
          </a:xfrm>
          <a:prstGeom prst="rect">
            <a:avLst/>
          </a:prstGeom>
          <a:solidFill>
            <a:srgbClr val="1B9E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6556248" y="2084831"/>
            <a:ext cx="4892040" cy="41148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1B9E6B"/>
                </a:solidFill>
                <a:effectLst/>
                <a:uLnTx/>
                <a:uFillTx/>
                <a:latin typeface="Segoe UI"/>
                <a:ea typeface="+mn-ea"/>
                <a:cs typeface="+mn-cs"/>
              </a:rPr>
              <a:t>Cách 2 — Phân trang</a:t>
            </a:r>
          </a:p>
        </p:txBody>
      </p:sp>
      <p:sp>
        <p:nvSpPr>
          <p:cNvPr id="18" name="TextBox 17"/>
          <p:cNvSpPr txBox="1"/>
          <p:nvPr/>
        </p:nvSpPr>
        <p:spPr>
          <a:xfrm>
            <a:off x="6556248" y="2606040"/>
            <a:ext cx="4846320" cy="1097280"/>
          </a:xfrm>
          <a:prstGeom prst="rect">
            <a:avLst/>
          </a:prstGeom>
          <a:noFill/>
        </p:spPr>
        <p:txBody>
          <a:bodyPr wrap="square" lIns="0" tIns="0" rIns="0" bIns="0" anchor="t">
            <a:spAutoFit/>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kumimoji="0" sz="1500" b="0" i="0" u="none" strike="noStrike" kern="1200" cap="none" spc="0" normalizeH="0" baseline="0" noProof="0">
                <a:ln>
                  <a:noFill/>
                </a:ln>
                <a:solidFill>
                  <a:srgbClr val="1B2A3B"/>
                </a:solidFill>
                <a:effectLst/>
                <a:uLnTx/>
                <a:uFillTx/>
                <a:latin typeface="Segoe UI"/>
                <a:ea typeface="+mn-ea"/>
                <a:cs typeface="+mn-cs"/>
              </a:rPr>
              <a:t>Chỉ truy vấn và trả 20 bộ phim</a:t>
            </a:r>
          </a:p>
          <a:p>
            <a:pPr marL="0" marR="0" lvl="0" indent="0" algn="l" defTabSz="457200" rtl="0" eaLnBrk="1" fontAlgn="auto" latinLnBrk="0" hangingPunct="1">
              <a:lnSpc>
                <a:spcPct val="115000"/>
              </a:lnSpc>
              <a:spcBef>
                <a:spcPts val="0"/>
              </a:spcBef>
              <a:spcAft>
                <a:spcPts val="0"/>
              </a:spcAft>
              <a:buClrTx/>
              <a:buSzTx/>
              <a:buFontTx/>
              <a:buNone/>
              <a:tabLst/>
              <a:defRPr/>
            </a:pPr>
            <a:r>
              <a:rPr kumimoji="0" sz="1500" b="0" i="0" u="none" strike="noStrike" kern="1200" cap="none" spc="0" normalizeH="0" baseline="0" noProof="0">
                <a:ln>
                  <a:noFill/>
                </a:ln>
                <a:solidFill>
                  <a:srgbClr val="1B2A3B"/>
                </a:solidFill>
                <a:effectLst/>
                <a:uLnTx/>
                <a:uFillTx/>
                <a:latin typeface="Segoe UI"/>
                <a:ea typeface="+mn-ea"/>
                <a:cs typeface="+mn-cs"/>
              </a:rPr>
              <a:t>cho trang hiện tại.</a:t>
            </a:r>
          </a:p>
        </p:txBody>
      </p:sp>
      <p:sp>
        <p:nvSpPr>
          <p:cNvPr id="19" name="TextBox 18"/>
          <p:cNvSpPr txBox="1"/>
          <p:nvPr/>
        </p:nvSpPr>
        <p:spPr>
          <a:xfrm>
            <a:off x="6556248" y="3794760"/>
            <a:ext cx="4846320" cy="54864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50" b="0" i="1" u="none" strike="noStrike" kern="1200" cap="none" spc="0" normalizeH="0" baseline="0" noProof="0">
                <a:ln>
                  <a:noFill/>
                </a:ln>
                <a:solidFill>
                  <a:srgbClr val="64748B"/>
                </a:solidFill>
                <a:effectLst/>
                <a:uLnTx/>
                <a:uFillTx/>
                <a:latin typeface="Segoe UI"/>
                <a:ea typeface="+mn-ea"/>
                <a:cs typeface="+mn-cs"/>
              </a:rPr>
              <a:t>Nhanh · nhẹ · đúng nhu cầu người dùng</a:t>
            </a:r>
          </a:p>
        </p:txBody>
      </p:sp>
      <p:sp>
        <p:nvSpPr>
          <p:cNvPr id="20" name="Rounded Rectangle 19"/>
          <p:cNvSpPr/>
          <p:nvPr/>
        </p:nvSpPr>
        <p:spPr>
          <a:xfrm>
            <a:off x="566928" y="4754880"/>
            <a:ext cx="11055096" cy="658368"/>
          </a:xfrm>
          <a:prstGeom prst="roundRect">
            <a:avLst>
              <a:gd name="adj" fmla="val 6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566928" y="4754880"/>
            <a:ext cx="11055096" cy="658368"/>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650" b="1" i="0" u="none" strike="noStrike" kern="1200" cap="none" spc="0" normalizeH="0" baseline="0" noProof="0">
                <a:ln>
                  <a:noFill/>
                </a:ln>
                <a:solidFill>
                  <a:srgbClr val="0B5FA5"/>
                </a:solidFill>
                <a:effectLst/>
                <a:uLnTx/>
                <a:uFillTx/>
                <a:latin typeface="Segoe UI"/>
                <a:ea typeface="+mn-ea"/>
                <a:cs typeface="+mn-cs"/>
              </a:rPr>
              <a:t>Thông điệp: chỉ tải lượng dữ liệu cần thiết.</a:t>
            </a:r>
          </a:p>
        </p:txBody>
      </p:sp>
      <p:sp>
        <p:nvSpPr>
          <p:cNvPr id="22" name="Rounded Rectangle 21"/>
          <p:cNvSpPr/>
          <p:nvPr/>
        </p:nvSpPr>
        <p:spPr>
          <a:xfrm>
            <a:off x="566928" y="5559552"/>
            <a:ext cx="11055096" cy="658368"/>
          </a:xfrm>
          <a:prstGeom prst="roundRect">
            <a:avLst>
              <a:gd name="adj" fmla="val 6000"/>
            </a:avLst>
          </a:prstGeom>
          <a:solidFill>
            <a:srgbClr val="FDF3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TextBox 22"/>
          <p:cNvSpPr txBox="1"/>
          <p:nvPr/>
        </p:nvSpPr>
        <p:spPr>
          <a:xfrm>
            <a:off x="841247" y="5559552"/>
            <a:ext cx="10515600" cy="658368"/>
          </a:xfrm>
          <a:prstGeom prst="rect">
            <a:avLst/>
          </a:prstGeom>
          <a:noFill/>
        </p:spPr>
        <p:txBody>
          <a:bodyPr wrap="square" lIns="0" tIns="0" rIns="0" bIns="0" anchor="ctr">
            <a:spAutoFit/>
          </a:bodyPr>
          <a:lstStyle/>
          <a:p>
            <a:pPr marL="0" marR="0" lvl="0" indent="0" algn="l" defTabSz="457200" rtl="0" eaLnBrk="1" fontAlgn="auto" latinLnBrk="0" hangingPunct="1">
              <a:lnSpc>
                <a:spcPct val="105000"/>
              </a:lnSpc>
              <a:spcBef>
                <a:spcPts val="0"/>
              </a:spcBef>
              <a:spcAft>
                <a:spcPts val="0"/>
              </a:spcAft>
              <a:buClrTx/>
              <a:buSzTx/>
              <a:buFontTx/>
              <a:buNone/>
              <a:tabLst/>
              <a:defRPr/>
            </a:pPr>
            <a:r>
              <a:rPr kumimoji="0" sz="1450" b="1" i="0" u="none" strike="noStrike" kern="1200" cap="none" spc="0" normalizeH="0" baseline="0" noProof="0">
                <a:ln>
                  <a:noFill/>
                </a:ln>
                <a:solidFill>
                  <a:srgbClr val="9A6700"/>
                </a:solidFill>
                <a:effectLst/>
                <a:uLnTx/>
                <a:uFillTx/>
                <a:latin typeface="Segoe UI"/>
                <a:ea typeface="+mn-ea"/>
                <a:cs typeface="+mn-cs"/>
              </a:rPr>
              <a:t>Câu hỏi:  </a:t>
            </a:r>
            <a:r>
              <a:rPr kumimoji="0" sz="1450" b="0" i="0" u="none" strike="noStrike" kern="1200" cap="none" spc="0" normalizeH="0" baseline="0" noProof="0">
                <a:ln>
                  <a:noFill/>
                </a:ln>
                <a:solidFill>
                  <a:srgbClr val="1B2A3B"/>
                </a:solidFill>
                <a:effectLst/>
                <a:uLnTx/>
                <a:uFillTx/>
                <a:latin typeface="Segoe UI"/>
                <a:ea typeface="+mn-ea"/>
                <a:cs typeface="+mn-cs"/>
              </a:rPr>
              <a:t>“Nếu là người thiết kế Backend, các em sẽ chọn cách nào? Tại sao?”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1 · GIỚI THIỆU VÀ TRUY VẤN PHÂN TRANG</a:t>
            </a:r>
          </a:p>
        </p:txBody>
      </p:sp>
      <p:sp>
        <p:nvSpPr>
          <p:cNvPr id="4" name="TextBox 3"/>
          <p:cNvSpPr txBox="1"/>
          <p:nvPr/>
        </p:nvSpPr>
        <p:spPr>
          <a:xfrm>
            <a:off x="9613087" y="292608"/>
            <a:ext cx="2011680" cy="176972"/>
          </a:xfrm>
          <a:prstGeom prst="rect">
            <a:avLst/>
          </a:prstGeom>
          <a:noFill/>
        </p:spPr>
        <p:txBody>
          <a:bodyPr wrap="square" lIns="0" tIns="0" rIns="0" bIns="0" anchor="t">
            <a:spAutoFit/>
          </a:bodyPr>
          <a:lstStyle/>
          <a:p>
            <a:pPr algn="r">
              <a:lnSpc>
                <a:spcPct val="100000"/>
              </a:lnSpc>
            </a:pPr>
            <a:r>
              <a:rPr lang="en-US" sz="1150" b="1" i="0">
                <a:solidFill>
                  <a:srgbClr val="64748B"/>
                </a:solidFill>
                <a:latin typeface="Segoe UI"/>
              </a:rPr>
              <a:t> </a:t>
            </a:r>
            <a:endParaRPr sz="1150" b="1" i="0">
              <a:solidFill>
                <a:srgbClr val="64748B"/>
              </a:solidFill>
              <a:latin typeface="Segoe UI"/>
            </a:endParaRP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Pagination và Infinite Scroll khác nhau thế nào?</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3 / 19</a:t>
            </a:r>
          </a:p>
        </p:txBody>
      </p:sp>
      <p:sp>
        <p:nvSpPr>
          <p:cNvPr id="1010" name="Ch8 Pagination"/>
          <p:cNvSpPr txBox="1"/>
          <p:nvPr/>
        </p:nvSpPr>
        <p:spPr>
          <a:xfrm>
            <a:off x="566928" y="1481328"/>
            <a:ext cx="5349240" cy="365760"/>
          </a:xfrm>
          <a:prstGeom prst="rect">
            <a:avLst/>
          </a:prstGeom>
          <a:noFill/>
          <a:ln w="0">
            <a:noFill/>
          </a:ln>
        </p:spPr>
        <p:txBody>
          <a:bodyPr wrap="square" lIns="0" tIns="0" rIns="0" bIns="0" anchor="t"/>
          <a:lstStyle/>
          <a:p>
            <a:pPr marL="0" indent="0">
              <a:spcAft>
                <a:spcPts val="400"/>
              </a:spcAft>
            </a:pPr>
            <a:r>
              <a:rPr lang="vi-VN" sz="2200" b="1">
                <a:solidFill>
                  <a:srgbClr val="146BA2"/>
                </a:solidFill>
                <a:latin typeface="Aptos"/>
                <a:ea typeface="Aptos"/>
                <a:cs typeface="Aptos"/>
              </a:rPr>
              <a:t>Pagination</a:t>
            </a:r>
          </a:p>
        </p:txBody>
      </p:sp>
      <p:sp>
        <p:nvSpPr>
          <p:cNvPr id="1011" name="Ch8 Infinite Scroll"/>
          <p:cNvSpPr txBox="1"/>
          <p:nvPr/>
        </p:nvSpPr>
        <p:spPr>
          <a:xfrm>
            <a:off x="6272784" y="1481328"/>
            <a:ext cx="5349240" cy="365760"/>
          </a:xfrm>
          <a:prstGeom prst="rect">
            <a:avLst/>
          </a:prstGeom>
          <a:noFill/>
          <a:ln w="0">
            <a:noFill/>
          </a:ln>
        </p:spPr>
        <p:txBody>
          <a:bodyPr wrap="square" lIns="0" tIns="0" rIns="0" bIns="0" anchor="t"/>
          <a:lstStyle/>
          <a:p>
            <a:pPr marL="0" indent="0">
              <a:spcAft>
                <a:spcPts val="400"/>
              </a:spcAft>
            </a:pPr>
            <a:r>
              <a:rPr lang="vi-VN" sz="2200" b="1">
                <a:solidFill>
                  <a:srgbClr val="146BA2"/>
                </a:solidFill>
                <a:latin typeface="Aptos"/>
                <a:ea typeface="Aptos"/>
                <a:cs typeface="Aptos"/>
              </a:rPr>
              <a:t>Infinite Scroll</a:t>
            </a:r>
          </a:p>
        </p:txBody>
      </p:sp>
      <p:pic>
        <p:nvPicPr>
          <p:cNvPr id="1012" name="Demo 03-pages" descr="Ảnh chụp demo giảng dạy trên dữ liệu giả lập."/>
          <p:cNvPicPr>
            <a:picLocks noChangeAspect="1"/>
          </p:cNvPicPr>
          <p:nvPr/>
        </p:nvPicPr>
        <p:blipFill>
          <a:blip r:embed="rId3"/>
          <a:stretch>
            <a:fillRect/>
          </a:stretch>
        </p:blipFill>
        <p:spPr>
          <a:xfrm>
            <a:off x="566928" y="1915668"/>
            <a:ext cx="5349240" cy="3447288"/>
          </a:xfrm>
          <a:prstGeom prst="rect">
            <a:avLst/>
          </a:prstGeom>
        </p:spPr>
      </p:pic>
      <p:pic>
        <p:nvPicPr>
          <p:cNvPr id="1013" name="Demo 03-feed" descr="Ảnh chụp demo giảng dạy trên dữ liệu giả lập."/>
          <p:cNvPicPr>
            <a:picLocks noChangeAspect="1"/>
          </p:cNvPicPr>
          <p:nvPr/>
        </p:nvPicPr>
        <p:blipFill>
          <a:blip r:embed="rId4"/>
          <a:stretch>
            <a:fillRect/>
          </a:stretch>
        </p:blipFill>
        <p:spPr>
          <a:xfrm>
            <a:off x="6683743" y="1901952"/>
            <a:ext cx="4527322" cy="3474720"/>
          </a:xfrm>
          <a:prstGeom prst="rect">
            <a:avLst/>
          </a:prstGeom>
        </p:spPr>
      </p:pic>
      <p:sp>
        <p:nvSpPr>
          <p:cNvPr id="1014" name="Ch8 Chọn trang cụ thể: bảng quản t"/>
          <p:cNvSpPr txBox="1"/>
          <p:nvPr/>
        </p:nvSpPr>
        <p:spPr>
          <a:xfrm>
            <a:off x="566928" y="5468112"/>
            <a:ext cx="5349240" cy="502920"/>
          </a:xfrm>
          <a:prstGeom prst="rect">
            <a:avLst/>
          </a:prstGeom>
          <a:noFill/>
          <a:ln w="0">
            <a:noFill/>
          </a:ln>
        </p:spPr>
        <p:txBody>
          <a:bodyPr wrap="square" lIns="0" tIns="0" rIns="0" bIns="0" anchor="t"/>
          <a:lstStyle/>
          <a:p>
            <a:pPr marL="0" indent="0">
              <a:spcAft>
                <a:spcPts val="400"/>
              </a:spcAft>
            </a:pPr>
            <a:r>
              <a:rPr lang="vi-VN" sz="1600" b="0">
                <a:solidFill>
                  <a:srgbClr val="18344F"/>
                </a:solidFill>
                <a:latin typeface="Aptos"/>
                <a:ea typeface="Aptos"/>
                <a:cs typeface="Aptos"/>
              </a:rPr>
              <a:t>Chọn trang cụ thể: bảng quản trị, kết quả tìm kiếm.</a:t>
            </a:r>
          </a:p>
        </p:txBody>
      </p:sp>
      <p:sp>
        <p:nvSpPr>
          <p:cNvPr id="1015" name="Ch8 Cuộn để tải thêm: bảng tin, da"/>
          <p:cNvSpPr txBox="1"/>
          <p:nvPr/>
        </p:nvSpPr>
        <p:spPr>
          <a:xfrm>
            <a:off x="6272784" y="5468112"/>
            <a:ext cx="5349240" cy="502920"/>
          </a:xfrm>
          <a:prstGeom prst="rect">
            <a:avLst/>
          </a:prstGeom>
          <a:noFill/>
          <a:ln w="0">
            <a:noFill/>
          </a:ln>
        </p:spPr>
        <p:txBody>
          <a:bodyPr wrap="square" lIns="0" tIns="0" rIns="0" bIns="0" anchor="t"/>
          <a:lstStyle/>
          <a:p>
            <a:pPr marL="0" indent="0">
              <a:spcAft>
                <a:spcPts val="400"/>
              </a:spcAft>
            </a:pPr>
            <a:r>
              <a:rPr lang="vi-VN" sz="1600" b="0">
                <a:solidFill>
                  <a:srgbClr val="18344F"/>
                </a:solidFill>
                <a:latin typeface="Aptos"/>
                <a:ea typeface="Aptos"/>
                <a:cs typeface="Aptos"/>
              </a:rPr>
              <a:t>Cuộn để tải thêm: bảng tin, danh sách nội dung.</a:t>
            </a:r>
          </a:p>
        </p:txBody>
      </p:sp>
      <p:sp>
        <p:nvSpPr>
          <p:cNvPr id="1016" name="Ch8 Cả hai đều lấy dữ liệu theo từ"/>
          <p:cNvSpPr txBox="1"/>
          <p:nvPr/>
        </p:nvSpPr>
        <p:spPr>
          <a:xfrm>
            <a:off x="566928" y="6007608"/>
            <a:ext cx="11055096" cy="329184"/>
          </a:xfrm>
          <a:prstGeom prst="rect">
            <a:avLst/>
          </a:prstGeom>
          <a:noFill/>
          <a:ln w="0">
            <a:noFill/>
          </a:ln>
        </p:spPr>
        <p:txBody>
          <a:bodyPr wrap="square" lIns="0" tIns="0" rIns="0" bIns="0" anchor="t"/>
          <a:lstStyle/>
          <a:p>
            <a:pPr marL="0" indent="0">
              <a:spcAft>
                <a:spcPts val="400"/>
              </a:spcAft>
            </a:pPr>
            <a:r>
              <a:rPr lang="vi-VN" sz="1500" b="0">
                <a:solidFill>
                  <a:srgbClr val="146BA2"/>
                </a:solidFill>
                <a:latin typeface="Aptos"/>
                <a:ea typeface="Aptos"/>
                <a:cs typeface="Aptos"/>
              </a:rPr>
              <a:t>Cả hai đều lấy dữ liệu theo từng đợt từ Backend. Infinite Scroll thường dùng thêm cursor.</a:t>
            </a:r>
          </a:p>
        </p:txBody>
      </p:sp>
      <p:sp>
        <p:nvSpPr>
          <p:cNvPr id="10" name="Down Arrow 28">
            <a:extLst>
              <a:ext uri="{FF2B5EF4-FFF2-40B4-BE49-F238E27FC236}">
                <a16:creationId xmlns:a16="http://schemas.microsoft.com/office/drawing/2014/main" id="{E70023F6-9BCF-054D-B633-CB941A9D5E40}"/>
              </a:ext>
            </a:extLst>
          </p:cNvPr>
          <p:cNvSpPr/>
          <p:nvPr/>
        </p:nvSpPr>
        <p:spPr>
          <a:xfrm>
            <a:off x="11211065" y="3538728"/>
            <a:ext cx="310896" cy="777240"/>
          </a:xfrm>
          <a:prstGeom prst="down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1 · GIỚI THIỆU VÀ TRUY VẤN PHÂN TRANG</a:t>
            </a:r>
          </a:p>
        </p:txBody>
      </p:sp>
      <p:sp>
        <p:nvSpPr>
          <p:cNvPr id="4" name="TextBox 3"/>
          <p:cNvSpPr txBox="1"/>
          <p:nvPr/>
        </p:nvSpPr>
        <p:spPr>
          <a:xfrm>
            <a:off x="9613087" y="292608"/>
            <a:ext cx="2011680" cy="176972"/>
          </a:xfrm>
          <a:prstGeom prst="rect">
            <a:avLst/>
          </a:prstGeom>
          <a:noFill/>
        </p:spPr>
        <p:txBody>
          <a:bodyPr wrap="square" lIns="0" tIns="0" rIns="0" bIns="0" anchor="t">
            <a:spAutoFit/>
          </a:bodyPr>
          <a:lstStyle/>
          <a:p>
            <a:pPr algn="r">
              <a:lnSpc>
                <a:spcPct val="100000"/>
              </a:lnSpc>
            </a:pPr>
            <a:r>
              <a:rPr lang="en-US" sz="1150" b="1" i="0">
                <a:solidFill>
                  <a:srgbClr val="64748B"/>
                </a:solidFill>
                <a:latin typeface="Segoe UI"/>
              </a:rPr>
              <a:t> </a:t>
            </a:r>
            <a:endParaRPr sz="1150" b="1" i="0">
              <a:solidFill>
                <a:srgbClr val="64748B"/>
              </a:solidFill>
              <a:latin typeface="Segoe UI"/>
            </a:endParaRP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Ba khái niệm: page, limit, offset</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4 / 19</a:t>
            </a:r>
          </a:p>
        </p:txBody>
      </p:sp>
      <p:sp>
        <p:nvSpPr>
          <p:cNvPr id="1017" name="Ch8 page = 2"/>
          <p:cNvSpPr txBox="1"/>
          <p:nvPr/>
        </p:nvSpPr>
        <p:spPr>
          <a:xfrm>
            <a:off x="566928" y="1645920"/>
            <a:ext cx="3383280" cy="411480"/>
          </a:xfrm>
          <a:prstGeom prst="rect">
            <a:avLst/>
          </a:prstGeom>
          <a:noFill/>
          <a:ln w="0">
            <a:noFill/>
          </a:ln>
        </p:spPr>
        <p:txBody>
          <a:bodyPr wrap="square" lIns="0" tIns="0" rIns="0" bIns="0" anchor="t"/>
          <a:lstStyle/>
          <a:p>
            <a:pPr marL="0" indent="0">
              <a:spcAft>
                <a:spcPts val="400"/>
              </a:spcAft>
            </a:pPr>
            <a:r>
              <a:rPr lang="vi-VN" sz="2400" b="1">
                <a:solidFill>
                  <a:srgbClr val="146BA2"/>
                </a:solidFill>
                <a:latin typeface="Consolas"/>
                <a:ea typeface="Consolas"/>
                <a:cs typeface="Consolas"/>
              </a:rPr>
              <a:t>page = 2</a:t>
            </a:r>
          </a:p>
        </p:txBody>
      </p:sp>
      <p:sp>
        <p:nvSpPr>
          <p:cNvPr id="1018" name="Ch8 Trang người dùng muốn xem"/>
          <p:cNvSpPr txBox="1"/>
          <p:nvPr/>
        </p:nvSpPr>
        <p:spPr>
          <a:xfrm>
            <a:off x="566928" y="2130552"/>
            <a:ext cx="3383280" cy="457200"/>
          </a:xfrm>
          <a:prstGeom prst="rect">
            <a:avLst/>
          </a:prstGeom>
          <a:noFill/>
          <a:ln w="0">
            <a:noFill/>
          </a:ln>
        </p:spPr>
        <p:txBody>
          <a:bodyPr wrap="square" lIns="0" tIns="0" rIns="0" bIns="0" anchor="t"/>
          <a:lstStyle/>
          <a:p>
            <a:pPr marL="0" indent="0">
              <a:spcAft>
                <a:spcPts val="400"/>
              </a:spcAft>
            </a:pPr>
            <a:r>
              <a:rPr lang="vi-VN" sz="1700" b="0">
                <a:solidFill>
                  <a:srgbClr val="18344F"/>
                </a:solidFill>
                <a:latin typeface="Aptos"/>
                <a:ea typeface="Aptos"/>
                <a:cs typeface="Aptos"/>
              </a:rPr>
              <a:t>Trang người dùng muốn xem</a:t>
            </a:r>
          </a:p>
        </p:txBody>
      </p:sp>
      <p:sp>
        <p:nvSpPr>
          <p:cNvPr id="1019" name="Ch8 limit = 5"/>
          <p:cNvSpPr txBox="1"/>
          <p:nvPr/>
        </p:nvSpPr>
        <p:spPr>
          <a:xfrm>
            <a:off x="566928" y="2743200"/>
            <a:ext cx="3383280" cy="411480"/>
          </a:xfrm>
          <a:prstGeom prst="rect">
            <a:avLst/>
          </a:prstGeom>
          <a:noFill/>
          <a:ln w="0">
            <a:noFill/>
          </a:ln>
        </p:spPr>
        <p:txBody>
          <a:bodyPr wrap="square" lIns="0" tIns="0" rIns="0" bIns="0" anchor="t"/>
          <a:lstStyle/>
          <a:p>
            <a:pPr marL="0" indent="0">
              <a:spcAft>
                <a:spcPts val="400"/>
              </a:spcAft>
            </a:pPr>
            <a:r>
              <a:rPr lang="vi-VN" sz="2400" b="1">
                <a:solidFill>
                  <a:srgbClr val="146BA2"/>
                </a:solidFill>
                <a:latin typeface="Consolas"/>
                <a:ea typeface="Consolas"/>
                <a:cs typeface="Consolas"/>
              </a:rPr>
              <a:t>limit = 5</a:t>
            </a:r>
          </a:p>
        </p:txBody>
      </p:sp>
      <p:sp>
        <p:nvSpPr>
          <p:cNvPr id="1020" name="Ch8 Số bản ghi tối đa mỗi trang"/>
          <p:cNvSpPr txBox="1"/>
          <p:nvPr/>
        </p:nvSpPr>
        <p:spPr>
          <a:xfrm>
            <a:off x="566928" y="3227832"/>
            <a:ext cx="3383280" cy="457200"/>
          </a:xfrm>
          <a:prstGeom prst="rect">
            <a:avLst/>
          </a:prstGeom>
          <a:noFill/>
          <a:ln w="0">
            <a:noFill/>
          </a:ln>
        </p:spPr>
        <p:txBody>
          <a:bodyPr wrap="square" lIns="0" tIns="0" rIns="0" bIns="0" anchor="t"/>
          <a:lstStyle/>
          <a:p>
            <a:pPr marL="0" indent="0">
              <a:spcAft>
                <a:spcPts val="400"/>
              </a:spcAft>
            </a:pPr>
            <a:r>
              <a:rPr lang="vi-VN" sz="1700" b="0">
                <a:solidFill>
                  <a:srgbClr val="18344F"/>
                </a:solidFill>
                <a:latin typeface="Aptos"/>
                <a:ea typeface="Aptos"/>
                <a:cs typeface="Aptos"/>
              </a:rPr>
              <a:t>Số bản ghi tối đa mỗi trang</a:t>
            </a:r>
          </a:p>
        </p:txBody>
      </p:sp>
      <p:sp>
        <p:nvSpPr>
          <p:cNvPr id="1021" name="Ch8 offset = 5"/>
          <p:cNvSpPr txBox="1"/>
          <p:nvPr/>
        </p:nvSpPr>
        <p:spPr>
          <a:xfrm>
            <a:off x="566928" y="3840480"/>
            <a:ext cx="3383280" cy="411480"/>
          </a:xfrm>
          <a:prstGeom prst="rect">
            <a:avLst/>
          </a:prstGeom>
          <a:noFill/>
          <a:ln w="0">
            <a:noFill/>
          </a:ln>
        </p:spPr>
        <p:txBody>
          <a:bodyPr wrap="square" lIns="0" tIns="0" rIns="0" bIns="0" anchor="t"/>
          <a:lstStyle/>
          <a:p>
            <a:pPr marL="0" indent="0">
              <a:spcAft>
                <a:spcPts val="400"/>
              </a:spcAft>
            </a:pPr>
            <a:r>
              <a:rPr lang="vi-VN" sz="2400" b="1">
                <a:solidFill>
                  <a:srgbClr val="146BA2"/>
                </a:solidFill>
                <a:latin typeface="Consolas"/>
                <a:ea typeface="Consolas"/>
                <a:cs typeface="Consolas"/>
              </a:rPr>
              <a:t>offset = 5</a:t>
            </a:r>
          </a:p>
        </p:txBody>
      </p:sp>
      <p:sp>
        <p:nvSpPr>
          <p:cNvPr id="1022" name="Ch8 Bỏ qua 5 bản ghi đầu tiên"/>
          <p:cNvSpPr txBox="1"/>
          <p:nvPr/>
        </p:nvSpPr>
        <p:spPr>
          <a:xfrm>
            <a:off x="566928" y="4325112"/>
            <a:ext cx="3383280" cy="457200"/>
          </a:xfrm>
          <a:prstGeom prst="rect">
            <a:avLst/>
          </a:prstGeom>
          <a:noFill/>
          <a:ln w="0">
            <a:noFill/>
          </a:ln>
        </p:spPr>
        <p:txBody>
          <a:bodyPr wrap="square" lIns="0" tIns="0" rIns="0" bIns="0" anchor="t"/>
          <a:lstStyle/>
          <a:p>
            <a:pPr marL="0" indent="0">
              <a:spcAft>
                <a:spcPts val="400"/>
              </a:spcAft>
            </a:pPr>
            <a:r>
              <a:rPr lang="vi-VN" sz="1700" b="0">
                <a:solidFill>
                  <a:srgbClr val="18344F"/>
                </a:solidFill>
                <a:latin typeface="Aptos"/>
                <a:ea typeface="Aptos"/>
                <a:cs typeface="Aptos"/>
              </a:rPr>
              <a:t>Bỏ qua 5 bản ghi đầu tiên</a:t>
            </a:r>
          </a:p>
        </p:txBody>
      </p:sp>
      <p:pic>
        <p:nvPicPr>
          <p:cNvPr id="1024" name="Demo 04-students" descr="Trang 2 của 12 sinh viên, mỗi trang 5 dòng: SV006 đến SV010; offset bằng 5."/>
          <p:cNvPicPr>
            <a:picLocks noChangeAspect="1"/>
          </p:cNvPicPr>
          <p:nvPr/>
        </p:nvPicPr>
        <p:blipFill>
          <a:blip r:embed="rId3"/>
          <a:stretch>
            <a:fillRect/>
          </a:stretch>
        </p:blipFill>
        <p:spPr>
          <a:xfrm>
            <a:off x="4363010" y="1417320"/>
            <a:ext cx="7147965" cy="4846320"/>
          </a:xfrm>
          <a:prstGeom prst="rect">
            <a:avLst/>
          </a:prstGeom>
        </p:spPr>
      </p:pic>
      <p:sp>
        <p:nvSpPr>
          <p:cNvPr id="12" name="TextBox 11">
            <a:extLst>
              <a:ext uri="{FF2B5EF4-FFF2-40B4-BE49-F238E27FC236}">
                <a16:creationId xmlns:a16="http://schemas.microsoft.com/office/drawing/2014/main" id="{3E66DEB6-9C84-4913-B807-F0DEF1E54ADE}"/>
              </a:ext>
            </a:extLst>
          </p:cNvPr>
          <p:cNvSpPr txBox="1"/>
          <p:nvPr/>
        </p:nvSpPr>
        <p:spPr>
          <a:xfrm>
            <a:off x="566928" y="4728756"/>
            <a:ext cx="3383280" cy="1565365"/>
          </a:xfrm>
          <a:prstGeom prst="rect">
            <a:avLst/>
          </a:prstGeom>
          <a:noFill/>
        </p:spPr>
        <p:txBody>
          <a:bodyPr wrap="square" lIns="0" tIns="0" rIns="0" bIns="0" anchor="ctr">
            <a:spAutoFit/>
          </a:bodyPr>
          <a:lstStyle/>
          <a:p>
            <a:pPr algn="l">
              <a:lnSpc>
                <a:spcPct val="115000"/>
              </a:lnSpc>
            </a:pPr>
            <a:r>
              <a:rPr b="1">
                <a:solidFill>
                  <a:srgbClr val="1B2A3B"/>
                </a:solidFill>
                <a:latin typeface="Segoe UI"/>
              </a:rPr>
              <a:t>Ai gửi gì?  </a:t>
            </a:r>
            <a:r>
              <a:rPr b="0">
                <a:solidFill>
                  <a:srgbClr val="1B2A3B"/>
                </a:solidFill>
                <a:latin typeface="Segoe UI"/>
              </a:rPr>
              <a:t>Client gửi page và limit. Backend tự tính offset. Dữ liệu phải được sắp xếp theo một thứ tự ổn định trước khi chia trang.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1 · GIỚI THIỆU VÀ TRUY VẤN PHÂN TRANG</a:t>
            </a:r>
          </a:p>
        </p:txBody>
      </p:sp>
      <p:sp>
        <p:nvSpPr>
          <p:cNvPr id="4" name="TextBox 3"/>
          <p:cNvSpPr txBox="1"/>
          <p:nvPr/>
        </p:nvSpPr>
        <p:spPr>
          <a:xfrm>
            <a:off x="9613087" y="292608"/>
            <a:ext cx="2011680" cy="176972"/>
          </a:xfrm>
          <a:prstGeom prst="rect">
            <a:avLst/>
          </a:prstGeom>
          <a:noFill/>
        </p:spPr>
        <p:txBody>
          <a:bodyPr wrap="square" lIns="0" tIns="0" rIns="0" bIns="0" anchor="t">
            <a:spAutoFit/>
          </a:bodyPr>
          <a:lstStyle/>
          <a:p>
            <a:pPr algn="r">
              <a:lnSpc>
                <a:spcPct val="100000"/>
              </a:lnSpc>
            </a:pPr>
            <a:r>
              <a:rPr lang="en-US" sz="1150" b="1" i="0">
                <a:solidFill>
                  <a:srgbClr val="64748B"/>
                </a:solidFill>
                <a:latin typeface="Segoe UI"/>
              </a:rPr>
              <a:t> </a:t>
            </a:r>
            <a:endParaRPr sz="1150" b="1" i="0">
              <a:solidFill>
                <a:srgbClr val="64748B"/>
              </a:solidFill>
              <a:latin typeface="Segoe UI"/>
            </a:endParaRP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Công thức tính offset</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5 / 19</a:t>
            </a:r>
          </a:p>
        </p:txBody>
      </p:sp>
      <p:sp>
        <p:nvSpPr>
          <p:cNvPr id="9" name="Rounded Rectangle 8"/>
          <p:cNvSpPr/>
          <p:nvPr/>
        </p:nvSpPr>
        <p:spPr>
          <a:xfrm>
            <a:off x="566928" y="1481328"/>
            <a:ext cx="6675120" cy="1554480"/>
          </a:xfrm>
          <a:prstGeom prst="roundRect">
            <a:avLst>
              <a:gd name="adj" fmla="val 6000"/>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566928" y="1700784"/>
            <a:ext cx="6675120" cy="822960"/>
          </a:xfrm>
          <a:prstGeom prst="rect">
            <a:avLst/>
          </a:prstGeom>
          <a:noFill/>
        </p:spPr>
        <p:txBody>
          <a:bodyPr wrap="square" lIns="0" tIns="0" rIns="0" bIns="0" anchor="t">
            <a:spAutoFit/>
          </a:bodyPr>
          <a:lstStyle/>
          <a:p>
            <a:pPr algn="ctr">
              <a:lnSpc>
                <a:spcPct val="100000"/>
              </a:lnSpc>
            </a:pPr>
            <a:r>
              <a:rPr sz="3000" b="1" i="0">
                <a:solidFill>
                  <a:srgbClr val="FFFFFF"/>
                </a:solidFill>
                <a:latin typeface="Consolas"/>
              </a:rPr>
              <a:t>offset = (page − 1) × limit</a:t>
            </a:r>
          </a:p>
        </p:txBody>
      </p:sp>
      <p:sp>
        <p:nvSpPr>
          <p:cNvPr id="11" name="TextBox 10"/>
          <p:cNvSpPr txBox="1"/>
          <p:nvPr/>
        </p:nvSpPr>
        <p:spPr>
          <a:xfrm>
            <a:off x="566928" y="2542032"/>
            <a:ext cx="6675120" cy="365760"/>
          </a:xfrm>
          <a:prstGeom prst="rect">
            <a:avLst/>
          </a:prstGeom>
          <a:noFill/>
        </p:spPr>
        <p:txBody>
          <a:bodyPr wrap="square" lIns="0" tIns="0" rIns="0" bIns="0" anchor="t">
            <a:spAutoFit/>
          </a:bodyPr>
          <a:lstStyle/>
          <a:p>
            <a:pPr algn="ctr">
              <a:lnSpc>
                <a:spcPct val="100000"/>
              </a:lnSpc>
            </a:pPr>
            <a:r>
              <a:rPr sz="1250" b="0" i="0">
                <a:solidFill>
                  <a:srgbClr val="C9D8EA"/>
                </a:solidFill>
                <a:latin typeface="Segoe UI"/>
              </a:rPr>
              <a:t>Trang đầu tiên (page = 1) → offset = 0: không bỏ qua bản ghi nào.</a:t>
            </a:r>
          </a:p>
        </p:txBody>
      </p:sp>
      <p:sp>
        <p:nvSpPr>
          <p:cNvPr id="12" name="Rounded Rectangle 11"/>
          <p:cNvSpPr/>
          <p:nvPr/>
        </p:nvSpPr>
        <p:spPr>
          <a:xfrm>
            <a:off x="7562088" y="1481328"/>
            <a:ext cx="4059936" cy="155448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836408" y="1645920"/>
            <a:ext cx="3566160" cy="1280160"/>
          </a:xfrm>
          <a:prstGeom prst="rect">
            <a:avLst/>
          </a:prstGeom>
          <a:noFill/>
        </p:spPr>
        <p:txBody>
          <a:bodyPr wrap="square" lIns="0" tIns="0" rIns="0" bIns="0" anchor="t">
            <a:spAutoFit/>
          </a:bodyPr>
          <a:lstStyle/>
          <a:p>
            <a:pPr algn="l">
              <a:lnSpc>
                <a:spcPct val="105000"/>
              </a:lnSpc>
              <a:spcAft>
                <a:spcPts val="600"/>
              </a:spcAft>
            </a:pPr>
            <a:r>
              <a:rPr sz="1500" b="1">
                <a:solidFill>
                  <a:srgbClr val="0B5FA5"/>
                </a:solidFill>
                <a:latin typeface="Segoe UI"/>
              </a:rPr>
              <a:t>Ví dụ:  </a:t>
            </a:r>
            <a:r>
              <a:rPr sz="1500" b="0">
                <a:solidFill>
                  <a:srgbClr val="1B2A3B"/>
                </a:solidFill>
                <a:latin typeface="Consolas"/>
              </a:rPr>
              <a:t>page = 3,  limit = 10</a:t>
            </a:r>
          </a:p>
          <a:p>
            <a:pPr algn="l">
              <a:lnSpc>
                <a:spcPct val="105000"/>
              </a:lnSpc>
              <a:spcAft>
                <a:spcPts val="600"/>
              </a:spcAft>
            </a:pPr>
            <a:r>
              <a:rPr sz="1500" b="0">
                <a:solidFill>
                  <a:srgbClr val="1B2A3B"/>
                </a:solidFill>
                <a:latin typeface="Consolas"/>
              </a:rPr>
              <a:t>offset = (3 − 1) × 10 = </a:t>
            </a:r>
            <a:r>
              <a:rPr sz="1700" b="1">
                <a:solidFill>
                  <a:srgbClr val="D64545"/>
                </a:solidFill>
                <a:latin typeface="Consolas"/>
              </a:rPr>
              <a:t>20</a:t>
            </a:r>
          </a:p>
          <a:p>
            <a:pPr algn="l">
              <a:lnSpc>
                <a:spcPct val="112000"/>
              </a:lnSpc>
            </a:pPr>
            <a:r>
              <a:rPr sz="1300" b="0">
                <a:solidFill>
                  <a:srgbClr val="64748B"/>
                </a:solidFill>
                <a:latin typeface="Segoe UI"/>
              </a:rPr>
              <a:t>Bỏ qua 20 bản ghi đầu, lấy tối đa 10 bản ghi tiếp theo.</a:t>
            </a:r>
          </a:p>
        </p:txBody>
      </p:sp>
      <p:sp>
        <p:nvSpPr>
          <p:cNvPr id="14" name="TextBox 13"/>
          <p:cNvSpPr txBox="1"/>
          <p:nvPr/>
        </p:nvSpPr>
        <p:spPr>
          <a:xfrm>
            <a:off x="566928" y="3310128"/>
            <a:ext cx="10972800" cy="365760"/>
          </a:xfrm>
          <a:prstGeom prst="rect">
            <a:avLst/>
          </a:prstGeom>
          <a:noFill/>
        </p:spPr>
        <p:txBody>
          <a:bodyPr wrap="square" lIns="0" tIns="0" rIns="0" bIns="0" anchor="t">
            <a:spAutoFit/>
          </a:bodyPr>
          <a:lstStyle/>
          <a:p>
            <a:pPr algn="l">
              <a:lnSpc>
                <a:spcPct val="100000"/>
              </a:lnSpc>
            </a:pPr>
            <a:r>
              <a:rPr sz="1500" b="1" i="0">
                <a:solidFill>
                  <a:srgbClr val="1B2A3B"/>
                </a:solidFill>
                <a:latin typeface="Segoe UI"/>
              </a:rPr>
              <a:t>Trực quan: 30 bản ghi — trang 3 (mỗi trang 10)</a:t>
            </a:r>
          </a:p>
        </p:txBody>
      </p:sp>
      <p:sp>
        <p:nvSpPr>
          <p:cNvPr id="15" name="Rounded Rectangle 14"/>
          <p:cNvSpPr/>
          <p:nvPr/>
        </p:nvSpPr>
        <p:spPr>
          <a:xfrm>
            <a:off x="566928"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566928"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1</a:t>
            </a:r>
          </a:p>
        </p:txBody>
      </p:sp>
      <p:sp>
        <p:nvSpPr>
          <p:cNvPr id="17" name="Rounded Rectangle 16"/>
          <p:cNvSpPr/>
          <p:nvPr/>
        </p:nvSpPr>
        <p:spPr>
          <a:xfrm>
            <a:off x="1307592"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307592"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2</a:t>
            </a:r>
          </a:p>
        </p:txBody>
      </p:sp>
      <p:sp>
        <p:nvSpPr>
          <p:cNvPr id="19" name="Rounded Rectangle 18"/>
          <p:cNvSpPr/>
          <p:nvPr/>
        </p:nvSpPr>
        <p:spPr>
          <a:xfrm>
            <a:off x="2048255"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2048255"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3</a:t>
            </a:r>
          </a:p>
        </p:txBody>
      </p:sp>
      <p:sp>
        <p:nvSpPr>
          <p:cNvPr id="21" name="Rounded Rectangle 20"/>
          <p:cNvSpPr/>
          <p:nvPr/>
        </p:nvSpPr>
        <p:spPr>
          <a:xfrm>
            <a:off x="2788920"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2788920"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4</a:t>
            </a:r>
          </a:p>
        </p:txBody>
      </p:sp>
      <p:sp>
        <p:nvSpPr>
          <p:cNvPr id="23" name="Rounded Rectangle 22"/>
          <p:cNvSpPr/>
          <p:nvPr/>
        </p:nvSpPr>
        <p:spPr>
          <a:xfrm>
            <a:off x="3529584"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3529584"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5</a:t>
            </a:r>
          </a:p>
        </p:txBody>
      </p:sp>
      <p:sp>
        <p:nvSpPr>
          <p:cNvPr id="25" name="Rounded Rectangle 24"/>
          <p:cNvSpPr/>
          <p:nvPr/>
        </p:nvSpPr>
        <p:spPr>
          <a:xfrm>
            <a:off x="4270248"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4270248"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6</a:t>
            </a:r>
          </a:p>
        </p:txBody>
      </p:sp>
      <p:sp>
        <p:nvSpPr>
          <p:cNvPr id="27" name="Rounded Rectangle 26"/>
          <p:cNvSpPr/>
          <p:nvPr/>
        </p:nvSpPr>
        <p:spPr>
          <a:xfrm>
            <a:off x="5010912"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5010912"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7</a:t>
            </a:r>
          </a:p>
        </p:txBody>
      </p:sp>
      <p:sp>
        <p:nvSpPr>
          <p:cNvPr id="29" name="Rounded Rectangle 28"/>
          <p:cNvSpPr/>
          <p:nvPr/>
        </p:nvSpPr>
        <p:spPr>
          <a:xfrm>
            <a:off x="5751575"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5751575"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8</a:t>
            </a:r>
          </a:p>
        </p:txBody>
      </p:sp>
      <p:sp>
        <p:nvSpPr>
          <p:cNvPr id="31" name="Rounded Rectangle 30"/>
          <p:cNvSpPr/>
          <p:nvPr/>
        </p:nvSpPr>
        <p:spPr>
          <a:xfrm>
            <a:off x="6492239"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6492239"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9</a:t>
            </a:r>
          </a:p>
        </p:txBody>
      </p:sp>
      <p:sp>
        <p:nvSpPr>
          <p:cNvPr id="33" name="Rounded Rectangle 32"/>
          <p:cNvSpPr/>
          <p:nvPr/>
        </p:nvSpPr>
        <p:spPr>
          <a:xfrm>
            <a:off x="7232903"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7232903"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10</a:t>
            </a:r>
          </a:p>
        </p:txBody>
      </p:sp>
      <p:sp>
        <p:nvSpPr>
          <p:cNvPr id="35" name="Rounded Rectangle 34"/>
          <p:cNvSpPr/>
          <p:nvPr/>
        </p:nvSpPr>
        <p:spPr>
          <a:xfrm>
            <a:off x="7973567"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7973567"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11</a:t>
            </a:r>
          </a:p>
        </p:txBody>
      </p:sp>
      <p:sp>
        <p:nvSpPr>
          <p:cNvPr id="37" name="Rounded Rectangle 36"/>
          <p:cNvSpPr/>
          <p:nvPr/>
        </p:nvSpPr>
        <p:spPr>
          <a:xfrm>
            <a:off x="8714232"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37"/>
          <p:cNvSpPr txBox="1"/>
          <p:nvPr/>
        </p:nvSpPr>
        <p:spPr>
          <a:xfrm>
            <a:off x="8714232"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12</a:t>
            </a:r>
          </a:p>
        </p:txBody>
      </p:sp>
      <p:sp>
        <p:nvSpPr>
          <p:cNvPr id="39" name="Rounded Rectangle 38"/>
          <p:cNvSpPr/>
          <p:nvPr/>
        </p:nvSpPr>
        <p:spPr>
          <a:xfrm>
            <a:off x="9454896"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9454896"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13</a:t>
            </a:r>
          </a:p>
        </p:txBody>
      </p:sp>
      <p:sp>
        <p:nvSpPr>
          <p:cNvPr id="41" name="Rounded Rectangle 40"/>
          <p:cNvSpPr/>
          <p:nvPr/>
        </p:nvSpPr>
        <p:spPr>
          <a:xfrm>
            <a:off x="10195560"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TextBox 41"/>
          <p:cNvSpPr txBox="1"/>
          <p:nvPr/>
        </p:nvSpPr>
        <p:spPr>
          <a:xfrm>
            <a:off x="10195560"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14</a:t>
            </a:r>
          </a:p>
        </p:txBody>
      </p:sp>
      <p:sp>
        <p:nvSpPr>
          <p:cNvPr id="43" name="Rounded Rectangle 42"/>
          <p:cNvSpPr/>
          <p:nvPr/>
        </p:nvSpPr>
        <p:spPr>
          <a:xfrm>
            <a:off x="10936224" y="3767328"/>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TextBox 43"/>
          <p:cNvSpPr txBox="1"/>
          <p:nvPr/>
        </p:nvSpPr>
        <p:spPr>
          <a:xfrm>
            <a:off x="10936224" y="3767328"/>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15</a:t>
            </a:r>
          </a:p>
        </p:txBody>
      </p:sp>
      <p:sp>
        <p:nvSpPr>
          <p:cNvPr id="45" name="Rounded Rectangle 44"/>
          <p:cNvSpPr/>
          <p:nvPr/>
        </p:nvSpPr>
        <p:spPr>
          <a:xfrm>
            <a:off x="566928" y="4462272"/>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566928" y="4462272"/>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16</a:t>
            </a:r>
          </a:p>
        </p:txBody>
      </p:sp>
      <p:sp>
        <p:nvSpPr>
          <p:cNvPr id="47" name="Rounded Rectangle 46"/>
          <p:cNvSpPr/>
          <p:nvPr/>
        </p:nvSpPr>
        <p:spPr>
          <a:xfrm>
            <a:off x="1307592" y="4462272"/>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TextBox 47"/>
          <p:cNvSpPr txBox="1"/>
          <p:nvPr/>
        </p:nvSpPr>
        <p:spPr>
          <a:xfrm>
            <a:off x="1307592" y="4462272"/>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17</a:t>
            </a:r>
          </a:p>
        </p:txBody>
      </p:sp>
      <p:sp>
        <p:nvSpPr>
          <p:cNvPr id="49" name="Rounded Rectangle 48"/>
          <p:cNvSpPr/>
          <p:nvPr/>
        </p:nvSpPr>
        <p:spPr>
          <a:xfrm>
            <a:off x="2048255" y="4462272"/>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TextBox 49"/>
          <p:cNvSpPr txBox="1"/>
          <p:nvPr/>
        </p:nvSpPr>
        <p:spPr>
          <a:xfrm>
            <a:off x="2048255" y="4462272"/>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18</a:t>
            </a:r>
          </a:p>
        </p:txBody>
      </p:sp>
      <p:sp>
        <p:nvSpPr>
          <p:cNvPr id="51" name="Rounded Rectangle 50"/>
          <p:cNvSpPr/>
          <p:nvPr/>
        </p:nvSpPr>
        <p:spPr>
          <a:xfrm>
            <a:off x="2788920" y="4462272"/>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TextBox 51"/>
          <p:cNvSpPr txBox="1"/>
          <p:nvPr/>
        </p:nvSpPr>
        <p:spPr>
          <a:xfrm>
            <a:off x="2788920" y="4462272"/>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19</a:t>
            </a:r>
          </a:p>
        </p:txBody>
      </p:sp>
      <p:sp>
        <p:nvSpPr>
          <p:cNvPr id="53" name="Rounded Rectangle 52"/>
          <p:cNvSpPr/>
          <p:nvPr/>
        </p:nvSpPr>
        <p:spPr>
          <a:xfrm>
            <a:off x="3529584" y="4462272"/>
            <a:ext cx="658368" cy="566928"/>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4" name="TextBox 53"/>
          <p:cNvSpPr txBox="1"/>
          <p:nvPr/>
        </p:nvSpPr>
        <p:spPr>
          <a:xfrm>
            <a:off x="3529584" y="4462272"/>
            <a:ext cx="658368" cy="566928"/>
          </a:xfrm>
          <a:prstGeom prst="rect">
            <a:avLst/>
          </a:prstGeom>
          <a:noFill/>
        </p:spPr>
        <p:txBody>
          <a:bodyPr wrap="square" lIns="0" tIns="0" rIns="0" bIns="0" anchor="ctr">
            <a:spAutoFit/>
          </a:bodyPr>
          <a:lstStyle/>
          <a:p>
            <a:pPr algn="ctr">
              <a:lnSpc>
                <a:spcPct val="100000"/>
              </a:lnSpc>
            </a:pPr>
            <a:r>
              <a:rPr sz="1350" b="1" i="0">
                <a:solidFill>
                  <a:srgbClr val="64748B"/>
                </a:solidFill>
                <a:latin typeface="Segoe UI"/>
              </a:rPr>
              <a:t>20</a:t>
            </a:r>
          </a:p>
        </p:txBody>
      </p:sp>
      <p:sp>
        <p:nvSpPr>
          <p:cNvPr id="55" name="Rounded Rectangle 54"/>
          <p:cNvSpPr/>
          <p:nvPr/>
        </p:nvSpPr>
        <p:spPr>
          <a:xfrm>
            <a:off x="4270248" y="4462272"/>
            <a:ext cx="658368" cy="566928"/>
          </a:xfrm>
          <a:prstGeom prst="roundRect">
            <a:avLst>
              <a:gd name="adj" fmla="val 12000"/>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6" name="TextBox 55"/>
          <p:cNvSpPr txBox="1"/>
          <p:nvPr/>
        </p:nvSpPr>
        <p:spPr>
          <a:xfrm>
            <a:off x="4270248" y="4462272"/>
            <a:ext cx="658368" cy="566928"/>
          </a:xfrm>
          <a:prstGeom prst="rect">
            <a:avLst/>
          </a:prstGeom>
          <a:noFill/>
        </p:spPr>
        <p:txBody>
          <a:bodyPr wrap="square" lIns="0" tIns="0" rIns="0" bIns="0" anchor="ctr">
            <a:spAutoFit/>
          </a:bodyPr>
          <a:lstStyle/>
          <a:p>
            <a:pPr algn="ctr">
              <a:lnSpc>
                <a:spcPct val="100000"/>
              </a:lnSpc>
            </a:pPr>
            <a:r>
              <a:rPr sz="1350" b="1" i="0">
                <a:solidFill>
                  <a:srgbClr val="FFFFFF"/>
                </a:solidFill>
                <a:latin typeface="Segoe UI"/>
              </a:rPr>
              <a:t>21</a:t>
            </a:r>
          </a:p>
        </p:txBody>
      </p:sp>
      <p:sp>
        <p:nvSpPr>
          <p:cNvPr id="57" name="Rounded Rectangle 56"/>
          <p:cNvSpPr/>
          <p:nvPr/>
        </p:nvSpPr>
        <p:spPr>
          <a:xfrm>
            <a:off x="5010912" y="4462272"/>
            <a:ext cx="658368" cy="566928"/>
          </a:xfrm>
          <a:prstGeom prst="roundRect">
            <a:avLst>
              <a:gd name="adj" fmla="val 12000"/>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8" name="TextBox 57"/>
          <p:cNvSpPr txBox="1"/>
          <p:nvPr/>
        </p:nvSpPr>
        <p:spPr>
          <a:xfrm>
            <a:off x="5010912" y="4462272"/>
            <a:ext cx="658368" cy="566928"/>
          </a:xfrm>
          <a:prstGeom prst="rect">
            <a:avLst/>
          </a:prstGeom>
          <a:noFill/>
        </p:spPr>
        <p:txBody>
          <a:bodyPr wrap="square" lIns="0" tIns="0" rIns="0" bIns="0" anchor="ctr">
            <a:spAutoFit/>
          </a:bodyPr>
          <a:lstStyle/>
          <a:p>
            <a:pPr algn="ctr">
              <a:lnSpc>
                <a:spcPct val="100000"/>
              </a:lnSpc>
            </a:pPr>
            <a:r>
              <a:rPr sz="1350" b="1" i="0">
                <a:solidFill>
                  <a:srgbClr val="FFFFFF"/>
                </a:solidFill>
                <a:latin typeface="Segoe UI"/>
              </a:rPr>
              <a:t>22</a:t>
            </a:r>
          </a:p>
        </p:txBody>
      </p:sp>
      <p:sp>
        <p:nvSpPr>
          <p:cNvPr id="59" name="Rounded Rectangle 58"/>
          <p:cNvSpPr/>
          <p:nvPr/>
        </p:nvSpPr>
        <p:spPr>
          <a:xfrm>
            <a:off x="5751575" y="4462272"/>
            <a:ext cx="658368" cy="566928"/>
          </a:xfrm>
          <a:prstGeom prst="roundRect">
            <a:avLst>
              <a:gd name="adj" fmla="val 12000"/>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0" name="TextBox 59"/>
          <p:cNvSpPr txBox="1"/>
          <p:nvPr/>
        </p:nvSpPr>
        <p:spPr>
          <a:xfrm>
            <a:off x="5751575" y="4462272"/>
            <a:ext cx="658368" cy="566928"/>
          </a:xfrm>
          <a:prstGeom prst="rect">
            <a:avLst/>
          </a:prstGeom>
          <a:noFill/>
        </p:spPr>
        <p:txBody>
          <a:bodyPr wrap="square" lIns="0" tIns="0" rIns="0" bIns="0" anchor="ctr">
            <a:spAutoFit/>
          </a:bodyPr>
          <a:lstStyle/>
          <a:p>
            <a:pPr algn="ctr">
              <a:lnSpc>
                <a:spcPct val="100000"/>
              </a:lnSpc>
            </a:pPr>
            <a:r>
              <a:rPr sz="1350" b="1" i="0">
                <a:solidFill>
                  <a:srgbClr val="FFFFFF"/>
                </a:solidFill>
                <a:latin typeface="Segoe UI"/>
              </a:rPr>
              <a:t>23</a:t>
            </a:r>
          </a:p>
        </p:txBody>
      </p:sp>
      <p:sp>
        <p:nvSpPr>
          <p:cNvPr id="61" name="Rounded Rectangle 60"/>
          <p:cNvSpPr/>
          <p:nvPr/>
        </p:nvSpPr>
        <p:spPr>
          <a:xfrm>
            <a:off x="6492239" y="4462272"/>
            <a:ext cx="658368" cy="566928"/>
          </a:xfrm>
          <a:prstGeom prst="roundRect">
            <a:avLst>
              <a:gd name="adj" fmla="val 12000"/>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2" name="TextBox 61"/>
          <p:cNvSpPr txBox="1"/>
          <p:nvPr/>
        </p:nvSpPr>
        <p:spPr>
          <a:xfrm>
            <a:off x="6492239" y="4462272"/>
            <a:ext cx="658368" cy="566928"/>
          </a:xfrm>
          <a:prstGeom prst="rect">
            <a:avLst/>
          </a:prstGeom>
          <a:noFill/>
        </p:spPr>
        <p:txBody>
          <a:bodyPr wrap="square" lIns="0" tIns="0" rIns="0" bIns="0" anchor="ctr">
            <a:spAutoFit/>
          </a:bodyPr>
          <a:lstStyle/>
          <a:p>
            <a:pPr algn="ctr">
              <a:lnSpc>
                <a:spcPct val="100000"/>
              </a:lnSpc>
            </a:pPr>
            <a:r>
              <a:rPr sz="1350" b="1" i="0">
                <a:solidFill>
                  <a:srgbClr val="FFFFFF"/>
                </a:solidFill>
                <a:latin typeface="Segoe UI"/>
              </a:rPr>
              <a:t>24</a:t>
            </a:r>
          </a:p>
        </p:txBody>
      </p:sp>
      <p:sp>
        <p:nvSpPr>
          <p:cNvPr id="63" name="Rounded Rectangle 62"/>
          <p:cNvSpPr/>
          <p:nvPr/>
        </p:nvSpPr>
        <p:spPr>
          <a:xfrm>
            <a:off x="7232903" y="4462272"/>
            <a:ext cx="658368" cy="566928"/>
          </a:xfrm>
          <a:prstGeom prst="roundRect">
            <a:avLst>
              <a:gd name="adj" fmla="val 12000"/>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4" name="TextBox 63"/>
          <p:cNvSpPr txBox="1"/>
          <p:nvPr/>
        </p:nvSpPr>
        <p:spPr>
          <a:xfrm>
            <a:off x="7232903" y="4462272"/>
            <a:ext cx="658368" cy="566928"/>
          </a:xfrm>
          <a:prstGeom prst="rect">
            <a:avLst/>
          </a:prstGeom>
          <a:noFill/>
        </p:spPr>
        <p:txBody>
          <a:bodyPr wrap="square" lIns="0" tIns="0" rIns="0" bIns="0" anchor="ctr">
            <a:spAutoFit/>
          </a:bodyPr>
          <a:lstStyle/>
          <a:p>
            <a:pPr algn="ctr">
              <a:lnSpc>
                <a:spcPct val="100000"/>
              </a:lnSpc>
            </a:pPr>
            <a:r>
              <a:rPr sz="1350" b="1" i="0">
                <a:solidFill>
                  <a:srgbClr val="FFFFFF"/>
                </a:solidFill>
                <a:latin typeface="Segoe UI"/>
              </a:rPr>
              <a:t>25</a:t>
            </a:r>
          </a:p>
        </p:txBody>
      </p:sp>
      <p:sp>
        <p:nvSpPr>
          <p:cNvPr id="65" name="Rounded Rectangle 64"/>
          <p:cNvSpPr/>
          <p:nvPr/>
        </p:nvSpPr>
        <p:spPr>
          <a:xfrm>
            <a:off x="7973567" y="4462272"/>
            <a:ext cx="658368" cy="566928"/>
          </a:xfrm>
          <a:prstGeom prst="roundRect">
            <a:avLst>
              <a:gd name="adj" fmla="val 12000"/>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6" name="TextBox 65"/>
          <p:cNvSpPr txBox="1"/>
          <p:nvPr/>
        </p:nvSpPr>
        <p:spPr>
          <a:xfrm>
            <a:off x="7973567" y="4462272"/>
            <a:ext cx="658368" cy="566928"/>
          </a:xfrm>
          <a:prstGeom prst="rect">
            <a:avLst/>
          </a:prstGeom>
          <a:noFill/>
        </p:spPr>
        <p:txBody>
          <a:bodyPr wrap="square" lIns="0" tIns="0" rIns="0" bIns="0" anchor="ctr">
            <a:spAutoFit/>
          </a:bodyPr>
          <a:lstStyle/>
          <a:p>
            <a:pPr algn="ctr">
              <a:lnSpc>
                <a:spcPct val="100000"/>
              </a:lnSpc>
            </a:pPr>
            <a:r>
              <a:rPr sz="1350" b="1" i="0">
                <a:solidFill>
                  <a:srgbClr val="FFFFFF"/>
                </a:solidFill>
                <a:latin typeface="Segoe UI"/>
              </a:rPr>
              <a:t>26</a:t>
            </a:r>
          </a:p>
        </p:txBody>
      </p:sp>
      <p:sp>
        <p:nvSpPr>
          <p:cNvPr id="67" name="Rounded Rectangle 66"/>
          <p:cNvSpPr/>
          <p:nvPr/>
        </p:nvSpPr>
        <p:spPr>
          <a:xfrm>
            <a:off x="8714232" y="4462272"/>
            <a:ext cx="658368" cy="566928"/>
          </a:xfrm>
          <a:prstGeom prst="roundRect">
            <a:avLst>
              <a:gd name="adj" fmla="val 12000"/>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8" name="TextBox 67"/>
          <p:cNvSpPr txBox="1"/>
          <p:nvPr/>
        </p:nvSpPr>
        <p:spPr>
          <a:xfrm>
            <a:off x="8714232" y="4462272"/>
            <a:ext cx="658368" cy="566928"/>
          </a:xfrm>
          <a:prstGeom prst="rect">
            <a:avLst/>
          </a:prstGeom>
          <a:noFill/>
        </p:spPr>
        <p:txBody>
          <a:bodyPr wrap="square" lIns="0" tIns="0" rIns="0" bIns="0" anchor="ctr">
            <a:spAutoFit/>
          </a:bodyPr>
          <a:lstStyle/>
          <a:p>
            <a:pPr algn="ctr">
              <a:lnSpc>
                <a:spcPct val="100000"/>
              </a:lnSpc>
            </a:pPr>
            <a:r>
              <a:rPr sz="1350" b="1" i="0">
                <a:solidFill>
                  <a:srgbClr val="FFFFFF"/>
                </a:solidFill>
                <a:latin typeface="Segoe UI"/>
              </a:rPr>
              <a:t>27</a:t>
            </a:r>
          </a:p>
        </p:txBody>
      </p:sp>
      <p:sp>
        <p:nvSpPr>
          <p:cNvPr id="69" name="Rounded Rectangle 68"/>
          <p:cNvSpPr/>
          <p:nvPr/>
        </p:nvSpPr>
        <p:spPr>
          <a:xfrm>
            <a:off x="9454896" y="4462272"/>
            <a:ext cx="658368" cy="566928"/>
          </a:xfrm>
          <a:prstGeom prst="roundRect">
            <a:avLst>
              <a:gd name="adj" fmla="val 12000"/>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0" name="TextBox 69"/>
          <p:cNvSpPr txBox="1"/>
          <p:nvPr/>
        </p:nvSpPr>
        <p:spPr>
          <a:xfrm>
            <a:off x="9454896" y="4462272"/>
            <a:ext cx="658368" cy="566928"/>
          </a:xfrm>
          <a:prstGeom prst="rect">
            <a:avLst/>
          </a:prstGeom>
          <a:noFill/>
        </p:spPr>
        <p:txBody>
          <a:bodyPr wrap="square" lIns="0" tIns="0" rIns="0" bIns="0" anchor="ctr">
            <a:spAutoFit/>
          </a:bodyPr>
          <a:lstStyle/>
          <a:p>
            <a:pPr algn="ctr">
              <a:lnSpc>
                <a:spcPct val="100000"/>
              </a:lnSpc>
            </a:pPr>
            <a:r>
              <a:rPr sz="1350" b="1" i="0">
                <a:solidFill>
                  <a:srgbClr val="FFFFFF"/>
                </a:solidFill>
                <a:latin typeface="Segoe UI"/>
              </a:rPr>
              <a:t>28</a:t>
            </a:r>
          </a:p>
        </p:txBody>
      </p:sp>
      <p:sp>
        <p:nvSpPr>
          <p:cNvPr id="71" name="Rounded Rectangle 70"/>
          <p:cNvSpPr/>
          <p:nvPr/>
        </p:nvSpPr>
        <p:spPr>
          <a:xfrm>
            <a:off x="10195560" y="4462272"/>
            <a:ext cx="658368" cy="566928"/>
          </a:xfrm>
          <a:prstGeom prst="roundRect">
            <a:avLst>
              <a:gd name="adj" fmla="val 12000"/>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2" name="TextBox 71"/>
          <p:cNvSpPr txBox="1"/>
          <p:nvPr/>
        </p:nvSpPr>
        <p:spPr>
          <a:xfrm>
            <a:off x="10195560" y="4462272"/>
            <a:ext cx="658368" cy="566928"/>
          </a:xfrm>
          <a:prstGeom prst="rect">
            <a:avLst/>
          </a:prstGeom>
          <a:noFill/>
        </p:spPr>
        <p:txBody>
          <a:bodyPr wrap="square" lIns="0" tIns="0" rIns="0" bIns="0" anchor="ctr">
            <a:spAutoFit/>
          </a:bodyPr>
          <a:lstStyle/>
          <a:p>
            <a:pPr algn="ctr">
              <a:lnSpc>
                <a:spcPct val="100000"/>
              </a:lnSpc>
            </a:pPr>
            <a:r>
              <a:rPr sz="1350" b="1" i="0">
                <a:solidFill>
                  <a:srgbClr val="FFFFFF"/>
                </a:solidFill>
                <a:latin typeface="Segoe UI"/>
              </a:rPr>
              <a:t>29</a:t>
            </a:r>
          </a:p>
        </p:txBody>
      </p:sp>
      <p:sp>
        <p:nvSpPr>
          <p:cNvPr id="73" name="Rounded Rectangle 72"/>
          <p:cNvSpPr/>
          <p:nvPr/>
        </p:nvSpPr>
        <p:spPr>
          <a:xfrm>
            <a:off x="10936224" y="4462272"/>
            <a:ext cx="658368" cy="566928"/>
          </a:xfrm>
          <a:prstGeom prst="roundRect">
            <a:avLst>
              <a:gd name="adj" fmla="val 12000"/>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4" name="TextBox 73"/>
          <p:cNvSpPr txBox="1"/>
          <p:nvPr/>
        </p:nvSpPr>
        <p:spPr>
          <a:xfrm>
            <a:off x="10936224" y="4462272"/>
            <a:ext cx="658368" cy="566928"/>
          </a:xfrm>
          <a:prstGeom prst="rect">
            <a:avLst/>
          </a:prstGeom>
          <a:noFill/>
        </p:spPr>
        <p:txBody>
          <a:bodyPr wrap="square" lIns="0" tIns="0" rIns="0" bIns="0" anchor="ctr">
            <a:spAutoFit/>
          </a:bodyPr>
          <a:lstStyle/>
          <a:p>
            <a:pPr algn="ctr">
              <a:lnSpc>
                <a:spcPct val="100000"/>
              </a:lnSpc>
            </a:pPr>
            <a:r>
              <a:rPr sz="1350" b="1" i="0">
                <a:solidFill>
                  <a:srgbClr val="FFFFFF"/>
                </a:solidFill>
                <a:latin typeface="Segoe UI"/>
              </a:rPr>
              <a:t>30</a:t>
            </a:r>
          </a:p>
        </p:txBody>
      </p:sp>
      <p:sp>
        <p:nvSpPr>
          <p:cNvPr id="75" name="TextBox 74"/>
          <p:cNvSpPr txBox="1"/>
          <p:nvPr/>
        </p:nvSpPr>
        <p:spPr>
          <a:xfrm>
            <a:off x="566928" y="5138928"/>
            <a:ext cx="6400800" cy="320040"/>
          </a:xfrm>
          <a:prstGeom prst="rect">
            <a:avLst/>
          </a:prstGeom>
          <a:noFill/>
        </p:spPr>
        <p:txBody>
          <a:bodyPr wrap="square" lIns="0" tIns="0" rIns="0" bIns="0" anchor="t">
            <a:spAutoFit/>
          </a:bodyPr>
          <a:lstStyle/>
          <a:p>
            <a:pPr algn="l">
              <a:lnSpc>
                <a:spcPct val="100000"/>
              </a:lnSpc>
            </a:pPr>
            <a:r>
              <a:rPr sz="1300" b="0" i="0">
                <a:solidFill>
                  <a:srgbClr val="64748B"/>
                </a:solidFill>
                <a:latin typeface="Segoe UI"/>
              </a:rPr>
              <a:t>1 – 20: bỏ qua (offset = 20)</a:t>
            </a:r>
          </a:p>
        </p:txBody>
      </p:sp>
      <p:sp>
        <p:nvSpPr>
          <p:cNvPr id="76" name="TextBox 75"/>
          <p:cNvSpPr txBox="1"/>
          <p:nvPr/>
        </p:nvSpPr>
        <p:spPr>
          <a:xfrm>
            <a:off x="7562088" y="5138928"/>
            <a:ext cx="4059936" cy="320040"/>
          </a:xfrm>
          <a:prstGeom prst="rect">
            <a:avLst/>
          </a:prstGeom>
          <a:noFill/>
        </p:spPr>
        <p:txBody>
          <a:bodyPr wrap="square" lIns="0" tIns="0" rIns="0" bIns="0" anchor="t">
            <a:spAutoFit/>
          </a:bodyPr>
          <a:lstStyle/>
          <a:p>
            <a:pPr algn="r">
              <a:lnSpc>
                <a:spcPct val="100000"/>
              </a:lnSpc>
            </a:pPr>
            <a:r>
              <a:rPr sz="1300" b="1" i="0">
                <a:solidFill>
                  <a:srgbClr val="0B5FA5"/>
                </a:solidFill>
                <a:latin typeface="Segoe UI"/>
              </a:rPr>
              <a:t>21 – 30: lấy về (limit = 10)</a:t>
            </a:r>
          </a:p>
        </p:txBody>
      </p:sp>
      <p:sp>
        <p:nvSpPr>
          <p:cNvPr id="77" name="Rounded Rectangle 76"/>
          <p:cNvSpPr/>
          <p:nvPr/>
        </p:nvSpPr>
        <p:spPr>
          <a:xfrm>
            <a:off x="566928" y="5559552"/>
            <a:ext cx="11055096" cy="658368"/>
          </a:xfrm>
          <a:prstGeom prst="roundRect">
            <a:avLst>
              <a:gd name="adj" fmla="val 6000"/>
            </a:avLst>
          </a:prstGeom>
          <a:solidFill>
            <a:srgbClr val="FDF3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8" name="TextBox 77"/>
          <p:cNvSpPr txBox="1"/>
          <p:nvPr/>
        </p:nvSpPr>
        <p:spPr>
          <a:xfrm>
            <a:off x="841247" y="5559552"/>
            <a:ext cx="10515600" cy="658368"/>
          </a:xfrm>
          <a:prstGeom prst="rect">
            <a:avLst/>
          </a:prstGeom>
          <a:noFill/>
        </p:spPr>
        <p:txBody>
          <a:bodyPr wrap="square" lIns="0" tIns="0" rIns="0" bIns="0" anchor="ctr">
            <a:spAutoFit/>
          </a:bodyPr>
          <a:lstStyle/>
          <a:p>
            <a:pPr algn="l">
              <a:lnSpc>
                <a:spcPct val="105000"/>
              </a:lnSpc>
            </a:pPr>
            <a:r>
              <a:rPr sz="1450" b="1">
                <a:solidFill>
                  <a:srgbClr val="9A6700"/>
                </a:solidFill>
                <a:latin typeface="Segoe UI"/>
              </a:rPr>
              <a:t>Câu hỏi tương tác:  </a:t>
            </a:r>
            <a:r>
              <a:rPr sz="1450" b="0">
                <a:solidFill>
                  <a:srgbClr val="1B2A3B"/>
                </a:solidFill>
                <a:latin typeface="Segoe UI"/>
              </a:rPr>
              <a:t>Nếu page = 5, limit = 20 thì offset bằng bao nhiêu?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1 · GIỚI THIỆU VÀ TRUY VẤN PHÂN TRANG</a:t>
            </a: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Phân trang ở Frontend hay Backend?</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6 / 19</a:t>
            </a:r>
          </a:p>
        </p:txBody>
      </p:sp>
      <p:sp>
        <p:nvSpPr>
          <p:cNvPr id="9" name="TextBox 8"/>
          <p:cNvSpPr txBox="1"/>
          <p:nvPr/>
        </p:nvSpPr>
        <p:spPr>
          <a:xfrm>
            <a:off x="566928" y="1417320"/>
            <a:ext cx="5394960" cy="411480"/>
          </a:xfrm>
          <a:prstGeom prst="rect">
            <a:avLst/>
          </a:prstGeom>
          <a:noFill/>
        </p:spPr>
        <p:txBody>
          <a:bodyPr wrap="square" lIns="0" tIns="0" rIns="0" bIns="0" anchor="t">
            <a:spAutoFit/>
          </a:bodyPr>
          <a:lstStyle/>
          <a:p>
            <a:pPr algn="l">
              <a:lnSpc>
                <a:spcPct val="100000"/>
              </a:lnSpc>
            </a:pPr>
            <a:r>
              <a:rPr sz="1700" b="1" i="0">
                <a:solidFill>
                  <a:srgbClr val="D64545"/>
                </a:solidFill>
                <a:latin typeface="Segoe UI"/>
              </a:rPr>
              <a:t>Cách A — Phân trang ở Frontend</a:t>
            </a:r>
          </a:p>
        </p:txBody>
      </p:sp>
      <p:sp>
        <p:nvSpPr>
          <p:cNvPr id="10" name="Rounded Rectangle 9"/>
          <p:cNvSpPr/>
          <p:nvPr/>
        </p:nvSpPr>
        <p:spPr>
          <a:xfrm>
            <a:off x="566928" y="1920240"/>
            <a:ext cx="2011680" cy="9601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40080" y="2011680"/>
            <a:ext cx="1865376" cy="777240"/>
          </a:xfrm>
          <a:prstGeom prst="rect">
            <a:avLst/>
          </a:prstGeom>
          <a:noFill/>
        </p:spPr>
        <p:txBody>
          <a:bodyPr wrap="square" lIns="0" tIns="0" rIns="0" bIns="0" anchor="ctr">
            <a:spAutoFit/>
          </a:bodyPr>
          <a:lstStyle/>
          <a:p>
            <a:pPr algn="ctr">
              <a:lnSpc>
                <a:spcPct val="105000"/>
              </a:lnSpc>
              <a:spcAft>
                <a:spcPts val="200"/>
              </a:spcAft>
            </a:pPr>
            <a:r>
              <a:rPr sz="1450" b="1">
                <a:solidFill>
                  <a:srgbClr val="1B2A3B"/>
                </a:solidFill>
                <a:latin typeface="Segoe UI"/>
              </a:rPr>
              <a:t>SQL Server</a:t>
            </a:r>
          </a:p>
          <a:p>
            <a:pPr algn="ctr">
              <a:lnSpc>
                <a:spcPct val="105000"/>
              </a:lnSpc>
            </a:pPr>
            <a:r>
              <a:rPr sz="1150" b="0">
                <a:solidFill>
                  <a:srgbClr val="1B2A3B"/>
                </a:solidFill>
                <a:latin typeface="Segoe UI"/>
              </a:rPr>
              <a:t>100.000 dòng</a:t>
            </a:r>
          </a:p>
        </p:txBody>
      </p:sp>
      <p:sp>
        <p:nvSpPr>
          <p:cNvPr id="12" name="Right Arrow 11"/>
          <p:cNvSpPr/>
          <p:nvPr/>
        </p:nvSpPr>
        <p:spPr>
          <a:xfrm>
            <a:off x="2670048" y="2267712"/>
            <a:ext cx="384048" cy="274320"/>
          </a:xfrm>
          <a:prstGeom prst="rightArrow">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172968" y="1920240"/>
            <a:ext cx="2788920" cy="96012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3246120" y="2011680"/>
            <a:ext cx="2642615" cy="777240"/>
          </a:xfrm>
          <a:prstGeom prst="rect">
            <a:avLst/>
          </a:prstGeom>
          <a:noFill/>
        </p:spPr>
        <p:txBody>
          <a:bodyPr wrap="square" lIns="0" tIns="0" rIns="0" bIns="0" anchor="ctr">
            <a:spAutoFit/>
          </a:bodyPr>
          <a:lstStyle/>
          <a:p>
            <a:pPr algn="ctr">
              <a:lnSpc>
                <a:spcPct val="105000"/>
              </a:lnSpc>
              <a:spcAft>
                <a:spcPts val="200"/>
              </a:spcAft>
            </a:pPr>
            <a:r>
              <a:rPr sz="1450" b="1">
                <a:solidFill>
                  <a:srgbClr val="D64545"/>
                </a:solidFill>
                <a:latin typeface="Segoe UI"/>
              </a:rPr>
              <a:t>React .slice()</a:t>
            </a:r>
          </a:p>
          <a:p>
            <a:pPr algn="ctr">
              <a:lnSpc>
                <a:spcPct val="105000"/>
              </a:lnSpc>
            </a:pPr>
            <a:r>
              <a:rPr sz="1150" b="0">
                <a:solidFill>
                  <a:srgbClr val="1B2A3B"/>
                </a:solidFill>
                <a:latin typeface="Segoe UI"/>
              </a:rPr>
              <a:t>Nhận hết rồi mới cắt trang</a:t>
            </a:r>
          </a:p>
        </p:txBody>
      </p:sp>
      <p:sp>
        <p:nvSpPr>
          <p:cNvPr id="15" name="TextBox 14"/>
          <p:cNvSpPr txBox="1"/>
          <p:nvPr/>
        </p:nvSpPr>
        <p:spPr>
          <a:xfrm>
            <a:off x="566928" y="3063240"/>
            <a:ext cx="5394960" cy="685800"/>
          </a:xfrm>
          <a:prstGeom prst="rect">
            <a:avLst/>
          </a:prstGeom>
          <a:noFill/>
        </p:spPr>
        <p:txBody>
          <a:bodyPr wrap="square" lIns="0" tIns="0" rIns="0" bIns="0" anchor="t">
            <a:spAutoFit/>
          </a:bodyPr>
          <a:lstStyle/>
          <a:p>
            <a:pPr algn="l">
              <a:lnSpc>
                <a:spcPct val="118000"/>
              </a:lnSpc>
            </a:pPr>
            <a:r>
              <a:rPr sz="1350" b="0" i="0">
                <a:solidFill>
                  <a:srgbClr val="64748B"/>
                </a:solidFill>
                <a:latin typeface="Segoe UI"/>
              </a:rPr>
              <a:t>Toàn bộ 100.000 dòng vẫn phải truyền qua mạng và nằm trong bộ nhớ trình duyệt.</a:t>
            </a:r>
          </a:p>
        </p:txBody>
      </p:sp>
      <p:sp>
        <p:nvSpPr>
          <p:cNvPr id="16" name="TextBox 15"/>
          <p:cNvSpPr txBox="1"/>
          <p:nvPr/>
        </p:nvSpPr>
        <p:spPr>
          <a:xfrm>
            <a:off x="566928" y="3977639"/>
            <a:ext cx="5394960" cy="411480"/>
          </a:xfrm>
          <a:prstGeom prst="rect">
            <a:avLst/>
          </a:prstGeom>
          <a:noFill/>
        </p:spPr>
        <p:txBody>
          <a:bodyPr wrap="square" lIns="0" tIns="0" rIns="0" bIns="0" anchor="t">
            <a:spAutoFit/>
          </a:bodyPr>
          <a:lstStyle/>
          <a:p>
            <a:pPr algn="l">
              <a:lnSpc>
                <a:spcPct val="100000"/>
              </a:lnSpc>
            </a:pPr>
            <a:r>
              <a:rPr sz="1700" b="1" i="0">
                <a:solidFill>
                  <a:srgbClr val="1B9E6B"/>
                </a:solidFill>
                <a:latin typeface="Segoe UI"/>
              </a:rPr>
              <a:t>Cách B — Phân trang ở Backend</a:t>
            </a:r>
          </a:p>
        </p:txBody>
      </p:sp>
      <p:sp>
        <p:nvSpPr>
          <p:cNvPr id="17" name="Rounded Rectangle 16"/>
          <p:cNvSpPr/>
          <p:nvPr/>
        </p:nvSpPr>
        <p:spPr>
          <a:xfrm>
            <a:off x="566928" y="4480560"/>
            <a:ext cx="2011680" cy="96012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640080" y="4572000"/>
            <a:ext cx="1865376" cy="777240"/>
          </a:xfrm>
          <a:prstGeom prst="rect">
            <a:avLst/>
          </a:prstGeom>
          <a:noFill/>
        </p:spPr>
        <p:txBody>
          <a:bodyPr wrap="square" lIns="0" tIns="0" rIns="0" bIns="0" anchor="ctr">
            <a:spAutoFit/>
          </a:bodyPr>
          <a:lstStyle/>
          <a:p>
            <a:pPr algn="ctr">
              <a:lnSpc>
                <a:spcPct val="105000"/>
              </a:lnSpc>
              <a:spcAft>
                <a:spcPts val="200"/>
              </a:spcAft>
            </a:pPr>
            <a:r>
              <a:rPr sz="1450" b="1">
                <a:solidFill>
                  <a:srgbClr val="1B2A3B"/>
                </a:solidFill>
                <a:latin typeface="Segoe UI"/>
              </a:rPr>
              <a:t>SQL Server</a:t>
            </a:r>
          </a:p>
          <a:p>
            <a:pPr algn="ctr">
              <a:lnSpc>
                <a:spcPct val="105000"/>
              </a:lnSpc>
            </a:pPr>
            <a:r>
              <a:rPr sz="1150" b="0">
                <a:solidFill>
                  <a:srgbClr val="1B2A3B"/>
                </a:solidFill>
                <a:latin typeface="Segoe UI"/>
              </a:rPr>
              <a:t>Truy vấn tại Database</a:t>
            </a:r>
          </a:p>
        </p:txBody>
      </p:sp>
      <p:sp>
        <p:nvSpPr>
          <p:cNvPr id="19" name="Right Arrow 18"/>
          <p:cNvSpPr/>
          <p:nvPr/>
        </p:nvSpPr>
        <p:spPr>
          <a:xfrm>
            <a:off x="2670048" y="4828032"/>
            <a:ext cx="384048" cy="274320"/>
          </a:xfrm>
          <a:prstGeom prst="rightArrow">
            <a:avLst/>
          </a:prstGeom>
          <a:solidFill>
            <a:srgbClr val="1B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172968" y="4480560"/>
            <a:ext cx="2788920" cy="960120"/>
          </a:xfrm>
          <a:prstGeom prst="roundRect">
            <a:avLst>
              <a:gd name="adj" fmla="val 8000"/>
            </a:avLst>
          </a:prstGeom>
          <a:solidFill>
            <a:srgbClr val="E6F5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3246120" y="4572000"/>
            <a:ext cx="2642615" cy="777240"/>
          </a:xfrm>
          <a:prstGeom prst="rect">
            <a:avLst/>
          </a:prstGeom>
          <a:noFill/>
        </p:spPr>
        <p:txBody>
          <a:bodyPr wrap="square" lIns="0" tIns="0" rIns="0" bIns="0" anchor="ctr">
            <a:spAutoFit/>
          </a:bodyPr>
          <a:lstStyle/>
          <a:p>
            <a:pPr algn="ctr">
              <a:lnSpc>
                <a:spcPct val="105000"/>
              </a:lnSpc>
              <a:spcAft>
                <a:spcPts val="200"/>
              </a:spcAft>
            </a:pPr>
            <a:r>
              <a:rPr sz="1450" b="1">
                <a:solidFill>
                  <a:srgbClr val="1B9E6B"/>
                </a:solidFill>
                <a:latin typeface="Segoe UI"/>
              </a:rPr>
              <a:t>React hiển thị</a:t>
            </a:r>
          </a:p>
          <a:p>
            <a:pPr algn="ctr">
              <a:lnSpc>
                <a:spcPct val="105000"/>
              </a:lnSpc>
            </a:pPr>
            <a:r>
              <a:rPr sz="1150" b="0">
                <a:solidFill>
                  <a:srgbClr val="1B2A3B"/>
                </a:solidFill>
                <a:latin typeface="Segoe UI"/>
              </a:rPr>
              <a:t>Chỉ nhận 10 dòng</a:t>
            </a:r>
          </a:p>
        </p:txBody>
      </p:sp>
      <p:sp>
        <p:nvSpPr>
          <p:cNvPr id="22" name="TextBox 21"/>
          <p:cNvSpPr txBox="1"/>
          <p:nvPr/>
        </p:nvSpPr>
        <p:spPr>
          <a:xfrm>
            <a:off x="566928" y="5623560"/>
            <a:ext cx="5394960" cy="685800"/>
          </a:xfrm>
          <a:prstGeom prst="rect">
            <a:avLst/>
          </a:prstGeom>
          <a:noFill/>
        </p:spPr>
        <p:txBody>
          <a:bodyPr wrap="square" lIns="0" tIns="0" rIns="0" bIns="0" anchor="t">
            <a:spAutoFit/>
          </a:bodyPr>
          <a:lstStyle/>
          <a:p>
            <a:pPr algn="l">
              <a:lnSpc>
                <a:spcPct val="118000"/>
              </a:lnSpc>
            </a:pPr>
            <a:r>
              <a:rPr sz="1350" b="0" i="0">
                <a:solidFill>
                  <a:srgbClr val="64748B"/>
                </a:solidFill>
                <a:latin typeface="Segoe UI"/>
              </a:rPr>
              <a:t>Database chỉ trả đúng 10 dòng của trang hiện tại.</a:t>
            </a:r>
          </a:p>
        </p:txBody>
      </p:sp>
      <p:sp>
        <p:nvSpPr>
          <p:cNvPr id="23" name="Rounded Rectangle 22"/>
          <p:cNvSpPr/>
          <p:nvPr/>
        </p:nvSpPr>
        <p:spPr>
          <a:xfrm>
            <a:off x="6556248" y="1417320"/>
            <a:ext cx="5065776" cy="4846320"/>
          </a:xfrm>
          <a:prstGeom prst="roundRect">
            <a:avLst>
              <a:gd name="adj" fmla="val 6000"/>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6876288" y="1737360"/>
            <a:ext cx="4434840" cy="4206240"/>
          </a:xfrm>
          <a:prstGeom prst="rect">
            <a:avLst/>
          </a:prstGeom>
          <a:noFill/>
        </p:spPr>
        <p:txBody>
          <a:bodyPr wrap="square" lIns="0" tIns="0" rIns="0" bIns="0" anchor="t">
            <a:spAutoFit/>
          </a:bodyPr>
          <a:lstStyle/>
          <a:p>
            <a:pPr algn="l">
              <a:lnSpc>
                <a:spcPct val="105000"/>
              </a:lnSpc>
              <a:spcAft>
                <a:spcPts val="1000"/>
              </a:spcAft>
            </a:pPr>
            <a:r>
              <a:rPr sz="1800" b="1">
                <a:solidFill>
                  <a:srgbClr val="FBBF24"/>
                </a:solidFill>
                <a:latin typeface="Segoe UI"/>
              </a:rPr>
              <a:t>Ghi nhớ</a:t>
            </a:r>
          </a:p>
          <a:p>
            <a:pPr algn="l">
              <a:lnSpc>
                <a:spcPct val="120000"/>
              </a:lnSpc>
              <a:spcAft>
                <a:spcPts val="800"/>
              </a:spcAft>
            </a:pPr>
            <a:r>
              <a:rPr sz="1550" b="0">
                <a:solidFill>
                  <a:srgbClr val="FFFFFF"/>
                </a:solidFill>
                <a:latin typeface="Segoe UI"/>
              </a:rPr>
              <a:t>Dự án này phân trang </a:t>
            </a:r>
            <a:r>
              <a:rPr sz="1550" b="1">
                <a:solidFill>
                  <a:srgbClr val="FFFFFF"/>
                </a:solidFill>
                <a:latin typeface="Segoe UI"/>
              </a:rPr>
              <a:t>tại Database</a:t>
            </a:r>
            <a:r>
              <a:rPr sz="1550" b="0">
                <a:solidFill>
                  <a:srgbClr val="FFFFFF"/>
                </a:solidFill>
                <a:latin typeface="Segoe UI"/>
              </a:rPr>
              <a:t> thông qua Backend.</a:t>
            </a:r>
          </a:p>
          <a:p>
            <a:pPr algn="l">
              <a:lnSpc>
                <a:spcPct val="120000"/>
              </a:lnSpc>
              <a:spcAft>
                <a:spcPts val="1400"/>
              </a:spcAft>
            </a:pPr>
            <a:r>
              <a:rPr sz="1550" b="0">
                <a:solidFill>
                  <a:srgbClr val="FFFFFF"/>
                </a:solidFill>
                <a:latin typeface="Segoe UI"/>
              </a:rPr>
              <a:t>Không lấy tất cả bản ghi rồi chia trang trên trình duyệt.</a:t>
            </a:r>
          </a:p>
          <a:p>
            <a:pPr algn="l">
              <a:lnSpc>
                <a:spcPct val="120000"/>
              </a:lnSpc>
            </a:pPr>
            <a:r>
              <a:rPr sz="1450" b="1">
                <a:solidFill>
                  <a:srgbClr val="FBBF24"/>
                </a:solidFill>
                <a:latin typeface="Segoe UI"/>
              </a:rPr>
              <a:t>→ Đây là yêu cầu bắt buộc của Lab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1 · GIỚI THIỆU VÀ TRUY VẤN PHÂN TRANG</a:t>
            </a: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Phân trang trong SQL Server</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7 / 19</a:t>
            </a:r>
          </a:p>
        </p:txBody>
      </p:sp>
      <p:sp>
        <p:nvSpPr>
          <p:cNvPr id="1025" name="Ch8 Truy vấn lấy trang 2"/>
          <p:cNvSpPr txBox="1"/>
          <p:nvPr/>
        </p:nvSpPr>
        <p:spPr>
          <a:xfrm>
            <a:off x="566928" y="1371600"/>
            <a:ext cx="4663440" cy="411480"/>
          </a:xfrm>
          <a:prstGeom prst="rect">
            <a:avLst/>
          </a:prstGeom>
          <a:noFill/>
          <a:ln w="0">
            <a:noFill/>
          </a:ln>
        </p:spPr>
        <p:txBody>
          <a:bodyPr wrap="square" lIns="0" tIns="0" rIns="0" bIns="0" anchor="t"/>
          <a:lstStyle/>
          <a:p>
            <a:pPr marL="0" indent="0">
              <a:spcAft>
                <a:spcPts val="400"/>
              </a:spcAft>
            </a:pPr>
            <a:r>
              <a:rPr lang="vi-VN" sz="2100" b="1">
                <a:solidFill>
                  <a:srgbClr val="146BA2"/>
                </a:solidFill>
                <a:latin typeface="Aptos"/>
                <a:ea typeface="Aptos"/>
                <a:cs typeface="Aptos"/>
              </a:rPr>
              <a:t>Truy vấn lấy trang 2</a:t>
            </a:r>
          </a:p>
        </p:txBody>
      </p:sp>
      <p:pic>
        <p:nvPicPr>
          <p:cNvPr id="1029" name="Demo 07-sql" descr="Truy vấn SQL Server thật trên bảng tạm, trả về SV011 đến SV020."/>
          <p:cNvPicPr>
            <a:picLocks noChangeAspect="1"/>
          </p:cNvPicPr>
          <p:nvPr/>
        </p:nvPicPr>
        <p:blipFill>
          <a:blip r:embed="rId3"/>
          <a:stretch>
            <a:fillRect/>
          </a:stretch>
        </p:blipFill>
        <p:spPr>
          <a:xfrm>
            <a:off x="7249416" y="1371600"/>
            <a:ext cx="4775466" cy="4864608"/>
          </a:xfrm>
          <a:prstGeom prst="rect">
            <a:avLst/>
          </a:prstGeom>
        </p:spPr>
      </p:pic>
      <p:grpSp>
        <p:nvGrpSpPr>
          <p:cNvPr id="13" name="Group 12">
            <a:extLst>
              <a:ext uri="{FF2B5EF4-FFF2-40B4-BE49-F238E27FC236}">
                <a16:creationId xmlns:a16="http://schemas.microsoft.com/office/drawing/2014/main" id="{DB284088-97D8-0579-241D-ADF44C9F109D}"/>
              </a:ext>
            </a:extLst>
          </p:cNvPr>
          <p:cNvGrpSpPr/>
          <p:nvPr/>
        </p:nvGrpSpPr>
        <p:grpSpPr>
          <a:xfrm>
            <a:off x="513014" y="1709928"/>
            <a:ext cx="5209032" cy="2606040"/>
            <a:chOff x="1108323" y="2852928"/>
            <a:chExt cx="6949440" cy="3017520"/>
          </a:xfrm>
        </p:grpSpPr>
        <p:sp>
          <p:nvSpPr>
            <p:cNvPr id="10" name="Rounded Rectangle 8">
              <a:extLst>
                <a:ext uri="{FF2B5EF4-FFF2-40B4-BE49-F238E27FC236}">
                  <a16:creationId xmlns:a16="http://schemas.microsoft.com/office/drawing/2014/main" id="{F1C7D8D2-AA95-CA27-97C4-89465B0B68AC}"/>
                </a:ext>
              </a:extLst>
            </p:cNvPr>
            <p:cNvSpPr/>
            <p:nvPr/>
          </p:nvSpPr>
          <p:spPr>
            <a:xfrm>
              <a:off x="1108323" y="2852928"/>
              <a:ext cx="6949440" cy="3017520"/>
            </a:xfrm>
            <a:prstGeom prst="roundRect">
              <a:avLst>
                <a:gd name="adj" fmla="val 4500"/>
              </a:avLst>
            </a:prstGeom>
            <a:solidFill>
              <a:srgbClr val="1023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a:extLst>
                <a:ext uri="{FF2B5EF4-FFF2-40B4-BE49-F238E27FC236}">
                  <a16:creationId xmlns:a16="http://schemas.microsoft.com/office/drawing/2014/main" id="{8242E629-FE3E-CD20-64D6-F974D372DB65}"/>
                </a:ext>
              </a:extLst>
            </p:cNvPr>
            <p:cNvSpPr txBox="1"/>
            <p:nvPr/>
          </p:nvSpPr>
          <p:spPr>
            <a:xfrm>
              <a:off x="1364355" y="3017520"/>
              <a:ext cx="6492240" cy="2743200"/>
            </a:xfrm>
            <a:prstGeom prst="rect">
              <a:avLst/>
            </a:prstGeom>
            <a:noFill/>
          </p:spPr>
          <p:txBody>
            <a:bodyPr wrap="square" lIns="0" tIns="0" rIns="0" bIns="0" anchor="t">
              <a:spAutoFit/>
            </a:bodyPr>
            <a:lstStyle/>
            <a:p>
              <a:pPr algn="l">
                <a:lnSpc>
                  <a:spcPct val="112000"/>
                </a:lnSpc>
                <a:spcAft>
                  <a:spcPts val="200"/>
                </a:spcAft>
              </a:pPr>
              <a:r>
                <a:rPr sz="1650" b="0">
                  <a:solidFill>
                    <a:srgbClr val="E8F0F8"/>
                  </a:solidFill>
                  <a:latin typeface="Consolas"/>
                </a:rPr>
                <a:t>SELECT maSV, hoTen, email, maLop</a:t>
              </a:r>
            </a:p>
            <a:p>
              <a:pPr algn="l">
                <a:lnSpc>
                  <a:spcPct val="112000"/>
                </a:lnSpc>
                <a:spcAft>
                  <a:spcPts val="200"/>
                </a:spcAft>
              </a:pPr>
              <a:r>
                <a:rPr sz="1650" b="0">
                  <a:solidFill>
                    <a:srgbClr val="E8F0F8"/>
                  </a:solidFill>
                  <a:latin typeface="Consolas"/>
                </a:rPr>
                <a:t>FROM dbo.SinhVien</a:t>
              </a:r>
            </a:p>
            <a:p>
              <a:pPr algn="l">
                <a:lnSpc>
                  <a:spcPct val="112000"/>
                </a:lnSpc>
                <a:spcAft>
                  <a:spcPts val="200"/>
                </a:spcAft>
              </a:pPr>
              <a:r>
                <a:rPr sz="1650" b="0">
                  <a:solidFill>
                    <a:srgbClr val="FBBF24"/>
                  </a:solidFill>
                  <a:latin typeface="Consolas"/>
                </a:rPr>
                <a:t>ORDER BY maSV ASC</a:t>
              </a:r>
            </a:p>
            <a:p>
              <a:pPr algn="l">
                <a:lnSpc>
                  <a:spcPct val="112000"/>
                </a:lnSpc>
                <a:spcAft>
                  <a:spcPts val="200"/>
                </a:spcAft>
              </a:pPr>
              <a:r>
                <a:rPr sz="1650" b="0">
                  <a:solidFill>
                    <a:srgbClr val="6EE7B7"/>
                  </a:solidFill>
                  <a:latin typeface="Consolas"/>
                </a:rPr>
                <a:t>OFFSET 10 ROWS</a:t>
              </a:r>
            </a:p>
            <a:p>
              <a:pPr algn="l">
                <a:lnSpc>
                  <a:spcPct val="112000"/>
                </a:lnSpc>
                <a:spcAft>
                  <a:spcPts val="200"/>
                </a:spcAft>
              </a:pPr>
              <a:r>
                <a:rPr sz="1650" b="0">
                  <a:solidFill>
                    <a:srgbClr val="6EE7B7"/>
                  </a:solidFill>
                  <a:latin typeface="Consolas"/>
                </a:rPr>
                <a:t>FETCH NEXT 10 ROWS ONLY;</a:t>
              </a:r>
            </a:p>
          </p:txBody>
        </p:sp>
      </p:grpSp>
      <p:sp>
        <p:nvSpPr>
          <p:cNvPr id="15" name="Rounded Rectangle 10">
            <a:extLst>
              <a:ext uri="{FF2B5EF4-FFF2-40B4-BE49-F238E27FC236}">
                <a16:creationId xmlns:a16="http://schemas.microsoft.com/office/drawing/2014/main" id="{C72D2EA5-C350-84B8-7498-38FF876DDBE9}"/>
              </a:ext>
            </a:extLst>
          </p:cNvPr>
          <p:cNvSpPr/>
          <p:nvPr/>
        </p:nvSpPr>
        <p:spPr>
          <a:xfrm>
            <a:off x="374369" y="4443981"/>
            <a:ext cx="3785615" cy="91440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a:extLst>
              <a:ext uri="{FF2B5EF4-FFF2-40B4-BE49-F238E27FC236}">
                <a16:creationId xmlns:a16="http://schemas.microsoft.com/office/drawing/2014/main" id="{35D5310E-6EF0-7BE5-926B-222C12396C6A}"/>
              </a:ext>
            </a:extLst>
          </p:cNvPr>
          <p:cNvSpPr/>
          <p:nvPr/>
        </p:nvSpPr>
        <p:spPr>
          <a:xfrm>
            <a:off x="374369" y="4443981"/>
            <a:ext cx="109728" cy="914400"/>
          </a:xfrm>
          <a:prstGeom prst="rect">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a:extLst>
              <a:ext uri="{FF2B5EF4-FFF2-40B4-BE49-F238E27FC236}">
                <a16:creationId xmlns:a16="http://schemas.microsoft.com/office/drawing/2014/main" id="{EC03DAB4-D312-E0D9-71EC-83697D7B3898}"/>
              </a:ext>
            </a:extLst>
          </p:cNvPr>
          <p:cNvSpPr txBox="1"/>
          <p:nvPr/>
        </p:nvSpPr>
        <p:spPr>
          <a:xfrm>
            <a:off x="648689" y="4553708"/>
            <a:ext cx="3383280" cy="731520"/>
          </a:xfrm>
          <a:prstGeom prst="rect">
            <a:avLst/>
          </a:prstGeom>
          <a:noFill/>
        </p:spPr>
        <p:txBody>
          <a:bodyPr wrap="square" lIns="0" tIns="0" rIns="0" bIns="0" anchor="t">
            <a:spAutoFit/>
          </a:bodyPr>
          <a:lstStyle/>
          <a:p>
            <a:pPr algn="l">
              <a:lnSpc>
                <a:spcPct val="105000"/>
              </a:lnSpc>
              <a:spcAft>
                <a:spcPts val="200"/>
              </a:spcAft>
            </a:pPr>
            <a:r>
              <a:rPr sz="1350" b="1">
                <a:solidFill>
                  <a:srgbClr val="0B5FA5"/>
                </a:solidFill>
                <a:latin typeface="Consolas"/>
              </a:rPr>
              <a:t>ORDER BY</a:t>
            </a:r>
          </a:p>
          <a:p>
            <a:pPr algn="l">
              <a:lnSpc>
                <a:spcPct val="110000"/>
              </a:lnSpc>
            </a:pPr>
            <a:r>
              <a:rPr sz="1250" b="0">
                <a:solidFill>
                  <a:srgbClr val="1B2A3B"/>
                </a:solidFill>
                <a:latin typeface="Segoe UI"/>
              </a:rPr>
              <a:t>Sắp xếp dữ liệu — bắt buộc phải có thứ tự ổn định.</a:t>
            </a:r>
          </a:p>
        </p:txBody>
      </p:sp>
      <p:sp>
        <p:nvSpPr>
          <p:cNvPr id="18" name="Rounded Rectangle 13">
            <a:extLst>
              <a:ext uri="{FF2B5EF4-FFF2-40B4-BE49-F238E27FC236}">
                <a16:creationId xmlns:a16="http://schemas.microsoft.com/office/drawing/2014/main" id="{F4215B1E-B7F9-4EEE-3DF1-8F723657977B}"/>
              </a:ext>
            </a:extLst>
          </p:cNvPr>
          <p:cNvSpPr/>
          <p:nvPr/>
        </p:nvSpPr>
        <p:spPr>
          <a:xfrm>
            <a:off x="374369" y="5495540"/>
            <a:ext cx="3785615" cy="91440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a:extLst>
              <a:ext uri="{FF2B5EF4-FFF2-40B4-BE49-F238E27FC236}">
                <a16:creationId xmlns:a16="http://schemas.microsoft.com/office/drawing/2014/main" id="{413A9EA5-1B97-FB9F-7CA6-C808B4942FD3}"/>
              </a:ext>
            </a:extLst>
          </p:cNvPr>
          <p:cNvSpPr/>
          <p:nvPr/>
        </p:nvSpPr>
        <p:spPr>
          <a:xfrm>
            <a:off x="374369" y="5495540"/>
            <a:ext cx="109728" cy="914400"/>
          </a:xfrm>
          <a:prstGeom prst="rect">
            <a:avLst/>
          </a:prstGeom>
          <a:solidFill>
            <a:srgbClr val="1B9E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a:extLst>
              <a:ext uri="{FF2B5EF4-FFF2-40B4-BE49-F238E27FC236}">
                <a16:creationId xmlns:a16="http://schemas.microsoft.com/office/drawing/2014/main" id="{4D1D48B1-3346-38A4-534E-AF0C5C8A00EC}"/>
              </a:ext>
            </a:extLst>
          </p:cNvPr>
          <p:cNvSpPr txBox="1"/>
          <p:nvPr/>
        </p:nvSpPr>
        <p:spPr>
          <a:xfrm>
            <a:off x="648689" y="5605269"/>
            <a:ext cx="3383280" cy="731520"/>
          </a:xfrm>
          <a:prstGeom prst="rect">
            <a:avLst/>
          </a:prstGeom>
          <a:noFill/>
        </p:spPr>
        <p:txBody>
          <a:bodyPr wrap="square" lIns="0" tIns="0" rIns="0" bIns="0" anchor="t">
            <a:spAutoFit/>
          </a:bodyPr>
          <a:lstStyle/>
          <a:p>
            <a:pPr algn="l">
              <a:lnSpc>
                <a:spcPct val="105000"/>
              </a:lnSpc>
              <a:spcAft>
                <a:spcPts val="200"/>
              </a:spcAft>
            </a:pPr>
            <a:r>
              <a:rPr sz="1350" b="1">
                <a:solidFill>
                  <a:srgbClr val="1B9E6B"/>
                </a:solidFill>
                <a:latin typeface="Consolas"/>
              </a:rPr>
              <a:t>OFFSET 10 ROWS</a:t>
            </a:r>
          </a:p>
          <a:p>
            <a:pPr algn="l">
              <a:lnSpc>
                <a:spcPct val="110000"/>
              </a:lnSpc>
            </a:pPr>
            <a:r>
              <a:rPr sz="1250" b="0">
                <a:solidFill>
                  <a:srgbClr val="1B2A3B"/>
                </a:solidFill>
                <a:latin typeface="Segoe UI"/>
              </a:rPr>
              <a:t>Bỏ qua 10 dòng đầu.</a:t>
            </a:r>
          </a:p>
        </p:txBody>
      </p:sp>
      <p:grpSp>
        <p:nvGrpSpPr>
          <p:cNvPr id="24" name="Group 23">
            <a:extLst>
              <a:ext uri="{FF2B5EF4-FFF2-40B4-BE49-F238E27FC236}">
                <a16:creationId xmlns:a16="http://schemas.microsoft.com/office/drawing/2014/main" id="{DFE66CEC-9812-363D-9C50-8BAA70B2AF8F}"/>
              </a:ext>
            </a:extLst>
          </p:cNvPr>
          <p:cNvGrpSpPr/>
          <p:nvPr/>
        </p:nvGrpSpPr>
        <p:grpSpPr>
          <a:xfrm>
            <a:off x="4398885" y="4992623"/>
            <a:ext cx="2735518" cy="914400"/>
            <a:chOff x="7836408" y="3657599"/>
            <a:chExt cx="3785615" cy="914400"/>
          </a:xfrm>
        </p:grpSpPr>
        <p:sp>
          <p:nvSpPr>
            <p:cNvPr id="31" name="Rounded Rectangle 16">
              <a:extLst>
                <a:ext uri="{FF2B5EF4-FFF2-40B4-BE49-F238E27FC236}">
                  <a16:creationId xmlns:a16="http://schemas.microsoft.com/office/drawing/2014/main" id="{11B2BA06-81B7-3B62-7B24-47611348ED83}"/>
                </a:ext>
              </a:extLst>
            </p:cNvPr>
            <p:cNvSpPr/>
            <p:nvPr/>
          </p:nvSpPr>
          <p:spPr>
            <a:xfrm>
              <a:off x="7836408" y="3657599"/>
              <a:ext cx="3785615" cy="91440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Rectangle 31">
              <a:extLst>
                <a:ext uri="{FF2B5EF4-FFF2-40B4-BE49-F238E27FC236}">
                  <a16:creationId xmlns:a16="http://schemas.microsoft.com/office/drawing/2014/main" id="{5E73B678-FFBC-1AC7-620D-39F3D92F6384}"/>
                </a:ext>
              </a:extLst>
            </p:cNvPr>
            <p:cNvSpPr/>
            <p:nvPr/>
          </p:nvSpPr>
          <p:spPr>
            <a:xfrm>
              <a:off x="7836408" y="3657599"/>
              <a:ext cx="109728"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32">
              <a:extLst>
                <a:ext uri="{FF2B5EF4-FFF2-40B4-BE49-F238E27FC236}">
                  <a16:creationId xmlns:a16="http://schemas.microsoft.com/office/drawing/2014/main" id="{6704101F-502B-008F-12B5-F52AD0D8B9B1}"/>
                </a:ext>
              </a:extLst>
            </p:cNvPr>
            <p:cNvSpPr txBox="1"/>
            <p:nvPr/>
          </p:nvSpPr>
          <p:spPr>
            <a:xfrm>
              <a:off x="8110728" y="3767327"/>
              <a:ext cx="3383280" cy="731520"/>
            </a:xfrm>
            <a:prstGeom prst="rect">
              <a:avLst/>
            </a:prstGeom>
            <a:noFill/>
          </p:spPr>
          <p:txBody>
            <a:bodyPr wrap="square" lIns="0" tIns="0" rIns="0" bIns="0" anchor="t">
              <a:spAutoFit/>
            </a:bodyPr>
            <a:lstStyle/>
            <a:p>
              <a:pPr algn="l">
                <a:lnSpc>
                  <a:spcPct val="105000"/>
                </a:lnSpc>
                <a:spcAft>
                  <a:spcPts val="200"/>
                </a:spcAft>
              </a:pPr>
              <a:r>
                <a:rPr sz="1350" b="1">
                  <a:solidFill>
                    <a:srgbClr val="F59E0B"/>
                  </a:solidFill>
                  <a:latin typeface="Consolas"/>
                </a:rPr>
                <a:t>FETCH NEXT 10 ROWS ONLY</a:t>
              </a:r>
            </a:p>
            <a:p>
              <a:pPr algn="l">
                <a:lnSpc>
                  <a:spcPct val="110000"/>
                </a:lnSpc>
              </a:pPr>
              <a:r>
                <a:rPr sz="1250" b="0">
                  <a:solidFill>
                    <a:srgbClr val="1B2A3B"/>
                  </a:solidFill>
                  <a:latin typeface="Segoe UI"/>
                </a:rPr>
                <a:t>Lấy 10 dòng tiếp theo.</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0B5FA5"/>
                </a:solidFill>
                <a:effectLst/>
                <a:uLnTx/>
                <a:uFillTx/>
                <a:latin typeface="Segoe UI"/>
                <a:ea typeface="+mn-ea"/>
                <a:cs typeface="+mn-cs"/>
              </a:rPr>
              <a:t>PHẦN 1 · GIỚI THIỆU VÀ TRUY VẤN PHÂN TRANG</a:t>
            </a:r>
          </a:p>
        </p:txBody>
      </p:sp>
      <p:sp>
        <p:nvSpPr>
          <p:cNvPr id="4" name="TextBox 3"/>
          <p:cNvSpPr txBox="1"/>
          <p:nvPr/>
        </p:nvSpPr>
        <p:spPr>
          <a:xfrm>
            <a:off x="9613087" y="292608"/>
            <a:ext cx="2011680" cy="176972"/>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64748B"/>
                </a:solidFill>
                <a:effectLst/>
                <a:uLnTx/>
                <a:uFillTx/>
                <a:latin typeface="Segoe UI"/>
                <a:ea typeface="+mn-ea"/>
                <a:cs typeface="+mn-cs"/>
              </a:rPr>
              <a:t> </a:t>
            </a:r>
            <a:endParaRPr kumimoji="0" sz="1150" b="1" i="0" u="none" strike="noStrike" kern="1200" cap="none" spc="0" normalizeH="0" baseline="0" noProof="0">
              <a:ln>
                <a:noFill/>
              </a:ln>
              <a:solidFill>
                <a:srgbClr val="64748B"/>
              </a:solidFill>
              <a:effectLst/>
              <a:uLnTx/>
              <a:uFillTx/>
              <a:latin typeface="Segoe UI"/>
              <a:ea typeface="+mn-ea"/>
              <a:cs typeface="+mn-cs"/>
            </a:endParaRP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1" i="0" u="none" strike="noStrike" kern="1200" cap="none" spc="0" normalizeH="0" baseline="0" noProof="0">
                <a:ln>
                  <a:noFill/>
                </a:ln>
                <a:solidFill>
                  <a:srgbClr val="1B2A3B"/>
                </a:solidFill>
                <a:effectLst/>
                <a:uLnTx/>
                <a:uFillTx/>
                <a:latin typeface="Segoe UI"/>
                <a:ea typeface="+mn-ea"/>
                <a:cs typeface="+mn-cs"/>
              </a:rPr>
              <a:t>Sequelize: findAll và findAndCountAll</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64748B"/>
                </a:solidFill>
                <a:effectLst/>
                <a:uLnTx/>
                <a:uFillTx/>
                <a:latin typeface="Segoe UI"/>
                <a:ea typeface="+mn-ea"/>
                <a:cs typeface="+mn-cs"/>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64748B"/>
                </a:solidFill>
                <a:effectLst/>
                <a:uLnTx/>
                <a:uFillTx/>
                <a:latin typeface="Segoe UI"/>
                <a:ea typeface="+mn-ea"/>
                <a:cs typeface="+mn-cs"/>
              </a:rPr>
              <a:t>8 / 20</a:t>
            </a:r>
          </a:p>
        </p:txBody>
      </p:sp>
      <p:sp>
        <p:nvSpPr>
          <p:cNvPr id="9" name="Rounded Rectangle 8"/>
          <p:cNvSpPr/>
          <p:nvPr/>
        </p:nvSpPr>
        <p:spPr>
          <a:xfrm>
            <a:off x="566928" y="1463040"/>
            <a:ext cx="5394960" cy="288036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886968" y="1691640"/>
            <a:ext cx="4754880" cy="41148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64748B"/>
                </a:solidFill>
                <a:effectLst/>
                <a:uLnTx/>
                <a:uFillTx/>
                <a:latin typeface="Segoe UI"/>
                <a:ea typeface="+mn-ea"/>
                <a:cs typeface="+mn-cs"/>
              </a:rPr>
              <a:t>Cách cũ</a:t>
            </a:r>
          </a:p>
        </p:txBody>
      </p:sp>
      <p:sp>
        <p:nvSpPr>
          <p:cNvPr id="11" name="Rounded Rectangle 10"/>
          <p:cNvSpPr/>
          <p:nvPr/>
        </p:nvSpPr>
        <p:spPr>
          <a:xfrm>
            <a:off x="841247" y="2194560"/>
            <a:ext cx="4846320" cy="658368"/>
          </a:xfrm>
          <a:prstGeom prst="roundRect">
            <a:avLst>
              <a:gd name="adj" fmla="val 4500"/>
            </a:avLst>
          </a:prstGeom>
          <a:solidFill>
            <a:srgbClr val="1023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1097280" y="2359152"/>
            <a:ext cx="4389120" cy="384048"/>
          </a:xfrm>
          <a:prstGeom prst="rect">
            <a:avLst/>
          </a:prstGeom>
          <a:noFill/>
        </p:spPr>
        <p:txBody>
          <a:bodyPr wrap="square" lIns="0" tIns="0" rIns="0" bIns="0" anchor="t">
            <a:spAutoFit/>
          </a:bodyPr>
          <a:lstStyle/>
          <a:p>
            <a:pPr marL="0" marR="0" lvl="0" indent="0" algn="l" defTabSz="457200" rtl="0" eaLnBrk="1" fontAlgn="auto" latinLnBrk="0" hangingPunct="1">
              <a:lnSpc>
                <a:spcPct val="112000"/>
              </a:lnSpc>
              <a:spcBef>
                <a:spcPts val="0"/>
              </a:spcBef>
              <a:spcAft>
                <a:spcPts val="200"/>
              </a:spcAft>
              <a:buClrTx/>
              <a:buSzTx/>
              <a:buFontTx/>
              <a:buNone/>
              <a:tabLst/>
              <a:defRPr/>
            </a:pPr>
            <a:r>
              <a:rPr kumimoji="0" sz="1500" b="0" i="0" u="none" strike="noStrike" kern="1200" cap="none" spc="0" normalizeH="0" baseline="0" noProof="0">
                <a:ln>
                  <a:noFill/>
                </a:ln>
                <a:solidFill>
                  <a:srgbClr val="E8F0F8"/>
                </a:solidFill>
                <a:effectLst/>
                <a:uLnTx/>
                <a:uFillTx/>
                <a:latin typeface="Consolas"/>
                <a:ea typeface="+mn-ea"/>
                <a:cs typeface="+mn-cs"/>
              </a:rPr>
              <a:t>SinhVien.findAll()</a:t>
            </a:r>
          </a:p>
        </p:txBody>
      </p:sp>
      <p:sp>
        <p:nvSpPr>
          <p:cNvPr id="13" name="TextBox 12"/>
          <p:cNvSpPr txBox="1"/>
          <p:nvPr/>
        </p:nvSpPr>
        <p:spPr>
          <a:xfrm>
            <a:off x="886968" y="3017520"/>
            <a:ext cx="4754880" cy="731520"/>
          </a:xfrm>
          <a:prstGeom prst="rect">
            <a:avLst/>
          </a:prstGeom>
          <a:noFill/>
        </p:spPr>
        <p:txBody>
          <a:bodyPr wrap="square" lIns="0" tIns="0" rIns="0" bIns="0" anchor="t">
            <a:spAutoFit/>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kumimoji="0" sz="1400" b="0" i="0" u="none" strike="noStrike" kern="1200" cap="none" spc="0" normalizeH="0" baseline="0" noProof="0">
                <a:ln>
                  <a:noFill/>
                </a:ln>
                <a:solidFill>
                  <a:srgbClr val="1B2A3B"/>
                </a:solidFill>
                <a:effectLst/>
                <a:uLnTx/>
                <a:uFillTx/>
                <a:latin typeface="Segoe UI"/>
                <a:ea typeface="+mn-ea"/>
                <a:cs typeface="+mn-cs"/>
              </a:rPr>
              <a:t>Lấy toàn bộ bản ghi phù hợp</a:t>
            </a:r>
          </a:p>
          <a:p>
            <a:pPr marL="0" marR="0" lvl="0" indent="0" algn="l" defTabSz="457200" rtl="0" eaLnBrk="1" fontAlgn="auto" latinLnBrk="0" hangingPunct="1">
              <a:lnSpc>
                <a:spcPct val="115000"/>
              </a:lnSpc>
              <a:spcBef>
                <a:spcPts val="0"/>
              </a:spcBef>
              <a:spcAft>
                <a:spcPts val="0"/>
              </a:spcAft>
              <a:buClrTx/>
              <a:buSzTx/>
              <a:buFontTx/>
              <a:buNone/>
              <a:tabLst/>
              <a:defRPr/>
            </a:pPr>
            <a:r>
              <a:rPr kumimoji="0" sz="1400" b="0" i="0" u="none" strike="noStrike" kern="1200" cap="none" spc="0" normalizeH="0" baseline="0" noProof="0">
                <a:ln>
                  <a:noFill/>
                </a:ln>
                <a:solidFill>
                  <a:srgbClr val="1B2A3B"/>
                </a:solidFill>
                <a:effectLst/>
                <a:uLnTx/>
                <a:uFillTx/>
                <a:latin typeface="Segoe UI"/>
                <a:ea typeface="+mn-ea"/>
                <a:cs typeface="+mn-cs"/>
              </a:rPr>
              <a:t>khi không có giới hạn.</a:t>
            </a:r>
          </a:p>
        </p:txBody>
      </p:sp>
      <p:sp>
        <p:nvSpPr>
          <p:cNvPr id="14" name="Rounded Rectangle 13"/>
          <p:cNvSpPr/>
          <p:nvPr/>
        </p:nvSpPr>
        <p:spPr>
          <a:xfrm>
            <a:off x="6236208" y="1463040"/>
            <a:ext cx="5394960" cy="2880360"/>
          </a:xfrm>
          <a:prstGeom prst="roundRect">
            <a:avLst>
              <a:gd name="adj" fmla="val 6000"/>
            </a:avLst>
          </a:prstGeom>
          <a:solidFill>
            <a:srgbClr val="FFFFFF"/>
          </a:solidFill>
          <a:ln w="31750">
            <a:solidFill>
              <a:srgbClr val="0B5FA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6556248" y="1691640"/>
            <a:ext cx="4754880" cy="41148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B5FA5"/>
                </a:solidFill>
                <a:effectLst/>
                <a:uLnTx/>
                <a:uFillTx/>
                <a:latin typeface="Segoe UI"/>
                <a:ea typeface="+mn-ea"/>
                <a:cs typeface="+mn-cs"/>
              </a:rPr>
              <a:t>Cách mới  —  dùng cho Lab 1</a:t>
            </a:r>
          </a:p>
        </p:txBody>
      </p:sp>
      <p:sp>
        <p:nvSpPr>
          <p:cNvPr id="16" name="Rounded Rectangle 15"/>
          <p:cNvSpPr/>
          <p:nvPr/>
        </p:nvSpPr>
        <p:spPr>
          <a:xfrm>
            <a:off x="6510528" y="2194560"/>
            <a:ext cx="4846320" cy="1463040"/>
          </a:xfrm>
          <a:prstGeom prst="roundRect">
            <a:avLst>
              <a:gd name="adj" fmla="val 4500"/>
            </a:avLst>
          </a:prstGeom>
          <a:solidFill>
            <a:srgbClr val="1023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6766560" y="2359152"/>
            <a:ext cx="4389120" cy="1188720"/>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200"/>
              </a:spcAft>
              <a:buClrTx/>
              <a:buSzTx/>
              <a:buFontTx/>
              <a:buNone/>
              <a:tabLst/>
              <a:defRPr/>
            </a:pPr>
            <a:r>
              <a:rPr kumimoji="0" sz="1450" b="0" i="0" u="none" strike="noStrike" kern="1200" cap="none" spc="0" normalizeH="0" baseline="0" noProof="0">
                <a:ln>
                  <a:noFill/>
                </a:ln>
                <a:solidFill>
                  <a:srgbClr val="E8F0F8"/>
                </a:solidFill>
                <a:effectLst/>
                <a:uLnTx/>
                <a:uFillTx/>
                <a:latin typeface="Consolas"/>
                <a:ea typeface="+mn-ea"/>
                <a:cs typeface="+mn-cs"/>
              </a:rPr>
              <a:t>SinhVien.findAndCountAll({</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sz="1450" b="0" i="0" u="none" strike="noStrike" kern="1200" cap="none" spc="0" normalizeH="0" baseline="0" noProof="0">
                <a:ln>
                  <a:noFill/>
                </a:ln>
                <a:solidFill>
                  <a:srgbClr val="93C5FD"/>
                </a:solidFill>
                <a:effectLst/>
                <a:uLnTx/>
                <a:uFillTx/>
                <a:latin typeface="Consolas"/>
                <a:ea typeface="+mn-ea"/>
                <a:cs typeface="+mn-cs"/>
              </a:rPr>
              <a:t>  limit: 10,</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sz="1450" b="0" i="0" u="none" strike="noStrike" kern="1200" cap="none" spc="0" normalizeH="0" baseline="0" noProof="0">
                <a:ln>
                  <a:noFill/>
                </a:ln>
                <a:solidFill>
                  <a:srgbClr val="93C5FD"/>
                </a:solidFill>
                <a:effectLst/>
                <a:uLnTx/>
                <a:uFillTx/>
                <a:latin typeface="Consolas"/>
                <a:ea typeface="+mn-ea"/>
                <a:cs typeface="+mn-cs"/>
              </a:rPr>
              <a:t>  offset: 10,</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sz="1450" b="0" i="0" u="none" strike="noStrike" kern="1200" cap="none" spc="0" normalizeH="0" baseline="0" noProof="0">
                <a:ln>
                  <a:noFill/>
                </a:ln>
                <a:solidFill>
                  <a:srgbClr val="6EE7B7"/>
                </a:solidFill>
                <a:effectLst/>
                <a:uLnTx/>
                <a:uFillTx/>
                <a:latin typeface="Consolas"/>
                <a:ea typeface="+mn-ea"/>
                <a:cs typeface="+mn-cs"/>
              </a:rPr>
              <a:t>  order: [["maSV", "ASC"]]</a:t>
            </a:r>
          </a:p>
          <a:p>
            <a:pPr marL="0" marR="0" lvl="0" indent="0" algn="l" defTabSz="457200" rtl="0" eaLnBrk="1" fontAlgn="auto" latinLnBrk="0" hangingPunct="1">
              <a:lnSpc>
                <a:spcPct val="108000"/>
              </a:lnSpc>
              <a:spcBef>
                <a:spcPts val="0"/>
              </a:spcBef>
              <a:spcAft>
                <a:spcPts val="200"/>
              </a:spcAft>
              <a:buClrTx/>
              <a:buSzTx/>
              <a:buFontTx/>
              <a:buNone/>
              <a:tabLst/>
              <a:defRPr/>
            </a:pPr>
            <a:r>
              <a:rPr kumimoji="0" sz="1450" b="0" i="0" u="none" strike="noStrike" kern="1200" cap="none" spc="0" normalizeH="0" baseline="0" noProof="0">
                <a:ln>
                  <a:noFill/>
                </a:ln>
                <a:solidFill>
                  <a:srgbClr val="E8F0F8"/>
                </a:solidFill>
                <a:effectLst/>
                <a:uLnTx/>
                <a:uFillTx/>
                <a:latin typeface="Consolas"/>
                <a:ea typeface="+mn-ea"/>
                <a:cs typeface="+mn-cs"/>
              </a:rPr>
              <a:t>});</a:t>
            </a:r>
          </a:p>
        </p:txBody>
      </p:sp>
      <p:sp>
        <p:nvSpPr>
          <p:cNvPr id="18" name="TextBox 17"/>
          <p:cNvSpPr txBox="1"/>
          <p:nvPr/>
        </p:nvSpPr>
        <p:spPr>
          <a:xfrm>
            <a:off x="6556248" y="3712463"/>
            <a:ext cx="475488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kumimoji="0" sz="1400" b="0" i="0" u="none" strike="noStrike" kern="1200" cap="none" spc="0" normalizeH="0" baseline="0" noProof="0">
                <a:ln>
                  <a:noFill/>
                </a:ln>
                <a:solidFill>
                  <a:srgbClr val="1B2A3B"/>
                </a:solidFill>
                <a:effectLst/>
                <a:uLnTx/>
                <a:uFillTx/>
                <a:latin typeface="Segoe UI"/>
                <a:ea typeface="+mn-ea"/>
                <a:cs typeface="+mn-cs"/>
              </a:rPr>
              <a:t>Vừa lấy bản ghi của trang,</a:t>
            </a:r>
          </a:p>
          <a:p>
            <a:pPr marL="0" marR="0" lvl="0" indent="0" algn="l" defTabSz="457200" rtl="0" eaLnBrk="1" fontAlgn="auto" latinLnBrk="0" hangingPunct="1">
              <a:lnSpc>
                <a:spcPct val="115000"/>
              </a:lnSpc>
              <a:spcBef>
                <a:spcPts val="0"/>
              </a:spcBef>
              <a:spcAft>
                <a:spcPts val="0"/>
              </a:spcAft>
              <a:buClrTx/>
              <a:buSzTx/>
              <a:buFontTx/>
              <a:buNone/>
              <a:tabLst/>
              <a:defRPr/>
            </a:pPr>
            <a:r>
              <a:rPr kumimoji="0" sz="1400" b="0" i="0" u="none" strike="noStrike" kern="1200" cap="none" spc="0" normalizeH="0" baseline="0" noProof="0">
                <a:ln>
                  <a:noFill/>
                </a:ln>
                <a:solidFill>
                  <a:srgbClr val="1B2A3B"/>
                </a:solidFill>
                <a:effectLst/>
                <a:uLnTx/>
                <a:uFillTx/>
                <a:latin typeface="Segoe UI"/>
                <a:ea typeface="+mn-ea"/>
                <a:cs typeface="+mn-cs"/>
              </a:rPr>
              <a:t>vừa đếm tổng số kết quả.</a:t>
            </a:r>
          </a:p>
        </p:txBody>
      </p:sp>
      <p:sp>
        <p:nvSpPr>
          <p:cNvPr id="19" name="Rounded Rectangle 18"/>
          <p:cNvSpPr/>
          <p:nvPr/>
        </p:nvSpPr>
        <p:spPr>
          <a:xfrm>
            <a:off x="566928" y="4526280"/>
            <a:ext cx="11055096" cy="1280160"/>
          </a:xfrm>
          <a:prstGeom prst="roundRect">
            <a:avLst>
              <a:gd name="adj" fmla="val 6000"/>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932688" y="4526280"/>
            <a:ext cx="10332720" cy="1280160"/>
          </a:xfrm>
          <a:prstGeom prst="rect">
            <a:avLst/>
          </a:prstGeom>
          <a:noFill/>
        </p:spPr>
        <p:txBody>
          <a:bodyPr wrap="square" lIns="0" tIns="0" rIns="0" bIns="0" anchor="ctr">
            <a:spAutoFit/>
          </a:bodyPr>
          <a:lstStyle/>
          <a:p>
            <a:pPr marL="0" marR="0" lvl="0" indent="0" algn="l" defTabSz="457200" rtl="0" eaLnBrk="1" fontAlgn="auto" latinLnBrk="0" hangingPunct="1">
              <a:lnSpc>
                <a:spcPct val="115000"/>
              </a:lnSpc>
              <a:spcBef>
                <a:spcPts val="0"/>
              </a:spcBef>
              <a:spcAft>
                <a:spcPts val="800"/>
              </a:spcAft>
              <a:buClrTx/>
              <a:buSzTx/>
              <a:buFontTx/>
              <a:buNone/>
              <a:tabLst/>
              <a:defRPr/>
            </a:pPr>
            <a:r>
              <a:rPr kumimoji="0" sz="1500" b="1" i="0" u="none" strike="noStrike" kern="1200" cap="none" spc="0" normalizeH="0" baseline="0" noProof="0">
                <a:ln>
                  <a:noFill/>
                </a:ln>
                <a:solidFill>
                  <a:srgbClr val="FBBF24"/>
                </a:solidFill>
                <a:effectLst/>
                <a:uLnTx/>
                <a:uFillTx/>
                <a:latin typeface="Consolas"/>
                <a:ea typeface="+mn-ea"/>
                <a:cs typeface="+mn-cs"/>
              </a:rPr>
              <a:t>rows</a:t>
            </a:r>
            <a:r>
              <a:rPr kumimoji="0" sz="1500" b="0" i="0" u="none" strike="noStrike" kern="1200" cap="none" spc="0" normalizeH="0" baseline="0" noProof="0">
                <a:ln>
                  <a:noFill/>
                </a:ln>
                <a:solidFill>
                  <a:srgbClr val="FFFFFF"/>
                </a:solidFill>
                <a:effectLst/>
                <a:uLnTx/>
                <a:uFillTx/>
                <a:latin typeface="Segoe UI"/>
                <a:ea typeface="+mn-ea"/>
                <a:cs typeface="+mn-cs"/>
              </a:rPr>
              <a:t>  =  danh sách sinh viên của trang hiện tại.</a:t>
            </a:r>
          </a:p>
          <a:p>
            <a:pPr marL="0" marR="0" lvl="0" indent="0" algn="l" defTabSz="457200" rtl="0" eaLnBrk="1" fontAlgn="auto" latinLnBrk="0" hangingPunct="1">
              <a:lnSpc>
                <a:spcPct val="115000"/>
              </a:lnSpc>
              <a:spcBef>
                <a:spcPts val="0"/>
              </a:spcBef>
              <a:spcAft>
                <a:spcPts val="0"/>
              </a:spcAft>
              <a:buClrTx/>
              <a:buSzTx/>
              <a:buFontTx/>
              <a:buNone/>
              <a:tabLst/>
              <a:defRPr/>
            </a:pPr>
            <a:r>
              <a:rPr kumimoji="0" sz="1500" b="1" i="0" u="none" strike="noStrike" kern="1200" cap="none" spc="0" normalizeH="0" baseline="0" noProof="0">
                <a:ln>
                  <a:noFill/>
                </a:ln>
                <a:solidFill>
                  <a:srgbClr val="FBBF24"/>
                </a:solidFill>
                <a:effectLst/>
                <a:uLnTx/>
                <a:uFillTx/>
                <a:latin typeface="Consolas"/>
                <a:ea typeface="+mn-ea"/>
                <a:cs typeface="+mn-cs"/>
              </a:rPr>
              <a:t>count</a:t>
            </a:r>
            <a:r>
              <a:rPr kumimoji="0" sz="1500" b="0" i="0" u="none" strike="noStrike" kern="1200" cap="none" spc="0" normalizeH="0" baseline="0" noProof="0">
                <a:ln>
                  <a:noFill/>
                </a:ln>
                <a:solidFill>
                  <a:srgbClr val="FFFFFF"/>
                </a:solidFill>
                <a:effectLst/>
                <a:uLnTx/>
                <a:uFillTx/>
                <a:latin typeface="Segoe UI"/>
                <a:ea typeface="+mn-ea"/>
                <a:cs typeface="+mn-cs"/>
              </a:rPr>
              <a:t>  =  tổng số bản ghi phù hợp — Frontend cần con số này để biết có bao nhiêu trang.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1 · GIỚI THIỆU VÀ TRUY VẤN PHÂN TRANG</a:t>
            </a: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Kết hợp tìm kiếm với phân trang</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9 / 19</a:t>
            </a:r>
          </a:p>
        </p:txBody>
      </p:sp>
      <p:sp>
        <p:nvSpPr>
          <p:cNvPr id="1037" name="Ch8 GET /api/v1/sinh-vien?page=2&amp;l"/>
          <p:cNvSpPr txBox="1"/>
          <p:nvPr/>
        </p:nvSpPr>
        <p:spPr>
          <a:xfrm>
            <a:off x="566928" y="1463040"/>
            <a:ext cx="11055096" cy="411480"/>
          </a:xfrm>
          <a:prstGeom prst="rect">
            <a:avLst/>
          </a:prstGeom>
          <a:noFill/>
          <a:ln w="0">
            <a:noFill/>
          </a:ln>
        </p:spPr>
        <p:txBody>
          <a:bodyPr wrap="square" lIns="0" tIns="0" rIns="0" bIns="0" anchor="t"/>
          <a:lstStyle/>
          <a:p>
            <a:pPr marL="0" indent="0">
              <a:spcAft>
                <a:spcPts val="400"/>
              </a:spcAft>
            </a:pPr>
            <a:r>
              <a:rPr lang="vi-VN" sz="1900" b="1">
                <a:solidFill>
                  <a:srgbClr val="146BA2"/>
                </a:solidFill>
                <a:latin typeface="Consolas"/>
                <a:ea typeface="Consolas"/>
                <a:cs typeface="Consolas"/>
              </a:rPr>
              <a:t>GET /api/v1/sinh-vien?page=2&amp;limit=10&amp;search=Anh</a:t>
            </a:r>
          </a:p>
        </p:txBody>
      </p:sp>
      <p:pic>
        <p:nvPicPr>
          <p:cNvPr id="1038" name="Demo 09-search" descr="Giao diện tìm tên chứa Anh, sau đó lấy trang 2. Tất cả kết quả trong ảnh đến từ truy vấn SQL Server của demo."/>
          <p:cNvPicPr>
            <a:picLocks noChangeAspect="1"/>
          </p:cNvPicPr>
          <p:nvPr/>
        </p:nvPicPr>
        <p:blipFill>
          <a:blip r:embed="rId3"/>
          <a:stretch>
            <a:fillRect/>
          </a:stretch>
        </p:blipFill>
        <p:spPr>
          <a:xfrm>
            <a:off x="1064901" y="2011680"/>
            <a:ext cx="6639294" cy="3886200"/>
          </a:xfrm>
          <a:prstGeom prst="rect">
            <a:avLst/>
          </a:prstGeom>
        </p:spPr>
      </p:pic>
      <p:sp>
        <p:nvSpPr>
          <p:cNvPr id="1045" name="Ch8 Thảo luận: Điều gì xảy ra nếu "/>
          <p:cNvSpPr txBox="1"/>
          <p:nvPr/>
        </p:nvSpPr>
        <p:spPr>
          <a:xfrm>
            <a:off x="566928" y="6007608"/>
            <a:ext cx="11055096" cy="320040"/>
          </a:xfrm>
          <a:prstGeom prst="rect">
            <a:avLst/>
          </a:prstGeom>
          <a:noFill/>
          <a:ln w="0">
            <a:noFill/>
          </a:ln>
        </p:spPr>
        <p:txBody>
          <a:bodyPr wrap="square" lIns="0" tIns="0" rIns="0" bIns="0" anchor="t"/>
          <a:lstStyle/>
          <a:p>
            <a:pPr>
              <a:spcAft>
                <a:spcPts val="400"/>
              </a:spcAft>
            </a:pPr>
            <a:r>
              <a:rPr lang="vi-VN" sz="1600" b="0">
                <a:solidFill>
                  <a:srgbClr val="B33E46"/>
                </a:solidFill>
                <a:latin typeface="Aptos"/>
                <a:ea typeface="Aptos"/>
                <a:cs typeface="Aptos"/>
              </a:rPr>
              <a:t>Thảo luận: </a:t>
            </a:r>
            <a:r>
              <a:rPr lang="vi-VN" sz="1600">
                <a:solidFill>
                  <a:srgbClr val="1B2A3B"/>
                </a:solidFill>
                <a:latin typeface="Segoe UI"/>
              </a:rPr>
              <a:t>“Có nên phân trang trước rồi mới tìm kiếm trên 10 sinh viên đã lấy không?”</a:t>
            </a:r>
          </a:p>
          <a:p>
            <a:pPr marL="0" indent="0">
              <a:spcAft>
                <a:spcPts val="400"/>
              </a:spcAft>
            </a:pPr>
            <a:endParaRPr lang="vi-VN" sz="1600" b="0">
              <a:solidFill>
                <a:srgbClr val="B33E46"/>
              </a:solidFill>
              <a:latin typeface="Aptos"/>
              <a:ea typeface="Aptos"/>
              <a:cs typeface="Aptos"/>
            </a:endParaRPr>
          </a:p>
        </p:txBody>
      </p:sp>
      <p:grpSp>
        <p:nvGrpSpPr>
          <p:cNvPr id="13" name="Group 12">
            <a:extLst>
              <a:ext uri="{FF2B5EF4-FFF2-40B4-BE49-F238E27FC236}">
                <a16:creationId xmlns:a16="http://schemas.microsoft.com/office/drawing/2014/main" id="{E0747160-AB94-060E-A112-AD7F7D1D0380}"/>
              </a:ext>
            </a:extLst>
          </p:cNvPr>
          <p:cNvGrpSpPr/>
          <p:nvPr/>
        </p:nvGrpSpPr>
        <p:grpSpPr>
          <a:xfrm>
            <a:off x="8543544" y="429768"/>
            <a:ext cx="3063240" cy="5538147"/>
            <a:chOff x="566928" y="2212848"/>
            <a:chExt cx="3063240" cy="5538147"/>
          </a:xfrm>
        </p:grpSpPr>
        <p:sp>
          <p:nvSpPr>
            <p:cNvPr id="14" name="Rounded Rectangle 10">
              <a:extLst>
                <a:ext uri="{FF2B5EF4-FFF2-40B4-BE49-F238E27FC236}">
                  <a16:creationId xmlns:a16="http://schemas.microsoft.com/office/drawing/2014/main" id="{7A205A5B-B741-8CB8-E831-1D17DEF80542}"/>
                </a:ext>
              </a:extLst>
            </p:cNvPr>
            <p:cNvSpPr/>
            <p:nvPr/>
          </p:nvSpPr>
          <p:spPr>
            <a:xfrm>
              <a:off x="566928" y="2212848"/>
              <a:ext cx="3063240" cy="1371600"/>
            </a:xfrm>
            <a:prstGeom prst="roundRect">
              <a:avLst>
                <a:gd name="adj" fmla="val 8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ounded Rectangle 13">
              <a:extLst>
                <a:ext uri="{FF2B5EF4-FFF2-40B4-BE49-F238E27FC236}">
                  <a16:creationId xmlns:a16="http://schemas.microsoft.com/office/drawing/2014/main" id="{DAC9A35E-0CB6-476A-1F54-16A082947842}"/>
                </a:ext>
              </a:extLst>
            </p:cNvPr>
            <p:cNvSpPr/>
            <p:nvPr/>
          </p:nvSpPr>
          <p:spPr>
            <a:xfrm>
              <a:off x="566928" y="4528173"/>
              <a:ext cx="3063240" cy="1371600"/>
            </a:xfrm>
            <a:prstGeom prst="roundRect">
              <a:avLst>
                <a:gd name="adj" fmla="val 8000"/>
              </a:avLst>
            </a:prstGeom>
            <a:solidFill>
              <a:srgbClr val="E6F5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6">
              <a:extLst>
                <a:ext uri="{FF2B5EF4-FFF2-40B4-BE49-F238E27FC236}">
                  <a16:creationId xmlns:a16="http://schemas.microsoft.com/office/drawing/2014/main" id="{0E18C892-7B5E-4CD4-F5DD-0E19E9E2B476}"/>
                </a:ext>
              </a:extLst>
            </p:cNvPr>
            <p:cNvSpPr/>
            <p:nvPr/>
          </p:nvSpPr>
          <p:spPr>
            <a:xfrm>
              <a:off x="566928" y="6379395"/>
              <a:ext cx="3063240" cy="1371600"/>
            </a:xfrm>
            <a:prstGeom prst="roundRect">
              <a:avLst>
                <a:gd name="adj" fmla="val 8000"/>
              </a:avLst>
            </a:prstGeom>
            <a:solidFill>
              <a:srgbClr val="FDF3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grpSp>
          <p:nvGrpSpPr>
            <p:cNvPr id="17" name="Group 16">
              <a:extLst>
                <a:ext uri="{FF2B5EF4-FFF2-40B4-BE49-F238E27FC236}">
                  <a16:creationId xmlns:a16="http://schemas.microsoft.com/office/drawing/2014/main" id="{EE50CAA7-B0DD-C0F5-07A6-C45D370A988D}"/>
                </a:ext>
              </a:extLst>
            </p:cNvPr>
            <p:cNvGrpSpPr/>
            <p:nvPr/>
          </p:nvGrpSpPr>
          <p:grpSpPr>
            <a:xfrm>
              <a:off x="640080" y="2304288"/>
              <a:ext cx="2916936" cy="5355267"/>
              <a:chOff x="640080" y="2304288"/>
              <a:chExt cx="2916936" cy="5355267"/>
            </a:xfrm>
          </p:grpSpPr>
          <p:sp>
            <p:nvSpPr>
              <p:cNvPr id="18" name="TextBox 17">
                <a:extLst>
                  <a:ext uri="{FF2B5EF4-FFF2-40B4-BE49-F238E27FC236}">
                    <a16:creationId xmlns:a16="http://schemas.microsoft.com/office/drawing/2014/main" id="{C2B2E762-A0FD-07BD-FE3F-8D4C99889960}"/>
                  </a:ext>
                </a:extLst>
              </p:cNvPr>
              <p:cNvSpPr txBox="1"/>
              <p:nvPr/>
            </p:nvSpPr>
            <p:spPr>
              <a:xfrm>
                <a:off x="640080" y="2304288"/>
                <a:ext cx="2916936" cy="1188720"/>
              </a:xfrm>
              <a:prstGeom prst="rect">
                <a:avLst/>
              </a:prstGeom>
              <a:noFill/>
            </p:spPr>
            <p:txBody>
              <a:bodyPr wrap="square" lIns="0" tIns="0" rIns="0" bIns="0" anchor="ctr">
                <a:spAutoFit/>
              </a:bodyPr>
              <a:lstStyle/>
              <a:p>
                <a:pPr algn="ctr">
                  <a:lnSpc>
                    <a:spcPct val="105000"/>
                  </a:lnSpc>
                  <a:spcAft>
                    <a:spcPts val="200"/>
                  </a:spcAft>
                </a:pPr>
                <a:r>
                  <a:rPr sz="1450" b="1">
                    <a:solidFill>
                      <a:srgbClr val="1B2A3B"/>
                    </a:solidFill>
                    <a:latin typeface="Segoe UI"/>
                  </a:rPr>
                  <a:t>1. Tìm</a:t>
                </a:r>
              </a:p>
              <a:p>
                <a:pPr algn="ctr">
                  <a:lnSpc>
                    <a:spcPct val="105000"/>
                  </a:lnSpc>
                </a:pPr>
                <a:r>
                  <a:rPr sz="1150" b="0">
                    <a:solidFill>
                      <a:srgbClr val="1B2A3B"/>
                    </a:solidFill>
                    <a:latin typeface="Segoe UI"/>
                  </a:rPr>
                  <a:t>Lọc họ tên có chữ “Anh”
(Op.like trong Sequelize)</a:t>
                </a:r>
              </a:p>
            </p:txBody>
          </p:sp>
          <p:sp>
            <p:nvSpPr>
              <p:cNvPr id="19" name="Right Arrow 12">
                <a:extLst>
                  <a:ext uri="{FF2B5EF4-FFF2-40B4-BE49-F238E27FC236}">
                    <a16:creationId xmlns:a16="http://schemas.microsoft.com/office/drawing/2014/main" id="{7CD9FF88-3D59-59D5-F10D-F3796CC006E4}"/>
                  </a:ext>
                </a:extLst>
              </p:cNvPr>
              <p:cNvSpPr/>
              <p:nvPr/>
            </p:nvSpPr>
            <p:spPr>
              <a:xfrm rot="5400000">
                <a:off x="2050085" y="4026269"/>
                <a:ext cx="384048" cy="274320"/>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5C37F8CD-AF34-6602-E7D0-FA8BA2D90631}"/>
                  </a:ext>
                </a:extLst>
              </p:cNvPr>
              <p:cNvSpPr txBox="1"/>
              <p:nvPr/>
            </p:nvSpPr>
            <p:spPr>
              <a:xfrm>
                <a:off x="640080" y="4619613"/>
                <a:ext cx="2916936" cy="1188720"/>
              </a:xfrm>
              <a:prstGeom prst="rect">
                <a:avLst/>
              </a:prstGeom>
              <a:noFill/>
            </p:spPr>
            <p:txBody>
              <a:bodyPr wrap="square" lIns="0" tIns="0" rIns="0" bIns="0" anchor="ctr">
                <a:spAutoFit/>
              </a:bodyPr>
              <a:lstStyle/>
              <a:p>
                <a:pPr algn="ctr">
                  <a:lnSpc>
                    <a:spcPct val="105000"/>
                  </a:lnSpc>
                  <a:spcAft>
                    <a:spcPts val="200"/>
                  </a:spcAft>
                </a:pPr>
                <a:r>
                  <a:rPr sz="1450" b="1">
                    <a:solidFill>
                      <a:srgbClr val="1B2A3B"/>
                    </a:solidFill>
                    <a:latin typeface="Segoe UI"/>
                  </a:rPr>
                  <a:t>2. Đếm</a:t>
                </a:r>
              </a:p>
              <a:p>
                <a:pPr algn="ctr">
                  <a:lnSpc>
                    <a:spcPct val="105000"/>
                  </a:lnSpc>
                </a:pPr>
                <a:r>
                  <a:rPr sz="1150" b="0">
                    <a:solidFill>
                      <a:srgbClr val="1B2A3B"/>
                    </a:solidFill>
                    <a:latin typeface="Segoe UI"/>
                  </a:rPr>
                  <a:t>Đếm toàn bộ kết quả
phù hợp (count)</a:t>
                </a:r>
              </a:p>
            </p:txBody>
          </p:sp>
          <p:sp>
            <p:nvSpPr>
              <p:cNvPr id="21" name="Right Arrow 15">
                <a:extLst>
                  <a:ext uri="{FF2B5EF4-FFF2-40B4-BE49-F238E27FC236}">
                    <a16:creationId xmlns:a16="http://schemas.microsoft.com/office/drawing/2014/main" id="{18C6B97F-7E3D-CC9A-F138-2820F07A64D6}"/>
                  </a:ext>
                </a:extLst>
              </p:cNvPr>
              <p:cNvSpPr/>
              <p:nvPr/>
            </p:nvSpPr>
            <p:spPr>
              <a:xfrm rot="5400000">
                <a:off x="1995221" y="6013635"/>
                <a:ext cx="384048" cy="274320"/>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C6822B14-D8E1-33E7-0E07-4DEBA28CF87A}"/>
                  </a:ext>
                </a:extLst>
              </p:cNvPr>
              <p:cNvSpPr txBox="1"/>
              <p:nvPr/>
            </p:nvSpPr>
            <p:spPr>
              <a:xfrm>
                <a:off x="640080" y="6470835"/>
                <a:ext cx="2916936" cy="1188720"/>
              </a:xfrm>
              <a:prstGeom prst="rect">
                <a:avLst/>
              </a:prstGeom>
              <a:noFill/>
            </p:spPr>
            <p:txBody>
              <a:bodyPr wrap="square" lIns="0" tIns="0" rIns="0" bIns="0" anchor="ctr">
                <a:spAutoFit/>
              </a:bodyPr>
              <a:lstStyle/>
              <a:p>
                <a:pPr algn="ctr">
                  <a:lnSpc>
                    <a:spcPct val="105000"/>
                  </a:lnSpc>
                  <a:spcAft>
                    <a:spcPts val="200"/>
                  </a:spcAft>
                </a:pPr>
                <a:r>
                  <a:rPr sz="1450" b="1">
                    <a:solidFill>
                      <a:srgbClr val="1B2A3B"/>
                    </a:solidFill>
                    <a:latin typeface="Segoe UI"/>
                  </a:rPr>
                  <a:t>3. Chia trang</a:t>
                </a:r>
              </a:p>
              <a:p>
                <a:pPr algn="ctr">
                  <a:lnSpc>
                    <a:spcPct val="105000"/>
                  </a:lnSpc>
                </a:pPr>
                <a:r>
                  <a:rPr sz="1150" b="0">
                    <a:solidFill>
                      <a:srgbClr val="1B2A3B"/>
                    </a:solidFill>
                    <a:latin typeface="Segoe UI"/>
                  </a:rPr>
                  <a:t>Sắp xếp rồi lấy
trang thứ 2 (limit/offset)</a:t>
                </a:r>
              </a:p>
            </p:txBody>
          </p:sp>
        </p:grpSp>
      </p:grpSp>
      <p:grpSp>
        <p:nvGrpSpPr>
          <p:cNvPr id="23" name="Group 22">
            <a:extLst>
              <a:ext uri="{FF2B5EF4-FFF2-40B4-BE49-F238E27FC236}">
                <a16:creationId xmlns:a16="http://schemas.microsoft.com/office/drawing/2014/main" id="{CFE10399-5CD3-4A18-91A4-F19DB10842D2}"/>
              </a:ext>
            </a:extLst>
          </p:cNvPr>
          <p:cNvGrpSpPr/>
          <p:nvPr/>
        </p:nvGrpSpPr>
        <p:grpSpPr>
          <a:xfrm>
            <a:off x="0" y="6272784"/>
            <a:ext cx="11055096" cy="585216"/>
            <a:chOff x="566928" y="3794760"/>
            <a:chExt cx="11055096" cy="914400"/>
          </a:xfrm>
        </p:grpSpPr>
        <p:sp>
          <p:nvSpPr>
            <p:cNvPr id="24" name="Rounded Rectangle 18">
              <a:extLst>
                <a:ext uri="{FF2B5EF4-FFF2-40B4-BE49-F238E27FC236}">
                  <a16:creationId xmlns:a16="http://schemas.microsoft.com/office/drawing/2014/main" id="{8F2A727A-1080-F499-34E2-DBECF2EA28AE}"/>
                </a:ext>
              </a:extLst>
            </p:cNvPr>
            <p:cNvSpPr/>
            <p:nvPr/>
          </p:nvSpPr>
          <p:spPr>
            <a:xfrm>
              <a:off x="566928" y="3794760"/>
              <a:ext cx="11055096" cy="91440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a:extLst>
                <a:ext uri="{FF2B5EF4-FFF2-40B4-BE49-F238E27FC236}">
                  <a16:creationId xmlns:a16="http://schemas.microsoft.com/office/drawing/2014/main" id="{5D42651E-8D09-010F-69BB-9FFC2D0D2E0E}"/>
                </a:ext>
              </a:extLst>
            </p:cNvPr>
            <p:cNvSpPr txBox="1"/>
            <p:nvPr/>
          </p:nvSpPr>
          <p:spPr>
            <a:xfrm>
              <a:off x="886968" y="3794760"/>
              <a:ext cx="10424160" cy="914400"/>
            </a:xfrm>
            <a:prstGeom prst="rect">
              <a:avLst/>
            </a:prstGeom>
            <a:noFill/>
          </p:spPr>
          <p:txBody>
            <a:bodyPr wrap="square" lIns="0" tIns="0" rIns="0" bIns="0" anchor="ctr">
              <a:spAutoFit/>
            </a:bodyPr>
            <a:lstStyle/>
            <a:p>
              <a:pPr algn="l">
                <a:lnSpc>
                  <a:spcPct val="115000"/>
                </a:lnSpc>
              </a:pPr>
              <a:r>
                <a:rPr sz="1450" b="1">
                  <a:solidFill>
                    <a:srgbClr val="1B2A3B"/>
                  </a:solidFill>
                  <a:latin typeface="Segoe UI"/>
                </a:rPr>
                <a:t>Bộ lọc:  </a:t>
              </a:r>
              <a:r>
                <a:rPr sz="1450" b="0">
                  <a:solidFill>
                    <a:srgbClr val="1B2A3B"/>
                  </a:solidFill>
                  <a:latin typeface="Segoe UI"/>
                </a:rPr>
                <a:t>tham số search được chuyển thành điều kiện where trong Sequelize, dùng Op.like để tìm gần đúng theo hoTen.</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1 · GIỚI THIỆU VÀ TRUY VẤN PHÂN TRANG</a:t>
            </a:r>
          </a:p>
        </p:txBody>
      </p:sp>
      <p:sp>
        <p:nvSpPr>
          <p:cNvPr id="4" name="TextBox 3"/>
          <p:cNvSpPr txBox="1"/>
          <p:nvPr/>
        </p:nvSpPr>
        <p:spPr>
          <a:xfrm>
            <a:off x="9613087" y="292608"/>
            <a:ext cx="2011680" cy="176972"/>
          </a:xfrm>
          <a:prstGeom prst="rect">
            <a:avLst/>
          </a:prstGeom>
          <a:noFill/>
        </p:spPr>
        <p:txBody>
          <a:bodyPr wrap="square" lIns="0" tIns="0" rIns="0" bIns="0" anchor="t">
            <a:spAutoFit/>
          </a:bodyPr>
          <a:lstStyle/>
          <a:p>
            <a:pPr algn="r">
              <a:lnSpc>
                <a:spcPct val="100000"/>
              </a:lnSpc>
            </a:pPr>
            <a:r>
              <a:rPr lang="en-US" sz="1150" b="1" i="0">
                <a:solidFill>
                  <a:srgbClr val="64748B"/>
                </a:solidFill>
                <a:latin typeface="Segoe UI"/>
              </a:rPr>
              <a:t> </a:t>
            </a:r>
            <a:endParaRPr sz="1150" b="1" i="0">
              <a:solidFill>
                <a:srgbClr val="64748B"/>
              </a:solidFill>
              <a:latin typeface="Segoe UI"/>
            </a:endParaRP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Từ Vite đến SQL Server — và trở lại</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10 / 19</a:t>
            </a:r>
          </a:p>
        </p:txBody>
      </p:sp>
      <p:sp>
        <p:nvSpPr>
          <p:cNvPr id="9" name="Rounded Rectangle 8"/>
          <p:cNvSpPr/>
          <p:nvPr/>
        </p:nvSpPr>
        <p:spPr>
          <a:xfrm>
            <a:off x="566928" y="1481328"/>
            <a:ext cx="1783080" cy="1234440"/>
          </a:xfrm>
          <a:prstGeom prst="roundRect">
            <a:avLst>
              <a:gd name="adj" fmla="val 1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21792" y="1572768"/>
            <a:ext cx="1673352" cy="1097280"/>
          </a:xfrm>
          <a:prstGeom prst="rect">
            <a:avLst/>
          </a:prstGeom>
          <a:noFill/>
        </p:spPr>
        <p:txBody>
          <a:bodyPr wrap="square" lIns="0" tIns="0" rIns="0" bIns="0" anchor="ctr">
            <a:spAutoFit/>
          </a:bodyPr>
          <a:lstStyle/>
          <a:p>
            <a:pPr algn="ctr">
              <a:lnSpc>
                <a:spcPct val="102000"/>
              </a:lnSpc>
              <a:spcAft>
                <a:spcPts val="300"/>
              </a:spcAft>
            </a:pPr>
            <a:r>
              <a:rPr sz="1350" b="1">
                <a:solidFill>
                  <a:srgbClr val="1B2A3B"/>
                </a:solidFill>
                <a:latin typeface="Segoe UI"/>
              </a:rPr>
              <a:t>Frontend
Vite / React</a:t>
            </a:r>
          </a:p>
          <a:p>
            <a:pPr algn="ctr">
              <a:lnSpc>
                <a:spcPct val="108000"/>
              </a:lnSpc>
            </a:pPr>
            <a:r>
              <a:rPr sz="1150" b="0">
                <a:solidFill>
                  <a:srgbClr val="64748B"/>
                </a:solidFill>
                <a:latin typeface="Segoe UI"/>
              </a:rPr>
              <a:t>Người dùng bấm trang 2</a:t>
            </a:r>
          </a:p>
        </p:txBody>
      </p:sp>
      <p:sp>
        <p:nvSpPr>
          <p:cNvPr id="11" name="Right Arrow 10"/>
          <p:cNvSpPr/>
          <p:nvPr/>
        </p:nvSpPr>
        <p:spPr>
          <a:xfrm>
            <a:off x="2395728" y="1938528"/>
            <a:ext cx="347472" cy="274320"/>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788920" y="1481328"/>
            <a:ext cx="1783080" cy="1234440"/>
          </a:xfrm>
          <a:prstGeom prst="roundRect">
            <a:avLst>
              <a:gd name="adj" fmla="val 1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2843784" y="1572768"/>
            <a:ext cx="1673352" cy="1097280"/>
          </a:xfrm>
          <a:prstGeom prst="rect">
            <a:avLst/>
          </a:prstGeom>
          <a:noFill/>
        </p:spPr>
        <p:txBody>
          <a:bodyPr wrap="square" lIns="0" tIns="0" rIns="0" bIns="0" anchor="ctr">
            <a:spAutoFit/>
          </a:bodyPr>
          <a:lstStyle/>
          <a:p>
            <a:pPr algn="ctr">
              <a:lnSpc>
                <a:spcPct val="102000"/>
              </a:lnSpc>
              <a:spcAft>
                <a:spcPts val="300"/>
              </a:spcAft>
            </a:pPr>
            <a:r>
              <a:rPr sz="1350" b="1">
                <a:solidFill>
                  <a:srgbClr val="1B2A3B"/>
                </a:solidFill>
                <a:latin typeface="Segoe UI"/>
              </a:rPr>
              <a:t>Axios</a:t>
            </a:r>
          </a:p>
          <a:p>
            <a:pPr algn="ctr">
              <a:lnSpc>
                <a:spcPct val="108000"/>
              </a:lnSpc>
            </a:pPr>
            <a:r>
              <a:rPr sz="1150" b="0">
                <a:solidFill>
                  <a:srgbClr val="64748B"/>
                </a:solidFill>
                <a:latin typeface="Segoe UI"/>
              </a:rPr>
              <a:t>Gửi GET ?page=2&amp;limit=10</a:t>
            </a:r>
          </a:p>
        </p:txBody>
      </p:sp>
      <p:sp>
        <p:nvSpPr>
          <p:cNvPr id="14" name="Right Arrow 13"/>
          <p:cNvSpPr/>
          <p:nvPr/>
        </p:nvSpPr>
        <p:spPr>
          <a:xfrm>
            <a:off x="4617720" y="1938528"/>
            <a:ext cx="347472" cy="274320"/>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010912" y="1481328"/>
            <a:ext cx="1783080" cy="1234440"/>
          </a:xfrm>
          <a:prstGeom prst="roundRect">
            <a:avLst>
              <a:gd name="adj" fmla="val 10000"/>
            </a:avLst>
          </a:prstGeom>
          <a:solidFill>
            <a:srgbClr val="FDF3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5065775" y="1572768"/>
            <a:ext cx="1673352" cy="1097280"/>
          </a:xfrm>
          <a:prstGeom prst="rect">
            <a:avLst/>
          </a:prstGeom>
          <a:noFill/>
        </p:spPr>
        <p:txBody>
          <a:bodyPr wrap="square" lIns="0" tIns="0" rIns="0" bIns="0" anchor="ctr">
            <a:spAutoFit/>
          </a:bodyPr>
          <a:lstStyle/>
          <a:p>
            <a:pPr algn="ctr">
              <a:lnSpc>
                <a:spcPct val="102000"/>
              </a:lnSpc>
              <a:spcAft>
                <a:spcPts val="300"/>
              </a:spcAft>
            </a:pPr>
            <a:r>
              <a:rPr sz="1350" b="1">
                <a:solidFill>
                  <a:srgbClr val="1B2A3B"/>
                </a:solidFill>
                <a:latin typeface="Segoe UI"/>
              </a:rPr>
              <a:t>Express</a:t>
            </a:r>
          </a:p>
          <a:p>
            <a:pPr algn="ctr">
              <a:lnSpc>
                <a:spcPct val="108000"/>
              </a:lnSpc>
            </a:pPr>
            <a:r>
              <a:rPr sz="1150" b="0">
                <a:solidFill>
                  <a:srgbClr val="64748B"/>
                </a:solidFill>
                <a:latin typeface="Segoe UI"/>
              </a:rPr>
              <a:t>Controller → Service</a:t>
            </a:r>
          </a:p>
        </p:txBody>
      </p:sp>
      <p:sp>
        <p:nvSpPr>
          <p:cNvPr id="17" name="Right Arrow 16"/>
          <p:cNvSpPr/>
          <p:nvPr/>
        </p:nvSpPr>
        <p:spPr>
          <a:xfrm>
            <a:off x="6839712" y="1938528"/>
            <a:ext cx="347472" cy="274320"/>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232903" y="1481328"/>
            <a:ext cx="1783080" cy="1234440"/>
          </a:xfrm>
          <a:prstGeom prst="roundRect">
            <a:avLst>
              <a:gd name="adj" fmla="val 10000"/>
            </a:avLst>
          </a:prstGeom>
          <a:solidFill>
            <a:srgbClr val="E6F5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7287767" y="1572768"/>
            <a:ext cx="1673352" cy="1097280"/>
          </a:xfrm>
          <a:prstGeom prst="rect">
            <a:avLst/>
          </a:prstGeom>
          <a:noFill/>
        </p:spPr>
        <p:txBody>
          <a:bodyPr wrap="square" lIns="0" tIns="0" rIns="0" bIns="0" anchor="ctr">
            <a:spAutoFit/>
          </a:bodyPr>
          <a:lstStyle/>
          <a:p>
            <a:pPr algn="ctr">
              <a:lnSpc>
                <a:spcPct val="102000"/>
              </a:lnSpc>
              <a:spcAft>
                <a:spcPts val="300"/>
              </a:spcAft>
            </a:pPr>
            <a:r>
              <a:rPr sz="1350" b="1">
                <a:solidFill>
                  <a:srgbClr val="1B2A3B"/>
                </a:solidFill>
                <a:latin typeface="Segoe UI"/>
              </a:rPr>
              <a:t>Sequelize</a:t>
            </a:r>
          </a:p>
          <a:p>
            <a:pPr algn="ctr">
              <a:lnSpc>
                <a:spcPct val="108000"/>
              </a:lnSpc>
            </a:pPr>
            <a:r>
              <a:rPr sz="1150" b="0">
                <a:solidFill>
                  <a:srgbClr val="64748B"/>
                </a:solidFill>
                <a:latin typeface="Segoe UI"/>
              </a:rPr>
              <a:t>findAndCountAll()</a:t>
            </a:r>
          </a:p>
        </p:txBody>
      </p:sp>
      <p:sp>
        <p:nvSpPr>
          <p:cNvPr id="20" name="Right Arrow 19"/>
          <p:cNvSpPr/>
          <p:nvPr/>
        </p:nvSpPr>
        <p:spPr>
          <a:xfrm>
            <a:off x="9061704" y="1938528"/>
            <a:ext cx="347472" cy="274320"/>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454896" y="1481328"/>
            <a:ext cx="1783080" cy="1234440"/>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9509760" y="1572768"/>
            <a:ext cx="1673352" cy="1097280"/>
          </a:xfrm>
          <a:prstGeom prst="rect">
            <a:avLst/>
          </a:prstGeom>
          <a:noFill/>
        </p:spPr>
        <p:txBody>
          <a:bodyPr wrap="square" lIns="0" tIns="0" rIns="0" bIns="0" anchor="ctr">
            <a:spAutoFit/>
          </a:bodyPr>
          <a:lstStyle/>
          <a:p>
            <a:pPr algn="ctr">
              <a:lnSpc>
                <a:spcPct val="102000"/>
              </a:lnSpc>
              <a:spcAft>
                <a:spcPts val="300"/>
              </a:spcAft>
            </a:pPr>
            <a:r>
              <a:rPr sz="1350" b="1">
                <a:solidFill>
                  <a:srgbClr val="1B2A3B"/>
                </a:solidFill>
                <a:latin typeface="Segoe UI"/>
              </a:rPr>
              <a:t>SQL Server</a:t>
            </a:r>
          </a:p>
          <a:p>
            <a:pPr algn="ctr">
              <a:lnSpc>
                <a:spcPct val="108000"/>
              </a:lnSpc>
            </a:pPr>
            <a:r>
              <a:rPr sz="1150" b="0">
                <a:solidFill>
                  <a:srgbClr val="64748B"/>
                </a:solidFill>
                <a:latin typeface="Segoe UI"/>
              </a:rPr>
              <a:t>OFFSET … FETCH NEXT</a:t>
            </a:r>
          </a:p>
        </p:txBody>
      </p:sp>
      <p:pic>
        <p:nvPicPr>
          <p:cNvPr id="1046" name="Demo 10-network" descr="Request HTTP thật khi mở trang 2. Response được rút gọn dữ liệu, giữ nguyên metadata page 2, limit 10, totalItems 35 và totalPages 4."/>
          <p:cNvPicPr>
            <a:picLocks noChangeAspect="1"/>
          </p:cNvPicPr>
          <p:nvPr/>
        </p:nvPicPr>
        <p:blipFill>
          <a:blip r:embed="rId3"/>
          <a:stretch>
            <a:fillRect/>
          </a:stretch>
        </p:blipFill>
        <p:spPr>
          <a:xfrm>
            <a:off x="705350" y="2907792"/>
            <a:ext cx="7678436" cy="3337560"/>
          </a:xfrm>
          <a:prstGeom prst="rect">
            <a:avLst/>
          </a:prstGeom>
        </p:spPr>
      </p:pic>
      <p:sp>
        <p:nvSpPr>
          <p:cNvPr id="1047" name="Ch8 Quan sát request"/>
          <p:cNvSpPr txBox="1"/>
          <p:nvPr/>
        </p:nvSpPr>
        <p:spPr>
          <a:xfrm>
            <a:off x="8823960" y="3063240"/>
            <a:ext cx="2788920" cy="457200"/>
          </a:xfrm>
          <a:prstGeom prst="rect">
            <a:avLst/>
          </a:prstGeom>
          <a:noFill/>
          <a:ln w="0">
            <a:noFill/>
          </a:ln>
        </p:spPr>
        <p:txBody>
          <a:bodyPr wrap="square" lIns="0" tIns="0" rIns="0" bIns="0" anchor="t"/>
          <a:lstStyle/>
          <a:p>
            <a:pPr marL="0" indent="0">
              <a:spcAft>
                <a:spcPts val="400"/>
              </a:spcAft>
            </a:pPr>
            <a:r>
              <a:rPr lang="vi-VN" sz="2100" b="1">
                <a:solidFill>
                  <a:srgbClr val="146BA2"/>
                </a:solidFill>
                <a:latin typeface="Aptos"/>
                <a:ea typeface="Aptos"/>
                <a:cs typeface="Aptos"/>
              </a:rPr>
              <a:t>Quan sát request</a:t>
            </a:r>
          </a:p>
        </p:txBody>
      </p:sp>
      <p:sp>
        <p:nvSpPr>
          <p:cNvPr id="1048" name="Ch8 page=2, limit=10&#10;&#10;Backend trả "/>
          <p:cNvSpPr txBox="1"/>
          <p:nvPr/>
        </p:nvSpPr>
        <p:spPr>
          <a:xfrm>
            <a:off x="8823960" y="3657600"/>
            <a:ext cx="2788920" cy="2377440"/>
          </a:xfrm>
          <a:prstGeom prst="rect">
            <a:avLst/>
          </a:prstGeom>
          <a:noFill/>
          <a:ln w="0">
            <a:noFill/>
          </a:ln>
        </p:spPr>
        <p:txBody>
          <a:bodyPr wrap="square" lIns="0" tIns="0" rIns="0" bIns="0" anchor="t"/>
          <a:lstStyle/>
          <a:p>
            <a:pPr marL="0" indent="0">
              <a:spcAft>
                <a:spcPts val="400"/>
              </a:spcAft>
            </a:pPr>
            <a:r>
              <a:rPr lang="vi-VN" sz="1700" b="0">
                <a:solidFill>
                  <a:srgbClr val="18344F"/>
                </a:solidFill>
                <a:latin typeface="Aptos"/>
                <a:ea typeface="Aptos"/>
                <a:cs typeface="Aptos"/>
              </a:rPr>
              <a:t>page=2, limit=10</a:t>
            </a:r>
          </a:p>
          <a:p>
            <a:pPr marL="0" indent="0">
              <a:spcAft>
                <a:spcPts val="400"/>
              </a:spcAft>
            </a:pPr>
            <a:endParaRPr lang="vi-VN" sz="1700" b="0">
              <a:solidFill>
                <a:srgbClr val="18344F"/>
              </a:solidFill>
              <a:latin typeface="Aptos"/>
              <a:ea typeface="Aptos"/>
              <a:cs typeface="Aptos"/>
            </a:endParaRPr>
          </a:p>
          <a:p>
            <a:pPr marL="0" indent="0">
              <a:spcAft>
                <a:spcPts val="400"/>
              </a:spcAft>
            </a:pPr>
            <a:r>
              <a:rPr lang="vi-VN" sz="1700" b="0">
                <a:solidFill>
                  <a:srgbClr val="18344F"/>
                </a:solidFill>
                <a:latin typeface="Aptos"/>
                <a:ea typeface="Aptos"/>
                <a:cs typeface="Aptos"/>
              </a:rPr>
              <a:t>Backend trả 10 sinh viên và thông tin phân trang.</a:t>
            </a:r>
          </a:p>
          <a:p>
            <a:pPr marL="0" indent="0">
              <a:spcAft>
                <a:spcPts val="400"/>
              </a:spcAft>
            </a:pPr>
            <a:endParaRPr lang="vi-VN" sz="1700" b="0">
              <a:solidFill>
                <a:srgbClr val="18344F"/>
              </a:solidFill>
              <a:latin typeface="Aptos"/>
              <a:ea typeface="Aptos"/>
              <a:cs typeface="Aptos"/>
            </a:endParaRPr>
          </a:p>
          <a:p>
            <a:pPr marL="0" indent="0">
              <a:spcAft>
                <a:spcPts val="400"/>
              </a:spcAft>
            </a:pPr>
            <a:r>
              <a:rPr lang="vi-VN" sz="1700" b="0">
                <a:solidFill>
                  <a:srgbClr val="18344F"/>
                </a:solidFill>
                <a:latin typeface="Aptos"/>
                <a:ea typeface="Aptos"/>
                <a:cs typeface="Aptos"/>
              </a:rPr>
              <a:t>Axios gửi HTTP request. Backend mới truy vấn SQL Server.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0B5FA5"/>
                </a:solidFill>
                <a:effectLst/>
                <a:uLnTx/>
                <a:uFillTx/>
                <a:latin typeface="Segoe UI"/>
                <a:ea typeface="+mn-ea"/>
                <a:cs typeface="+mn-cs"/>
              </a:rPr>
              <a:t>PHẦN 2 · JOIN VÀ TRUY VẤN NÂNG CAO</a:t>
            </a:r>
          </a:p>
        </p:txBody>
      </p:sp>
      <p:sp>
        <p:nvSpPr>
          <p:cNvPr id="4" name="TextBox 3"/>
          <p:cNvSpPr txBox="1"/>
          <p:nvPr/>
        </p:nvSpPr>
        <p:spPr>
          <a:xfrm>
            <a:off x="9613087" y="292608"/>
            <a:ext cx="2011680" cy="274320"/>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150" b="1" i="0" u="none" strike="noStrike" kern="1200" cap="none" spc="0" normalizeH="0" baseline="0" noProof="0">
                <a:ln>
                  <a:noFill/>
                </a:ln>
                <a:solidFill>
                  <a:srgbClr val="64748B"/>
                </a:solidFill>
                <a:effectLst/>
                <a:uLnTx/>
                <a:uFillTx/>
                <a:latin typeface="Segoe UI"/>
                <a:ea typeface="+mn-ea"/>
                <a:cs typeface="+mn-cs"/>
              </a:rPr>
              <a:t>2 phút</a:t>
            </a: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700" b="1" i="0" u="none" strike="noStrike" kern="1200" cap="none" spc="0" normalizeH="0" baseline="0" noProof="0">
                <a:ln>
                  <a:noFill/>
                </a:ln>
                <a:solidFill>
                  <a:srgbClr val="1B2A3B"/>
                </a:solidFill>
                <a:effectLst/>
                <a:uLnTx/>
                <a:uFillTx/>
                <a:latin typeface="Segoe UI"/>
                <a:ea typeface="+mn-ea"/>
                <a:cs typeface="+mn-cs"/>
              </a:rPr>
              <a:t>JOIN nhiều bảng &amp; lấy dữ liệu mới nhất</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64748B"/>
                </a:solidFill>
                <a:effectLst/>
                <a:uLnTx/>
                <a:uFillTx/>
                <a:latin typeface="Segoe UI"/>
                <a:ea typeface="+mn-ea"/>
                <a:cs typeface="+mn-cs"/>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64748B"/>
                </a:solidFill>
                <a:effectLst/>
                <a:uLnTx/>
                <a:uFillTx/>
                <a:latin typeface="Segoe UI"/>
                <a:ea typeface="+mn-ea"/>
                <a:cs typeface="+mn-cs"/>
              </a:rPr>
              <a:t>11 / 20</a:t>
            </a:r>
          </a:p>
        </p:txBody>
      </p:sp>
      <p:sp>
        <p:nvSpPr>
          <p:cNvPr id="9" name="Rounded Rectangle 8"/>
          <p:cNvSpPr/>
          <p:nvPr/>
        </p:nvSpPr>
        <p:spPr>
          <a:xfrm>
            <a:off x="566928" y="1463040"/>
            <a:ext cx="5486400" cy="475488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886968" y="1645920"/>
            <a:ext cx="4937760" cy="45720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50" b="1" i="0" u="none" strike="noStrike" kern="1200" cap="none" spc="0" normalizeH="0" baseline="0" noProof="0">
                <a:ln>
                  <a:noFill/>
                </a:ln>
                <a:solidFill>
                  <a:srgbClr val="0B5FA5"/>
                </a:solidFill>
                <a:effectLst/>
                <a:uLnTx/>
                <a:uFillTx/>
                <a:latin typeface="Segoe UI"/>
                <a:ea typeface="+mn-ea"/>
                <a:cs typeface="+mn-cs"/>
              </a:rPr>
              <a:t>A.  JOIN — kết hợp dữ liệu từ nhiều bảng</a:t>
            </a:r>
          </a:p>
        </p:txBody>
      </p:sp>
      <p:sp>
        <p:nvSpPr>
          <p:cNvPr id="11" name="Rounded Rectangle 10"/>
          <p:cNvSpPr/>
          <p:nvPr/>
        </p:nvSpPr>
        <p:spPr>
          <a:xfrm>
            <a:off x="886968" y="2286000"/>
            <a:ext cx="2286000" cy="960120"/>
          </a:xfrm>
          <a:prstGeom prst="roundRect">
            <a:avLst>
              <a:gd name="adj" fmla="val 8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1024128" y="2395728"/>
            <a:ext cx="2011680" cy="7772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200"/>
              </a:spcAft>
              <a:buClrTx/>
              <a:buSzTx/>
              <a:buFontTx/>
              <a:buNone/>
              <a:tabLst/>
              <a:defRPr/>
            </a:pPr>
            <a:r>
              <a:rPr kumimoji="0" sz="1300" b="1" i="0" u="none" strike="noStrike" kern="1200" cap="none" spc="0" normalizeH="0" baseline="0" noProof="0">
                <a:ln>
                  <a:noFill/>
                </a:ln>
                <a:solidFill>
                  <a:srgbClr val="1B2A3B"/>
                </a:solidFill>
                <a:effectLst/>
                <a:uLnTx/>
                <a:uFillTx/>
                <a:latin typeface="Segoe UI"/>
                <a:ea typeface="+mn-ea"/>
                <a:cs typeface="+mn-cs"/>
              </a:rPr>
              <a:t>Bảng Lop</a:t>
            </a:r>
          </a:p>
          <a:p>
            <a:pPr marL="0" marR="0" lvl="0" indent="0" algn="l" defTabSz="457200" rtl="0" eaLnBrk="1" fontAlgn="auto" latinLnBrk="0" hangingPunct="1">
              <a:lnSpc>
                <a:spcPct val="105000"/>
              </a:lnSpc>
              <a:spcBef>
                <a:spcPts val="0"/>
              </a:spcBef>
              <a:spcAft>
                <a:spcPts val="100"/>
              </a:spcAft>
              <a:buClrTx/>
              <a:buSzTx/>
              <a:buFontTx/>
              <a:buNone/>
              <a:tabLst/>
              <a:defRPr/>
            </a:pPr>
            <a:r>
              <a:rPr kumimoji="0" sz="1150" b="0" i="0" u="none" strike="noStrike" kern="1200" cap="none" spc="0" normalizeH="0" baseline="0" noProof="0">
                <a:ln>
                  <a:noFill/>
                </a:ln>
                <a:solidFill>
                  <a:srgbClr val="64748B"/>
                </a:solidFill>
                <a:effectLst/>
                <a:uLnTx/>
                <a:uFillTx/>
                <a:latin typeface="Consolas"/>
                <a:ea typeface="+mn-ea"/>
                <a:cs typeface="+mn-cs"/>
              </a:rPr>
              <a:t>25CT114 – CNTT K25</a:t>
            </a:r>
          </a:p>
          <a:p>
            <a:pPr marL="0" marR="0" lvl="0" indent="0" algn="l" defTabSz="457200" rtl="0" eaLnBrk="1" fontAlgn="auto" latinLnBrk="0" hangingPunct="1">
              <a:lnSpc>
                <a:spcPct val="105000"/>
              </a:lnSpc>
              <a:spcBef>
                <a:spcPts val="0"/>
              </a:spcBef>
              <a:spcAft>
                <a:spcPts val="0"/>
              </a:spcAft>
              <a:buClrTx/>
              <a:buSzTx/>
              <a:buFontTx/>
              <a:buNone/>
              <a:tabLst/>
              <a:defRPr/>
            </a:pPr>
            <a:r>
              <a:rPr kumimoji="0" sz="1150" b="0" i="0" u="none" strike="noStrike" kern="1200" cap="none" spc="0" normalizeH="0" baseline="0" noProof="0">
                <a:ln>
                  <a:noFill/>
                </a:ln>
                <a:solidFill>
                  <a:srgbClr val="64748B"/>
                </a:solidFill>
                <a:effectLst/>
                <a:uLnTx/>
                <a:uFillTx/>
                <a:latin typeface="Consolas"/>
                <a:ea typeface="+mn-ea"/>
                <a:cs typeface="+mn-cs"/>
              </a:rPr>
              <a:t>25CT115 – CNTT K25B</a:t>
            </a:r>
          </a:p>
        </p:txBody>
      </p:sp>
      <p:sp>
        <p:nvSpPr>
          <p:cNvPr id="13" name="Rounded Rectangle 12"/>
          <p:cNvSpPr/>
          <p:nvPr/>
        </p:nvSpPr>
        <p:spPr>
          <a:xfrm>
            <a:off x="886968" y="3364992"/>
            <a:ext cx="2286000" cy="960120"/>
          </a:xfrm>
          <a:prstGeom prst="roundRect">
            <a:avLst>
              <a:gd name="adj" fmla="val 8000"/>
            </a:avLst>
          </a:prstGeom>
          <a:solidFill>
            <a:srgbClr val="E6F5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1024128" y="3474720"/>
            <a:ext cx="2011680" cy="7772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200"/>
              </a:spcAft>
              <a:buClrTx/>
              <a:buSzTx/>
              <a:buFontTx/>
              <a:buNone/>
              <a:tabLst/>
              <a:defRPr/>
            </a:pPr>
            <a:r>
              <a:rPr kumimoji="0" sz="1300" b="1" i="0" u="none" strike="noStrike" kern="1200" cap="none" spc="0" normalizeH="0" baseline="0" noProof="0">
                <a:ln>
                  <a:noFill/>
                </a:ln>
                <a:solidFill>
                  <a:srgbClr val="1B2A3B"/>
                </a:solidFill>
                <a:effectLst/>
                <a:uLnTx/>
                <a:uFillTx/>
                <a:latin typeface="Segoe UI"/>
                <a:ea typeface="+mn-ea"/>
                <a:cs typeface="+mn-cs"/>
              </a:rPr>
              <a:t>Bảng SinhVien</a:t>
            </a:r>
          </a:p>
          <a:p>
            <a:pPr marL="0" marR="0" lvl="0" indent="0" algn="l" defTabSz="457200" rtl="0" eaLnBrk="1" fontAlgn="auto" latinLnBrk="0" hangingPunct="1">
              <a:lnSpc>
                <a:spcPct val="105000"/>
              </a:lnSpc>
              <a:spcBef>
                <a:spcPts val="0"/>
              </a:spcBef>
              <a:spcAft>
                <a:spcPts val="100"/>
              </a:spcAft>
              <a:buClrTx/>
              <a:buSzTx/>
              <a:buFontTx/>
              <a:buNone/>
              <a:tabLst/>
              <a:defRPr/>
            </a:pPr>
            <a:r>
              <a:rPr kumimoji="0" sz="1150" b="0" i="0" u="none" strike="noStrike" kern="1200" cap="none" spc="0" normalizeH="0" baseline="0" noProof="0">
                <a:ln>
                  <a:noFill/>
                </a:ln>
                <a:solidFill>
                  <a:srgbClr val="64748B"/>
                </a:solidFill>
                <a:effectLst/>
                <a:uLnTx/>
                <a:uFillTx/>
                <a:latin typeface="Consolas"/>
                <a:ea typeface="+mn-ea"/>
                <a:cs typeface="+mn-cs"/>
              </a:rPr>
              <a:t>SV001 – Nguyễn Văn An</a:t>
            </a:r>
          </a:p>
          <a:p>
            <a:pPr marL="0" marR="0" lvl="0" indent="0" algn="l" defTabSz="457200" rtl="0" eaLnBrk="1" fontAlgn="auto" latinLnBrk="0" hangingPunct="1">
              <a:lnSpc>
                <a:spcPct val="105000"/>
              </a:lnSpc>
              <a:spcBef>
                <a:spcPts val="0"/>
              </a:spcBef>
              <a:spcAft>
                <a:spcPts val="0"/>
              </a:spcAft>
              <a:buClrTx/>
              <a:buSzTx/>
              <a:buFontTx/>
              <a:buNone/>
              <a:tabLst/>
              <a:defRPr/>
            </a:pPr>
            <a:r>
              <a:rPr kumimoji="0" sz="1150" b="0" i="0" u="none" strike="noStrike" kern="1200" cap="none" spc="0" normalizeH="0" baseline="0" noProof="0">
                <a:ln>
                  <a:noFill/>
                </a:ln>
                <a:solidFill>
                  <a:srgbClr val="64748B"/>
                </a:solidFill>
                <a:effectLst/>
                <a:uLnTx/>
                <a:uFillTx/>
                <a:latin typeface="Consolas"/>
                <a:ea typeface="+mn-ea"/>
                <a:cs typeface="+mn-cs"/>
              </a:rPr>
              <a:t>SV002 – Trần Minh Anh</a:t>
            </a:r>
          </a:p>
        </p:txBody>
      </p:sp>
      <p:sp>
        <p:nvSpPr>
          <p:cNvPr id="15" name="TextBox 14"/>
          <p:cNvSpPr txBox="1"/>
          <p:nvPr/>
        </p:nvSpPr>
        <p:spPr>
          <a:xfrm>
            <a:off x="3355848" y="3200400"/>
            <a:ext cx="914400" cy="365760"/>
          </a:xfrm>
          <a:prstGeom prst="rect">
            <a:avLst/>
          </a:prstGeom>
          <a:noFill/>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B5FA5"/>
                </a:solidFill>
                <a:effectLst/>
                <a:uLnTx/>
                <a:uFillTx/>
                <a:latin typeface="Segoe UI"/>
                <a:ea typeface="+mn-ea"/>
                <a:cs typeface="+mn-cs"/>
              </a:rPr>
              <a:t>JOIN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B5FA5"/>
                </a:solidFill>
                <a:effectLst/>
                <a:uLnTx/>
                <a:uFillTx/>
                <a:latin typeface="Segoe UI"/>
                <a:ea typeface="+mn-ea"/>
                <a:cs typeface="+mn-cs"/>
              </a:rPr>
              <a:t>qua maLop</a:t>
            </a:r>
          </a:p>
        </p:txBody>
      </p:sp>
      <p:sp>
        <p:nvSpPr>
          <p:cNvPr id="16" name="Rounded Rectangle 15"/>
          <p:cNvSpPr/>
          <p:nvPr/>
        </p:nvSpPr>
        <p:spPr>
          <a:xfrm>
            <a:off x="4270248" y="2286000"/>
            <a:ext cx="1463040" cy="2039112"/>
          </a:xfrm>
          <a:prstGeom prst="roundRect">
            <a:avLst>
              <a:gd name="adj" fmla="val 8000"/>
            </a:avLst>
          </a:prstGeom>
          <a:solidFill>
            <a:srgbClr val="FDF3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4361688" y="2395728"/>
            <a:ext cx="1298448" cy="1828800"/>
          </a:xfrm>
          <a:prstGeom prst="rect">
            <a:avLst/>
          </a:prstGeom>
          <a:noFill/>
        </p:spPr>
        <p:txBody>
          <a:bodyPr wrap="square" lIns="0" tIns="0" rIns="0" bIns="0" anchor="ctr">
            <a:spAutoFit/>
          </a:bodyPr>
          <a:lstStyle/>
          <a:p>
            <a:pPr marL="0" marR="0" lvl="0" indent="0" algn="ctr" defTabSz="457200" rtl="0" eaLnBrk="1" fontAlgn="auto" latinLnBrk="0" hangingPunct="1">
              <a:lnSpc>
                <a:spcPct val="105000"/>
              </a:lnSpc>
              <a:spcBef>
                <a:spcPts val="0"/>
              </a:spcBef>
              <a:spcAft>
                <a:spcPts val="300"/>
              </a:spcAft>
              <a:buClrTx/>
              <a:buSzTx/>
              <a:buFontTx/>
              <a:buNone/>
              <a:tabLst/>
              <a:defRPr/>
            </a:pPr>
            <a:r>
              <a:rPr kumimoji="0" sz="1300" b="1" i="0" u="none" strike="noStrike" kern="1200" cap="none" spc="0" normalizeH="0" baseline="0" noProof="0">
                <a:ln>
                  <a:noFill/>
                </a:ln>
                <a:solidFill>
                  <a:srgbClr val="1B2A3B"/>
                </a:solidFill>
                <a:effectLst/>
                <a:uLnTx/>
                <a:uFillTx/>
                <a:latin typeface="Segoe UI"/>
                <a:ea typeface="+mn-ea"/>
                <a:cs typeface="+mn-cs"/>
              </a:rPr>
              <a:t>Kết quả</a:t>
            </a:r>
          </a:p>
          <a:p>
            <a:pPr marL="0" marR="0" lvl="0" indent="0" algn="ctr" defTabSz="457200" rtl="0" eaLnBrk="1" fontAlgn="auto" latinLnBrk="0" hangingPunct="1">
              <a:lnSpc>
                <a:spcPct val="115000"/>
              </a:lnSpc>
              <a:spcBef>
                <a:spcPts val="0"/>
              </a:spcBef>
              <a:spcAft>
                <a:spcPts val="0"/>
              </a:spcAft>
              <a:buClrTx/>
              <a:buSzTx/>
              <a:buFontTx/>
              <a:buNone/>
              <a:tabLst/>
              <a:defRPr/>
            </a:pPr>
            <a:r>
              <a:rPr kumimoji="0" sz="1150" b="0" i="0" u="none" strike="noStrike" kern="1200" cap="none" spc="0" normalizeH="0" baseline="0" noProof="0">
                <a:ln>
                  <a:noFill/>
                </a:ln>
                <a:solidFill>
                  <a:srgbClr val="1B2A3B"/>
                </a:solidFill>
                <a:effectLst/>
                <a:uLnTx/>
                <a:uFillTx/>
                <a:latin typeface="Segoe UI"/>
                <a:ea typeface="+mn-ea"/>
                <a:cs typeface="+mn-cs"/>
              </a:rPr>
              <a:t>Tên SV + Mã lớp + Tên lớp</a:t>
            </a:r>
          </a:p>
        </p:txBody>
      </p:sp>
      <p:sp>
        <p:nvSpPr>
          <p:cNvPr id="18" name="TextBox 17"/>
          <p:cNvSpPr txBox="1"/>
          <p:nvPr/>
        </p:nvSpPr>
        <p:spPr>
          <a:xfrm>
            <a:off x="886968" y="4526280"/>
            <a:ext cx="4892040" cy="640080"/>
          </a:xfrm>
          <a:prstGeom prst="rect">
            <a:avLst/>
          </a:prstGeom>
          <a:noFill/>
        </p:spPr>
        <p:txBody>
          <a:bodyPr wrap="square" lIns="0" tIns="0" rIns="0" bIns="0" anchor="t">
            <a:spAutoFit/>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kumimoji="0" sz="1250" b="0" i="0" u="none" strike="noStrike" kern="1200" cap="none" spc="0" normalizeH="0" baseline="0" noProof="0">
                <a:ln>
                  <a:noFill/>
                </a:ln>
                <a:solidFill>
                  <a:srgbClr val="64748B"/>
                </a:solidFill>
                <a:effectLst/>
                <a:uLnTx/>
                <a:uFillTx/>
                <a:latin typeface="Segoe UI"/>
                <a:ea typeface="+mn-ea"/>
                <a:cs typeface="+mn-cs"/>
              </a:rPr>
              <a:t>Trong Sequelize: dùng include khi đã khai báo Association phù hợp.</a:t>
            </a:r>
          </a:p>
        </p:txBody>
      </p:sp>
      <p:sp>
        <p:nvSpPr>
          <p:cNvPr id="19" name="Rounded Rectangle 18"/>
          <p:cNvSpPr/>
          <p:nvPr/>
        </p:nvSpPr>
        <p:spPr>
          <a:xfrm>
            <a:off x="6373368" y="1463040"/>
            <a:ext cx="5248656" cy="475488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19"/>
          <p:cNvSpPr txBox="1"/>
          <p:nvPr/>
        </p:nvSpPr>
        <p:spPr>
          <a:xfrm>
            <a:off x="6693407" y="1645920"/>
            <a:ext cx="4663440" cy="45720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50" b="1" i="0" u="none" strike="noStrike" kern="1200" cap="none" spc="0" normalizeH="0" baseline="0" noProof="0">
                <a:ln>
                  <a:noFill/>
                </a:ln>
                <a:solidFill>
                  <a:srgbClr val="0B5FA5"/>
                </a:solidFill>
                <a:effectLst/>
                <a:uLnTx/>
                <a:uFillTx/>
                <a:latin typeface="Segoe UI"/>
                <a:ea typeface="+mn-ea"/>
                <a:cs typeface="+mn-cs"/>
              </a:rPr>
              <a:t>B.  Lấy 5 bản ghi mới nhất</a:t>
            </a:r>
          </a:p>
        </p:txBody>
      </p:sp>
      <p:sp>
        <p:nvSpPr>
          <p:cNvPr id="21" name="Rounded Rectangle 20"/>
          <p:cNvSpPr/>
          <p:nvPr/>
        </p:nvSpPr>
        <p:spPr>
          <a:xfrm>
            <a:off x="6647688" y="2286000"/>
            <a:ext cx="4700016" cy="1371600"/>
          </a:xfrm>
          <a:prstGeom prst="roundRect">
            <a:avLst>
              <a:gd name="adj" fmla="val 4500"/>
            </a:avLst>
          </a:prstGeom>
          <a:solidFill>
            <a:srgbClr val="1023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1"/>
          <p:cNvSpPr txBox="1"/>
          <p:nvPr/>
        </p:nvSpPr>
        <p:spPr>
          <a:xfrm>
            <a:off x="6903720" y="2450592"/>
            <a:ext cx="4242816" cy="1097280"/>
          </a:xfrm>
          <a:prstGeom prst="rect">
            <a:avLst/>
          </a:prstGeom>
          <a:noFill/>
        </p:spPr>
        <p:txBody>
          <a:bodyPr wrap="square" lIns="0" tIns="0" rIns="0" bIns="0" anchor="t">
            <a:spAutoFit/>
          </a:bodyPr>
          <a:lstStyle/>
          <a:p>
            <a:pPr marL="0" marR="0" lvl="0" indent="0" algn="l" defTabSz="457200" rtl="0" eaLnBrk="1" fontAlgn="auto" latinLnBrk="0" hangingPunct="1">
              <a:lnSpc>
                <a:spcPct val="112000"/>
              </a:lnSpc>
              <a:spcBef>
                <a:spcPts val="0"/>
              </a:spcBef>
              <a:spcAft>
                <a:spcPts val="200"/>
              </a:spcAft>
              <a:buClrTx/>
              <a:buSzTx/>
              <a:buFontTx/>
              <a:buNone/>
              <a:tabLst/>
              <a:defRPr/>
            </a:pPr>
            <a:r>
              <a:rPr kumimoji="0" sz="1450" b="0" i="0" u="none" strike="noStrike" kern="1200" cap="none" spc="0" normalizeH="0" baseline="0" noProof="0">
                <a:ln>
                  <a:noFill/>
                </a:ln>
                <a:solidFill>
                  <a:srgbClr val="E8F0F8"/>
                </a:solidFill>
                <a:effectLst/>
                <a:uLnTx/>
                <a:uFillTx/>
                <a:latin typeface="Consolas"/>
                <a:ea typeface="+mn-ea"/>
                <a:cs typeface="+mn-cs"/>
              </a:rPr>
              <a:t>SinhVien.findAll({</a:t>
            </a:r>
          </a:p>
          <a:p>
            <a:pPr marL="0" marR="0" lvl="0" indent="0" algn="l" defTabSz="457200" rtl="0" eaLnBrk="1" fontAlgn="auto" latinLnBrk="0" hangingPunct="1">
              <a:lnSpc>
                <a:spcPct val="112000"/>
              </a:lnSpc>
              <a:spcBef>
                <a:spcPts val="0"/>
              </a:spcBef>
              <a:spcAft>
                <a:spcPts val="200"/>
              </a:spcAft>
              <a:buClrTx/>
              <a:buSzTx/>
              <a:buFontTx/>
              <a:buNone/>
              <a:tabLst/>
              <a:defRPr/>
            </a:pPr>
            <a:r>
              <a:rPr kumimoji="0" sz="1450" b="0" i="0" u="none" strike="noStrike" kern="1200" cap="none" spc="0" normalizeH="0" baseline="0" noProof="0">
                <a:ln>
                  <a:noFill/>
                </a:ln>
                <a:solidFill>
                  <a:srgbClr val="93C5FD"/>
                </a:solidFill>
                <a:effectLst/>
                <a:uLnTx/>
                <a:uFillTx/>
                <a:latin typeface="Consolas"/>
                <a:ea typeface="+mn-ea"/>
                <a:cs typeface="+mn-cs"/>
              </a:rPr>
              <a:t>  order: [["createdAt", "DESC"]],</a:t>
            </a:r>
          </a:p>
          <a:p>
            <a:pPr marL="0" marR="0" lvl="0" indent="0" algn="l" defTabSz="457200" rtl="0" eaLnBrk="1" fontAlgn="auto" latinLnBrk="0" hangingPunct="1">
              <a:lnSpc>
                <a:spcPct val="112000"/>
              </a:lnSpc>
              <a:spcBef>
                <a:spcPts val="0"/>
              </a:spcBef>
              <a:spcAft>
                <a:spcPts val="200"/>
              </a:spcAft>
              <a:buClrTx/>
              <a:buSzTx/>
              <a:buFontTx/>
              <a:buNone/>
              <a:tabLst/>
              <a:defRPr/>
            </a:pPr>
            <a:r>
              <a:rPr kumimoji="0" sz="1450" b="0" i="0" u="none" strike="noStrike" kern="1200" cap="none" spc="0" normalizeH="0" baseline="0" noProof="0">
                <a:ln>
                  <a:noFill/>
                </a:ln>
                <a:solidFill>
                  <a:srgbClr val="6EE7B7"/>
                </a:solidFill>
                <a:effectLst/>
                <a:uLnTx/>
                <a:uFillTx/>
                <a:latin typeface="Consolas"/>
                <a:ea typeface="+mn-ea"/>
                <a:cs typeface="+mn-cs"/>
              </a:rPr>
              <a:t>  limit: 5</a:t>
            </a:r>
          </a:p>
          <a:p>
            <a:pPr marL="0" marR="0" lvl="0" indent="0" algn="l" defTabSz="457200" rtl="0" eaLnBrk="1" fontAlgn="auto" latinLnBrk="0" hangingPunct="1">
              <a:lnSpc>
                <a:spcPct val="112000"/>
              </a:lnSpc>
              <a:spcBef>
                <a:spcPts val="0"/>
              </a:spcBef>
              <a:spcAft>
                <a:spcPts val="200"/>
              </a:spcAft>
              <a:buClrTx/>
              <a:buSzTx/>
              <a:buFontTx/>
              <a:buNone/>
              <a:tabLst/>
              <a:defRPr/>
            </a:pPr>
            <a:r>
              <a:rPr kumimoji="0" sz="1450" b="0" i="0" u="none" strike="noStrike" kern="1200" cap="none" spc="0" normalizeH="0" baseline="0" noProof="0">
                <a:ln>
                  <a:noFill/>
                </a:ln>
                <a:solidFill>
                  <a:srgbClr val="E8F0F8"/>
                </a:solidFill>
                <a:effectLst/>
                <a:uLnTx/>
                <a:uFillTx/>
                <a:latin typeface="Consolas"/>
                <a:ea typeface="+mn-ea"/>
                <a:cs typeface="+mn-cs"/>
              </a:rPr>
              <a:t>});</a:t>
            </a:r>
          </a:p>
        </p:txBody>
      </p:sp>
      <p:sp>
        <p:nvSpPr>
          <p:cNvPr id="23" name="TextBox 22"/>
          <p:cNvSpPr txBox="1"/>
          <p:nvPr/>
        </p:nvSpPr>
        <p:spPr>
          <a:xfrm>
            <a:off x="6693407" y="3794760"/>
            <a:ext cx="4663440" cy="1051560"/>
          </a:xfrm>
          <a:prstGeom prst="rect">
            <a:avLst/>
          </a:prstGeom>
          <a:noFill/>
        </p:spPr>
        <p:txBody>
          <a:bodyPr wrap="square" lIns="0" tIns="0" rIns="0" bIns="0" anchor="t">
            <a:spAutoFit/>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kumimoji="0" sz="1250" b="0" i="0" u="none" strike="noStrike" kern="1200" cap="none" spc="0" normalizeH="0" baseline="0" noProof="0">
                <a:ln>
                  <a:noFill/>
                </a:ln>
                <a:solidFill>
                  <a:srgbClr val="64748B"/>
                </a:solidFill>
                <a:effectLst/>
                <a:uLnTx/>
                <a:uFillTx/>
                <a:latin typeface="Segoe UI"/>
                <a:ea typeface="+mn-ea"/>
                <a:cs typeface="+mn-cs"/>
              </a:rPr>
              <a:t>DESC = sắp xếp giảm dần theo thời gian tạo; limit: 5 lấy tối đa 5 bản ghi đầu tiên.</a:t>
            </a:r>
          </a:p>
          <a:p>
            <a:pPr marL="0" marR="0" lvl="0" indent="0" algn="l" defTabSz="457200" rtl="0" eaLnBrk="1" fontAlgn="auto" latinLnBrk="0" hangingPunct="1">
              <a:lnSpc>
                <a:spcPct val="115000"/>
              </a:lnSpc>
              <a:spcBef>
                <a:spcPts val="0"/>
              </a:spcBef>
              <a:spcAft>
                <a:spcPts val="0"/>
              </a:spcAft>
              <a:buClrTx/>
              <a:buSzTx/>
              <a:buFontTx/>
              <a:buNone/>
              <a:tabLst/>
              <a:defRPr/>
            </a:pPr>
            <a:r>
              <a:rPr kumimoji="0" sz="1250" b="0" i="0" u="none" strike="noStrike" kern="1200" cap="none" spc="0" normalizeH="0" baseline="0" noProof="0">
                <a:ln>
                  <a:noFill/>
                </a:ln>
                <a:solidFill>
                  <a:srgbClr val="64748B"/>
                </a:solidFill>
                <a:effectLst/>
                <a:uLnTx/>
                <a:uFillTx/>
                <a:latin typeface="Segoe UI"/>
                <a:ea typeface="+mn-ea"/>
                <a:cs typeface="+mn-cs"/>
              </a:rPr>
              <a:t>Chỉ dùng khi bảng/Model thực sự có trường createdAt hoặc trường thời gian tương đương.</a:t>
            </a:r>
          </a:p>
        </p:txBody>
      </p:sp>
      <p:sp>
        <p:nvSpPr>
          <p:cNvPr id="24" name="Rounded Rectangle 23"/>
          <p:cNvSpPr/>
          <p:nvPr/>
        </p:nvSpPr>
        <p:spPr>
          <a:xfrm>
            <a:off x="566928" y="5504688"/>
            <a:ext cx="11055096" cy="713232"/>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566928" y="5504688"/>
            <a:ext cx="11055096" cy="713232"/>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64748B"/>
                </a:solidFill>
                <a:effectLst/>
                <a:uLnTx/>
                <a:uFillTx/>
                <a:latin typeface="Segoe UI"/>
                <a:ea typeface="+mn-ea"/>
                <a:cs typeface="+mn-cs"/>
              </a:rPr>
              <a:t>Nội dung giới thiệu &amp; mở rộng — không phải phần thực hành bắt buộc của hai Lab.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3 · BUỔI 11 — GLOBAL ERROR HANDLING</a:t>
            </a:r>
          </a:p>
        </p:txBody>
      </p:sp>
      <p:sp>
        <p:nvSpPr>
          <p:cNvPr id="4" name="TextBox 3"/>
          <p:cNvSpPr txBox="1"/>
          <p:nvPr/>
        </p:nvSpPr>
        <p:spPr>
          <a:xfrm>
            <a:off x="9613087" y="292608"/>
            <a:ext cx="2011680" cy="176972"/>
          </a:xfrm>
          <a:prstGeom prst="rect">
            <a:avLst/>
          </a:prstGeom>
          <a:noFill/>
        </p:spPr>
        <p:txBody>
          <a:bodyPr wrap="square" lIns="0" tIns="0" rIns="0" bIns="0" anchor="t">
            <a:spAutoFit/>
          </a:bodyPr>
          <a:lstStyle/>
          <a:p>
            <a:pPr algn="r">
              <a:lnSpc>
                <a:spcPct val="100000"/>
              </a:lnSpc>
            </a:pPr>
            <a:r>
              <a:rPr lang="en-US" sz="1150" b="1" i="0">
                <a:solidFill>
                  <a:srgbClr val="64748B"/>
                </a:solidFill>
                <a:latin typeface="Segoe UI"/>
              </a:rPr>
              <a:t> </a:t>
            </a:r>
            <a:endParaRPr sz="1150" b="1" i="0">
              <a:solidFill>
                <a:srgbClr val="64748B"/>
              </a:solidFill>
              <a:latin typeface="Segoe UI"/>
            </a:endParaRP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Khi API gặp lỗi thì chuyện gì xảy ra?</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12 / 19</a:t>
            </a:r>
          </a:p>
        </p:txBody>
      </p:sp>
      <p:sp>
        <p:nvSpPr>
          <p:cNvPr id="9" name="Rounded Rectangle 8"/>
          <p:cNvSpPr/>
          <p:nvPr/>
        </p:nvSpPr>
        <p:spPr>
          <a:xfrm>
            <a:off x="566928" y="1481328"/>
            <a:ext cx="3520440" cy="1324966"/>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841247" y="1594896"/>
            <a:ext cx="2971800" cy="315468"/>
          </a:xfrm>
          <a:prstGeom prst="rect">
            <a:avLst/>
          </a:prstGeom>
          <a:noFill/>
        </p:spPr>
        <p:txBody>
          <a:bodyPr wrap="square" lIns="0" tIns="0" rIns="0" bIns="0" anchor="t">
            <a:spAutoFit/>
          </a:bodyPr>
          <a:lstStyle/>
          <a:p>
            <a:pPr algn="l">
              <a:lnSpc>
                <a:spcPct val="100000"/>
              </a:lnSpc>
            </a:pPr>
            <a:r>
              <a:rPr sz="3400" b="1" i="0">
                <a:solidFill>
                  <a:srgbClr val="D64545"/>
                </a:solidFill>
                <a:latin typeface="Segoe UI"/>
              </a:rPr>
              <a:t>400</a:t>
            </a:r>
          </a:p>
        </p:txBody>
      </p:sp>
      <p:sp>
        <p:nvSpPr>
          <p:cNvPr id="11" name="TextBox 10"/>
          <p:cNvSpPr txBox="1"/>
          <p:nvPr/>
        </p:nvSpPr>
        <p:spPr>
          <a:xfrm>
            <a:off x="841247" y="2068098"/>
            <a:ext cx="2971800" cy="630936"/>
          </a:xfrm>
          <a:prstGeom prst="rect">
            <a:avLst/>
          </a:prstGeom>
          <a:noFill/>
        </p:spPr>
        <p:txBody>
          <a:bodyPr wrap="square" lIns="0" tIns="0" rIns="0" bIns="0" anchor="t">
            <a:spAutoFit/>
          </a:bodyPr>
          <a:lstStyle/>
          <a:p>
            <a:pPr algn="l">
              <a:lnSpc>
                <a:spcPct val="105000"/>
              </a:lnSpc>
              <a:spcAft>
                <a:spcPts val="200"/>
              </a:spcAft>
            </a:pPr>
            <a:r>
              <a:rPr sz="1450" b="1">
                <a:solidFill>
                  <a:srgbClr val="1B2A3B"/>
                </a:solidFill>
                <a:latin typeface="Segoe UI"/>
              </a:rPr>
              <a:t>Tham số trang không hợp lệ</a:t>
            </a:r>
          </a:p>
          <a:p>
            <a:pPr algn="l">
              <a:lnSpc>
                <a:spcPct val="105000"/>
              </a:lnSpc>
            </a:pPr>
            <a:r>
              <a:rPr sz="1200" b="0">
                <a:solidFill>
                  <a:srgbClr val="64748B"/>
                </a:solidFill>
                <a:latin typeface="Consolas"/>
              </a:rPr>
              <a:t>Ví dụ: page = -5</a:t>
            </a:r>
          </a:p>
        </p:txBody>
      </p:sp>
      <p:sp>
        <p:nvSpPr>
          <p:cNvPr id="12" name="Rounded Rectangle 11"/>
          <p:cNvSpPr/>
          <p:nvPr/>
        </p:nvSpPr>
        <p:spPr>
          <a:xfrm>
            <a:off x="4334256" y="1481328"/>
            <a:ext cx="3520440" cy="1324966"/>
          </a:xfrm>
          <a:prstGeom prst="roundRect">
            <a:avLst>
              <a:gd name="adj" fmla="val 6000"/>
            </a:avLst>
          </a:prstGeom>
          <a:solidFill>
            <a:srgbClr val="FDF3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4608576" y="1594896"/>
            <a:ext cx="2971800" cy="315468"/>
          </a:xfrm>
          <a:prstGeom prst="rect">
            <a:avLst/>
          </a:prstGeom>
          <a:noFill/>
        </p:spPr>
        <p:txBody>
          <a:bodyPr wrap="square" lIns="0" tIns="0" rIns="0" bIns="0" anchor="t">
            <a:spAutoFit/>
          </a:bodyPr>
          <a:lstStyle/>
          <a:p>
            <a:pPr algn="l">
              <a:lnSpc>
                <a:spcPct val="100000"/>
              </a:lnSpc>
            </a:pPr>
            <a:r>
              <a:rPr sz="3400" b="1" i="0">
                <a:solidFill>
                  <a:srgbClr val="9A6700"/>
                </a:solidFill>
                <a:latin typeface="Segoe UI"/>
              </a:rPr>
              <a:t>404</a:t>
            </a:r>
          </a:p>
        </p:txBody>
      </p:sp>
      <p:sp>
        <p:nvSpPr>
          <p:cNvPr id="14" name="TextBox 13"/>
          <p:cNvSpPr txBox="1"/>
          <p:nvPr/>
        </p:nvSpPr>
        <p:spPr>
          <a:xfrm>
            <a:off x="4608576" y="2068098"/>
            <a:ext cx="2971800" cy="630936"/>
          </a:xfrm>
          <a:prstGeom prst="rect">
            <a:avLst/>
          </a:prstGeom>
          <a:noFill/>
        </p:spPr>
        <p:txBody>
          <a:bodyPr wrap="square" lIns="0" tIns="0" rIns="0" bIns="0" anchor="t">
            <a:spAutoFit/>
          </a:bodyPr>
          <a:lstStyle/>
          <a:p>
            <a:pPr algn="l">
              <a:lnSpc>
                <a:spcPct val="105000"/>
              </a:lnSpc>
              <a:spcAft>
                <a:spcPts val="200"/>
              </a:spcAft>
            </a:pPr>
            <a:r>
              <a:rPr sz="1450" b="1">
                <a:solidFill>
                  <a:srgbClr val="1B2A3B"/>
                </a:solidFill>
                <a:latin typeface="Segoe UI"/>
              </a:rPr>
              <a:t>Tìm sinh viên thất bại</a:t>
            </a:r>
          </a:p>
          <a:p>
            <a:pPr algn="l">
              <a:lnSpc>
                <a:spcPct val="105000"/>
              </a:lnSpc>
            </a:pPr>
            <a:r>
              <a:rPr sz="1200" b="0">
                <a:solidFill>
                  <a:srgbClr val="64748B"/>
                </a:solidFill>
                <a:latin typeface="Consolas"/>
              </a:rPr>
              <a:t>Ví dụ: SV999 không tồn tại</a:t>
            </a:r>
          </a:p>
        </p:txBody>
      </p:sp>
      <p:sp>
        <p:nvSpPr>
          <p:cNvPr id="15" name="Rounded Rectangle 14"/>
          <p:cNvSpPr/>
          <p:nvPr/>
        </p:nvSpPr>
        <p:spPr>
          <a:xfrm>
            <a:off x="8101583" y="1481328"/>
            <a:ext cx="3520440" cy="1324966"/>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8375904" y="1594896"/>
            <a:ext cx="2971800" cy="315468"/>
          </a:xfrm>
          <a:prstGeom prst="rect">
            <a:avLst/>
          </a:prstGeom>
          <a:noFill/>
        </p:spPr>
        <p:txBody>
          <a:bodyPr wrap="square" lIns="0" tIns="0" rIns="0" bIns="0" anchor="t">
            <a:spAutoFit/>
          </a:bodyPr>
          <a:lstStyle/>
          <a:p>
            <a:pPr algn="l">
              <a:lnSpc>
                <a:spcPct val="100000"/>
              </a:lnSpc>
            </a:pPr>
            <a:r>
              <a:rPr sz="3400" b="1" i="0">
                <a:solidFill>
                  <a:srgbClr val="64748B"/>
                </a:solidFill>
                <a:latin typeface="Segoe UI"/>
              </a:rPr>
              <a:t>500</a:t>
            </a:r>
          </a:p>
        </p:txBody>
      </p:sp>
      <p:sp>
        <p:nvSpPr>
          <p:cNvPr id="17" name="TextBox 16"/>
          <p:cNvSpPr txBox="1"/>
          <p:nvPr/>
        </p:nvSpPr>
        <p:spPr>
          <a:xfrm>
            <a:off x="8375904" y="2068098"/>
            <a:ext cx="2971800" cy="630936"/>
          </a:xfrm>
          <a:prstGeom prst="rect">
            <a:avLst/>
          </a:prstGeom>
          <a:noFill/>
        </p:spPr>
        <p:txBody>
          <a:bodyPr wrap="square" lIns="0" tIns="0" rIns="0" bIns="0" anchor="t">
            <a:spAutoFit/>
          </a:bodyPr>
          <a:lstStyle/>
          <a:p>
            <a:pPr algn="l">
              <a:lnSpc>
                <a:spcPct val="105000"/>
              </a:lnSpc>
              <a:spcAft>
                <a:spcPts val="200"/>
              </a:spcAft>
            </a:pPr>
            <a:r>
              <a:rPr sz="1450" b="1">
                <a:solidFill>
                  <a:srgbClr val="1B2A3B"/>
                </a:solidFill>
                <a:latin typeface="Segoe UI"/>
              </a:rPr>
              <a:t>Lỗi phía máy chủ</a:t>
            </a:r>
          </a:p>
          <a:p>
            <a:pPr algn="l">
              <a:lnSpc>
                <a:spcPct val="105000"/>
              </a:lnSpc>
            </a:pPr>
            <a:r>
              <a:rPr sz="1200" b="0">
                <a:solidFill>
                  <a:srgbClr val="64748B"/>
                </a:solidFill>
                <a:latin typeface="Consolas"/>
              </a:rPr>
              <a:t>Ví dụ: SQL Server gặp sự cố</a:t>
            </a:r>
          </a:p>
        </p:txBody>
      </p:sp>
      <p:sp>
        <p:nvSpPr>
          <p:cNvPr id="1058" name="Ch8 Ví dụ phản hồi HTTP 400 từ dem"/>
          <p:cNvSpPr txBox="1"/>
          <p:nvPr/>
        </p:nvSpPr>
        <p:spPr>
          <a:xfrm>
            <a:off x="566928" y="2944368"/>
            <a:ext cx="7315200" cy="365760"/>
          </a:xfrm>
          <a:prstGeom prst="rect">
            <a:avLst/>
          </a:prstGeom>
          <a:noFill/>
          <a:ln w="0">
            <a:noFill/>
          </a:ln>
        </p:spPr>
        <p:txBody>
          <a:bodyPr wrap="square" lIns="0" tIns="0" rIns="0" bIns="0" anchor="t"/>
          <a:lstStyle/>
          <a:p>
            <a:r>
              <a:rPr lang="en-US" sz="2000" b="1">
                <a:solidFill>
                  <a:srgbClr val="1B2A3B"/>
                </a:solidFill>
                <a:latin typeface="Segoe UI"/>
              </a:rPr>
              <a:t>Ví dụ Response lỗi trả về cho Client:</a:t>
            </a:r>
          </a:p>
        </p:txBody>
      </p:sp>
      <p:pic>
        <p:nvPicPr>
          <p:cNvPr id="1059" name="Demo 12-error" descr="API trả HTTP 400 cùng JSON success false, message tham số page không hợp lệ và data null."/>
          <p:cNvPicPr>
            <a:picLocks noChangeAspect="1"/>
          </p:cNvPicPr>
          <p:nvPr/>
        </p:nvPicPr>
        <p:blipFill>
          <a:blip r:embed="rId3"/>
          <a:stretch>
            <a:fillRect/>
          </a:stretch>
        </p:blipFill>
        <p:spPr>
          <a:xfrm>
            <a:off x="1186688" y="3429000"/>
            <a:ext cx="5892800" cy="2651760"/>
          </a:xfrm>
          <a:prstGeom prst="rect">
            <a:avLst/>
          </a:prstGeom>
        </p:spPr>
      </p:pic>
      <p:sp>
        <p:nvSpPr>
          <p:cNvPr id="1060" name="Ch8 Không trả cho Client"/>
          <p:cNvSpPr txBox="1"/>
          <p:nvPr/>
        </p:nvSpPr>
        <p:spPr>
          <a:xfrm>
            <a:off x="8138160" y="3474720"/>
            <a:ext cx="3474720" cy="457200"/>
          </a:xfrm>
          <a:prstGeom prst="rect">
            <a:avLst/>
          </a:prstGeom>
          <a:noFill/>
          <a:ln w="0">
            <a:noFill/>
          </a:ln>
        </p:spPr>
        <p:txBody>
          <a:bodyPr wrap="square" lIns="0" tIns="0" rIns="0" bIns="0" anchor="t"/>
          <a:lstStyle/>
          <a:p>
            <a:pPr marL="0" indent="0">
              <a:spcAft>
                <a:spcPts val="400"/>
              </a:spcAft>
            </a:pPr>
            <a:r>
              <a:rPr lang="vi-VN" sz="2100" b="1">
                <a:solidFill>
                  <a:srgbClr val="B33E46"/>
                </a:solidFill>
                <a:latin typeface="Aptos"/>
                <a:ea typeface="Aptos"/>
                <a:cs typeface="Aptos"/>
              </a:rPr>
              <a:t>Không trả cho Client</a:t>
            </a:r>
          </a:p>
        </p:txBody>
      </p:sp>
      <p:sp>
        <p:nvSpPr>
          <p:cNvPr id="1061" name="Ch8 Mật khẩu&#10;Thông tin kết nối&#10;Sta"/>
          <p:cNvSpPr txBox="1"/>
          <p:nvPr/>
        </p:nvSpPr>
        <p:spPr>
          <a:xfrm>
            <a:off x="8138160" y="4114800"/>
            <a:ext cx="3474720" cy="1371600"/>
          </a:xfrm>
          <a:prstGeom prst="rect">
            <a:avLst/>
          </a:prstGeom>
          <a:noFill/>
          <a:ln w="0">
            <a:noFill/>
          </a:ln>
        </p:spPr>
        <p:txBody>
          <a:bodyPr wrap="square" lIns="0" tIns="0" rIns="0" bIns="0" anchor="t"/>
          <a:lstStyle/>
          <a:p>
            <a:pPr marL="0" indent="0">
              <a:spcAft>
                <a:spcPts val="400"/>
              </a:spcAft>
            </a:pPr>
            <a:r>
              <a:rPr lang="vi-VN" sz="1900" b="0">
                <a:solidFill>
                  <a:srgbClr val="18344F"/>
                </a:solidFill>
                <a:latin typeface="Aptos"/>
                <a:ea typeface="Aptos"/>
                <a:cs typeface="Aptos"/>
              </a:rPr>
              <a:t>Mật khẩu</a:t>
            </a:r>
          </a:p>
          <a:p>
            <a:pPr marL="0" indent="0">
              <a:spcAft>
                <a:spcPts val="400"/>
              </a:spcAft>
            </a:pPr>
            <a:r>
              <a:rPr lang="vi-VN" sz="1900" b="0">
                <a:solidFill>
                  <a:srgbClr val="18344F"/>
                </a:solidFill>
                <a:latin typeface="Aptos"/>
                <a:ea typeface="Aptos"/>
                <a:cs typeface="Aptos"/>
              </a:rPr>
              <a:t>Thông tin kết nối</a:t>
            </a:r>
          </a:p>
          <a:p>
            <a:pPr marL="0" indent="0">
              <a:spcAft>
                <a:spcPts val="400"/>
              </a:spcAft>
            </a:pPr>
            <a:r>
              <a:rPr lang="vi-VN" sz="1900" b="0">
                <a:solidFill>
                  <a:srgbClr val="18344F"/>
                </a:solidFill>
                <a:latin typeface="Aptos"/>
                <a:ea typeface="Aptos"/>
                <a:cs typeface="Aptos"/>
              </a:rPr>
              <a:t>Stack trace hệ thống</a:t>
            </a:r>
          </a:p>
        </p:txBody>
      </p:sp>
      <p:sp>
        <p:nvSpPr>
          <p:cNvPr id="1062" name="Ch8 Mã trạng thái đúng, thông báo "/>
          <p:cNvSpPr txBox="1"/>
          <p:nvPr/>
        </p:nvSpPr>
        <p:spPr>
          <a:xfrm>
            <a:off x="566928" y="6007608"/>
            <a:ext cx="11055096" cy="365760"/>
          </a:xfrm>
          <a:prstGeom prst="rect">
            <a:avLst/>
          </a:prstGeom>
          <a:noFill/>
          <a:ln w="0">
            <a:noFill/>
          </a:ln>
        </p:spPr>
        <p:txBody>
          <a:bodyPr wrap="square" lIns="0" tIns="0" rIns="0" bIns="0" anchor="t"/>
          <a:lstStyle/>
          <a:p>
            <a:pPr algn="ctr">
              <a:spcAft>
                <a:spcPts val="400"/>
              </a:spcAft>
            </a:pPr>
            <a:r>
              <a:rPr lang="en-US" sz="2000" b="1">
                <a:solidFill>
                  <a:srgbClr val="0B5FA5"/>
                </a:solidFill>
                <a:latin typeface="Segoe UI"/>
              </a:rPr>
              <a:t>Backend phải trả mã trạng thái và thông báo rõ ràng, nhất quán.</a:t>
            </a:r>
            <a:endParaRPr lang="vi-VN" sz="1900" b="1">
              <a:solidFill>
                <a:srgbClr val="146BA2"/>
              </a:solidFill>
              <a:latin typeface="Aptos"/>
              <a:ea typeface="Aptos"/>
              <a:cs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3 · BUỔI 11 — GLOBAL ERROR HANDLING</a:t>
            </a:r>
          </a:p>
        </p:txBody>
      </p:sp>
      <p:sp>
        <p:nvSpPr>
          <p:cNvPr id="4" name="TextBox 3"/>
          <p:cNvSpPr txBox="1"/>
          <p:nvPr/>
        </p:nvSpPr>
        <p:spPr>
          <a:xfrm>
            <a:off x="9613087" y="292608"/>
            <a:ext cx="2011680" cy="176972"/>
          </a:xfrm>
          <a:prstGeom prst="rect">
            <a:avLst/>
          </a:prstGeom>
          <a:noFill/>
        </p:spPr>
        <p:txBody>
          <a:bodyPr wrap="square" lIns="0" tIns="0" rIns="0" bIns="0" anchor="t">
            <a:spAutoFit/>
          </a:bodyPr>
          <a:lstStyle/>
          <a:p>
            <a:pPr algn="r">
              <a:lnSpc>
                <a:spcPct val="100000"/>
              </a:lnSpc>
            </a:pPr>
            <a:r>
              <a:rPr lang="en-US" sz="1150" b="1" i="0">
                <a:solidFill>
                  <a:srgbClr val="64748B"/>
                </a:solidFill>
                <a:latin typeface="Segoe UI"/>
              </a:rPr>
              <a:t> </a:t>
            </a:r>
            <a:endParaRPr sz="1150" b="1" i="0">
              <a:solidFill>
                <a:srgbClr val="64748B"/>
              </a:solidFill>
              <a:latin typeface="Segoe UI"/>
            </a:endParaRP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Global Error Handling — gom lỗi về một nơi</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13 / 19</a:t>
            </a:r>
          </a:p>
        </p:txBody>
      </p:sp>
      <p:sp>
        <p:nvSpPr>
          <p:cNvPr id="9" name="Rounded Rectangle 8"/>
          <p:cNvSpPr/>
          <p:nvPr/>
        </p:nvSpPr>
        <p:spPr>
          <a:xfrm>
            <a:off x="566928" y="1554480"/>
            <a:ext cx="1828800" cy="1371600"/>
          </a:xfrm>
          <a:prstGeom prst="roundRect">
            <a:avLst>
              <a:gd name="adj" fmla="val 10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21792" y="1645920"/>
            <a:ext cx="1719072" cy="1234440"/>
          </a:xfrm>
          <a:prstGeom prst="rect">
            <a:avLst/>
          </a:prstGeom>
          <a:noFill/>
        </p:spPr>
        <p:txBody>
          <a:bodyPr wrap="square" lIns="0" tIns="0" rIns="0" bIns="0" anchor="ctr">
            <a:spAutoFit/>
          </a:bodyPr>
          <a:lstStyle/>
          <a:p>
            <a:pPr algn="ctr">
              <a:lnSpc>
                <a:spcPct val="102000"/>
              </a:lnSpc>
              <a:spcAft>
                <a:spcPts val="300"/>
              </a:spcAft>
            </a:pPr>
            <a:r>
              <a:rPr sz="1350" b="1">
                <a:solidFill>
                  <a:srgbClr val="1B2A3B"/>
                </a:solidFill>
                <a:latin typeface="Segoe UI"/>
              </a:rPr>
              <a:t>Client</a:t>
            </a:r>
          </a:p>
          <a:p>
            <a:pPr algn="ctr">
              <a:lnSpc>
                <a:spcPct val="108000"/>
              </a:lnSpc>
            </a:pPr>
            <a:r>
              <a:rPr sz="1150" b="0">
                <a:solidFill>
                  <a:srgbClr val="64748B"/>
                </a:solidFill>
                <a:latin typeface="Segoe UI"/>
              </a:rPr>
              <a:t>HTTP Request</a:t>
            </a:r>
          </a:p>
        </p:txBody>
      </p:sp>
      <p:sp>
        <p:nvSpPr>
          <p:cNvPr id="11" name="Right Arrow 10"/>
          <p:cNvSpPr/>
          <p:nvPr/>
        </p:nvSpPr>
        <p:spPr>
          <a:xfrm>
            <a:off x="2441448" y="2121408"/>
            <a:ext cx="310896" cy="274320"/>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761488" y="1554480"/>
            <a:ext cx="1828800" cy="1371600"/>
          </a:xfrm>
          <a:prstGeom prst="roundRect">
            <a:avLst>
              <a:gd name="adj" fmla="val 1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2816352" y="1645920"/>
            <a:ext cx="1719072" cy="1234440"/>
          </a:xfrm>
          <a:prstGeom prst="rect">
            <a:avLst/>
          </a:prstGeom>
          <a:noFill/>
        </p:spPr>
        <p:txBody>
          <a:bodyPr wrap="square" lIns="0" tIns="0" rIns="0" bIns="0" anchor="ctr">
            <a:spAutoFit/>
          </a:bodyPr>
          <a:lstStyle/>
          <a:p>
            <a:pPr algn="ctr">
              <a:lnSpc>
                <a:spcPct val="102000"/>
              </a:lnSpc>
              <a:spcAft>
                <a:spcPts val="300"/>
              </a:spcAft>
            </a:pPr>
            <a:r>
              <a:rPr sz="1350" b="1">
                <a:solidFill>
                  <a:srgbClr val="1B2A3B"/>
                </a:solidFill>
                <a:latin typeface="Segoe UI"/>
              </a:rPr>
              <a:t>Controller
→ Service</a:t>
            </a:r>
          </a:p>
          <a:p>
            <a:pPr algn="ctr">
              <a:lnSpc>
                <a:spcPct val="108000"/>
              </a:lnSpc>
            </a:pPr>
            <a:r>
              <a:rPr sz="1150" b="0">
                <a:solidFill>
                  <a:srgbClr val="64748B"/>
                </a:solidFill>
                <a:latin typeface="Segoe UI"/>
              </a:rPr>
              <a:t>Xử lý nghiệp vụ</a:t>
            </a:r>
          </a:p>
        </p:txBody>
      </p:sp>
      <p:sp>
        <p:nvSpPr>
          <p:cNvPr id="14" name="Right Arrow 13"/>
          <p:cNvSpPr/>
          <p:nvPr/>
        </p:nvSpPr>
        <p:spPr>
          <a:xfrm>
            <a:off x="4636008" y="2121408"/>
            <a:ext cx="310896" cy="274320"/>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956048" y="1554480"/>
            <a:ext cx="1828800" cy="1371600"/>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5010912" y="1645920"/>
            <a:ext cx="1719072" cy="1234440"/>
          </a:xfrm>
          <a:prstGeom prst="rect">
            <a:avLst/>
          </a:prstGeom>
          <a:noFill/>
        </p:spPr>
        <p:txBody>
          <a:bodyPr wrap="square" lIns="0" tIns="0" rIns="0" bIns="0" anchor="ctr">
            <a:spAutoFit/>
          </a:bodyPr>
          <a:lstStyle/>
          <a:p>
            <a:pPr algn="ctr">
              <a:lnSpc>
                <a:spcPct val="102000"/>
              </a:lnSpc>
              <a:spcAft>
                <a:spcPts val="300"/>
              </a:spcAft>
            </a:pPr>
            <a:r>
              <a:rPr sz="1350" b="1">
                <a:solidFill>
                  <a:srgbClr val="1B2A3B"/>
                </a:solidFill>
                <a:latin typeface="Segoe UI"/>
              </a:rPr>
              <a:t>Phát sinh lỗi</a:t>
            </a:r>
          </a:p>
          <a:p>
            <a:pPr algn="ctr">
              <a:lnSpc>
                <a:spcPct val="108000"/>
              </a:lnSpc>
            </a:pPr>
            <a:r>
              <a:rPr sz="1150" b="0">
                <a:solidFill>
                  <a:srgbClr val="64748B"/>
                </a:solidFill>
                <a:latin typeface="Segoe UI"/>
              </a:rPr>
              <a:t>400 / 404 / 500</a:t>
            </a:r>
          </a:p>
        </p:txBody>
      </p:sp>
      <p:sp>
        <p:nvSpPr>
          <p:cNvPr id="17" name="Right Arrow 16"/>
          <p:cNvSpPr/>
          <p:nvPr/>
        </p:nvSpPr>
        <p:spPr>
          <a:xfrm>
            <a:off x="6830568" y="2121408"/>
            <a:ext cx="310896" cy="274320"/>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150608" y="1554480"/>
            <a:ext cx="1828800" cy="1371600"/>
          </a:xfrm>
          <a:prstGeom prst="roundRect">
            <a:avLst>
              <a:gd name="adj" fmla="val 10000"/>
            </a:avLst>
          </a:prstGeom>
          <a:solidFill>
            <a:srgbClr val="FDF3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7205472" y="1645920"/>
            <a:ext cx="1719072" cy="1234440"/>
          </a:xfrm>
          <a:prstGeom prst="rect">
            <a:avLst/>
          </a:prstGeom>
          <a:noFill/>
        </p:spPr>
        <p:txBody>
          <a:bodyPr wrap="square" lIns="0" tIns="0" rIns="0" bIns="0" anchor="ctr">
            <a:spAutoFit/>
          </a:bodyPr>
          <a:lstStyle/>
          <a:p>
            <a:pPr algn="ctr">
              <a:lnSpc>
                <a:spcPct val="102000"/>
              </a:lnSpc>
              <a:spcAft>
                <a:spcPts val="300"/>
              </a:spcAft>
            </a:pPr>
            <a:r>
              <a:rPr sz="1350" b="1">
                <a:solidFill>
                  <a:srgbClr val="1B2A3B"/>
                </a:solidFill>
                <a:latin typeface="Segoe UI"/>
              </a:rPr>
              <a:t>AppError +
Error Middleware</a:t>
            </a:r>
          </a:p>
          <a:p>
            <a:pPr algn="ctr">
              <a:lnSpc>
                <a:spcPct val="108000"/>
              </a:lnSpc>
            </a:pPr>
            <a:r>
              <a:rPr sz="1150" b="0">
                <a:solidFill>
                  <a:srgbClr val="64748B"/>
                </a:solidFill>
                <a:latin typeface="Segoe UI"/>
              </a:rPr>
              <a:t>Gom về một nơi</a:t>
            </a:r>
          </a:p>
        </p:txBody>
      </p:sp>
      <p:sp>
        <p:nvSpPr>
          <p:cNvPr id="20" name="Right Arrow 19"/>
          <p:cNvSpPr/>
          <p:nvPr/>
        </p:nvSpPr>
        <p:spPr>
          <a:xfrm>
            <a:off x="9025128" y="2121408"/>
            <a:ext cx="310896" cy="274320"/>
          </a:xfrm>
          <a:prstGeom prst="rightArrow">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345168" y="1554480"/>
            <a:ext cx="1828800" cy="1371600"/>
          </a:xfrm>
          <a:prstGeom prst="roundRect">
            <a:avLst>
              <a:gd name="adj" fmla="val 10000"/>
            </a:avLst>
          </a:prstGeom>
          <a:solidFill>
            <a:srgbClr val="E6F5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9400032" y="1645920"/>
            <a:ext cx="1719072" cy="1234440"/>
          </a:xfrm>
          <a:prstGeom prst="rect">
            <a:avLst/>
          </a:prstGeom>
          <a:noFill/>
        </p:spPr>
        <p:txBody>
          <a:bodyPr wrap="square" lIns="0" tIns="0" rIns="0" bIns="0" anchor="ctr">
            <a:spAutoFit/>
          </a:bodyPr>
          <a:lstStyle/>
          <a:p>
            <a:pPr algn="ctr">
              <a:lnSpc>
                <a:spcPct val="102000"/>
              </a:lnSpc>
              <a:spcAft>
                <a:spcPts val="300"/>
              </a:spcAft>
            </a:pPr>
            <a:r>
              <a:rPr sz="1350" b="1">
                <a:solidFill>
                  <a:srgbClr val="1B2A3B"/>
                </a:solidFill>
                <a:latin typeface="Segoe UI"/>
              </a:rPr>
              <a:t>HTTP Status +
JSON nhất quán</a:t>
            </a:r>
          </a:p>
          <a:p>
            <a:pPr algn="ctr">
              <a:lnSpc>
                <a:spcPct val="108000"/>
              </a:lnSpc>
            </a:pPr>
            <a:r>
              <a:rPr sz="1150" b="0">
                <a:solidFill>
                  <a:srgbClr val="64748B"/>
                </a:solidFill>
                <a:latin typeface="Segoe UI"/>
              </a:rPr>
              <a:t>Trả về Client</a:t>
            </a:r>
          </a:p>
        </p:txBody>
      </p:sp>
      <p:sp>
        <p:nvSpPr>
          <p:cNvPr id="23" name="TextBox 22"/>
          <p:cNvSpPr txBox="1"/>
          <p:nvPr/>
        </p:nvSpPr>
        <p:spPr>
          <a:xfrm>
            <a:off x="566928" y="3200400"/>
            <a:ext cx="10972800" cy="365760"/>
          </a:xfrm>
          <a:prstGeom prst="rect">
            <a:avLst/>
          </a:prstGeom>
          <a:noFill/>
        </p:spPr>
        <p:txBody>
          <a:bodyPr wrap="square" lIns="0" tIns="0" rIns="0" bIns="0" anchor="t">
            <a:spAutoFit/>
          </a:bodyPr>
          <a:lstStyle/>
          <a:p>
            <a:pPr algn="l">
              <a:lnSpc>
                <a:spcPct val="100000"/>
              </a:lnSpc>
            </a:pPr>
            <a:r>
              <a:rPr sz="1450" b="1" i="0">
                <a:solidFill>
                  <a:srgbClr val="1B2A3B"/>
                </a:solidFill>
                <a:latin typeface="Segoe UI"/>
              </a:rPr>
              <a:t>Lỗi có chủ đích được “ném” bằng AppError:</a:t>
            </a:r>
          </a:p>
        </p:txBody>
      </p:sp>
      <p:sp>
        <p:nvSpPr>
          <p:cNvPr id="24" name="Rounded Rectangle 23"/>
          <p:cNvSpPr/>
          <p:nvPr/>
        </p:nvSpPr>
        <p:spPr>
          <a:xfrm>
            <a:off x="566928" y="3584448"/>
            <a:ext cx="6766560" cy="914400"/>
          </a:xfrm>
          <a:prstGeom prst="roundRect">
            <a:avLst>
              <a:gd name="adj" fmla="val 4500"/>
            </a:avLst>
          </a:prstGeom>
          <a:solidFill>
            <a:srgbClr val="1023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822960" y="3749039"/>
            <a:ext cx="6309360" cy="640080"/>
          </a:xfrm>
          <a:prstGeom prst="rect">
            <a:avLst/>
          </a:prstGeom>
          <a:noFill/>
        </p:spPr>
        <p:txBody>
          <a:bodyPr wrap="square" lIns="0" tIns="0" rIns="0" bIns="0" anchor="t">
            <a:spAutoFit/>
          </a:bodyPr>
          <a:lstStyle/>
          <a:p>
            <a:pPr algn="l">
              <a:lnSpc>
                <a:spcPct val="112000"/>
              </a:lnSpc>
              <a:spcAft>
                <a:spcPts val="200"/>
              </a:spcAft>
            </a:pPr>
            <a:r>
              <a:rPr sz="1350" b="0">
                <a:solidFill>
                  <a:srgbClr val="F0A6C0"/>
                </a:solidFill>
                <a:latin typeface="Consolas"/>
              </a:rPr>
              <a:t>throw new AppError(400, "Tham số page không hợp lệ");</a:t>
            </a:r>
          </a:p>
        </p:txBody>
      </p:sp>
      <p:sp>
        <p:nvSpPr>
          <p:cNvPr id="26" name="Rounded Rectangle 25"/>
          <p:cNvSpPr/>
          <p:nvPr/>
        </p:nvSpPr>
        <p:spPr>
          <a:xfrm>
            <a:off x="7653527" y="3584448"/>
            <a:ext cx="3968496" cy="91440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7927848" y="3584448"/>
            <a:ext cx="3429000" cy="914400"/>
          </a:xfrm>
          <a:prstGeom prst="rect">
            <a:avLst/>
          </a:prstGeom>
          <a:noFill/>
        </p:spPr>
        <p:txBody>
          <a:bodyPr wrap="square" lIns="0" tIns="0" rIns="0" bIns="0" anchor="ctr">
            <a:spAutoFit/>
          </a:bodyPr>
          <a:lstStyle/>
          <a:p>
            <a:pPr algn="l">
              <a:lnSpc>
                <a:spcPct val="118000"/>
              </a:lnSpc>
            </a:pPr>
            <a:r>
              <a:rPr sz="1350" b="0">
                <a:solidFill>
                  <a:srgbClr val="1B2A3B"/>
                </a:solidFill>
                <a:latin typeface="Segoe UI"/>
              </a:rPr>
              <a:t>Error Middleware tiếp nhận lỗi và dựng HTTP Response cho Client.</a:t>
            </a:r>
          </a:p>
        </p:txBody>
      </p:sp>
      <p:sp>
        <p:nvSpPr>
          <p:cNvPr id="28" name="Rounded Rectangle 27"/>
          <p:cNvSpPr/>
          <p:nvPr/>
        </p:nvSpPr>
        <p:spPr>
          <a:xfrm>
            <a:off x="566928" y="4709160"/>
            <a:ext cx="11055096" cy="914400"/>
          </a:xfrm>
          <a:prstGeom prst="roundRect">
            <a:avLst>
              <a:gd name="adj" fmla="val 6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886968" y="4709160"/>
            <a:ext cx="10424160" cy="914400"/>
          </a:xfrm>
          <a:prstGeom prst="rect">
            <a:avLst/>
          </a:prstGeom>
          <a:noFill/>
        </p:spPr>
        <p:txBody>
          <a:bodyPr wrap="square" lIns="0" tIns="0" rIns="0" bIns="0" anchor="ctr">
            <a:spAutoFit/>
          </a:bodyPr>
          <a:lstStyle/>
          <a:p>
            <a:pPr algn="l">
              <a:lnSpc>
                <a:spcPct val="105000"/>
              </a:lnSpc>
              <a:spcAft>
                <a:spcPts val="300"/>
              </a:spcAft>
            </a:pPr>
            <a:r>
              <a:rPr sz="1450" b="1">
                <a:solidFill>
                  <a:srgbClr val="0B5FA5"/>
                </a:solidFill>
                <a:latin typeface="Segoe UI"/>
              </a:rPr>
              <a:t>Hai thành phần phân biệt rõ:  </a:t>
            </a:r>
          </a:p>
          <a:p>
            <a:pPr algn="l">
              <a:lnSpc>
                <a:spcPct val="115000"/>
              </a:lnSpc>
            </a:pPr>
            <a:r>
              <a:rPr sz="1450" b="0">
                <a:solidFill>
                  <a:srgbClr val="1B2A3B"/>
                </a:solidFill>
                <a:latin typeface="Segoe UI"/>
              </a:rPr>
              <a:t>AppError — biểu diễn lỗi có chủ đích (ví dụ dữ liệu đầu vào sai).   errorHandler — middleware tiếp nhận lỗi, tạo Response nhất quán.</a:t>
            </a:r>
          </a:p>
        </p:txBody>
      </p:sp>
      <p:sp>
        <p:nvSpPr>
          <p:cNvPr id="30" name="Rounded Rectangle 29"/>
          <p:cNvSpPr/>
          <p:nvPr/>
        </p:nvSpPr>
        <p:spPr>
          <a:xfrm>
            <a:off x="566928" y="5760720"/>
            <a:ext cx="11055096" cy="502920"/>
          </a:xfrm>
          <a:prstGeom prst="roundRect">
            <a:avLst>
              <a:gd name="adj" fmla="val 6000"/>
            </a:avLst>
          </a:prstGeom>
          <a:solidFill>
            <a:srgbClr val="E6F5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566928" y="5760720"/>
            <a:ext cx="11055096" cy="502920"/>
          </a:xfrm>
          <a:prstGeom prst="rect">
            <a:avLst/>
          </a:prstGeom>
          <a:noFill/>
        </p:spPr>
        <p:txBody>
          <a:bodyPr wrap="square" lIns="0" tIns="0" rIns="0" bIns="0" anchor="ctr">
            <a:spAutoFit/>
          </a:bodyPr>
          <a:lstStyle/>
          <a:p>
            <a:pPr algn="ctr">
              <a:lnSpc>
                <a:spcPct val="100000"/>
              </a:lnSpc>
            </a:pPr>
            <a:r>
              <a:rPr sz="1350" b="1" i="0">
                <a:solidFill>
                  <a:srgbClr val="1B9E6B"/>
                </a:solidFill>
                <a:latin typeface="Segoe UI"/>
              </a:rPr>
              <a:t>Tận dụng những thành phần đã có trong project cũ — không viết lại từ đầu.</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3 · BUỔI 11 — GLOBAL ERROR HANDLING</a:t>
            </a:r>
          </a:p>
        </p:txBody>
      </p:sp>
      <p:sp>
        <p:nvSpPr>
          <p:cNvPr id="4" name="TextBox 3"/>
          <p:cNvSpPr txBox="1"/>
          <p:nvPr/>
        </p:nvSpPr>
        <p:spPr>
          <a:xfrm>
            <a:off x="9613087" y="292608"/>
            <a:ext cx="2011680" cy="176972"/>
          </a:xfrm>
          <a:prstGeom prst="rect">
            <a:avLst/>
          </a:prstGeom>
          <a:noFill/>
        </p:spPr>
        <p:txBody>
          <a:bodyPr wrap="square" lIns="0" tIns="0" rIns="0" bIns="0" anchor="t">
            <a:spAutoFit/>
          </a:bodyPr>
          <a:lstStyle/>
          <a:p>
            <a:pPr algn="r">
              <a:lnSpc>
                <a:spcPct val="100000"/>
              </a:lnSpc>
            </a:pPr>
            <a:r>
              <a:rPr lang="en-US" sz="1150" b="1" i="0">
                <a:solidFill>
                  <a:srgbClr val="64748B"/>
                </a:solidFill>
                <a:latin typeface="Segoe UI"/>
              </a:rPr>
              <a:t> </a:t>
            </a:r>
            <a:endParaRPr sz="1150" b="1" i="0">
              <a:solidFill>
                <a:srgbClr val="64748B"/>
              </a:solidFill>
              <a:latin typeface="Segoe UI"/>
            </a:endParaRP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asyncHandler và lỗi trong Async/Await</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14 / 19</a:t>
            </a:r>
          </a:p>
        </p:txBody>
      </p:sp>
      <p:sp>
        <p:nvSpPr>
          <p:cNvPr id="9" name="TextBox 8"/>
          <p:cNvSpPr txBox="1"/>
          <p:nvPr/>
        </p:nvSpPr>
        <p:spPr>
          <a:xfrm>
            <a:off x="566928" y="1481328"/>
            <a:ext cx="10972800" cy="365760"/>
          </a:xfrm>
          <a:prstGeom prst="rect">
            <a:avLst/>
          </a:prstGeom>
          <a:noFill/>
        </p:spPr>
        <p:txBody>
          <a:bodyPr wrap="square" lIns="0" tIns="0" rIns="0" bIns="0" anchor="t">
            <a:spAutoFit/>
          </a:bodyPr>
          <a:lstStyle/>
          <a:p>
            <a:pPr algn="l">
              <a:lnSpc>
                <a:spcPct val="100000"/>
              </a:lnSpc>
            </a:pPr>
            <a:r>
              <a:rPr sz="1450" b="1" i="0">
                <a:solidFill>
                  <a:srgbClr val="1B2A3B"/>
                </a:solidFill>
                <a:latin typeface="Segoe UI"/>
              </a:rPr>
              <a:t>Một route async quen thuộc:</a:t>
            </a:r>
          </a:p>
        </p:txBody>
      </p:sp>
      <p:sp>
        <p:nvSpPr>
          <p:cNvPr id="10" name="Rounded Rectangle 9"/>
          <p:cNvSpPr/>
          <p:nvPr/>
        </p:nvSpPr>
        <p:spPr>
          <a:xfrm>
            <a:off x="566928" y="1874519"/>
            <a:ext cx="6949440" cy="2194560"/>
          </a:xfrm>
          <a:prstGeom prst="roundRect">
            <a:avLst>
              <a:gd name="adj" fmla="val 4500"/>
            </a:avLst>
          </a:prstGeom>
          <a:solidFill>
            <a:srgbClr val="1023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22960" y="2039112"/>
            <a:ext cx="6492240" cy="1920240"/>
          </a:xfrm>
          <a:prstGeom prst="rect">
            <a:avLst/>
          </a:prstGeom>
          <a:noFill/>
        </p:spPr>
        <p:txBody>
          <a:bodyPr wrap="square" lIns="0" tIns="0" rIns="0" bIns="0" anchor="t">
            <a:spAutoFit/>
          </a:bodyPr>
          <a:lstStyle/>
          <a:p>
            <a:pPr algn="l">
              <a:lnSpc>
                <a:spcPct val="112000"/>
              </a:lnSpc>
              <a:spcAft>
                <a:spcPts val="200"/>
              </a:spcAft>
            </a:pPr>
            <a:r>
              <a:rPr sz="1550" b="0">
                <a:solidFill>
                  <a:srgbClr val="E8F0F8"/>
                </a:solidFill>
                <a:latin typeface="Consolas"/>
              </a:rPr>
              <a:t>router.get("/", async (req, res) =&gt; {</a:t>
            </a:r>
          </a:p>
          <a:p>
            <a:pPr algn="l">
              <a:lnSpc>
                <a:spcPct val="112000"/>
              </a:lnSpc>
              <a:spcAft>
                <a:spcPts val="200"/>
              </a:spcAft>
            </a:pPr>
            <a:r>
              <a:rPr sz="1550" b="0">
                <a:solidFill>
                  <a:srgbClr val="93C5FD"/>
                </a:solidFill>
                <a:latin typeface="Consolas"/>
              </a:rPr>
              <a:t>  const data = await SinhVien.findAll();</a:t>
            </a:r>
          </a:p>
          <a:p>
            <a:pPr algn="l">
              <a:lnSpc>
                <a:spcPct val="112000"/>
              </a:lnSpc>
              <a:spcAft>
                <a:spcPts val="200"/>
              </a:spcAft>
            </a:pPr>
            <a:r>
              <a:rPr sz="1550" b="0">
                <a:solidFill>
                  <a:srgbClr val="6EE7B7"/>
                </a:solidFill>
                <a:latin typeface="Consolas"/>
              </a:rPr>
              <a:t>  res.json({ success: true, data });</a:t>
            </a:r>
          </a:p>
          <a:p>
            <a:pPr algn="l">
              <a:lnSpc>
                <a:spcPct val="112000"/>
              </a:lnSpc>
              <a:spcAft>
                <a:spcPts val="200"/>
              </a:spcAft>
            </a:pPr>
            <a:r>
              <a:rPr sz="1550" b="0">
                <a:solidFill>
                  <a:srgbClr val="E8F0F8"/>
                </a:solidFill>
                <a:latin typeface="Consolas"/>
              </a:rPr>
              <a:t>});</a:t>
            </a:r>
          </a:p>
        </p:txBody>
      </p:sp>
      <p:sp>
        <p:nvSpPr>
          <p:cNvPr id="12" name="TextBox 11"/>
          <p:cNvSpPr txBox="1"/>
          <p:nvPr/>
        </p:nvSpPr>
        <p:spPr>
          <a:xfrm>
            <a:off x="7836408" y="1874519"/>
            <a:ext cx="274320" cy="320040"/>
          </a:xfrm>
          <a:prstGeom prst="rect">
            <a:avLst/>
          </a:prstGeom>
          <a:noFill/>
        </p:spPr>
        <p:txBody>
          <a:bodyPr wrap="square" lIns="0" tIns="0" rIns="0" bIns="0" anchor="t">
            <a:spAutoFit/>
          </a:bodyPr>
          <a:lstStyle/>
          <a:p>
            <a:pPr algn="l">
              <a:lnSpc>
                <a:spcPct val="100000"/>
              </a:lnSpc>
            </a:pPr>
            <a:r>
              <a:rPr sz="1450" b="1" i="0">
                <a:solidFill>
                  <a:srgbClr val="64748B"/>
                </a:solidFill>
                <a:latin typeface="Segoe UI"/>
              </a:rPr>
              <a:t>•</a:t>
            </a:r>
          </a:p>
        </p:txBody>
      </p:sp>
      <p:sp>
        <p:nvSpPr>
          <p:cNvPr id="13" name="TextBox 12"/>
          <p:cNvSpPr txBox="1"/>
          <p:nvPr/>
        </p:nvSpPr>
        <p:spPr>
          <a:xfrm>
            <a:off x="8110728" y="1874519"/>
            <a:ext cx="3520440" cy="960120"/>
          </a:xfrm>
          <a:prstGeom prst="rect">
            <a:avLst/>
          </a:prstGeom>
          <a:noFill/>
        </p:spPr>
        <p:txBody>
          <a:bodyPr wrap="square" lIns="0" tIns="0" rIns="0" bIns="0" anchor="t">
            <a:spAutoFit/>
          </a:bodyPr>
          <a:lstStyle/>
          <a:p>
            <a:pPr algn="l">
              <a:lnSpc>
                <a:spcPct val="120000"/>
              </a:lnSpc>
            </a:pPr>
            <a:r>
              <a:rPr sz="1350" b="0" i="0">
                <a:solidFill>
                  <a:srgbClr val="1B2A3B"/>
                </a:solidFill>
                <a:latin typeface="Segoe UI"/>
              </a:rPr>
              <a:t>Nếu SQL Server xảy ra lỗi, Promise của hàm async có thể bị reject.</a:t>
            </a:r>
          </a:p>
        </p:txBody>
      </p:sp>
      <p:sp>
        <p:nvSpPr>
          <p:cNvPr id="14" name="TextBox 13"/>
          <p:cNvSpPr txBox="1"/>
          <p:nvPr/>
        </p:nvSpPr>
        <p:spPr>
          <a:xfrm>
            <a:off x="7836408" y="2944368"/>
            <a:ext cx="274320" cy="320040"/>
          </a:xfrm>
          <a:prstGeom prst="rect">
            <a:avLst/>
          </a:prstGeom>
          <a:noFill/>
        </p:spPr>
        <p:txBody>
          <a:bodyPr wrap="square" lIns="0" tIns="0" rIns="0" bIns="0" anchor="t">
            <a:spAutoFit/>
          </a:bodyPr>
          <a:lstStyle/>
          <a:p>
            <a:pPr algn="l">
              <a:lnSpc>
                <a:spcPct val="100000"/>
              </a:lnSpc>
            </a:pPr>
            <a:r>
              <a:rPr sz="1450" b="1" i="0">
                <a:solidFill>
                  <a:srgbClr val="0B5FA5"/>
                </a:solidFill>
                <a:latin typeface="Segoe UI"/>
              </a:rPr>
              <a:t>•</a:t>
            </a:r>
          </a:p>
        </p:txBody>
      </p:sp>
      <p:sp>
        <p:nvSpPr>
          <p:cNvPr id="15" name="TextBox 14"/>
          <p:cNvSpPr txBox="1"/>
          <p:nvPr/>
        </p:nvSpPr>
        <p:spPr>
          <a:xfrm>
            <a:off x="8110728" y="2944368"/>
            <a:ext cx="3520440" cy="960120"/>
          </a:xfrm>
          <a:prstGeom prst="rect">
            <a:avLst/>
          </a:prstGeom>
          <a:noFill/>
        </p:spPr>
        <p:txBody>
          <a:bodyPr wrap="square" lIns="0" tIns="0" rIns="0" bIns="0" anchor="t">
            <a:spAutoFit/>
          </a:bodyPr>
          <a:lstStyle/>
          <a:p>
            <a:pPr algn="l">
              <a:lnSpc>
                <a:spcPct val="120000"/>
              </a:lnSpc>
            </a:pPr>
            <a:r>
              <a:rPr sz="1350" b="0" i="0">
                <a:solidFill>
                  <a:srgbClr val="1B2A3B"/>
                </a:solidFill>
                <a:latin typeface="Segoe UI"/>
              </a:rPr>
              <a:t>Trong Express 5, lỗi từ async handler trả về Promise được tự động chuyển tới Error Middleware.</a:t>
            </a:r>
          </a:p>
        </p:txBody>
      </p:sp>
      <p:sp>
        <p:nvSpPr>
          <p:cNvPr id="18" name="Rounded Rectangle 17"/>
          <p:cNvSpPr/>
          <p:nvPr/>
        </p:nvSpPr>
        <p:spPr>
          <a:xfrm>
            <a:off x="566928" y="5486400"/>
            <a:ext cx="11055096" cy="786384"/>
          </a:xfrm>
          <a:prstGeom prst="roundRect">
            <a:avLst>
              <a:gd name="adj" fmla="val 6000"/>
            </a:avLst>
          </a:prstGeom>
          <a:solidFill>
            <a:srgbClr val="FDF3E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886968" y="5486400"/>
            <a:ext cx="10424160" cy="786384"/>
          </a:xfrm>
          <a:prstGeom prst="rect">
            <a:avLst/>
          </a:prstGeom>
          <a:noFill/>
        </p:spPr>
        <p:txBody>
          <a:bodyPr wrap="square" lIns="0" tIns="0" rIns="0" bIns="0" anchor="ctr">
            <a:spAutoFit/>
          </a:bodyPr>
          <a:lstStyle/>
          <a:p>
            <a:pPr algn="l">
              <a:lnSpc>
                <a:spcPct val="120000"/>
              </a:lnSpc>
            </a:pPr>
            <a:r>
              <a:rPr sz="1500" b="1">
                <a:solidFill>
                  <a:srgbClr val="9A6700"/>
                </a:solidFill>
                <a:latin typeface="Segoe UI"/>
              </a:rPr>
              <a:t>Ghi nhớ:  </a:t>
            </a:r>
            <a:r>
              <a:rPr sz="1500" b="0">
                <a:solidFill>
                  <a:srgbClr val="1B2A3B"/>
                </a:solidFill>
                <a:latin typeface="Segoe UI"/>
              </a:rPr>
              <a:t>Không thêm try-catch hoặc asyncHandler vào mọi Controller một cách máy móc. Những lỗi cần xử lý hoặc phục hồi ngay tại chỗ vẫn có thể cần try-catch.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4 · DÙNG AI ĐỂ LẬP TRÌNH CÓ KIỂM SOÁT</a:t>
            </a:r>
          </a:p>
        </p:txBody>
      </p:sp>
      <p:sp>
        <p:nvSpPr>
          <p:cNvPr id="4" name="TextBox 3"/>
          <p:cNvSpPr txBox="1"/>
          <p:nvPr/>
        </p:nvSpPr>
        <p:spPr>
          <a:xfrm>
            <a:off x="9613087" y="292608"/>
            <a:ext cx="2011680" cy="176972"/>
          </a:xfrm>
          <a:prstGeom prst="rect">
            <a:avLst/>
          </a:prstGeom>
          <a:noFill/>
        </p:spPr>
        <p:txBody>
          <a:bodyPr wrap="square" lIns="0" tIns="0" rIns="0" bIns="0" anchor="t">
            <a:spAutoFit/>
          </a:bodyPr>
          <a:lstStyle/>
          <a:p>
            <a:pPr algn="r">
              <a:lnSpc>
                <a:spcPct val="100000"/>
              </a:lnSpc>
            </a:pPr>
            <a:r>
              <a:rPr lang="en-US" sz="1150" b="1" i="0">
                <a:solidFill>
                  <a:srgbClr val="64748B"/>
                </a:solidFill>
                <a:latin typeface="Segoe UI"/>
              </a:rPr>
              <a:t> </a:t>
            </a:r>
            <a:endParaRPr sz="1150" b="1" i="0">
              <a:solidFill>
                <a:srgbClr val="64748B"/>
              </a:solidFill>
              <a:latin typeface="Segoe UI"/>
            </a:endParaRP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Quy trình Vibe Coding</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15 / 19</a:t>
            </a:r>
          </a:p>
        </p:txBody>
      </p:sp>
      <p:sp>
        <p:nvSpPr>
          <p:cNvPr id="9" name="Rounded Rectangle 8"/>
          <p:cNvSpPr/>
          <p:nvPr/>
        </p:nvSpPr>
        <p:spPr>
          <a:xfrm>
            <a:off x="566928" y="1600200"/>
            <a:ext cx="2011680" cy="210312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Oval 9"/>
          <p:cNvSpPr/>
          <p:nvPr/>
        </p:nvSpPr>
        <p:spPr>
          <a:xfrm>
            <a:off x="1280160" y="1810512"/>
            <a:ext cx="585216" cy="585216"/>
          </a:xfrm>
          <a:prstGeom prst="ellipse">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Segoe UI"/>
              </a:rPr>
              <a:t>1</a:t>
            </a:r>
          </a:p>
        </p:txBody>
      </p:sp>
      <p:sp>
        <p:nvSpPr>
          <p:cNvPr id="11" name="TextBox 10"/>
          <p:cNvSpPr txBox="1"/>
          <p:nvPr/>
        </p:nvSpPr>
        <p:spPr>
          <a:xfrm>
            <a:off x="676656" y="2542032"/>
            <a:ext cx="1792224" cy="1051560"/>
          </a:xfrm>
          <a:prstGeom prst="rect">
            <a:avLst/>
          </a:prstGeom>
          <a:noFill/>
        </p:spPr>
        <p:txBody>
          <a:bodyPr wrap="square" lIns="0" tIns="0" rIns="0" bIns="0" anchor="t">
            <a:spAutoFit/>
          </a:bodyPr>
          <a:lstStyle/>
          <a:p>
            <a:pPr algn="ctr">
              <a:lnSpc>
                <a:spcPct val="105000"/>
              </a:lnSpc>
              <a:spcAft>
                <a:spcPts val="400"/>
              </a:spcAft>
            </a:pPr>
            <a:r>
              <a:rPr sz="1450" b="1">
                <a:solidFill>
                  <a:srgbClr val="1B2A3B"/>
                </a:solidFill>
                <a:latin typeface="Segoe UI"/>
              </a:rPr>
              <a:t>Mô tả yêu cầu</a:t>
            </a:r>
          </a:p>
          <a:p>
            <a:pPr algn="ctr">
              <a:lnSpc>
                <a:spcPct val="112000"/>
              </a:lnSpc>
            </a:pPr>
            <a:r>
              <a:rPr sz="1150" b="0">
                <a:solidFill>
                  <a:srgbClr val="64748B"/>
                </a:solidFill>
                <a:latin typeface="Segoe UI"/>
              </a:rPr>
              <a:t>Nói rõ bài toán
và bối cảnh project</a:t>
            </a:r>
          </a:p>
        </p:txBody>
      </p:sp>
      <p:sp>
        <p:nvSpPr>
          <p:cNvPr id="12" name="Right Arrow 11"/>
          <p:cNvSpPr/>
          <p:nvPr/>
        </p:nvSpPr>
        <p:spPr>
          <a:xfrm>
            <a:off x="2587752" y="2487168"/>
            <a:ext cx="219456" cy="23774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825496" y="1600200"/>
            <a:ext cx="2011680" cy="210312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Oval 13"/>
          <p:cNvSpPr/>
          <p:nvPr/>
        </p:nvSpPr>
        <p:spPr>
          <a:xfrm>
            <a:off x="3538728" y="1810512"/>
            <a:ext cx="585216" cy="585216"/>
          </a:xfrm>
          <a:prstGeom prst="ellipse">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Segoe UI"/>
              </a:rPr>
              <a:t>2</a:t>
            </a:r>
          </a:p>
        </p:txBody>
      </p:sp>
      <p:sp>
        <p:nvSpPr>
          <p:cNvPr id="15" name="TextBox 14"/>
          <p:cNvSpPr txBox="1"/>
          <p:nvPr/>
        </p:nvSpPr>
        <p:spPr>
          <a:xfrm>
            <a:off x="2935224" y="2542032"/>
            <a:ext cx="1792224" cy="1051560"/>
          </a:xfrm>
          <a:prstGeom prst="rect">
            <a:avLst/>
          </a:prstGeom>
          <a:noFill/>
        </p:spPr>
        <p:txBody>
          <a:bodyPr wrap="square" lIns="0" tIns="0" rIns="0" bIns="0" anchor="t">
            <a:spAutoFit/>
          </a:bodyPr>
          <a:lstStyle/>
          <a:p>
            <a:pPr algn="ctr">
              <a:lnSpc>
                <a:spcPct val="105000"/>
              </a:lnSpc>
              <a:spcAft>
                <a:spcPts val="400"/>
              </a:spcAft>
            </a:pPr>
            <a:r>
              <a:rPr sz="1450" b="1">
                <a:solidFill>
                  <a:srgbClr val="1B2A3B"/>
                </a:solidFill>
                <a:latin typeface="Segoe UI"/>
              </a:rPr>
              <a:t>Viết Prompt</a:t>
            </a:r>
          </a:p>
          <a:p>
            <a:pPr algn="ctr">
              <a:lnSpc>
                <a:spcPct val="112000"/>
              </a:lnSpc>
            </a:pPr>
            <a:r>
              <a:rPr sz="1150" b="0">
                <a:solidFill>
                  <a:srgbClr val="64748B"/>
                </a:solidFill>
                <a:latin typeface="Segoe UI"/>
              </a:rPr>
              <a:t>Ngắn gọn, đủ ngữ cảnh
(CTCO)</a:t>
            </a:r>
          </a:p>
        </p:txBody>
      </p:sp>
      <p:sp>
        <p:nvSpPr>
          <p:cNvPr id="16" name="Right Arrow 15"/>
          <p:cNvSpPr/>
          <p:nvPr/>
        </p:nvSpPr>
        <p:spPr>
          <a:xfrm>
            <a:off x="4846320" y="2487168"/>
            <a:ext cx="219456" cy="23774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084064" y="1600200"/>
            <a:ext cx="2011680" cy="210312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Oval 17"/>
          <p:cNvSpPr/>
          <p:nvPr/>
        </p:nvSpPr>
        <p:spPr>
          <a:xfrm>
            <a:off x="5797296" y="1810512"/>
            <a:ext cx="585216" cy="585216"/>
          </a:xfrm>
          <a:prstGeom prst="ellipse">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Segoe UI"/>
              </a:rPr>
              <a:t>3</a:t>
            </a:r>
          </a:p>
        </p:txBody>
      </p:sp>
      <p:sp>
        <p:nvSpPr>
          <p:cNvPr id="19" name="TextBox 18"/>
          <p:cNvSpPr txBox="1"/>
          <p:nvPr/>
        </p:nvSpPr>
        <p:spPr>
          <a:xfrm>
            <a:off x="5193792" y="2542032"/>
            <a:ext cx="1792224" cy="1051560"/>
          </a:xfrm>
          <a:prstGeom prst="rect">
            <a:avLst/>
          </a:prstGeom>
          <a:noFill/>
        </p:spPr>
        <p:txBody>
          <a:bodyPr wrap="square" lIns="0" tIns="0" rIns="0" bIns="0" anchor="t">
            <a:spAutoFit/>
          </a:bodyPr>
          <a:lstStyle/>
          <a:p>
            <a:pPr algn="ctr">
              <a:lnSpc>
                <a:spcPct val="105000"/>
              </a:lnSpc>
              <a:spcAft>
                <a:spcPts val="400"/>
              </a:spcAft>
            </a:pPr>
            <a:r>
              <a:rPr sz="1450" b="1">
                <a:solidFill>
                  <a:srgbClr val="1B2A3B"/>
                </a:solidFill>
                <a:latin typeface="Segoe UI"/>
              </a:rPr>
              <a:t>AI sửa code</a:t>
            </a:r>
          </a:p>
          <a:p>
            <a:pPr algn="ctr">
              <a:lnSpc>
                <a:spcPct val="112000"/>
              </a:lnSpc>
            </a:pPr>
            <a:r>
              <a:rPr sz="1150" b="0">
                <a:solidFill>
                  <a:srgbClr val="64748B"/>
                </a:solidFill>
                <a:latin typeface="Segoe UI"/>
              </a:rPr>
              <a:t>AI đọc file hiện tại
và chỉnh sửa</a:t>
            </a:r>
          </a:p>
        </p:txBody>
      </p:sp>
      <p:sp>
        <p:nvSpPr>
          <p:cNvPr id="20" name="Right Arrow 19"/>
          <p:cNvSpPr/>
          <p:nvPr/>
        </p:nvSpPr>
        <p:spPr>
          <a:xfrm>
            <a:off x="7104888" y="2487168"/>
            <a:ext cx="219456" cy="23774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342632" y="1600200"/>
            <a:ext cx="2011680" cy="210312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Oval 21"/>
          <p:cNvSpPr/>
          <p:nvPr/>
        </p:nvSpPr>
        <p:spPr>
          <a:xfrm>
            <a:off x="8055864" y="1810512"/>
            <a:ext cx="585216" cy="585216"/>
          </a:xfrm>
          <a:prstGeom prst="ellipse">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Segoe UI"/>
              </a:rPr>
              <a:t>4</a:t>
            </a:r>
          </a:p>
        </p:txBody>
      </p:sp>
      <p:sp>
        <p:nvSpPr>
          <p:cNvPr id="23" name="TextBox 22"/>
          <p:cNvSpPr txBox="1"/>
          <p:nvPr/>
        </p:nvSpPr>
        <p:spPr>
          <a:xfrm>
            <a:off x="7452360" y="2542032"/>
            <a:ext cx="1792224" cy="1051560"/>
          </a:xfrm>
          <a:prstGeom prst="rect">
            <a:avLst/>
          </a:prstGeom>
          <a:noFill/>
        </p:spPr>
        <p:txBody>
          <a:bodyPr wrap="square" lIns="0" tIns="0" rIns="0" bIns="0" anchor="t">
            <a:spAutoFit/>
          </a:bodyPr>
          <a:lstStyle/>
          <a:p>
            <a:pPr algn="ctr">
              <a:lnSpc>
                <a:spcPct val="105000"/>
              </a:lnSpc>
              <a:spcAft>
                <a:spcPts val="400"/>
              </a:spcAft>
            </a:pPr>
            <a:r>
              <a:rPr sz="1450" b="1">
                <a:solidFill>
                  <a:srgbClr val="1B2A3B"/>
                </a:solidFill>
                <a:latin typeface="Segoe UI"/>
              </a:rPr>
              <a:t>Chạy thử</a:t>
            </a:r>
          </a:p>
          <a:p>
            <a:pPr algn="ctr">
              <a:lnSpc>
                <a:spcPct val="112000"/>
              </a:lnSpc>
            </a:pPr>
            <a:r>
              <a:rPr sz="1150" b="0">
                <a:solidFill>
                  <a:srgbClr val="64748B"/>
                </a:solidFill>
                <a:latin typeface="Segoe UI"/>
              </a:rPr>
              <a:t>pnpm build · pnpm dev
Test bằng Postman</a:t>
            </a:r>
          </a:p>
        </p:txBody>
      </p:sp>
      <p:sp>
        <p:nvSpPr>
          <p:cNvPr id="24" name="Right Arrow 23"/>
          <p:cNvSpPr/>
          <p:nvPr/>
        </p:nvSpPr>
        <p:spPr>
          <a:xfrm>
            <a:off x="9363456" y="2487168"/>
            <a:ext cx="219456" cy="23774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601200" y="1600200"/>
            <a:ext cx="2011680" cy="2103120"/>
          </a:xfrm>
          <a:prstGeom prst="roundRect">
            <a:avLst>
              <a:gd name="adj" fmla="val 6000"/>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Oval 25"/>
          <p:cNvSpPr/>
          <p:nvPr/>
        </p:nvSpPr>
        <p:spPr>
          <a:xfrm>
            <a:off x="10314432" y="1810512"/>
            <a:ext cx="585216" cy="585216"/>
          </a:xfrm>
          <a:prstGeom prst="ellipse">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Segoe UI"/>
              </a:rPr>
              <a:t>5</a:t>
            </a:r>
          </a:p>
        </p:txBody>
      </p:sp>
      <p:sp>
        <p:nvSpPr>
          <p:cNvPr id="27" name="TextBox 26"/>
          <p:cNvSpPr txBox="1"/>
          <p:nvPr/>
        </p:nvSpPr>
        <p:spPr>
          <a:xfrm>
            <a:off x="9710928" y="2542032"/>
            <a:ext cx="1792224" cy="1051560"/>
          </a:xfrm>
          <a:prstGeom prst="rect">
            <a:avLst/>
          </a:prstGeom>
          <a:noFill/>
        </p:spPr>
        <p:txBody>
          <a:bodyPr wrap="square" lIns="0" tIns="0" rIns="0" bIns="0" anchor="t">
            <a:spAutoFit/>
          </a:bodyPr>
          <a:lstStyle/>
          <a:p>
            <a:pPr algn="ctr">
              <a:lnSpc>
                <a:spcPct val="105000"/>
              </a:lnSpc>
              <a:spcAft>
                <a:spcPts val="400"/>
              </a:spcAft>
            </a:pPr>
            <a:r>
              <a:rPr sz="1450" b="1">
                <a:solidFill>
                  <a:srgbClr val="1B2A3B"/>
                </a:solidFill>
                <a:latin typeface="Segoe UI"/>
              </a:rPr>
              <a:t>Review</a:t>
            </a:r>
          </a:p>
          <a:p>
            <a:pPr algn="ctr">
              <a:lnSpc>
                <a:spcPct val="112000"/>
              </a:lnSpc>
            </a:pPr>
            <a:r>
              <a:rPr sz="1150" b="0">
                <a:solidFill>
                  <a:srgbClr val="64748B"/>
                </a:solidFill>
                <a:latin typeface="Segoe UI"/>
              </a:rPr>
              <a:t>Đọc lại code,
hiểu thì mới giữ</a:t>
            </a:r>
          </a:p>
        </p:txBody>
      </p:sp>
      <p:sp>
        <p:nvSpPr>
          <p:cNvPr id="28" name="Rounded Rectangle 27"/>
          <p:cNvSpPr/>
          <p:nvPr/>
        </p:nvSpPr>
        <p:spPr>
          <a:xfrm>
            <a:off x="566928" y="3977639"/>
            <a:ext cx="11055096" cy="2103120"/>
          </a:xfrm>
          <a:prstGeom prst="roundRect">
            <a:avLst>
              <a:gd name="adj" fmla="val 6000"/>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932688" y="4206240"/>
            <a:ext cx="10332720" cy="1691640"/>
          </a:xfrm>
          <a:prstGeom prst="rect">
            <a:avLst/>
          </a:prstGeom>
          <a:noFill/>
        </p:spPr>
        <p:txBody>
          <a:bodyPr wrap="square" lIns="0" tIns="0" rIns="0" bIns="0" anchor="t">
            <a:spAutoFit/>
          </a:bodyPr>
          <a:lstStyle/>
          <a:p>
            <a:pPr algn="l">
              <a:lnSpc>
                <a:spcPct val="105000"/>
              </a:lnSpc>
              <a:spcAft>
                <a:spcPts val="900"/>
              </a:spcAft>
            </a:pPr>
            <a:r>
              <a:rPr sz="1600" b="1">
                <a:solidFill>
                  <a:srgbClr val="FBBF24"/>
                </a:solidFill>
                <a:latin typeface="Segoe UI"/>
              </a:rPr>
              <a:t>Quy tắc thực hành — AI hỗ trợ, sinh viên chịu trách nhiệm:</a:t>
            </a:r>
          </a:p>
          <a:p>
            <a:pPr algn="l">
              <a:lnSpc>
                <a:spcPct val="105000"/>
              </a:lnSpc>
              <a:spcAft>
                <a:spcPts val="500"/>
              </a:spcAft>
            </a:pPr>
            <a:r>
              <a:rPr sz="1450" b="0">
                <a:solidFill>
                  <a:srgbClr val="FFFFFF"/>
                </a:solidFill>
                <a:latin typeface="Segoe UI"/>
              </a:rPr>
              <a:t>•  Biết mình đang sửa file nào và vì sao sửa.</a:t>
            </a:r>
          </a:p>
          <a:p>
            <a:pPr algn="l">
              <a:lnSpc>
                <a:spcPct val="105000"/>
              </a:lnSpc>
              <a:spcAft>
                <a:spcPts val="500"/>
              </a:spcAft>
            </a:pPr>
            <a:r>
              <a:rPr sz="1450" b="0">
                <a:solidFill>
                  <a:srgbClr val="FFFFFF"/>
                </a:solidFill>
                <a:latin typeface="Segoe UI"/>
              </a:rPr>
              <a:t>•  Chạy API để kiểm chứng kết quả AI tạo ra.</a:t>
            </a:r>
          </a:p>
          <a:p>
            <a:pPr algn="l">
              <a:lnSpc>
                <a:spcPct val="105000"/>
              </a:lnSpc>
            </a:pPr>
            <a:r>
              <a:rPr sz="1450" b="0">
                <a:solidFill>
                  <a:srgbClr val="FFFFFF"/>
                </a:solidFill>
                <a:latin typeface="Segoe UI"/>
              </a:rPr>
              <a:t>•  Giải thích được các dòng code quan trọng.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5 · LAB 1 — PHÂN TRANG VÀ TÌM KIẾM · 40 PHÚT</a:t>
            </a:r>
          </a:p>
        </p:txBody>
      </p:sp>
      <p:sp>
        <p:nvSpPr>
          <p:cNvPr id="4" name="TextBox 3"/>
          <p:cNvSpPr txBox="1"/>
          <p:nvPr/>
        </p:nvSpPr>
        <p:spPr>
          <a:xfrm>
            <a:off x="9613087" y="292608"/>
            <a:ext cx="2011680" cy="274320"/>
          </a:xfrm>
          <a:prstGeom prst="rect">
            <a:avLst/>
          </a:prstGeom>
          <a:noFill/>
        </p:spPr>
        <p:txBody>
          <a:bodyPr wrap="square" lIns="0" tIns="0" rIns="0" bIns="0" anchor="t">
            <a:spAutoFit/>
          </a:bodyPr>
          <a:lstStyle/>
          <a:p>
            <a:pPr algn="r">
              <a:lnSpc>
                <a:spcPct val="100000"/>
              </a:lnSpc>
            </a:pPr>
            <a:r>
              <a:rPr sz="1150" b="1" i="0">
                <a:solidFill>
                  <a:srgbClr val="64748B"/>
                </a:solidFill>
                <a:latin typeface="Segoe UI"/>
              </a:rPr>
              <a:t>Lab 1</a:t>
            </a: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Bài thực hành 1 — Nâng cấp API sinh viên</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16 / 19</a:t>
            </a:r>
          </a:p>
        </p:txBody>
      </p:sp>
      <p:sp>
        <p:nvSpPr>
          <p:cNvPr id="9" name="TextBox 8"/>
          <p:cNvSpPr txBox="1"/>
          <p:nvPr/>
        </p:nvSpPr>
        <p:spPr>
          <a:xfrm>
            <a:off x="566928" y="1426464"/>
            <a:ext cx="10972800" cy="365760"/>
          </a:xfrm>
          <a:prstGeom prst="rect">
            <a:avLst/>
          </a:prstGeom>
          <a:noFill/>
        </p:spPr>
        <p:txBody>
          <a:bodyPr wrap="square" lIns="0" tIns="0" rIns="0" bIns="0" anchor="t">
            <a:spAutoFit/>
          </a:bodyPr>
          <a:lstStyle/>
          <a:p>
            <a:pPr algn="l">
              <a:lnSpc>
                <a:spcPct val="100000"/>
              </a:lnSpc>
            </a:pPr>
            <a:r>
              <a:rPr sz="1500" b="0" i="0">
                <a:solidFill>
                  <a:srgbClr val="1B2A3B"/>
                </a:solidFill>
                <a:latin typeface="Segoe UI"/>
              </a:rPr>
              <a:t>Nhiệm vụ: nâng cấp API danh sách sinh viên ĐÃ CÓ trong project của nhóm.</a:t>
            </a:r>
          </a:p>
        </p:txBody>
      </p:sp>
      <p:sp>
        <p:nvSpPr>
          <p:cNvPr id="10" name="Rounded Rectangle 9"/>
          <p:cNvSpPr/>
          <p:nvPr/>
        </p:nvSpPr>
        <p:spPr>
          <a:xfrm>
            <a:off x="566928" y="1847088"/>
            <a:ext cx="11055096" cy="566928"/>
          </a:xfrm>
          <a:prstGeom prst="roundRect">
            <a:avLst>
              <a:gd name="adj" fmla="val 6000"/>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566928" y="1847088"/>
            <a:ext cx="11055096" cy="566928"/>
          </a:xfrm>
          <a:prstGeom prst="rect">
            <a:avLst/>
          </a:prstGeom>
          <a:noFill/>
        </p:spPr>
        <p:txBody>
          <a:bodyPr wrap="square" lIns="0" tIns="0" rIns="0" bIns="0" anchor="ctr">
            <a:spAutoFit/>
          </a:bodyPr>
          <a:lstStyle/>
          <a:p>
            <a:pPr algn="ctr">
              <a:lnSpc>
                <a:spcPct val="100000"/>
              </a:lnSpc>
            </a:pPr>
            <a:r>
              <a:rPr sz="1650" b="1" i="0">
                <a:solidFill>
                  <a:srgbClr val="FFFFFF"/>
                </a:solidFill>
                <a:latin typeface="Consolas"/>
              </a:rPr>
              <a:t>GET  /api/v1/sinh-vien?page=1&amp;limit=10&amp;search=Anh</a:t>
            </a:r>
          </a:p>
        </p:txBody>
      </p:sp>
      <p:sp>
        <p:nvSpPr>
          <p:cNvPr id="12" name="TextBox 11"/>
          <p:cNvSpPr txBox="1"/>
          <p:nvPr/>
        </p:nvSpPr>
        <p:spPr>
          <a:xfrm>
            <a:off x="658368" y="2615184"/>
            <a:ext cx="320040" cy="320040"/>
          </a:xfrm>
          <a:prstGeom prst="rect">
            <a:avLst/>
          </a:prstGeom>
          <a:noFill/>
        </p:spPr>
        <p:txBody>
          <a:bodyPr wrap="square" lIns="0" tIns="0" rIns="0" bIns="0" anchor="t">
            <a:spAutoFit/>
          </a:bodyPr>
          <a:lstStyle/>
          <a:p>
            <a:pPr algn="l">
              <a:lnSpc>
                <a:spcPct val="100000"/>
              </a:lnSpc>
            </a:pPr>
            <a:r>
              <a:rPr sz="1500" b="1" i="0">
                <a:solidFill>
                  <a:srgbClr val="0B5FA5"/>
                </a:solidFill>
                <a:latin typeface="Segoe UI"/>
              </a:rPr>
              <a:t>▸</a:t>
            </a:r>
          </a:p>
        </p:txBody>
      </p:sp>
      <p:sp>
        <p:nvSpPr>
          <p:cNvPr id="13" name="TextBox 12"/>
          <p:cNvSpPr txBox="1"/>
          <p:nvPr/>
        </p:nvSpPr>
        <p:spPr>
          <a:xfrm>
            <a:off x="1005840" y="2615184"/>
            <a:ext cx="10424160" cy="365760"/>
          </a:xfrm>
          <a:prstGeom prst="rect">
            <a:avLst/>
          </a:prstGeom>
          <a:noFill/>
        </p:spPr>
        <p:txBody>
          <a:bodyPr wrap="square" lIns="0" tIns="0" rIns="0" bIns="0" anchor="t">
            <a:spAutoFit/>
          </a:bodyPr>
          <a:lstStyle/>
          <a:p>
            <a:pPr algn="l">
              <a:lnSpc>
                <a:spcPct val="100000"/>
              </a:lnSpc>
            </a:pPr>
            <a:r>
              <a:rPr sz="1450" b="0" i="0">
                <a:solidFill>
                  <a:srgbClr val="1B2A3B"/>
                </a:solidFill>
                <a:latin typeface="Segoe UI"/>
              </a:rPr>
              <a:t>Phân trang bằng Sequelize tại Database (findAndCountAll).</a:t>
            </a:r>
          </a:p>
        </p:txBody>
      </p:sp>
      <p:sp>
        <p:nvSpPr>
          <p:cNvPr id="14" name="TextBox 13"/>
          <p:cNvSpPr txBox="1"/>
          <p:nvPr/>
        </p:nvSpPr>
        <p:spPr>
          <a:xfrm>
            <a:off x="658368" y="3044952"/>
            <a:ext cx="320040" cy="320040"/>
          </a:xfrm>
          <a:prstGeom prst="rect">
            <a:avLst/>
          </a:prstGeom>
          <a:noFill/>
        </p:spPr>
        <p:txBody>
          <a:bodyPr wrap="square" lIns="0" tIns="0" rIns="0" bIns="0" anchor="t">
            <a:spAutoFit/>
          </a:bodyPr>
          <a:lstStyle/>
          <a:p>
            <a:pPr algn="l">
              <a:lnSpc>
                <a:spcPct val="100000"/>
              </a:lnSpc>
            </a:pPr>
            <a:r>
              <a:rPr sz="1500" b="1" i="0">
                <a:solidFill>
                  <a:srgbClr val="0B5FA5"/>
                </a:solidFill>
                <a:latin typeface="Segoe UI"/>
              </a:rPr>
              <a:t>▸</a:t>
            </a:r>
          </a:p>
        </p:txBody>
      </p:sp>
      <p:sp>
        <p:nvSpPr>
          <p:cNvPr id="15" name="TextBox 14"/>
          <p:cNvSpPr txBox="1"/>
          <p:nvPr/>
        </p:nvSpPr>
        <p:spPr>
          <a:xfrm>
            <a:off x="1005840" y="3044952"/>
            <a:ext cx="10424160" cy="365760"/>
          </a:xfrm>
          <a:prstGeom prst="rect">
            <a:avLst/>
          </a:prstGeom>
          <a:noFill/>
        </p:spPr>
        <p:txBody>
          <a:bodyPr wrap="square" lIns="0" tIns="0" rIns="0" bIns="0" anchor="t">
            <a:spAutoFit/>
          </a:bodyPr>
          <a:lstStyle/>
          <a:p>
            <a:pPr algn="l">
              <a:lnSpc>
                <a:spcPct val="100000"/>
              </a:lnSpc>
            </a:pPr>
            <a:r>
              <a:rPr sz="1450" b="0" i="0">
                <a:solidFill>
                  <a:srgbClr val="1B2A3B"/>
                </a:solidFill>
                <a:latin typeface="Segoe UI"/>
              </a:rPr>
              <a:t>Tìm kiếm theo hoTen (tham số search).</a:t>
            </a:r>
          </a:p>
        </p:txBody>
      </p:sp>
      <p:sp>
        <p:nvSpPr>
          <p:cNvPr id="16" name="TextBox 15"/>
          <p:cNvSpPr txBox="1"/>
          <p:nvPr/>
        </p:nvSpPr>
        <p:spPr>
          <a:xfrm>
            <a:off x="658368" y="3474720"/>
            <a:ext cx="320040" cy="320040"/>
          </a:xfrm>
          <a:prstGeom prst="rect">
            <a:avLst/>
          </a:prstGeom>
          <a:noFill/>
        </p:spPr>
        <p:txBody>
          <a:bodyPr wrap="square" lIns="0" tIns="0" rIns="0" bIns="0" anchor="t">
            <a:spAutoFit/>
          </a:bodyPr>
          <a:lstStyle/>
          <a:p>
            <a:pPr algn="l">
              <a:lnSpc>
                <a:spcPct val="100000"/>
              </a:lnSpc>
            </a:pPr>
            <a:r>
              <a:rPr sz="1500" b="1" i="0">
                <a:solidFill>
                  <a:srgbClr val="0B5FA5"/>
                </a:solidFill>
                <a:latin typeface="Segoe UI"/>
              </a:rPr>
              <a:t>▸</a:t>
            </a:r>
          </a:p>
        </p:txBody>
      </p:sp>
      <p:sp>
        <p:nvSpPr>
          <p:cNvPr id="17" name="TextBox 16"/>
          <p:cNvSpPr txBox="1"/>
          <p:nvPr/>
        </p:nvSpPr>
        <p:spPr>
          <a:xfrm>
            <a:off x="1005840" y="3474720"/>
            <a:ext cx="10424160" cy="365760"/>
          </a:xfrm>
          <a:prstGeom prst="rect">
            <a:avLst/>
          </a:prstGeom>
          <a:noFill/>
        </p:spPr>
        <p:txBody>
          <a:bodyPr wrap="square" lIns="0" tIns="0" rIns="0" bIns="0" anchor="t">
            <a:spAutoFit/>
          </a:bodyPr>
          <a:lstStyle/>
          <a:p>
            <a:pPr algn="l">
              <a:lnSpc>
                <a:spcPct val="100000"/>
              </a:lnSpc>
            </a:pPr>
            <a:r>
              <a:rPr sz="1450" b="0" i="0">
                <a:solidFill>
                  <a:srgbClr val="1B2A3B"/>
                </a:solidFill>
                <a:latin typeface="Segoe UI"/>
              </a:rPr>
              <a:t>Trả về data, totalItems, totalPages trong pagination.</a:t>
            </a:r>
          </a:p>
        </p:txBody>
      </p:sp>
      <p:sp>
        <p:nvSpPr>
          <p:cNvPr id="18" name="TextBox 17"/>
          <p:cNvSpPr txBox="1"/>
          <p:nvPr/>
        </p:nvSpPr>
        <p:spPr>
          <a:xfrm>
            <a:off x="658368" y="3904487"/>
            <a:ext cx="320040" cy="320040"/>
          </a:xfrm>
          <a:prstGeom prst="rect">
            <a:avLst/>
          </a:prstGeom>
          <a:noFill/>
        </p:spPr>
        <p:txBody>
          <a:bodyPr wrap="square" lIns="0" tIns="0" rIns="0" bIns="0" anchor="t">
            <a:spAutoFit/>
          </a:bodyPr>
          <a:lstStyle/>
          <a:p>
            <a:pPr algn="l">
              <a:lnSpc>
                <a:spcPct val="100000"/>
              </a:lnSpc>
            </a:pPr>
            <a:r>
              <a:rPr sz="1500" b="1" i="0">
                <a:solidFill>
                  <a:srgbClr val="0B5FA5"/>
                </a:solidFill>
                <a:latin typeface="Segoe UI"/>
              </a:rPr>
              <a:t>▸</a:t>
            </a:r>
          </a:p>
        </p:txBody>
      </p:sp>
      <p:sp>
        <p:nvSpPr>
          <p:cNvPr id="19" name="TextBox 18"/>
          <p:cNvSpPr txBox="1"/>
          <p:nvPr/>
        </p:nvSpPr>
        <p:spPr>
          <a:xfrm>
            <a:off x="1005840" y="3904487"/>
            <a:ext cx="10424160" cy="365760"/>
          </a:xfrm>
          <a:prstGeom prst="rect">
            <a:avLst/>
          </a:prstGeom>
          <a:noFill/>
        </p:spPr>
        <p:txBody>
          <a:bodyPr wrap="square" lIns="0" tIns="0" rIns="0" bIns="0" anchor="t">
            <a:spAutoFit/>
          </a:bodyPr>
          <a:lstStyle/>
          <a:p>
            <a:pPr algn="l">
              <a:lnSpc>
                <a:spcPct val="100000"/>
              </a:lnSpc>
            </a:pPr>
            <a:r>
              <a:rPr sz="1450" b="0" i="0">
                <a:solidFill>
                  <a:srgbClr val="1B2A3B"/>
                </a:solidFill>
                <a:latin typeface="Segoe UI"/>
              </a:rPr>
              <a:t>Giữ nguyên các API CRUD đã có — không tạo project mới.</a:t>
            </a:r>
          </a:p>
        </p:txBody>
      </p:sp>
      <p:sp>
        <p:nvSpPr>
          <p:cNvPr id="20" name="Rounded Rectangle 19"/>
          <p:cNvSpPr/>
          <p:nvPr/>
        </p:nvSpPr>
        <p:spPr>
          <a:xfrm>
            <a:off x="566928" y="4434840"/>
            <a:ext cx="11055096" cy="1691640"/>
          </a:xfrm>
          <a:prstGeom prst="roundRect">
            <a:avLst>
              <a:gd name="adj" fmla="val 5000"/>
            </a:avLst>
          </a:prstGeom>
          <a:solidFill>
            <a:srgbClr val="1023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886968" y="4590288"/>
            <a:ext cx="10424160" cy="1417320"/>
          </a:xfrm>
          <a:prstGeom prst="rect">
            <a:avLst/>
          </a:prstGeom>
          <a:noFill/>
        </p:spPr>
        <p:txBody>
          <a:bodyPr wrap="square" lIns="0" tIns="0" rIns="0" bIns="0" anchor="t">
            <a:spAutoFit/>
          </a:bodyPr>
          <a:lstStyle/>
          <a:p>
            <a:pPr algn="l">
              <a:lnSpc>
                <a:spcPct val="105000"/>
              </a:lnSpc>
              <a:spcAft>
                <a:spcPts val="600"/>
              </a:spcAft>
            </a:pPr>
            <a:r>
              <a:rPr sz="1300" b="1">
                <a:solidFill>
                  <a:srgbClr val="FBBF24"/>
                </a:solidFill>
                <a:latin typeface="Segoe UI"/>
              </a:rPr>
              <a:t>Prompt AI (bản ngắn — bản đầy đủ để sao chép ở phần Notes):</a:t>
            </a:r>
          </a:p>
          <a:p>
            <a:pPr algn="l">
              <a:lnSpc>
                <a:spcPct val="122000"/>
              </a:lnSpc>
            </a:pPr>
            <a:r>
              <a:rPr sz="1350" b="0">
                <a:solidFill>
                  <a:srgbClr val="E8F0F8"/>
                </a:solidFill>
                <a:latin typeface="Segoe UI"/>
              </a:rPr>
              <a:t>“Hãy đọc các file hiện tại trước khi sửa. Nâng cấp GET danh sách sinh viên hỗ trợ page, limit, search bằng findAndCountAll, validate query, giữ cấu trúc cũ, không tạo project mới. Chỉ ra file đã thay đổi và hướng dẫn kiểm thử bằng Postman.”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5 · LAB 1 — PHÂN TRANG VÀ TÌM KIẾM · 40 PHÚT</a:t>
            </a:r>
          </a:p>
        </p:txBody>
      </p:sp>
      <p:sp>
        <p:nvSpPr>
          <p:cNvPr id="4" name="TextBox 3"/>
          <p:cNvSpPr txBox="1"/>
          <p:nvPr/>
        </p:nvSpPr>
        <p:spPr>
          <a:xfrm>
            <a:off x="9613087" y="292608"/>
            <a:ext cx="2011680" cy="274320"/>
          </a:xfrm>
          <a:prstGeom prst="rect">
            <a:avLst/>
          </a:prstGeom>
          <a:noFill/>
        </p:spPr>
        <p:txBody>
          <a:bodyPr wrap="square" lIns="0" tIns="0" rIns="0" bIns="0" anchor="t">
            <a:spAutoFit/>
          </a:bodyPr>
          <a:lstStyle/>
          <a:p>
            <a:pPr algn="r">
              <a:lnSpc>
                <a:spcPct val="100000"/>
              </a:lnSpc>
            </a:pPr>
            <a:r>
              <a:rPr sz="1150" b="1" i="0">
                <a:solidFill>
                  <a:srgbClr val="64748B"/>
                </a:solidFill>
                <a:latin typeface="Segoe UI"/>
              </a:rPr>
              <a:t>Kiểm thử</a:t>
            </a: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Kiểm thử Lab 1</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17 / 19</a:t>
            </a:r>
          </a:p>
        </p:txBody>
      </p:sp>
      <p:sp>
        <p:nvSpPr>
          <p:cNvPr id="9" name="Rounded Rectangle 8"/>
          <p:cNvSpPr/>
          <p:nvPr/>
        </p:nvSpPr>
        <p:spPr>
          <a:xfrm>
            <a:off x="566928" y="3776472"/>
            <a:ext cx="11055096" cy="328818"/>
          </a:xfrm>
          <a:prstGeom prst="roundRect">
            <a:avLst>
              <a:gd name="adj" fmla="val 6000"/>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841247" y="3776472"/>
            <a:ext cx="822960" cy="328818"/>
          </a:xfrm>
          <a:prstGeom prst="rect">
            <a:avLst/>
          </a:prstGeom>
          <a:noFill/>
        </p:spPr>
        <p:txBody>
          <a:bodyPr wrap="square" lIns="0" tIns="0" rIns="0" bIns="0" anchor="ctr">
            <a:spAutoFit/>
          </a:bodyPr>
          <a:lstStyle/>
          <a:p>
            <a:pPr algn="l">
              <a:lnSpc>
                <a:spcPct val="100000"/>
              </a:lnSpc>
            </a:pPr>
            <a:r>
              <a:rPr sz="1400" b="1" i="0">
                <a:solidFill>
                  <a:srgbClr val="FFFFFF"/>
                </a:solidFill>
                <a:latin typeface="Segoe UI"/>
              </a:rPr>
              <a:t>Test</a:t>
            </a:r>
          </a:p>
        </p:txBody>
      </p:sp>
      <p:sp>
        <p:nvSpPr>
          <p:cNvPr id="11" name="TextBox 10"/>
          <p:cNvSpPr txBox="1"/>
          <p:nvPr/>
        </p:nvSpPr>
        <p:spPr>
          <a:xfrm>
            <a:off x="1755648" y="3776472"/>
            <a:ext cx="4206240" cy="328818"/>
          </a:xfrm>
          <a:prstGeom prst="rect">
            <a:avLst/>
          </a:prstGeom>
          <a:noFill/>
        </p:spPr>
        <p:txBody>
          <a:bodyPr wrap="square" lIns="0" tIns="0" rIns="0" bIns="0" anchor="ctr">
            <a:spAutoFit/>
          </a:bodyPr>
          <a:lstStyle/>
          <a:p>
            <a:pPr algn="l">
              <a:lnSpc>
                <a:spcPct val="100000"/>
              </a:lnSpc>
            </a:pPr>
            <a:r>
              <a:rPr sz="1400" b="1" i="0">
                <a:solidFill>
                  <a:srgbClr val="FFFFFF"/>
                </a:solidFill>
                <a:latin typeface="Segoe UI"/>
              </a:rPr>
              <a:t>Request</a:t>
            </a:r>
          </a:p>
        </p:txBody>
      </p:sp>
      <p:sp>
        <p:nvSpPr>
          <p:cNvPr id="12" name="TextBox 11"/>
          <p:cNvSpPr txBox="1"/>
          <p:nvPr/>
        </p:nvSpPr>
        <p:spPr>
          <a:xfrm>
            <a:off x="6236208" y="3776472"/>
            <a:ext cx="5029200" cy="328818"/>
          </a:xfrm>
          <a:prstGeom prst="rect">
            <a:avLst/>
          </a:prstGeom>
          <a:noFill/>
        </p:spPr>
        <p:txBody>
          <a:bodyPr wrap="square" lIns="0" tIns="0" rIns="0" bIns="0" anchor="ctr">
            <a:spAutoFit/>
          </a:bodyPr>
          <a:lstStyle/>
          <a:p>
            <a:pPr algn="l">
              <a:lnSpc>
                <a:spcPct val="100000"/>
              </a:lnSpc>
            </a:pPr>
            <a:r>
              <a:rPr sz="1400" b="1" i="0">
                <a:solidFill>
                  <a:srgbClr val="FFFFFF"/>
                </a:solidFill>
                <a:latin typeface="Segoe UI"/>
              </a:rPr>
              <a:t>Kết quả mong đợi</a:t>
            </a:r>
          </a:p>
        </p:txBody>
      </p:sp>
      <p:sp>
        <p:nvSpPr>
          <p:cNvPr id="13" name="Rectangle 12"/>
          <p:cNvSpPr/>
          <p:nvPr/>
        </p:nvSpPr>
        <p:spPr>
          <a:xfrm>
            <a:off x="566928" y="4150644"/>
            <a:ext cx="11055096" cy="3514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Oval 13"/>
          <p:cNvSpPr/>
          <p:nvPr/>
        </p:nvSpPr>
        <p:spPr>
          <a:xfrm>
            <a:off x="1013521" y="4224344"/>
            <a:ext cx="204094" cy="204094"/>
          </a:xfrm>
          <a:prstGeom prst="ellipse">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Segoe UI"/>
              </a:rPr>
              <a:t>1</a:t>
            </a:r>
          </a:p>
        </p:txBody>
      </p:sp>
      <p:sp>
        <p:nvSpPr>
          <p:cNvPr id="15" name="TextBox 14"/>
          <p:cNvSpPr txBox="1"/>
          <p:nvPr/>
        </p:nvSpPr>
        <p:spPr>
          <a:xfrm>
            <a:off x="1755648" y="4150644"/>
            <a:ext cx="4206240" cy="351495"/>
          </a:xfrm>
          <a:prstGeom prst="rect">
            <a:avLst/>
          </a:prstGeom>
          <a:noFill/>
        </p:spPr>
        <p:txBody>
          <a:bodyPr wrap="square" lIns="0" tIns="0" rIns="0" bIns="0" anchor="ctr">
            <a:spAutoFit/>
          </a:bodyPr>
          <a:lstStyle/>
          <a:p>
            <a:pPr algn="l">
              <a:lnSpc>
                <a:spcPct val="100000"/>
              </a:lnSpc>
            </a:pPr>
            <a:r>
              <a:rPr sz="1350" b="0" i="0">
                <a:solidFill>
                  <a:srgbClr val="1B2A3B"/>
                </a:solidFill>
                <a:latin typeface="Consolas"/>
              </a:rPr>
              <a:t>GET /api/v1/sinh-vien?page=1&amp;limit=2</a:t>
            </a:r>
          </a:p>
        </p:txBody>
      </p:sp>
      <p:sp>
        <p:nvSpPr>
          <p:cNvPr id="16" name="TextBox 15"/>
          <p:cNvSpPr txBox="1"/>
          <p:nvPr/>
        </p:nvSpPr>
        <p:spPr>
          <a:xfrm>
            <a:off x="6236208" y="4150644"/>
            <a:ext cx="5029200" cy="351495"/>
          </a:xfrm>
          <a:prstGeom prst="rect">
            <a:avLst/>
          </a:prstGeom>
          <a:noFill/>
        </p:spPr>
        <p:txBody>
          <a:bodyPr wrap="square" lIns="0" tIns="0" rIns="0" bIns="0" anchor="ctr">
            <a:spAutoFit/>
          </a:bodyPr>
          <a:lstStyle/>
          <a:p>
            <a:pPr algn="l">
              <a:lnSpc>
                <a:spcPct val="100000"/>
              </a:lnSpc>
            </a:pPr>
            <a:r>
              <a:rPr sz="1350" b="0" i="0">
                <a:solidFill>
                  <a:srgbClr val="1B2A3B"/>
                </a:solidFill>
                <a:latin typeface="Segoe UI"/>
              </a:rPr>
              <a:t>Tối đa 2 sinh viên đầu tiên</a:t>
            </a:r>
          </a:p>
        </p:txBody>
      </p:sp>
      <p:sp>
        <p:nvSpPr>
          <p:cNvPr id="17" name="Rectangle 16"/>
          <p:cNvSpPr/>
          <p:nvPr/>
        </p:nvSpPr>
        <p:spPr>
          <a:xfrm>
            <a:off x="566928" y="4547493"/>
            <a:ext cx="11055096" cy="351495"/>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Oval 17"/>
          <p:cNvSpPr/>
          <p:nvPr/>
        </p:nvSpPr>
        <p:spPr>
          <a:xfrm>
            <a:off x="1013521" y="4621194"/>
            <a:ext cx="204094" cy="204094"/>
          </a:xfrm>
          <a:prstGeom prst="ellipse">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Segoe UI"/>
              </a:rPr>
              <a:t>2</a:t>
            </a:r>
          </a:p>
        </p:txBody>
      </p:sp>
      <p:sp>
        <p:nvSpPr>
          <p:cNvPr id="19" name="TextBox 18"/>
          <p:cNvSpPr txBox="1"/>
          <p:nvPr/>
        </p:nvSpPr>
        <p:spPr>
          <a:xfrm>
            <a:off x="1755648" y="4547493"/>
            <a:ext cx="4206240" cy="351495"/>
          </a:xfrm>
          <a:prstGeom prst="rect">
            <a:avLst/>
          </a:prstGeom>
          <a:noFill/>
        </p:spPr>
        <p:txBody>
          <a:bodyPr wrap="square" lIns="0" tIns="0" rIns="0" bIns="0" anchor="ctr">
            <a:spAutoFit/>
          </a:bodyPr>
          <a:lstStyle/>
          <a:p>
            <a:pPr algn="l">
              <a:lnSpc>
                <a:spcPct val="100000"/>
              </a:lnSpc>
            </a:pPr>
            <a:r>
              <a:rPr sz="1350" b="0" i="0">
                <a:solidFill>
                  <a:srgbClr val="1B2A3B"/>
                </a:solidFill>
                <a:latin typeface="Consolas"/>
              </a:rPr>
              <a:t>GET /api/v1/sinh-vien?page=2&amp;limit=2</a:t>
            </a:r>
          </a:p>
        </p:txBody>
      </p:sp>
      <p:sp>
        <p:nvSpPr>
          <p:cNvPr id="20" name="TextBox 19"/>
          <p:cNvSpPr txBox="1"/>
          <p:nvPr/>
        </p:nvSpPr>
        <p:spPr>
          <a:xfrm>
            <a:off x="6236208" y="4547493"/>
            <a:ext cx="5029200" cy="351495"/>
          </a:xfrm>
          <a:prstGeom prst="rect">
            <a:avLst/>
          </a:prstGeom>
          <a:noFill/>
        </p:spPr>
        <p:txBody>
          <a:bodyPr wrap="square" lIns="0" tIns="0" rIns="0" bIns="0" anchor="ctr">
            <a:spAutoFit/>
          </a:bodyPr>
          <a:lstStyle/>
          <a:p>
            <a:pPr algn="l">
              <a:lnSpc>
                <a:spcPct val="100000"/>
              </a:lnSpc>
            </a:pPr>
            <a:r>
              <a:rPr sz="1350" b="0" i="0">
                <a:solidFill>
                  <a:srgbClr val="1B2A3B"/>
                </a:solidFill>
                <a:latin typeface="Segoe UI"/>
              </a:rPr>
              <a:t>Tối đa 2 sinh viên tiếp theo (không trùng trang 1)</a:t>
            </a:r>
          </a:p>
        </p:txBody>
      </p:sp>
      <p:sp>
        <p:nvSpPr>
          <p:cNvPr id="21" name="Rectangle 20"/>
          <p:cNvSpPr/>
          <p:nvPr/>
        </p:nvSpPr>
        <p:spPr>
          <a:xfrm>
            <a:off x="566928" y="4944343"/>
            <a:ext cx="11055096" cy="3514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Oval 21"/>
          <p:cNvSpPr/>
          <p:nvPr/>
        </p:nvSpPr>
        <p:spPr>
          <a:xfrm>
            <a:off x="1013521" y="5018044"/>
            <a:ext cx="204094" cy="204094"/>
          </a:xfrm>
          <a:prstGeom prst="ellipse">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Segoe UI"/>
              </a:rPr>
              <a:t>3</a:t>
            </a:r>
          </a:p>
        </p:txBody>
      </p:sp>
      <p:sp>
        <p:nvSpPr>
          <p:cNvPr id="23" name="TextBox 22"/>
          <p:cNvSpPr txBox="1"/>
          <p:nvPr/>
        </p:nvSpPr>
        <p:spPr>
          <a:xfrm>
            <a:off x="1755648" y="4944343"/>
            <a:ext cx="4206240" cy="351495"/>
          </a:xfrm>
          <a:prstGeom prst="rect">
            <a:avLst/>
          </a:prstGeom>
          <a:noFill/>
        </p:spPr>
        <p:txBody>
          <a:bodyPr wrap="square" lIns="0" tIns="0" rIns="0" bIns="0" anchor="ctr">
            <a:spAutoFit/>
          </a:bodyPr>
          <a:lstStyle/>
          <a:p>
            <a:pPr algn="l">
              <a:lnSpc>
                <a:spcPct val="100000"/>
              </a:lnSpc>
            </a:pPr>
            <a:r>
              <a:rPr sz="1350" b="0" i="0">
                <a:solidFill>
                  <a:srgbClr val="1B2A3B"/>
                </a:solidFill>
                <a:latin typeface="Consolas"/>
              </a:rPr>
              <a:t>GET /api/v1/sinh-vien?search=Anh</a:t>
            </a:r>
          </a:p>
        </p:txBody>
      </p:sp>
      <p:sp>
        <p:nvSpPr>
          <p:cNvPr id="24" name="TextBox 23"/>
          <p:cNvSpPr txBox="1"/>
          <p:nvPr/>
        </p:nvSpPr>
        <p:spPr>
          <a:xfrm>
            <a:off x="6236208" y="4944343"/>
            <a:ext cx="5029200" cy="351495"/>
          </a:xfrm>
          <a:prstGeom prst="rect">
            <a:avLst/>
          </a:prstGeom>
          <a:noFill/>
        </p:spPr>
        <p:txBody>
          <a:bodyPr wrap="square" lIns="0" tIns="0" rIns="0" bIns="0" anchor="ctr">
            <a:spAutoFit/>
          </a:bodyPr>
          <a:lstStyle/>
          <a:p>
            <a:pPr algn="l">
              <a:lnSpc>
                <a:spcPct val="100000"/>
              </a:lnSpc>
            </a:pPr>
            <a:r>
              <a:rPr sz="1350" b="0" i="0">
                <a:solidFill>
                  <a:srgbClr val="1B2A3B"/>
                </a:solidFill>
                <a:latin typeface="Segoe UI"/>
              </a:rPr>
              <a:t>Chỉ các sinh viên có tên phù hợp</a:t>
            </a:r>
          </a:p>
        </p:txBody>
      </p:sp>
      <p:sp>
        <p:nvSpPr>
          <p:cNvPr id="25" name="Rectangle 24"/>
          <p:cNvSpPr/>
          <p:nvPr/>
        </p:nvSpPr>
        <p:spPr>
          <a:xfrm>
            <a:off x="566928" y="5341193"/>
            <a:ext cx="11055096" cy="351495"/>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Oval 25"/>
          <p:cNvSpPr/>
          <p:nvPr/>
        </p:nvSpPr>
        <p:spPr>
          <a:xfrm>
            <a:off x="1013521" y="5414894"/>
            <a:ext cx="204094" cy="204094"/>
          </a:xfrm>
          <a:prstGeom prst="ellipse">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Segoe UI"/>
              </a:rPr>
              <a:t>4</a:t>
            </a:r>
          </a:p>
        </p:txBody>
      </p:sp>
      <p:sp>
        <p:nvSpPr>
          <p:cNvPr id="27" name="TextBox 26"/>
          <p:cNvSpPr txBox="1"/>
          <p:nvPr/>
        </p:nvSpPr>
        <p:spPr>
          <a:xfrm>
            <a:off x="1755648" y="5341193"/>
            <a:ext cx="4206240" cy="351495"/>
          </a:xfrm>
          <a:prstGeom prst="rect">
            <a:avLst/>
          </a:prstGeom>
          <a:noFill/>
        </p:spPr>
        <p:txBody>
          <a:bodyPr wrap="square" lIns="0" tIns="0" rIns="0" bIns="0" anchor="ctr">
            <a:spAutoFit/>
          </a:bodyPr>
          <a:lstStyle/>
          <a:p>
            <a:pPr algn="l">
              <a:lnSpc>
                <a:spcPct val="100000"/>
              </a:lnSpc>
            </a:pPr>
            <a:r>
              <a:rPr sz="1350" b="0" i="0">
                <a:solidFill>
                  <a:srgbClr val="1B2A3B"/>
                </a:solidFill>
                <a:latin typeface="Consolas"/>
              </a:rPr>
              <a:t>GET /api/v1/sinh-vien?page=-1</a:t>
            </a:r>
          </a:p>
        </p:txBody>
      </p:sp>
      <p:sp>
        <p:nvSpPr>
          <p:cNvPr id="28" name="TextBox 27"/>
          <p:cNvSpPr txBox="1"/>
          <p:nvPr/>
        </p:nvSpPr>
        <p:spPr>
          <a:xfrm>
            <a:off x="6236208" y="5341193"/>
            <a:ext cx="5029200" cy="351495"/>
          </a:xfrm>
          <a:prstGeom prst="rect">
            <a:avLst/>
          </a:prstGeom>
          <a:noFill/>
        </p:spPr>
        <p:txBody>
          <a:bodyPr wrap="square" lIns="0" tIns="0" rIns="0" bIns="0" anchor="ctr">
            <a:spAutoFit/>
          </a:bodyPr>
          <a:lstStyle/>
          <a:p>
            <a:pPr algn="l">
              <a:lnSpc>
                <a:spcPct val="100000"/>
              </a:lnSpc>
            </a:pPr>
            <a:r>
              <a:rPr sz="1350" b="0" i="0">
                <a:solidFill>
                  <a:srgbClr val="1B2A3B"/>
                </a:solidFill>
                <a:latin typeface="Segoe UI"/>
              </a:rPr>
              <a:t>HTTP 400 — tham số không hợp lệ</a:t>
            </a:r>
          </a:p>
        </p:txBody>
      </p:sp>
      <p:sp>
        <p:nvSpPr>
          <p:cNvPr id="29" name="Rectangle 28"/>
          <p:cNvSpPr/>
          <p:nvPr/>
        </p:nvSpPr>
        <p:spPr>
          <a:xfrm>
            <a:off x="566928" y="5738043"/>
            <a:ext cx="11055096" cy="3514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Oval 29"/>
          <p:cNvSpPr/>
          <p:nvPr/>
        </p:nvSpPr>
        <p:spPr>
          <a:xfrm>
            <a:off x="1013521" y="5811744"/>
            <a:ext cx="204094" cy="204094"/>
          </a:xfrm>
          <a:prstGeom prst="ellipse">
            <a:avLst/>
          </a:prstGeom>
          <a:solidFill>
            <a:srgbClr val="0B5F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Segoe UI"/>
              </a:rPr>
              <a:t>5</a:t>
            </a:r>
          </a:p>
        </p:txBody>
      </p:sp>
      <p:sp>
        <p:nvSpPr>
          <p:cNvPr id="31" name="TextBox 30"/>
          <p:cNvSpPr txBox="1"/>
          <p:nvPr/>
        </p:nvSpPr>
        <p:spPr>
          <a:xfrm>
            <a:off x="1755648" y="5738043"/>
            <a:ext cx="4206240" cy="351495"/>
          </a:xfrm>
          <a:prstGeom prst="rect">
            <a:avLst/>
          </a:prstGeom>
          <a:noFill/>
        </p:spPr>
        <p:txBody>
          <a:bodyPr wrap="square" lIns="0" tIns="0" rIns="0" bIns="0" anchor="ctr">
            <a:spAutoFit/>
          </a:bodyPr>
          <a:lstStyle/>
          <a:p>
            <a:pPr algn="l">
              <a:lnSpc>
                <a:spcPct val="100000"/>
              </a:lnSpc>
            </a:pPr>
            <a:r>
              <a:rPr sz="1350" b="0" i="0">
                <a:solidFill>
                  <a:srgbClr val="1B2A3B"/>
                </a:solidFill>
                <a:latin typeface="Consolas"/>
              </a:rPr>
              <a:t>GET /api/v1/sinh-vien?limit=abc</a:t>
            </a:r>
          </a:p>
        </p:txBody>
      </p:sp>
      <p:sp>
        <p:nvSpPr>
          <p:cNvPr id="32" name="TextBox 31"/>
          <p:cNvSpPr txBox="1"/>
          <p:nvPr/>
        </p:nvSpPr>
        <p:spPr>
          <a:xfrm>
            <a:off x="6236208" y="5738043"/>
            <a:ext cx="5029200" cy="351495"/>
          </a:xfrm>
          <a:prstGeom prst="rect">
            <a:avLst/>
          </a:prstGeom>
          <a:noFill/>
        </p:spPr>
        <p:txBody>
          <a:bodyPr wrap="square" lIns="0" tIns="0" rIns="0" bIns="0" anchor="ctr">
            <a:spAutoFit/>
          </a:bodyPr>
          <a:lstStyle/>
          <a:p>
            <a:pPr algn="l">
              <a:lnSpc>
                <a:spcPct val="100000"/>
              </a:lnSpc>
            </a:pPr>
            <a:r>
              <a:rPr sz="1350" b="0" i="0">
                <a:solidFill>
                  <a:srgbClr val="1B2A3B"/>
                </a:solidFill>
                <a:latin typeface="Segoe UI"/>
              </a:rPr>
              <a:t>HTTP 400 — tham số không hợp lệ</a:t>
            </a:r>
          </a:p>
        </p:txBody>
      </p:sp>
      <p:sp>
        <p:nvSpPr>
          <p:cNvPr id="1063" name="Ch8 Trang 1: SV001 và SV002"/>
          <p:cNvSpPr txBox="1"/>
          <p:nvPr/>
        </p:nvSpPr>
        <p:spPr>
          <a:xfrm>
            <a:off x="566928" y="1463040"/>
            <a:ext cx="5349240" cy="365760"/>
          </a:xfrm>
          <a:prstGeom prst="rect">
            <a:avLst/>
          </a:prstGeom>
          <a:noFill/>
          <a:ln w="0">
            <a:noFill/>
          </a:ln>
        </p:spPr>
        <p:txBody>
          <a:bodyPr wrap="square" lIns="0" tIns="0" rIns="0" bIns="0" anchor="t"/>
          <a:lstStyle/>
          <a:p>
            <a:pPr marL="0" indent="0">
              <a:spcAft>
                <a:spcPts val="400"/>
              </a:spcAft>
            </a:pPr>
            <a:r>
              <a:rPr lang="vi-VN" sz="2000" b="1">
                <a:solidFill>
                  <a:srgbClr val="146BA2"/>
                </a:solidFill>
                <a:latin typeface="Aptos"/>
                <a:ea typeface="Aptos"/>
                <a:cs typeface="Aptos"/>
              </a:rPr>
              <a:t>Trang 1: SV001 và SV002</a:t>
            </a:r>
          </a:p>
        </p:txBody>
      </p:sp>
      <p:sp>
        <p:nvSpPr>
          <p:cNvPr id="1064" name="Ch8 Trang 2: SV003 và SV004"/>
          <p:cNvSpPr txBox="1"/>
          <p:nvPr/>
        </p:nvSpPr>
        <p:spPr>
          <a:xfrm>
            <a:off x="6272784" y="1463040"/>
            <a:ext cx="5349240" cy="365760"/>
          </a:xfrm>
          <a:prstGeom prst="rect">
            <a:avLst/>
          </a:prstGeom>
          <a:noFill/>
          <a:ln w="0">
            <a:noFill/>
          </a:ln>
        </p:spPr>
        <p:txBody>
          <a:bodyPr wrap="square" lIns="0" tIns="0" rIns="0" bIns="0" anchor="t"/>
          <a:lstStyle/>
          <a:p>
            <a:pPr marL="0" indent="0">
              <a:spcAft>
                <a:spcPts val="400"/>
              </a:spcAft>
            </a:pPr>
            <a:r>
              <a:rPr lang="vi-VN" sz="2000" b="1">
                <a:solidFill>
                  <a:srgbClr val="146BA2"/>
                </a:solidFill>
                <a:latin typeface="Aptos"/>
                <a:ea typeface="Aptos"/>
                <a:cs typeface="Aptos"/>
              </a:rPr>
              <a:t>Trang 2: SV003 và SV004</a:t>
            </a:r>
          </a:p>
        </p:txBody>
      </p:sp>
      <p:pic>
        <p:nvPicPr>
          <p:cNvPr id="1065" name="Demo 17-page1" descr="Request thật page 1 limit 2 trả SV001 và SV002."/>
          <p:cNvPicPr>
            <a:picLocks noChangeAspect="1"/>
          </p:cNvPicPr>
          <p:nvPr/>
        </p:nvPicPr>
        <p:blipFill>
          <a:blip r:embed="rId3"/>
          <a:stretch>
            <a:fillRect/>
          </a:stretch>
        </p:blipFill>
        <p:spPr>
          <a:xfrm>
            <a:off x="566928" y="1883093"/>
            <a:ext cx="5349240" cy="1738503"/>
          </a:xfrm>
          <a:prstGeom prst="rect">
            <a:avLst/>
          </a:prstGeom>
        </p:spPr>
      </p:pic>
      <p:pic>
        <p:nvPicPr>
          <p:cNvPr id="1066" name="Demo 17-page2" descr="Request thật page 2 limit 2 trả SV003 và SV004, không trùng trang 1."/>
          <p:cNvPicPr>
            <a:picLocks noChangeAspect="1"/>
          </p:cNvPicPr>
          <p:nvPr/>
        </p:nvPicPr>
        <p:blipFill>
          <a:blip r:embed="rId4"/>
          <a:stretch>
            <a:fillRect/>
          </a:stretch>
        </p:blipFill>
        <p:spPr>
          <a:xfrm>
            <a:off x="6272784" y="1883093"/>
            <a:ext cx="5349240" cy="1738503"/>
          </a:xfrm>
          <a:prstGeom prst="rect">
            <a:avLst/>
          </a:prstGeom>
        </p:spPr>
      </p:pic>
      <p:sp>
        <p:nvSpPr>
          <p:cNvPr id="1067" name="Ch8 Chuẩn bị ≥ 4 bản ghi có thứ tự"/>
          <p:cNvSpPr txBox="1"/>
          <p:nvPr/>
        </p:nvSpPr>
        <p:spPr>
          <a:xfrm>
            <a:off x="566928" y="6172200"/>
            <a:ext cx="11055096" cy="228600"/>
          </a:xfrm>
          <a:prstGeom prst="rect">
            <a:avLst/>
          </a:prstGeom>
          <a:noFill/>
          <a:ln w="0">
            <a:noFill/>
          </a:ln>
        </p:spPr>
        <p:txBody>
          <a:bodyPr wrap="square" lIns="0" tIns="0" rIns="0" bIns="0" anchor="t"/>
          <a:lstStyle/>
          <a:p>
            <a:pPr marL="0" indent="0">
              <a:spcAft>
                <a:spcPts val="400"/>
              </a:spcAft>
            </a:pPr>
            <a:r>
              <a:rPr lang="vi-VN" sz="1100" b="0">
                <a:solidFill>
                  <a:srgbClr val="62758A"/>
                </a:solidFill>
                <a:latin typeface="Aptos"/>
                <a:ea typeface="Aptos"/>
                <a:cs typeface="Aptos"/>
              </a:rPr>
              <a:t>Chuẩn bị ≥ 4 bản ghi có thứ tự rõ ràng. Chỉ sang Lab 2 khi các ca kiểm thử cơ bản đạt và API cũ vẫn hoạt động.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6 · LAB 2 — GLOBAL ERROR HANDLING · 30 PHÚT</a:t>
            </a:r>
          </a:p>
        </p:txBody>
      </p:sp>
      <p:sp>
        <p:nvSpPr>
          <p:cNvPr id="4" name="TextBox 3"/>
          <p:cNvSpPr txBox="1"/>
          <p:nvPr/>
        </p:nvSpPr>
        <p:spPr>
          <a:xfrm>
            <a:off x="9613087" y="292608"/>
            <a:ext cx="2011680" cy="274320"/>
          </a:xfrm>
          <a:prstGeom prst="rect">
            <a:avLst/>
          </a:prstGeom>
          <a:noFill/>
        </p:spPr>
        <p:txBody>
          <a:bodyPr wrap="square" lIns="0" tIns="0" rIns="0" bIns="0" anchor="t">
            <a:spAutoFit/>
          </a:bodyPr>
          <a:lstStyle/>
          <a:p>
            <a:pPr algn="r">
              <a:lnSpc>
                <a:spcPct val="100000"/>
              </a:lnSpc>
            </a:pPr>
            <a:r>
              <a:rPr sz="1150" b="1" i="0">
                <a:solidFill>
                  <a:srgbClr val="64748B"/>
                </a:solidFill>
                <a:latin typeface="Segoe UI"/>
              </a:rPr>
              <a:t>Lab 2</a:t>
            </a: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Bài thực hành 2 — Xử lý lỗi tập trung</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18 / 19</a:t>
            </a:r>
          </a:p>
        </p:txBody>
      </p:sp>
      <p:sp>
        <p:nvSpPr>
          <p:cNvPr id="9" name="TextBox 8"/>
          <p:cNvSpPr txBox="1"/>
          <p:nvPr/>
        </p:nvSpPr>
        <p:spPr>
          <a:xfrm>
            <a:off x="566928" y="1426464"/>
            <a:ext cx="10972800" cy="365760"/>
          </a:xfrm>
          <a:prstGeom prst="rect">
            <a:avLst/>
          </a:prstGeom>
          <a:noFill/>
        </p:spPr>
        <p:txBody>
          <a:bodyPr wrap="square" lIns="0" tIns="0" rIns="0" bIns="0" anchor="t">
            <a:spAutoFit/>
          </a:bodyPr>
          <a:lstStyle/>
          <a:p>
            <a:pPr algn="l">
              <a:lnSpc>
                <a:spcPct val="100000"/>
              </a:lnSpc>
            </a:pPr>
            <a:r>
              <a:rPr sz="1500" b="0" i="0">
                <a:solidFill>
                  <a:srgbClr val="1B2A3B"/>
                </a:solidFill>
                <a:latin typeface="Segoe UI"/>
              </a:rPr>
              <a:t>Nhiệm vụ: rà soát và chuẩn hóa xử lý lỗi của project hiện tại.</a:t>
            </a:r>
          </a:p>
        </p:txBody>
      </p:sp>
      <p:sp>
        <p:nvSpPr>
          <p:cNvPr id="10" name="TextBox 9"/>
          <p:cNvSpPr txBox="1"/>
          <p:nvPr/>
        </p:nvSpPr>
        <p:spPr>
          <a:xfrm>
            <a:off x="566928" y="1874519"/>
            <a:ext cx="10972800" cy="347472"/>
          </a:xfrm>
          <a:prstGeom prst="rect">
            <a:avLst/>
          </a:prstGeom>
          <a:noFill/>
        </p:spPr>
        <p:txBody>
          <a:bodyPr wrap="square" lIns="0" tIns="0" rIns="0" bIns="0" anchor="t">
            <a:spAutoFit/>
          </a:bodyPr>
          <a:lstStyle/>
          <a:p>
            <a:pPr algn="l">
              <a:lnSpc>
                <a:spcPct val="100000"/>
              </a:lnSpc>
            </a:pPr>
            <a:r>
              <a:rPr sz="1450" b="1" i="0">
                <a:solidFill>
                  <a:srgbClr val="1B2A3B"/>
                </a:solidFill>
                <a:latin typeface="Segoe UI"/>
              </a:rPr>
              <a:t>Các thành phần cần kiểm tra:</a:t>
            </a:r>
          </a:p>
        </p:txBody>
      </p:sp>
      <p:sp>
        <p:nvSpPr>
          <p:cNvPr id="11" name="Rounded Rectangle 10"/>
          <p:cNvSpPr/>
          <p:nvPr/>
        </p:nvSpPr>
        <p:spPr>
          <a:xfrm>
            <a:off x="566928" y="2267712"/>
            <a:ext cx="2377440" cy="530352"/>
          </a:xfrm>
          <a:prstGeom prst="roundRect">
            <a:avLst>
              <a:gd name="adj" fmla="val 14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704088" y="2267712"/>
            <a:ext cx="2103120" cy="530352"/>
          </a:xfrm>
          <a:prstGeom prst="rect">
            <a:avLst/>
          </a:prstGeom>
          <a:noFill/>
        </p:spPr>
        <p:txBody>
          <a:bodyPr wrap="square" lIns="0" tIns="0" rIns="0" bIns="0" anchor="ctr">
            <a:spAutoFit/>
          </a:bodyPr>
          <a:lstStyle/>
          <a:p>
            <a:pPr algn="l">
              <a:lnSpc>
                <a:spcPct val="100000"/>
              </a:lnSpc>
            </a:pPr>
            <a:r>
              <a:rPr sz="1250" b="1" i="0">
                <a:solidFill>
                  <a:srgbClr val="0B5FA5"/>
                </a:solidFill>
                <a:latin typeface="Consolas"/>
              </a:rPr>
              <a:t>src/utils/AppError.ts</a:t>
            </a:r>
          </a:p>
        </p:txBody>
      </p:sp>
      <p:sp>
        <p:nvSpPr>
          <p:cNvPr id="13" name="Rounded Rectangle 12"/>
          <p:cNvSpPr/>
          <p:nvPr/>
        </p:nvSpPr>
        <p:spPr>
          <a:xfrm>
            <a:off x="3218688" y="2267712"/>
            <a:ext cx="3657600" cy="530352"/>
          </a:xfrm>
          <a:prstGeom prst="roundRect">
            <a:avLst>
              <a:gd name="adj" fmla="val 14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3355848" y="2267712"/>
            <a:ext cx="3383280" cy="530352"/>
          </a:xfrm>
          <a:prstGeom prst="rect">
            <a:avLst/>
          </a:prstGeom>
          <a:noFill/>
        </p:spPr>
        <p:txBody>
          <a:bodyPr wrap="square" lIns="0" tIns="0" rIns="0" bIns="0" anchor="ctr">
            <a:spAutoFit/>
          </a:bodyPr>
          <a:lstStyle/>
          <a:p>
            <a:pPr algn="l">
              <a:lnSpc>
                <a:spcPct val="100000"/>
              </a:lnSpc>
            </a:pPr>
            <a:r>
              <a:rPr sz="1250" b="1" i="0">
                <a:solidFill>
                  <a:srgbClr val="0B5FA5"/>
                </a:solidFill>
                <a:latin typeface="Consolas"/>
              </a:rPr>
              <a:t>src/middlewares/error.middleware.ts</a:t>
            </a:r>
          </a:p>
        </p:txBody>
      </p:sp>
      <p:sp>
        <p:nvSpPr>
          <p:cNvPr id="15" name="Rounded Rectangle 14"/>
          <p:cNvSpPr/>
          <p:nvPr/>
        </p:nvSpPr>
        <p:spPr>
          <a:xfrm>
            <a:off x="7150608" y="2267712"/>
            <a:ext cx="3931920" cy="530352"/>
          </a:xfrm>
          <a:prstGeom prst="roundRect">
            <a:avLst>
              <a:gd name="adj" fmla="val 14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7287768" y="2267712"/>
            <a:ext cx="3657600" cy="530352"/>
          </a:xfrm>
          <a:prstGeom prst="rect">
            <a:avLst/>
          </a:prstGeom>
          <a:noFill/>
        </p:spPr>
        <p:txBody>
          <a:bodyPr wrap="square" lIns="0" tIns="0" rIns="0" bIns="0" anchor="ctr">
            <a:spAutoFit/>
          </a:bodyPr>
          <a:lstStyle/>
          <a:p>
            <a:pPr algn="l">
              <a:lnSpc>
                <a:spcPct val="100000"/>
              </a:lnSpc>
            </a:pPr>
            <a:r>
              <a:rPr sz="1250" b="1" i="0">
                <a:solidFill>
                  <a:srgbClr val="0B5FA5"/>
                </a:solidFill>
                <a:latin typeface="Consolas"/>
              </a:rPr>
              <a:t>src/controllers/sinhVien.controller.ts</a:t>
            </a:r>
          </a:p>
        </p:txBody>
      </p:sp>
      <p:sp>
        <p:nvSpPr>
          <p:cNvPr id="17" name="Rounded Rectangle 16"/>
          <p:cNvSpPr/>
          <p:nvPr/>
        </p:nvSpPr>
        <p:spPr>
          <a:xfrm>
            <a:off x="566928" y="3017520"/>
            <a:ext cx="11055096" cy="2011680"/>
          </a:xfrm>
          <a:prstGeom prst="roundRect">
            <a:avLst>
              <a:gd name="adj" fmla="val 5000"/>
            </a:avLst>
          </a:prstGeom>
          <a:solidFill>
            <a:srgbClr val="1023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886968" y="3182112"/>
            <a:ext cx="10424160" cy="1737360"/>
          </a:xfrm>
          <a:prstGeom prst="rect">
            <a:avLst/>
          </a:prstGeom>
          <a:noFill/>
        </p:spPr>
        <p:txBody>
          <a:bodyPr wrap="square" lIns="0" tIns="0" rIns="0" bIns="0" anchor="t">
            <a:spAutoFit/>
          </a:bodyPr>
          <a:lstStyle/>
          <a:p>
            <a:pPr algn="l">
              <a:lnSpc>
                <a:spcPct val="105000"/>
              </a:lnSpc>
              <a:spcAft>
                <a:spcPts val="600"/>
              </a:spcAft>
            </a:pPr>
            <a:r>
              <a:rPr sz="1350" b="1">
                <a:solidFill>
                  <a:srgbClr val="FBBF24"/>
                </a:solidFill>
                <a:latin typeface="Segoe UI"/>
              </a:rPr>
              <a:t>Prompt AI:</a:t>
            </a:r>
          </a:p>
          <a:p>
            <a:pPr algn="l">
              <a:lnSpc>
                <a:spcPct val="125000"/>
              </a:lnSpc>
            </a:pPr>
            <a:r>
              <a:rPr sz="1400" b="0">
                <a:solidFill>
                  <a:srgbClr val="E8F0F8"/>
                </a:solidFill>
                <a:latin typeface="Segoe UI"/>
              </a:rPr>
              <a:t>“Hãy đọc AppError, Error Middleware và Controller hiện tại. Kiểm tra các lỗi 400, 404, 500 có được xử lý tập trung và trả JSON nhất quán hay không. Đề xuất chỉnh sửa nhỏ nhất, giữ nguyên cấu trúc project. Sử dụng đúng cơ chế Express 5 và hướng dẫn tôi kiểm thử từng loại lỗi.”</a:t>
            </a:r>
          </a:p>
        </p:txBody>
      </p:sp>
      <p:sp>
        <p:nvSpPr>
          <p:cNvPr id="19" name="Rounded Rectangle 18"/>
          <p:cNvSpPr/>
          <p:nvPr/>
        </p:nvSpPr>
        <p:spPr>
          <a:xfrm>
            <a:off x="566928" y="5212080"/>
            <a:ext cx="11055096" cy="86868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886968" y="5212080"/>
            <a:ext cx="10424160" cy="868680"/>
          </a:xfrm>
          <a:prstGeom prst="rect">
            <a:avLst/>
          </a:prstGeom>
          <a:noFill/>
        </p:spPr>
        <p:txBody>
          <a:bodyPr wrap="square" lIns="0" tIns="0" rIns="0" bIns="0" anchor="ctr">
            <a:spAutoFit/>
          </a:bodyPr>
          <a:lstStyle/>
          <a:p>
            <a:pPr algn="l">
              <a:lnSpc>
                <a:spcPct val="118000"/>
              </a:lnSpc>
            </a:pPr>
            <a:r>
              <a:rPr sz="1450" b="1">
                <a:solidFill>
                  <a:srgbClr val="D64545"/>
                </a:solidFill>
                <a:latin typeface="Segoe UI"/>
              </a:rPr>
              <a:t>Nguyên tắc: </a:t>
            </a:r>
            <a:r>
              <a:rPr sz="1450" b="0">
                <a:solidFill>
                  <a:srgbClr val="1B2A3B"/>
                </a:solidFill>
                <a:latin typeface="Segoe UI"/>
              </a:rPr>
              <a:t>không xóa middleware cũ rồi tạo một bộ xử lý lỗi khác khi chưa hiểu code hiện tại. Chỉ chỉnh sửa nhỏ nhất để đạt chuẩn.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8778240" cy="274320"/>
          </a:xfrm>
          <a:prstGeom prst="rect">
            <a:avLst/>
          </a:prstGeom>
          <a:noFill/>
        </p:spPr>
        <p:txBody>
          <a:bodyPr wrap="square" lIns="0" tIns="0" rIns="0" bIns="0" anchor="t">
            <a:spAutoFit/>
          </a:bodyPr>
          <a:lstStyle/>
          <a:p>
            <a:pPr algn="l">
              <a:lnSpc>
                <a:spcPct val="100000"/>
              </a:lnSpc>
            </a:pPr>
            <a:r>
              <a:rPr sz="1150" b="1" i="0">
                <a:solidFill>
                  <a:srgbClr val="0B5FA5"/>
                </a:solidFill>
                <a:latin typeface="Segoe UI"/>
              </a:rPr>
              <a:t>PHẦN 6 · LAB 2 — GLOBAL ERROR HANDLING · 30 PHÚT</a:t>
            </a:r>
          </a:p>
        </p:txBody>
      </p:sp>
      <p:sp>
        <p:nvSpPr>
          <p:cNvPr id="4" name="TextBox 3"/>
          <p:cNvSpPr txBox="1"/>
          <p:nvPr/>
        </p:nvSpPr>
        <p:spPr>
          <a:xfrm>
            <a:off x="9613087" y="292608"/>
            <a:ext cx="2011680" cy="274320"/>
          </a:xfrm>
          <a:prstGeom prst="rect">
            <a:avLst/>
          </a:prstGeom>
          <a:noFill/>
        </p:spPr>
        <p:txBody>
          <a:bodyPr wrap="square" lIns="0" tIns="0" rIns="0" bIns="0" anchor="t">
            <a:spAutoFit/>
          </a:bodyPr>
          <a:lstStyle/>
          <a:p>
            <a:pPr algn="r">
              <a:lnSpc>
                <a:spcPct val="100000"/>
              </a:lnSpc>
            </a:pPr>
            <a:r>
              <a:rPr sz="1150" b="1" i="0">
                <a:solidFill>
                  <a:srgbClr val="64748B"/>
                </a:solidFill>
                <a:latin typeface="Segoe UI"/>
              </a:rPr>
              <a:t>Kiểm thử</a:t>
            </a:r>
          </a:p>
        </p:txBody>
      </p:sp>
      <p:sp>
        <p:nvSpPr>
          <p:cNvPr id="5" name="TextBox 4"/>
          <p:cNvSpPr txBox="1"/>
          <p:nvPr/>
        </p:nvSpPr>
        <p:spPr>
          <a:xfrm>
            <a:off x="566928" y="530352"/>
            <a:ext cx="11064240" cy="685800"/>
          </a:xfrm>
          <a:prstGeom prst="rect">
            <a:avLst/>
          </a:prstGeom>
          <a:noFill/>
        </p:spPr>
        <p:txBody>
          <a:bodyPr wrap="square" lIns="0" tIns="0" rIns="0" bIns="0" anchor="t">
            <a:spAutoFit/>
          </a:bodyPr>
          <a:lstStyle/>
          <a:p>
            <a:pPr algn="l">
              <a:lnSpc>
                <a:spcPct val="100000"/>
              </a:lnSpc>
            </a:pPr>
            <a:r>
              <a:rPr sz="2700" b="1" i="0">
                <a:solidFill>
                  <a:srgbClr val="1B2A3B"/>
                </a:solidFill>
                <a:latin typeface="Segoe UI"/>
              </a:rPr>
              <a:t>Kiểm thử Lab 2 — cố tình tạo lỗi</a:t>
            </a:r>
          </a:p>
        </p:txBody>
      </p:sp>
      <p:sp>
        <p:nvSpPr>
          <p:cNvPr id="6" name="Rectangle 5"/>
          <p:cNvSpPr/>
          <p:nvPr/>
        </p:nvSpPr>
        <p:spPr>
          <a:xfrm>
            <a:off x="585216" y="1207008"/>
            <a:ext cx="868680" cy="594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66928" y="6455664"/>
            <a:ext cx="8686800" cy="274320"/>
          </a:xfrm>
          <a:prstGeom prst="rect">
            <a:avLst/>
          </a:prstGeom>
          <a:noFill/>
        </p:spPr>
        <p:txBody>
          <a:bodyPr wrap="square" lIns="0" tIns="0" rIns="0" bIns="0" anchor="t">
            <a:spAutoFit/>
          </a:bodyPr>
          <a:lstStyle/>
          <a:p>
            <a:pPr algn="l">
              <a:lnSpc>
                <a:spcPct val="100000"/>
              </a:lnSpc>
            </a:pPr>
            <a:r>
              <a:rPr sz="1000" b="0" i="0">
                <a:solidFill>
                  <a:srgbClr val="64748B"/>
                </a:solidFill>
                <a:latin typeface="Segoe UI"/>
              </a:rPr>
              <a:t>Học phần Lập trình Backend · Buổi 10 + 11 — Truy vấn nâng cao &amp; Xử lý lỗi tập trung</a:t>
            </a:r>
          </a:p>
        </p:txBody>
      </p:sp>
      <p:sp>
        <p:nvSpPr>
          <p:cNvPr id="8" name="TextBox 7"/>
          <p:cNvSpPr txBox="1"/>
          <p:nvPr/>
        </p:nvSpPr>
        <p:spPr>
          <a:xfrm>
            <a:off x="10161727" y="6455664"/>
            <a:ext cx="1463040" cy="274320"/>
          </a:xfrm>
          <a:prstGeom prst="rect">
            <a:avLst/>
          </a:prstGeom>
          <a:noFill/>
        </p:spPr>
        <p:txBody>
          <a:bodyPr wrap="square" lIns="0" tIns="0" rIns="0" bIns="0" anchor="t">
            <a:spAutoFit/>
          </a:bodyPr>
          <a:lstStyle/>
          <a:p>
            <a:pPr algn="r">
              <a:lnSpc>
                <a:spcPct val="100000"/>
              </a:lnSpc>
            </a:pPr>
            <a:r>
              <a:rPr sz="1000" b="1" i="0">
                <a:solidFill>
                  <a:srgbClr val="64748B"/>
                </a:solidFill>
                <a:latin typeface="Segoe UI"/>
              </a:rPr>
              <a:t>19 / 19</a:t>
            </a:r>
          </a:p>
        </p:txBody>
      </p:sp>
      <p:sp>
        <p:nvSpPr>
          <p:cNvPr id="1068" name="Ch8 400 — Tham số sai"/>
          <p:cNvSpPr txBox="1"/>
          <p:nvPr/>
        </p:nvSpPr>
        <p:spPr>
          <a:xfrm>
            <a:off x="566928" y="1527048"/>
            <a:ext cx="3520440" cy="411480"/>
          </a:xfrm>
          <a:prstGeom prst="rect">
            <a:avLst/>
          </a:prstGeom>
          <a:noFill/>
          <a:ln w="0">
            <a:noFill/>
          </a:ln>
        </p:spPr>
        <p:txBody>
          <a:bodyPr wrap="square" lIns="0" tIns="0" rIns="0" bIns="0" anchor="t"/>
          <a:lstStyle/>
          <a:p>
            <a:pPr marL="0" indent="0">
              <a:spcAft>
                <a:spcPts val="400"/>
              </a:spcAft>
            </a:pPr>
            <a:r>
              <a:rPr lang="vi-VN" sz="2000" b="1">
                <a:solidFill>
                  <a:srgbClr val="146BA2"/>
                </a:solidFill>
                <a:latin typeface="Aptos"/>
                <a:ea typeface="Aptos"/>
                <a:cs typeface="Aptos"/>
              </a:rPr>
              <a:t>400 — Tham số sai</a:t>
            </a:r>
          </a:p>
        </p:txBody>
      </p:sp>
      <p:pic>
        <p:nvPicPr>
          <p:cNvPr id="1069" name="Demo 19-400" descr="Ảnh chụp phản hồi HTTP 400 từ demo; dữ liệu giả lập, lỗi 500 được kích hoạt có chủ đích."/>
          <p:cNvPicPr>
            <a:picLocks noChangeAspect="1"/>
          </p:cNvPicPr>
          <p:nvPr/>
        </p:nvPicPr>
        <p:blipFill>
          <a:blip r:embed="rId3"/>
          <a:stretch>
            <a:fillRect/>
          </a:stretch>
        </p:blipFill>
        <p:spPr>
          <a:xfrm>
            <a:off x="566928" y="2037080"/>
            <a:ext cx="3520440" cy="3442208"/>
          </a:xfrm>
          <a:prstGeom prst="rect">
            <a:avLst/>
          </a:prstGeom>
        </p:spPr>
      </p:pic>
      <p:sp>
        <p:nvSpPr>
          <p:cNvPr id="1070" name="Ch8 404 — Không tìm thấy"/>
          <p:cNvSpPr txBox="1"/>
          <p:nvPr/>
        </p:nvSpPr>
        <p:spPr>
          <a:xfrm>
            <a:off x="4334256" y="1527048"/>
            <a:ext cx="3520440" cy="411480"/>
          </a:xfrm>
          <a:prstGeom prst="rect">
            <a:avLst/>
          </a:prstGeom>
          <a:noFill/>
          <a:ln w="0">
            <a:noFill/>
          </a:ln>
        </p:spPr>
        <p:txBody>
          <a:bodyPr wrap="square" lIns="0" tIns="0" rIns="0" bIns="0" anchor="t"/>
          <a:lstStyle/>
          <a:p>
            <a:pPr marL="0" indent="0">
              <a:spcAft>
                <a:spcPts val="400"/>
              </a:spcAft>
            </a:pPr>
            <a:r>
              <a:rPr lang="vi-VN" sz="2000" b="1">
                <a:solidFill>
                  <a:srgbClr val="146BA2"/>
                </a:solidFill>
                <a:latin typeface="Aptos"/>
                <a:ea typeface="Aptos"/>
                <a:cs typeface="Aptos"/>
              </a:rPr>
              <a:t>404 — Không tìm thấy</a:t>
            </a:r>
          </a:p>
        </p:txBody>
      </p:sp>
      <p:pic>
        <p:nvPicPr>
          <p:cNvPr id="1071" name="Demo 19-404" descr="Ảnh chụp phản hồi HTTP 404 từ demo; dữ liệu giả lập, lỗi 500 được kích hoạt có chủ đích."/>
          <p:cNvPicPr>
            <a:picLocks noChangeAspect="1"/>
          </p:cNvPicPr>
          <p:nvPr/>
        </p:nvPicPr>
        <p:blipFill>
          <a:blip r:embed="rId4"/>
          <a:stretch>
            <a:fillRect/>
          </a:stretch>
        </p:blipFill>
        <p:spPr>
          <a:xfrm>
            <a:off x="4334256" y="2037080"/>
            <a:ext cx="3520440" cy="3442208"/>
          </a:xfrm>
          <a:prstGeom prst="rect">
            <a:avLst/>
          </a:prstGeom>
        </p:spPr>
      </p:pic>
      <p:sp>
        <p:nvSpPr>
          <p:cNvPr id="1072" name="Ch8 500 — Lỗi hệ thống"/>
          <p:cNvSpPr txBox="1"/>
          <p:nvPr/>
        </p:nvSpPr>
        <p:spPr>
          <a:xfrm>
            <a:off x="8101584" y="1527048"/>
            <a:ext cx="3520440" cy="411480"/>
          </a:xfrm>
          <a:prstGeom prst="rect">
            <a:avLst/>
          </a:prstGeom>
          <a:noFill/>
          <a:ln w="0">
            <a:noFill/>
          </a:ln>
        </p:spPr>
        <p:txBody>
          <a:bodyPr wrap="square" lIns="0" tIns="0" rIns="0" bIns="0" anchor="t"/>
          <a:lstStyle/>
          <a:p>
            <a:pPr marL="0" indent="0">
              <a:spcAft>
                <a:spcPts val="400"/>
              </a:spcAft>
            </a:pPr>
            <a:r>
              <a:rPr lang="vi-VN" sz="2000" b="1">
                <a:solidFill>
                  <a:srgbClr val="146BA2"/>
                </a:solidFill>
                <a:latin typeface="Aptos"/>
                <a:ea typeface="Aptos"/>
                <a:cs typeface="Aptos"/>
              </a:rPr>
              <a:t>500 — Lỗi hệ thống</a:t>
            </a:r>
          </a:p>
        </p:txBody>
      </p:sp>
      <p:pic>
        <p:nvPicPr>
          <p:cNvPr id="1073" name="Demo 19-500" descr="Ảnh chụp phản hồi HTTP 500 từ demo; dữ liệu giả lập, lỗi 500 được kích hoạt có chủ đích."/>
          <p:cNvPicPr>
            <a:picLocks noChangeAspect="1"/>
          </p:cNvPicPr>
          <p:nvPr/>
        </p:nvPicPr>
        <p:blipFill>
          <a:blip r:embed="rId5"/>
          <a:stretch>
            <a:fillRect/>
          </a:stretch>
        </p:blipFill>
        <p:spPr>
          <a:xfrm>
            <a:off x="8101584" y="2037080"/>
            <a:ext cx="3520440" cy="3442208"/>
          </a:xfrm>
          <a:prstGeom prst="rect">
            <a:avLst/>
          </a:prstGeom>
        </p:spPr>
      </p:pic>
      <p:sp>
        <p:nvSpPr>
          <p:cNvPr id="1074" name="Ch8 Cùng định dạng success / messa"/>
          <p:cNvSpPr txBox="1"/>
          <p:nvPr/>
        </p:nvSpPr>
        <p:spPr>
          <a:xfrm>
            <a:off x="566928" y="5669280"/>
            <a:ext cx="11055096" cy="411480"/>
          </a:xfrm>
          <a:prstGeom prst="rect">
            <a:avLst/>
          </a:prstGeom>
          <a:noFill/>
          <a:ln w="0">
            <a:noFill/>
          </a:ln>
        </p:spPr>
        <p:txBody>
          <a:bodyPr wrap="square" lIns="0" tIns="0" rIns="0" bIns="0" anchor="t"/>
          <a:lstStyle/>
          <a:p>
            <a:pPr marL="0" indent="0">
              <a:spcAft>
                <a:spcPts val="400"/>
              </a:spcAft>
            </a:pPr>
            <a:r>
              <a:rPr lang="vi-VN" sz="1800" b="1">
                <a:solidFill>
                  <a:srgbClr val="146BA2"/>
                </a:solidFill>
                <a:latin typeface="Aptos"/>
                <a:ea typeface="Aptos"/>
                <a:cs typeface="Aptos"/>
              </a:rPr>
              <a:t>Cùng định dạng success / message / data. Không trả stack trace hoặc dữ liệu nhạy cảm.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m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m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6156</Words>
  <Application>Microsoft Office PowerPoint</Application>
  <PresentationFormat>Widescreen</PresentationFormat>
  <Paragraphs>456</Paragraphs>
  <Slides>19</Slides>
  <Notes>19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Aptos</vt:lpstr>
      <vt:lpstr>Arial</vt:lpstr>
      <vt:lpstr>Arimo</vt:lpstr>
      <vt:lpstr>Calibri</vt:lpstr>
      <vt:lpstr>Consolas</vt:lpstr>
      <vt:lpstr>Segoe UI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10 + 11: Truy vấn nâng cao &amp; Xử lý lỗi tập trung</dc:title>
  <dc:subject/>
  <dc:creator>Học phần Lập trình Backend</dc:creator>
  <cp:keywords/>
  <dc:description>generated using python-pptx</dc:description>
  <cp:lastModifiedBy>NhatPot</cp:lastModifiedBy>
  <cp:revision>7</cp:revision>
  <dcterms:created xsi:type="dcterms:W3CDTF">2013-01-27T09:14:16Z</dcterms:created>
  <dcterms:modified xsi:type="dcterms:W3CDTF">2026-10-20T12:04:41Z</dcterms:modified>
  <cp:category/>
</cp:coreProperties>
</file>