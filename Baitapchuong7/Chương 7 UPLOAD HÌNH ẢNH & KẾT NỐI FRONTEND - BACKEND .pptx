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6889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 1 PHÚT. Ở các buổi trước chúng ta đã viết API, kết nối SQL Server và bảo vệ những API quan trọng bằng JWT. Nhưng người dùng cuối không sử dụng Postman để thao tác mỗi ngày. Họ dùng một giao diện web. Hôm nay chúng ta sẽ nối giao diện đó với Backend thật, đồng thời thêm khả năng tải ảnh đại diện.
Giới thiệu mục tiêu theo luồng: người dùng chọn ảnh, trình duyệt gửi request, Express và Multer xử lý, đường dẫn được lưu vào SQL Server, giao diện hiển thị ảnh.
Không yêu cầu các em thuộc tất cả cú pháp. Cần nhớ vai trò của công cụ, luồng request và cách kiểm tra code AI. Bộ slide này là lý thuyết; tài liệu thực hành Vibe Coding sẽ được phát riêng.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Nêu rõ mục tiêu kiến thức, không biến bài này thành một khóa học React chuyên sâu. Sinh viên cần biết Multer được dùng lúc nào, file được lưu ở đâu, vì sao dùng SQL Server để lưu đường dẫn và Axios nằm ở phía nào.
Mỗi mục tiêu tương ứng một câu hỏi kiểm tra: request upload khác JSON ra sao; Multer tạo ra req.file khi nào; lưu nguyên ảnh trong SQL Server có phải yêu cầu bài này không; CORS có thay JWT không; AI viết code thì cần kiểm thử gì.</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PHÚT. Liên hệ Chương 6: Authentication trả lời bạn là ai, Authorization trả lời bạn được phép làm gì. JWT từ buổi trước được đính trong Authorization: Bearer &lt;token&gt; và isAuth xác minh chữ ký, hạn dùng và những ràng buộc thích hợp.
Ở route ví dụ, isAuth được chạy trước upload.single. Nếu không có danh tính hợp lệ, request không được đi đến bước lưu file. Nhưng isAuth chỉ xác minh người dùng đã đăng nhập: Controller vẫn phải dùng chính danh tính xác minh từ token để sửa avatar của người đó, không tin một userId tùy ý do client gửi.
Hỏi sinh viên: một tài khoản thường có thể gọi API xóa tài khoản admin không? Không; Backend phải áp dụng authorization. Phân biệt 401 khi xác thực thiếu/sai và 403 khi đã xác thực nhưng bị từ chối quyền.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PHÚT. Giải thích từ trái qua phải. Trình duyệt chạy React; Axios là một thư viện gửi HTTP. Express nhận request, route tìm đúng endpoint, middleware xác thực hoặc xử lý dữ liệu, controller và service xử lý nghiệp vụ, Sequelize làm việc với SQL Server.
Đây là cấu trúc gần giống project đã học: Route → Middleware → Controller → Service → Sequelize → SQL Server. React hoàn toàn không cầm thông tin truy cập database; đó là bí mật chỉ Backend quản lý.
Đọc một request cụ thể: GET /api/v1/sinh-vien, header có Bearer nếu API được bảo vệ, response trả JSON. Dừng vài giây để sinh viên nói vị trí của Multer: Multer nằm trong chuỗi middleware tại Express.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PHÚT. Nhắc HTTP request gồm method, URL, headers và body khi có. Các bài trước làm POST JSON nên express.json đọc được và chúng ta truy cập req.body. Khi người dùng chọn file ảnh, trình duyệt thường gửi multipart/form-data. Dữ liệu được chia thành nhiều phần, mỗi phần có thể là field text hoặc file.
Chỉ ra dữ liệu JSON ở trái và body multipart ở phải. Không yêu cầu sinh viên nhớ định dạng boundary byte-for-byte. Các em chỉ cần hiểu cơ chế: biểu mẫu có thể chứa cả trường và file, Express cần middleware thích hợp để đọc.
Hỏi: nếu dùng express.json mà không có Multer, file được tự lưu không? Không.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Đây là một đoạn code ngắn đủ để sinh viên đọc hiểu. File nhận từ thao tác chọn file. `new FormData()` tạo đối tượng biểu mẫu. `append("avatar", file)` đưa file vào trường có tên avatar. Tên trường này phải trùng với upload.single("avatar") của Multer.
Lưu ý khi dùng Axios trên trình duyệt: không tự gán Content-Type multipart/form-data thiếu boundary. Trình duyệt sẽ tạo header chính xác khi gửi FormData. Nếu cần trường văn bản, có thể append thêm fullName, description…
Đặt câu hỏi: nếu frontend append("photo", file) nhưng backend dùng single("avatar"), điều gì xảy ra? Multer không tìm được trường như dự kiến hoặc phát sinh lỗi không đúng field.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PHÚT. Đây là nội dung trọng tâm. Multer là middleware xử lý multipart/form-data trong Express. Route đăng ký POST; isAuth kiểm tra token; upload.single nhận một trường file; uploadAvatar là Controller được gọi sau đó.
Liên hệ quy tắc req, res, next đã học ở Middleware &amp; Validation. Middleware nhận request và có thể dừng hoặc cho đi tiếp. Sau khi upload.single hoàn thành, thông tin file trên đĩa được gắn vào req.file; các text field thường có trong req.body. Khi có lỗi như quá kích thước hoặc sai trường file, xử lý lỗi phải trả response đúng, không cho Controller tiếp tục bình thường.
Giải nghĩa từng phần `router.post`, `"/me/avatar"`, `isAuth`, `upload.single`, `uploadAvatar`. Hỏi sinh viên: bỏ isAuth sẽ có rủi ro gì? Bất kỳ request phù hợp có thể qua đến bước tiếp nhận file, trừ khi có bảo vệ khác.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Với mô hình bài học, ảnh được lưu vào thư mục public/uploads của Server. SQL Server không lưu cả file JPEG ở cột Avatar mà chỉ lưu chuỗi đường dẫn. Khi client gọi API GET User, backend trả avatarUrl và giao diện hiển thị ảnh theo địa chỉ công khai.
Phân biệt đường dẫn vật lý (nơi hệ điều hành lưu file) và đường dẫn URL (được Express định tuyến ra Internet). Ví dụ app.use("/uploads", express.static("public/uploads")) cho phép URL /uploads/… trỏ đến file vật lý tương ứng.
Lưu ý lớn hơn: đây là giải pháp lưu trữ local phù hợp cho bài tập và một số hệ thống. Khi deploy nhiều instance hoặc lên dịch vụ có ổ đĩa tạm, cần xem xét object storage. Nhưng phạm vi bài này chỉ nói rõ local storage + SQL Server lưu đường dẫn.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PHÚT. Đây là bảng minh họa User, không phải bằng chứng project của tất cả sinh viên đã có cột avatarUrl. Nếu cần, bài thực hành sau sẽ hướng dẫn cách bổ sung cột qua thay đổi schema an toàn, không được dùng sequelize.sync({force:true}) làm mất dữ liệu.
Một luồng đúng: Multer lưu file sau khi kiểm tra; Controller/Service nhận thông tin file và danh tính người dùng do isAuth cung cấp; Service cập nhật đúng tài khoản trong Database; API trả về đường dẫn ảnh. Nếu cập nhật DB thất bại, cần có phương án dọn file không còn được tham chiếu.
Hỏi sinh viên: vì sao không lấy userId tùy ý từ req.body? Nếu tin Client, một người dùng có thể thay ảnh đại diện của người khác. Xác minh JWT rồi chọn đúng tài khoản của người yêu cầu.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PHÚT. Phân biệt giới hạn dung lượng 2MB và định dạng file. `limits.fileSize: 2 * 1024 * 1024` đặt hạn mức theo byte. Khi vượt quá giới hạn, Multer phát lỗi LIMIT_FILE_SIZE, Error Handler cần trả lỗi rõ ràng; không để thành 500 chung chung.
Với định dạng, fileFilter có thể chặn MIME không được phép, nhưng MIME và phần mở rộng từ Client đều có thể bị giả. Ở môi trường thực tế nên kiểm tra file signature/nội dung và có biện pháp xử lý ảnh thích hợp trước khi công khai file. Tạo tên duy nhất, tránh chấp nhận đường dẫn tương đối do Client đặt. Nếu file ảnh được công khai, không được tin là thông tin cá nhân riêng tư.
Về quyền, xác thực bằng isAuth trước khi Multer lưu. Backend phải bảo vệ đường dẫn upload và tránh phục vụ tùy ý các tệp thực thi. Đặt câu hỏi: file có tên malware.jpg có thể luôn tin nó là ảnh không? Không.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Sinh viên thường gọi chung tất cả là React hoặc Frontend. Cần phân biệt Vite là công cụ phục vụ việc phát triển và build, React giúp tạo UI bằng component, Axios gửi HTTP request từ ứng dụng, Express chạy API phía Server. Không nên dạy kỹ React hooks trong bài này.
Một ứng dụng web có thể có nhiều cách tổ chức, nhưng project này cố ý tách Frontend Vite và Backend Express. Khi trình duyệt chạy ở cổng 5173 và API ở 5000, hai Origin khác nhau. Đó là lý do dẫn đến bài CORS ở slide tiếp theo.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PHÚT. Origin gồm scheme, host và port. http://localhost:5173 và http://localhost:5000 khác port nên khác Origin. Browser áp dụng chính sách Same-Origin và cơ chế CORS; Backend khai báo cho phép Origin nào đọc tài nguyên. Có những trường hợp trình duyệt gửi preflight OPTIONS trước request thật.
Đọc cấu hình app.use(cors({origin: "http://localhost:5173"})). Cấu hình phải đặt trước các Route dùng đến nó. Bài mẫu dùng Origin cố định trong phát triển. Khi triển khai cần áp dụng danh sách Origin phù hợp thực tế.
Điểm dễ nhầm nhất: Postman test thành công nhưng React báo CORS. Không phải JWT lỗi. CORS không xác thực người dùng; Request từ Client bên ngoài trình duyệt có thể gửi trực tiếp, nên JWT và phân quyền Backend vẫn bắt buộc.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PHÚT. API GET danh sách từ Chương 4 đã quy định success/message/data và trong trường hợp danh sách data luôn là mảng, kể cả mảng rỗng. Ở frontend Axios đặt HTTP response vào biến response. response.data là body JSON; response.data.data là mảng sinh viên theo hợp đồng cũ.
Nếu API có isAuth, Axios còn cần gửi Authorization Bearer. Ví dụ trên chỉ trình bày luồng GET; đừng hiểu là endpoint luôn phải public. React lấy mảng về rồi render danh sách. Khi chưa có dữ liệu cần hiển thị trạng thái rỗng và loading, khi request lỗi cần thông báo thay vì crash.
Hỏi sinh viên: vì sao gọi response.data.data? Vì có hai lớp data khác nhau: `response.data` theo đối tượng Axios và `data` của hợp đồng JSON Backend.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PHÚT. Ôn lại cơ chế token từ Chương 6. Người dùng đăng nhập: client gửi email mật khẩu, Backend xác minh passwordHash, ký JWT và trả access token. Sau đó Axios gửi header Authorization: Bearer &lt;token&gt; cho API được bảo vệ. Middleware isAuth sẽ xác minh token và gắn thông tin đã xác thực vào request.
Không nên bảo sinh viên luôn lưu access token trong localStorage mà không bàn rủi ro; ở mức minh họa có thể giữ token trong state, còn chiến lược phiên và cookie cần thiết kế đúng khi phát triển ứng dụng thực.
401 khác 403: không có hoặc JWT không hợp lệ là 401; đã xác thực nhưng không đủ quyền là 403. Không bỏ isAuth/isAdmin chỉ vì giao diện gọi lỗi.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PHÚT. Đây là slide tổng hợp. Dẫn sinh viên đọc theo luồng từ trái sang phải: người dùng chọn ảnh, React tạo FormData, Axios gửi POST với Bearer JWT, Express kiểm tra token qua isAuth, Multer đọc multipart và kiểm tra file, Service cập nhật đường dẫn ảnh cho đúng user trong SQL Server, API trả URL và React hiển thị hình.
Lưu file vào thư mục local và cập nhật DB là hai tác vụ khác nhau; hoàn thành bước này không tự bảo đảm bước kia đúng. Cần kiểm thử thực tế: có file trong uploads? URL có mở được? SQL Server lưu URL đúng user? JWT thiếu có bị từ chối? File quá 2MB có được thông báo chính xác?
Đặt câu hỏi cuối phần: nếu thấy ảnh trong thư mục nhưng UI vẫn không hiện thì kiểm tra gì? Có thể đường dẫn trả về sai, chưa cấu hình express.static, frontend dùng sai URL hoặc lỗi CORS.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Kiểm tra nhanh, không cần cho sinh viên viết code ở phần tổng kết. Câu 1: thông thường isAuth nên kiểm tra JWT trước khi Multer tiếp nhận và lưu file. Câu 2: không; CORS chỉ là cơ chế trình duyệt cho request chéo Origin, còn JWT xác minh danh tính. Câu 3: file nằm trên ổ đĩa; SQL Server lưu chuỗi avatarUrl trong ví dụ này.
Hãy nhắc lại nguyên tắc Vibe Coding xuyên suốt học phần: hiểu mục tiêu trước, chia việc rõ, yêu cầu AI đọc project thật, không tạo lại hệ thống đang hoạt động, chạy build và kiểm thử lỗi/thành công. Giao bài thực hành sau phần lý thuyết bằng một tài liệu riêng, không đưa đề chi tiết vào slide này.
Kết: buổi này không kết thúc ở việc upload file thành công, mà ở chỗ Frontend–Backend–Database tương tác được và chúng ta biết cách chứng minh kết quả.</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B58A1A"/>
          </a:solidFill>
          <a:ln w="12700">
            <a:solidFill>
              <a:srgbClr val="B58A1A">
                <a:alpha val="0"/>
              </a:srgbClr>
            </a:solidFill>
            <a:prstDash val="solid"/>
          </a:ln>
        </p:spPr>
        <p:txBody>
          <a:bodyPr/>
          <a:lstStyle/>
          <a:p>
            <a:endParaRPr lang="en-US"/>
          </a:p>
        </p:txBody>
      </p:sp>
      <p:pic>
        <p:nvPicPr>
          <p:cNvPr id="3" name="Image 0" descr="/mnt/data/slide_work/cover_bg.jpg"/>
          <p:cNvPicPr>
            <a:picLocks noChangeAspect="1"/>
          </p:cNvPicPr>
          <p:nvPr/>
        </p:nvPicPr>
        <p:blipFill>
          <a:blip r:embed="rId3"/>
          <a:stretch>
            <a:fillRect/>
          </a:stretch>
        </p:blipFill>
        <p:spPr>
          <a:xfrm>
            <a:off x="6729984" y="0"/>
            <a:ext cx="5468112" cy="6858000"/>
          </a:xfrm>
          <a:prstGeom prst="rect">
            <a:avLst/>
          </a:prstGeom>
        </p:spPr>
      </p:pic>
      <p:sp>
        <p:nvSpPr>
          <p:cNvPr id="4" name="Shape 1"/>
          <p:cNvSpPr/>
          <p:nvPr/>
        </p:nvSpPr>
        <p:spPr>
          <a:xfrm>
            <a:off x="6729984" y="0"/>
            <a:ext cx="5468112" cy="6858000"/>
          </a:xfrm>
          <a:prstGeom prst="rect">
            <a:avLst/>
          </a:prstGeom>
          <a:solidFill>
            <a:srgbClr val="0D2543">
              <a:alpha val="58000"/>
            </a:srgbClr>
          </a:solidFill>
          <a:ln w="12700">
            <a:solidFill>
              <a:srgbClr val="0D2543">
                <a:alpha val="0"/>
              </a:srgbClr>
            </a:solidFill>
            <a:prstDash val="solid"/>
          </a:ln>
        </p:spPr>
        <p:txBody>
          <a:bodyPr/>
          <a:lstStyle/>
          <a:p>
            <a:endParaRPr lang="en-US"/>
          </a:p>
        </p:txBody>
      </p:sp>
      <p:sp>
        <p:nvSpPr>
          <p:cNvPr id="5" name="Text 2"/>
          <p:cNvSpPr/>
          <p:nvPr/>
        </p:nvSpPr>
        <p:spPr>
          <a:xfrm>
            <a:off x="585216" y="914400"/>
            <a:ext cx="5705856" cy="310896"/>
          </a:xfrm>
          <a:prstGeom prst="rect">
            <a:avLst/>
          </a:prstGeom>
          <a:noFill/>
          <a:ln/>
        </p:spPr>
        <p:txBody>
          <a:bodyPr wrap="square" lIns="0" tIns="0" rIns="0" bIns="0" rtlCol="0" anchor="ctr">
            <a:normAutofit/>
          </a:bodyPr>
          <a:lstStyle/>
          <a:p>
            <a:pPr marL="0" indent="0">
              <a:buNone/>
            </a:pPr>
            <a:r>
              <a:rPr lang="en-US" sz="1550" b="1" kern="0" spc="140" dirty="0">
                <a:solidFill>
                  <a:srgbClr val="B58A1A"/>
                </a:solidFill>
                <a:latin typeface="Arial" pitchFamily="34" charset="0"/>
                <a:ea typeface="Arial" pitchFamily="34" charset="-122"/>
                <a:cs typeface="Arial" pitchFamily="34" charset="-120"/>
              </a:rPr>
              <a:t>HỌC PHẦN LẬP TRÌNH BACKEND</a:t>
            </a:r>
            <a:endParaRPr lang="en-US" sz="1550" dirty="0"/>
          </a:p>
        </p:txBody>
      </p:sp>
      <p:sp>
        <p:nvSpPr>
          <p:cNvPr id="6" name="Text 3"/>
          <p:cNvSpPr/>
          <p:nvPr/>
        </p:nvSpPr>
        <p:spPr>
          <a:xfrm>
            <a:off x="585216" y="1572768"/>
            <a:ext cx="5943600" cy="1920240"/>
          </a:xfrm>
          <a:prstGeom prst="rect">
            <a:avLst/>
          </a:prstGeom>
          <a:noFill/>
          <a:ln/>
        </p:spPr>
        <p:txBody>
          <a:bodyPr wrap="square" lIns="0" tIns="0" rIns="0" bIns="0" rtlCol="0" anchor="ctr">
            <a:normAutofit/>
          </a:bodyPr>
          <a:lstStyle/>
          <a:p>
            <a:pPr marL="0" indent="0">
              <a:buNone/>
            </a:pPr>
            <a:r>
              <a:rPr lang="en-US" sz="3100" b="1" dirty="0">
                <a:solidFill>
                  <a:srgbClr val="15365E"/>
                </a:solidFill>
                <a:latin typeface="Arial" pitchFamily="34" charset="0"/>
                <a:ea typeface="Arial" pitchFamily="34" charset="-122"/>
                <a:cs typeface="Arial" pitchFamily="34" charset="-120"/>
              </a:rPr>
              <a:t>UPLOAD HÌNH ẢNH</a:t>
            </a:r>
            <a:endParaRPr lang="en-US" sz="3100" dirty="0"/>
          </a:p>
          <a:p>
            <a:pPr marL="0" indent="0">
              <a:buNone/>
            </a:pPr>
            <a:r>
              <a:rPr lang="en-US" sz="3100" b="1" dirty="0">
                <a:solidFill>
                  <a:srgbClr val="15365E"/>
                </a:solidFill>
                <a:latin typeface="Arial" pitchFamily="34" charset="0"/>
                <a:ea typeface="Arial" pitchFamily="34" charset="-122"/>
                <a:cs typeface="Arial" pitchFamily="34" charset="-120"/>
              </a:rPr>
              <a:t>&amp; KẾT NỐI</a:t>
            </a:r>
            <a:endParaRPr lang="en-US" sz="3100" dirty="0"/>
          </a:p>
          <a:p>
            <a:pPr marL="0" indent="0">
              <a:buNone/>
            </a:pPr>
            <a:r>
              <a:rPr lang="en-US" sz="3100" b="1" dirty="0">
                <a:solidFill>
                  <a:srgbClr val="15365E"/>
                </a:solidFill>
                <a:latin typeface="Arial" pitchFamily="34" charset="0"/>
                <a:ea typeface="Arial" pitchFamily="34" charset="-122"/>
                <a:cs typeface="Arial" pitchFamily="34" charset="-120"/>
              </a:rPr>
              <a:t>FRONTEND – BACKEND</a:t>
            </a:r>
            <a:endParaRPr lang="en-US" sz="3100" dirty="0"/>
          </a:p>
        </p:txBody>
      </p:sp>
      <p:sp>
        <p:nvSpPr>
          <p:cNvPr id="7" name="Text 4"/>
          <p:cNvSpPr/>
          <p:nvPr/>
        </p:nvSpPr>
        <p:spPr>
          <a:xfrm>
            <a:off x="612648" y="3941064"/>
            <a:ext cx="5577840" cy="347472"/>
          </a:xfrm>
          <a:prstGeom prst="rect">
            <a:avLst/>
          </a:prstGeom>
          <a:noFill/>
          <a:ln/>
        </p:spPr>
        <p:txBody>
          <a:bodyPr wrap="square" lIns="0" tIns="0" rIns="0" bIns="0" rtlCol="0" anchor="ctr">
            <a:normAutofit/>
          </a:bodyPr>
          <a:lstStyle/>
          <a:p>
            <a:pPr marL="0" indent="0">
              <a:buNone/>
            </a:pPr>
            <a:r>
              <a:rPr lang="en-US" sz="1700" dirty="0">
                <a:solidFill>
                  <a:srgbClr val="62738C"/>
                </a:solidFill>
                <a:latin typeface="Arial" pitchFamily="34" charset="0"/>
                <a:ea typeface="Arial" pitchFamily="34" charset="-122"/>
                <a:cs typeface="Arial" pitchFamily="34" charset="-120"/>
              </a:rPr>
              <a:t>Multer  ·  Vite  ·  React  ·  Axios  ·  CORS</a:t>
            </a:r>
            <a:endParaRPr lang="en-US" sz="1700" dirty="0"/>
          </a:p>
        </p:txBody>
      </p:sp>
      <p:sp>
        <p:nvSpPr>
          <p:cNvPr id="8" name="Shape 5"/>
          <p:cNvSpPr/>
          <p:nvPr/>
        </p:nvSpPr>
        <p:spPr>
          <a:xfrm>
            <a:off x="603504" y="4773168"/>
            <a:ext cx="2423160"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9" name="Text 6"/>
          <p:cNvSpPr/>
          <p:nvPr/>
        </p:nvSpPr>
        <p:spPr>
          <a:xfrm>
            <a:off x="713232" y="4773168"/>
            <a:ext cx="2203704"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NODE.JS + TYPESCRIPT</a:t>
            </a:r>
            <a:endParaRPr lang="en-US" sz="1200" dirty="0"/>
          </a:p>
        </p:txBody>
      </p:sp>
      <p:sp>
        <p:nvSpPr>
          <p:cNvPr id="12" name="Shape 9"/>
          <p:cNvSpPr/>
          <p:nvPr/>
        </p:nvSpPr>
        <p:spPr>
          <a:xfrm>
            <a:off x="7498080" y="2011680"/>
            <a:ext cx="3977640" cy="2560320"/>
          </a:xfrm>
          <a:prstGeom prst="roundRect">
            <a:avLst>
              <a:gd name="adj" fmla="val 4643"/>
            </a:avLst>
          </a:prstGeom>
          <a:solidFill>
            <a:srgbClr val="15365E"/>
          </a:solidFill>
          <a:ln w="11430">
            <a:solidFill>
              <a:srgbClr val="4E80B4"/>
            </a:solidFill>
            <a:prstDash val="solid"/>
          </a:ln>
        </p:spPr>
        <p:txBody>
          <a:bodyPr/>
          <a:lstStyle/>
          <a:p>
            <a:endParaRPr lang="en-US"/>
          </a:p>
        </p:txBody>
      </p:sp>
      <p:sp>
        <p:nvSpPr>
          <p:cNvPr id="13" name="Shape 10"/>
          <p:cNvSpPr/>
          <p:nvPr/>
        </p:nvSpPr>
        <p:spPr>
          <a:xfrm>
            <a:off x="8595360" y="2331720"/>
            <a:ext cx="1691640" cy="1691640"/>
          </a:xfrm>
          <a:prstGeom prst="ellipse">
            <a:avLst/>
          </a:prstGeom>
          <a:solidFill>
            <a:srgbClr val="244F7B"/>
          </a:solidFill>
          <a:ln w="25400">
            <a:solidFill>
              <a:srgbClr val="B58A1A"/>
            </a:solidFill>
            <a:prstDash val="solid"/>
          </a:ln>
        </p:spPr>
        <p:txBody>
          <a:bodyPr/>
          <a:lstStyle/>
          <a:p>
            <a:endParaRPr lang="en-US"/>
          </a:p>
        </p:txBody>
      </p:sp>
      <p:sp>
        <p:nvSpPr>
          <p:cNvPr id="14" name="Text 11"/>
          <p:cNvSpPr/>
          <p:nvPr/>
        </p:nvSpPr>
        <p:spPr>
          <a:xfrm>
            <a:off x="8823960" y="2432304"/>
            <a:ext cx="1234440" cy="960120"/>
          </a:xfrm>
          <a:prstGeom prst="rect">
            <a:avLst/>
          </a:prstGeom>
          <a:noFill/>
          <a:ln/>
        </p:spPr>
        <p:txBody>
          <a:bodyPr wrap="square" lIns="0" tIns="0" rIns="0" bIns="0" rtlCol="0" anchor="ctr">
            <a:normAutofit/>
          </a:bodyPr>
          <a:lstStyle/>
          <a:p>
            <a:pPr marL="0" indent="0" algn="ctr">
              <a:buNone/>
            </a:pPr>
            <a:r>
              <a:rPr lang="en-US" sz="5900" b="1" dirty="0">
                <a:solidFill>
                  <a:srgbClr val="FFFFFF"/>
                </a:solidFill>
                <a:latin typeface="Arial" pitchFamily="34" charset="0"/>
                <a:ea typeface="Arial" pitchFamily="34" charset="-122"/>
                <a:cs typeface="Arial" pitchFamily="34" charset="-120"/>
              </a:rPr>
              <a:t>⇧</a:t>
            </a:r>
            <a:endParaRPr lang="en-US" sz="5900" dirty="0"/>
          </a:p>
        </p:txBody>
      </p:sp>
      <p:sp>
        <p:nvSpPr>
          <p:cNvPr id="15" name="Text 12"/>
          <p:cNvSpPr/>
          <p:nvPr/>
        </p:nvSpPr>
        <p:spPr>
          <a:xfrm>
            <a:off x="7644384" y="4059936"/>
            <a:ext cx="3657600" cy="283464"/>
          </a:xfrm>
          <a:prstGeom prst="rect">
            <a:avLst/>
          </a:prstGeom>
          <a:noFill/>
          <a:ln/>
        </p:spPr>
        <p:txBody>
          <a:bodyPr wrap="square" lIns="0" tIns="0" rIns="0" bIns="0" rtlCol="0" anchor="ctr">
            <a:normAutofit/>
          </a:bodyPr>
          <a:lstStyle/>
          <a:p>
            <a:pPr marL="0" indent="0" algn="ctr">
              <a:buNone/>
            </a:pPr>
            <a:r>
              <a:rPr lang="en-US" sz="1740" b="1" dirty="0">
                <a:solidFill>
                  <a:srgbClr val="FFFFFF"/>
                </a:solidFill>
                <a:latin typeface="Arial" pitchFamily="34" charset="0"/>
                <a:ea typeface="Arial" pitchFamily="34" charset="-122"/>
                <a:cs typeface="Arial" pitchFamily="34" charset="-120"/>
              </a:rPr>
              <a:t>FILE → API → UI</a:t>
            </a:r>
            <a:endParaRPr lang="en-US" sz="1740" dirty="0"/>
          </a:p>
        </p:txBody>
      </p:sp>
      <p:sp>
        <p:nvSpPr>
          <p:cNvPr id="16" name="Text 13"/>
          <p:cNvSpPr/>
          <p:nvPr/>
        </p:nvSpPr>
        <p:spPr>
          <a:xfrm>
            <a:off x="612648" y="6099048"/>
            <a:ext cx="5779008" cy="274320"/>
          </a:xfrm>
          <a:prstGeom prst="rect">
            <a:avLst/>
          </a:prstGeom>
          <a:noFill/>
          <a:ln/>
        </p:spPr>
        <p:txBody>
          <a:bodyPr wrap="square" lIns="0" tIns="0" rIns="0" bIns="0" rtlCol="0" anchor="ctr">
            <a:normAutofit/>
          </a:bodyPr>
          <a:lstStyle/>
          <a:p>
            <a:pPr marL="0" indent="0">
              <a:buNone/>
            </a:pPr>
            <a:r>
              <a:rPr lang="en-US" sz="1300" dirty="0">
                <a:solidFill>
                  <a:srgbClr val="62738C"/>
                </a:solidFill>
                <a:latin typeface="Arial" pitchFamily="34" charset="0"/>
                <a:ea typeface="Arial" pitchFamily="34" charset="-122"/>
                <a:cs typeface="Arial" pitchFamily="34" charset="-120"/>
              </a:rPr>
              <a:t>Lý thuyết &amp; minh họa  •  40–45 phút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a:t>
            </a:r>
            <a:r>
              <a:rPr lang="en-US" sz="1230" b="1" kern="0" spc="100">
                <a:solidFill>
                  <a:srgbClr val="B58A1A"/>
                </a:solidFill>
                <a:latin typeface="Arial" pitchFamily="34" charset="0"/>
                <a:ea typeface="Arial" pitchFamily="34" charset="-122"/>
                <a:cs typeface="Arial" pitchFamily="34" charset="-120"/>
              </a:rPr>
              <a:t>TRÌNH BACKEND</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GIỚI THIỆU</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Mục tiêu sau bài học</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Hiểu cách các thành phần phối hợp, trước khi yêu cầu AI viết code.</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02 / 16    ·    2 phút</a:t>
            </a:r>
            <a:endParaRPr lang="en-US" sz="950" dirty="0"/>
          </a:p>
        </p:txBody>
      </p:sp>
      <p:sp>
        <p:nvSpPr>
          <p:cNvPr id="10" name="Shape 8"/>
          <p:cNvSpPr/>
          <p:nvPr/>
        </p:nvSpPr>
        <p:spPr>
          <a:xfrm>
            <a:off x="521208" y="1865376"/>
            <a:ext cx="361188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722376" y="2029968"/>
            <a:ext cx="53035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12" name="Text 10"/>
          <p:cNvSpPr/>
          <p:nvPr/>
        </p:nvSpPr>
        <p:spPr>
          <a:xfrm>
            <a:off x="832104" y="2029968"/>
            <a:ext cx="310896"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01</a:t>
            </a:r>
            <a:endParaRPr lang="en-US" sz="1200" dirty="0"/>
          </a:p>
        </p:txBody>
      </p:sp>
      <p:sp>
        <p:nvSpPr>
          <p:cNvPr id="13" name="Text 11"/>
          <p:cNvSpPr/>
          <p:nvPr/>
        </p:nvSpPr>
        <p:spPr>
          <a:xfrm>
            <a:off x="1408176" y="2066544"/>
            <a:ext cx="2514600" cy="384048"/>
          </a:xfrm>
          <a:prstGeom prst="rect">
            <a:avLst/>
          </a:prstGeom>
          <a:noFill/>
          <a:ln/>
        </p:spPr>
        <p:txBody>
          <a:bodyPr wrap="square" lIns="0" tIns="0" rIns="0" bIns="0" rtlCol="0" anchor="ctr">
            <a:normAutofit/>
          </a:bodyPr>
          <a:lstStyle/>
          <a:p>
            <a:pPr marL="0" indent="0">
              <a:buNone/>
            </a:pPr>
            <a:r>
              <a:rPr lang="en-US" sz="1700" b="1" dirty="0">
                <a:solidFill>
                  <a:srgbClr val="15365E"/>
                </a:solidFill>
                <a:latin typeface="Arial" pitchFamily="34" charset="0"/>
                <a:ea typeface="Arial" pitchFamily="34" charset="-122"/>
                <a:cs typeface="Arial" pitchFamily="34" charset="-120"/>
              </a:rPr>
              <a:t>Hiểu Request chứa file</a:t>
            </a:r>
            <a:endParaRPr lang="en-US" sz="1700" dirty="0"/>
          </a:p>
        </p:txBody>
      </p:sp>
      <p:sp>
        <p:nvSpPr>
          <p:cNvPr id="14" name="Text 12"/>
          <p:cNvSpPr/>
          <p:nvPr/>
        </p:nvSpPr>
        <p:spPr>
          <a:xfrm>
            <a:off x="722376" y="2651760"/>
            <a:ext cx="3218688" cy="246888"/>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JSON khác multipart/form-data.</a:t>
            </a:r>
            <a:endParaRPr lang="en-US" sz="1230" dirty="0"/>
          </a:p>
        </p:txBody>
      </p:sp>
      <p:sp>
        <p:nvSpPr>
          <p:cNvPr id="15" name="Shape 13"/>
          <p:cNvSpPr/>
          <p:nvPr/>
        </p:nvSpPr>
        <p:spPr>
          <a:xfrm>
            <a:off x="4389120" y="1865376"/>
            <a:ext cx="361188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16" name="Shape 14"/>
          <p:cNvSpPr/>
          <p:nvPr/>
        </p:nvSpPr>
        <p:spPr>
          <a:xfrm>
            <a:off x="4590288" y="2029968"/>
            <a:ext cx="53035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17" name="Text 15"/>
          <p:cNvSpPr/>
          <p:nvPr/>
        </p:nvSpPr>
        <p:spPr>
          <a:xfrm>
            <a:off x="4700016" y="2029968"/>
            <a:ext cx="310896"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02</a:t>
            </a:r>
            <a:endParaRPr lang="en-US" sz="1200" dirty="0"/>
          </a:p>
        </p:txBody>
      </p:sp>
      <p:sp>
        <p:nvSpPr>
          <p:cNvPr id="18" name="Text 16"/>
          <p:cNvSpPr/>
          <p:nvPr/>
        </p:nvSpPr>
        <p:spPr>
          <a:xfrm>
            <a:off x="5276088" y="2066544"/>
            <a:ext cx="2514600" cy="384048"/>
          </a:xfrm>
          <a:prstGeom prst="rect">
            <a:avLst/>
          </a:prstGeom>
          <a:noFill/>
          <a:ln/>
        </p:spPr>
        <p:txBody>
          <a:bodyPr wrap="square" lIns="0" tIns="0" rIns="0" bIns="0" rtlCol="0" anchor="ctr">
            <a:normAutofit/>
          </a:bodyPr>
          <a:lstStyle/>
          <a:p>
            <a:pPr marL="0" indent="0">
              <a:buNone/>
            </a:pPr>
            <a:r>
              <a:rPr lang="en-US" sz="1700" b="1" dirty="0">
                <a:solidFill>
                  <a:srgbClr val="15365E"/>
                </a:solidFill>
                <a:latin typeface="Arial" pitchFamily="34" charset="0"/>
                <a:ea typeface="Arial" pitchFamily="34" charset="-122"/>
                <a:cs typeface="Arial" pitchFamily="34" charset="-120"/>
              </a:rPr>
              <a:t>Giải thích vai trò Multer</a:t>
            </a:r>
            <a:endParaRPr lang="en-US" sz="1700" dirty="0"/>
          </a:p>
        </p:txBody>
      </p:sp>
      <p:sp>
        <p:nvSpPr>
          <p:cNvPr id="19" name="Text 17"/>
          <p:cNvSpPr/>
          <p:nvPr/>
        </p:nvSpPr>
        <p:spPr>
          <a:xfrm>
            <a:off x="4590288" y="2651760"/>
            <a:ext cx="3218688" cy="246888"/>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Middleware tiếp nhận file upload.</a:t>
            </a:r>
            <a:endParaRPr lang="en-US" sz="1230" dirty="0"/>
          </a:p>
        </p:txBody>
      </p:sp>
      <p:sp>
        <p:nvSpPr>
          <p:cNvPr id="20" name="Shape 18"/>
          <p:cNvSpPr/>
          <p:nvPr/>
        </p:nvSpPr>
        <p:spPr>
          <a:xfrm>
            <a:off x="8257032" y="1865376"/>
            <a:ext cx="361188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21" name="Shape 19"/>
          <p:cNvSpPr/>
          <p:nvPr/>
        </p:nvSpPr>
        <p:spPr>
          <a:xfrm>
            <a:off x="8458200" y="2029968"/>
            <a:ext cx="53035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22" name="Text 20"/>
          <p:cNvSpPr/>
          <p:nvPr/>
        </p:nvSpPr>
        <p:spPr>
          <a:xfrm>
            <a:off x="8567928" y="2029968"/>
            <a:ext cx="310896"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03</a:t>
            </a:r>
            <a:endParaRPr lang="en-US" sz="1200" dirty="0"/>
          </a:p>
        </p:txBody>
      </p:sp>
      <p:sp>
        <p:nvSpPr>
          <p:cNvPr id="23" name="Text 21"/>
          <p:cNvSpPr/>
          <p:nvPr/>
        </p:nvSpPr>
        <p:spPr>
          <a:xfrm>
            <a:off x="9144000" y="2066544"/>
            <a:ext cx="2514600" cy="384048"/>
          </a:xfrm>
          <a:prstGeom prst="rect">
            <a:avLst/>
          </a:prstGeom>
          <a:noFill/>
          <a:ln/>
        </p:spPr>
        <p:txBody>
          <a:bodyPr wrap="square" lIns="0" tIns="0" rIns="0" bIns="0" rtlCol="0" anchor="ctr">
            <a:normAutofit/>
          </a:bodyPr>
          <a:lstStyle/>
          <a:p>
            <a:pPr marL="0" indent="0">
              <a:buNone/>
            </a:pPr>
            <a:r>
              <a:rPr lang="en-US" sz="1700" b="1" dirty="0">
                <a:solidFill>
                  <a:srgbClr val="15365E"/>
                </a:solidFill>
                <a:latin typeface="Arial" pitchFamily="34" charset="0"/>
                <a:ea typeface="Arial" pitchFamily="34" charset="-122"/>
                <a:cs typeface="Arial" pitchFamily="34" charset="-120"/>
              </a:rPr>
              <a:t>Biết lưu ảnh đúng chỗ</a:t>
            </a:r>
            <a:endParaRPr lang="en-US" sz="1700" dirty="0"/>
          </a:p>
        </p:txBody>
      </p:sp>
      <p:sp>
        <p:nvSpPr>
          <p:cNvPr id="24" name="Text 22"/>
          <p:cNvSpPr/>
          <p:nvPr/>
        </p:nvSpPr>
        <p:spPr>
          <a:xfrm>
            <a:off x="8458200" y="2651760"/>
            <a:ext cx="3218688" cy="246888"/>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Ổ đĩa lưu file, SQL Server lưu URL.</a:t>
            </a:r>
            <a:endParaRPr lang="en-US" sz="1230" dirty="0"/>
          </a:p>
        </p:txBody>
      </p:sp>
      <p:sp>
        <p:nvSpPr>
          <p:cNvPr id="25" name="Shape 23"/>
          <p:cNvSpPr/>
          <p:nvPr/>
        </p:nvSpPr>
        <p:spPr>
          <a:xfrm>
            <a:off x="521208" y="3392424"/>
            <a:ext cx="361188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26" name="Shape 24"/>
          <p:cNvSpPr/>
          <p:nvPr/>
        </p:nvSpPr>
        <p:spPr>
          <a:xfrm>
            <a:off x="722376" y="3557016"/>
            <a:ext cx="53035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27" name="Text 25"/>
          <p:cNvSpPr/>
          <p:nvPr/>
        </p:nvSpPr>
        <p:spPr>
          <a:xfrm>
            <a:off x="832104" y="3557016"/>
            <a:ext cx="310896"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04</a:t>
            </a:r>
            <a:endParaRPr lang="en-US" sz="1200" dirty="0"/>
          </a:p>
        </p:txBody>
      </p:sp>
      <p:sp>
        <p:nvSpPr>
          <p:cNvPr id="28" name="Text 26"/>
          <p:cNvSpPr/>
          <p:nvPr/>
        </p:nvSpPr>
        <p:spPr>
          <a:xfrm>
            <a:off x="1408176" y="3593592"/>
            <a:ext cx="2514600" cy="384048"/>
          </a:xfrm>
          <a:prstGeom prst="rect">
            <a:avLst/>
          </a:prstGeom>
          <a:noFill/>
          <a:ln/>
        </p:spPr>
        <p:txBody>
          <a:bodyPr wrap="square" lIns="0" tIns="0" rIns="0" bIns="0" rtlCol="0" anchor="ctr">
            <a:normAutofit/>
          </a:bodyPr>
          <a:lstStyle/>
          <a:p>
            <a:pPr marL="0" indent="0">
              <a:buNone/>
            </a:pPr>
            <a:r>
              <a:rPr lang="en-US" sz="1700" b="1" dirty="0">
                <a:solidFill>
                  <a:srgbClr val="15365E"/>
                </a:solidFill>
                <a:latin typeface="Arial" pitchFamily="34" charset="0"/>
                <a:ea typeface="Arial" pitchFamily="34" charset="-122"/>
                <a:cs typeface="Arial" pitchFamily="34" charset="-120"/>
              </a:rPr>
              <a:t>Hiểu CORS và Axios</a:t>
            </a:r>
            <a:endParaRPr lang="en-US" sz="1700" dirty="0"/>
          </a:p>
        </p:txBody>
      </p:sp>
      <p:sp>
        <p:nvSpPr>
          <p:cNvPr id="29" name="Text 27"/>
          <p:cNvSpPr/>
          <p:nvPr/>
        </p:nvSpPr>
        <p:spPr>
          <a:xfrm>
            <a:off x="722376" y="4178808"/>
            <a:ext cx="3218688" cy="246888"/>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Frontend gọi API thật từ trình duyệt.</a:t>
            </a:r>
            <a:endParaRPr lang="en-US" sz="1230" dirty="0"/>
          </a:p>
        </p:txBody>
      </p:sp>
      <p:sp>
        <p:nvSpPr>
          <p:cNvPr id="30" name="Shape 28"/>
          <p:cNvSpPr/>
          <p:nvPr/>
        </p:nvSpPr>
        <p:spPr>
          <a:xfrm>
            <a:off x="4389120" y="3392424"/>
            <a:ext cx="361188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31" name="Shape 29"/>
          <p:cNvSpPr/>
          <p:nvPr/>
        </p:nvSpPr>
        <p:spPr>
          <a:xfrm>
            <a:off x="4590288" y="3557016"/>
            <a:ext cx="53035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32" name="Text 30"/>
          <p:cNvSpPr/>
          <p:nvPr/>
        </p:nvSpPr>
        <p:spPr>
          <a:xfrm>
            <a:off x="4700016" y="3557016"/>
            <a:ext cx="310896"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05</a:t>
            </a:r>
            <a:endParaRPr lang="en-US" sz="1200" dirty="0"/>
          </a:p>
        </p:txBody>
      </p:sp>
      <p:sp>
        <p:nvSpPr>
          <p:cNvPr id="33" name="Text 31"/>
          <p:cNvSpPr/>
          <p:nvPr/>
        </p:nvSpPr>
        <p:spPr>
          <a:xfrm>
            <a:off x="5276088" y="3593592"/>
            <a:ext cx="2514600" cy="384048"/>
          </a:xfrm>
          <a:prstGeom prst="rect">
            <a:avLst/>
          </a:prstGeom>
          <a:noFill/>
          <a:ln/>
        </p:spPr>
        <p:txBody>
          <a:bodyPr wrap="square" lIns="0" tIns="0" rIns="0" bIns="0" rtlCol="0" anchor="ctr">
            <a:normAutofit fontScale="92500"/>
          </a:bodyPr>
          <a:lstStyle/>
          <a:p>
            <a:pPr marL="0" indent="0">
              <a:buNone/>
            </a:pPr>
            <a:r>
              <a:rPr lang="en-US" sz="1700" b="1" dirty="0">
                <a:solidFill>
                  <a:srgbClr val="15365E"/>
                </a:solidFill>
                <a:latin typeface="Arial" pitchFamily="34" charset="0"/>
                <a:ea typeface="Arial" pitchFamily="34" charset="-122"/>
                <a:cs typeface="Arial" pitchFamily="34" charset="-120"/>
              </a:rPr>
              <a:t>Kết hợp JWT &amp; review AI</a:t>
            </a:r>
            <a:endParaRPr lang="en-US" sz="1700" dirty="0"/>
          </a:p>
        </p:txBody>
      </p:sp>
      <p:sp>
        <p:nvSpPr>
          <p:cNvPr id="34" name="Text 32"/>
          <p:cNvSpPr/>
          <p:nvPr/>
        </p:nvSpPr>
        <p:spPr>
          <a:xfrm>
            <a:off x="4590288" y="4178808"/>
            <a:ext cx="3218688" cy="246888"/>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Giữ xác thực, phân quyền và kiểm thử.</a:t>
            </a:r>
            <a:endParaRPr lang="en-US" sz="1230" dirty="0"/>
          </a:p>
        </p:txBody>
      </p:sp>
      <p:sp>
        <p:nvSpPr>
          <p:cNvPr id="35" name="Shape 33"/>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36" name="Text 34"/>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37" name="Text 35"/>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Học cách phân tích hệ thống và kiểm chứng, không học thuộc code máy móc.</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a:t>
            </a:r>
            <a:r>
              <a:rPr lang="en-US" sz="1230" b="1" kern="0" spc="100">
                <a:solidFill>
                  <a:srgbClr val="B58A1A"/>
                </a:solidFill>
                <a:latin typeface="Arial" pitchFamily="34" charset="0"/>
                <a:ea typeface="Arial" pitchFamily="34" charset="-122"/>
                <a:cs typeface="Arial" pitchFamily="34" charset="-120"/>
              </a:rPr>
              <a:t>TRÌNH BACKEND</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ÔN TẬP BUỔI 7</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JWT và phân quyền vẫn là lớp bảo vệ</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Trước khi cho upload ảnh, Backend phải biết ai đang gửi yêu cầu.</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03 / 16    ·    3 phút</a:t>
            </a:r>
            <a:endParaRPr lang="en-US" sz="950" dirty="0"/>
          </a:p>
        </p:txBody>
      </p:sp>
      <p:sp>
        <p:nvSpPr>
          <p:cNvPr id="10" name="Shape 8"/>
          <p:cNvSpPr/>
          <p:nvPr/>
        </p:nvSpPr>
        <p:spPr>
          <a:xfrm>
            <a:off x="530352" y="1920240"/>
            <a:ext cx="5276088" cy="2240280"/>
          </a:xfrm>
          <a:prstGeom prst="roundRect">
            <a:avLst>
              <a:gd name="adj" fmla="val 5306"/>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777240" y="2130552"/>
            <a:ext cx="2103120"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12" name="Text 10"/>
          <p:cNvSpPr/>
          <p:nvPr/>
        </p:nvSpPr>
        <p:spPr>
          <a:xfrm>
            <a:off x="886968" y="2130552"/>
            <a:ext cx="1883664"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AUTHENTICATION</a:t>
            </a:r>
            <a:endParaRPr lang="en-US" sz="1200" dirty="0"/>
          </a:p>
        </p:txBody>
      </p:sp>
      <p:sp>
        <p:nvSpPr>
          <p:cNvPr id="13" name="Text 11"/>
          <p:cNvSpPr/>
          <p:nvPr/>
        </p:nvSpPr>
        <p:spPr>
          <a:xfrm>
            <a:off x="777240" y="2688336"/>
            <a:ext cx="4572000" cy="466344"/>
          </a:xfrm>
          <a:prstGeom prst="rect">
            <a:avLst/>
          </a:prstGeom>
          <a:noFill/>
          <a:ln/>
        </p:spPr>
        <p:txBody>
          <a:bodyPr wrap="square" lIns="0" tIns="0" rIns="0" bIns="0" rtlCol="0" anchor="ctr">
            <a:normAutofit/>
          </a:bodyPr>
          <a:lstStyle/>
          <a:p>
            <a:pPr marL="0" indent="0">
              <a:buNone/>
            </a:pPr>
            <a:r>
              <a:rPr lang="en-US" sz="2500" b="1" dirty="0">
                <a:solidFill>
                  <a:srgbClr val="15365E"/>
                </a:solidFill>
                <a:latin typeface="Arial" pitchFamily="34" charset="0"/>
                <a:ea typeface="Arial" pitchFamily="34" charset="-122"/>
                <a:cs typeface="Arial" pitchFamily="34" charset="-120"/>
              </a:rPr>
              <a:t>BẠN LÀ AI?</a:t>
            </a:r>
            <a:endParaRPr lang="en-US" sz="2500" dirty="0"/>
          </a:p>
        </p:txBody>
      </p:sp>
      <p:sp>
        <p:nvSpPr>
          <p:cNvPr id="14" name="Text 12"/>
          <p:cNvSpPr/>
          <p:nvPr/>
        </p:nvSpPr>
        <p:spPr>
          <a:xfrm>
            <a:off x="795528" y="3328416"/>
            <a:ext cx="4581144" cy="411480"/>
          </a:xfrm>
          <a:prstGeom prst="rect">
            <a:avLst/>
          </a:prstGeom>
          <a:noFill/>
          <a:ln/>
        </p:spPr>
        <p:txBody>
          <a:bodyPr wrap="square" lIns="0" tIns="0" rIns="0" bIns="0" rtlCol="0" anchor="ctr">
            <a:normAutofit/>
          </a:bodyPr>
          <a:lstStyle/>
          <a:p>
            <a:pPr marL="0" indent="0">
              <a:buNone/>
            </a:pPr>
            <a:r>
              <a:rPr lang="en-US" sz="1600" dirty="0">
                <a:solidFill>
                  <a:srgbClr val="62738C"/>
                </a:solidFill>
                <a:latin typeface="Arial" pitchFamily="34" charset="0"/>
                <a:ea typeface="Arial" pitchFamily="34" charset="-122"/>
                <a:cs typeface="Arial" pitchFamily="34" charset="-120"/>
              </a:rPr>
              <a:t>isAuth  •  Xác minh Bearer Token</a:t>
            </a:r>
            <a:endParaRPr lang="en-US" sz="1600" dirty="0"/>
          </a:p>
        </p:txBody>
      </p:sp>
      <p:sp>
        <p:nvSpPr>
          <p:cNvPr id="15" name="Shape 13"/>
          <p:cNvSpPr/>
          <p:nvPr/>
        </p:nvSpPr>
        <p:spPr>
          <a:xfrm>
            <a:off x="6053328" y="1920240"/>
            <a:ext cx="5605272" cy="2240280"/>
          </a:xfrm>
          <a:prstGeom prst="roundRect">
            <a:avLst>
              <a:gd name="adj" fmla="val 5306"/>
            </a:avLst>
          </a:prstGeom>
          <a:solidFill>
            <a:srgbClr val="FFFFFF"/>
          </a:solidFill>
          <a:ln w="11430">
            <a:solidFill>
              <a:srgbClr val="DCE5F1"/>
            </a:solidFill>
            <a:prstDash val="solid"/>
          </a:ln>
        </p:spPr>
        <p:txBody>
          <a:bodyPr/>
          <a:lstStyle/>
          <a:p>
            <a:endParaRPr lang="en-US"/>
          </a:p>
        </p:txBody>
      </p:sp>
      <p:sp>
        <p:nvSpPr>
          <p:cNvPr id="16" name="Shape 14"/>
          <p:cNvSpPr/>
          <p:nvPr/>
        </p:nvSpPr>
        <p:spPr>
          <a:xfrm>
            <a:off x="6300216" y="2130552"/>
            <a:ext cx="2112264" cy="310896"/>
          </a:xfrm>
          <a:prstGeom prst="roundRect">
            <a:avLst>
              <a:gd name="adj" fmla="val 38235"/>
            </a:avLst>
          </a:prstGeom>
          <a:solidFill>
            <a:srgbClr val="FFF3D1"/>
          </a:solidFill>
          <a:ln w="11430">
            <a:solidFill>
              <a:srgbClr val="FFF3D1"/>
            </a:solidFill>
            <a:prstDash val="solid"/>
          </a:ln>
        </p:spPr>
        <p:txBody>
          <a:bodyPr/>
          <a:lstStyle/>
          <a:p>
            <a:endParaRPr lang="en-US"/>
          </a:p>
        </p:txBody>
      </p:sp>
      <p:sp>
        <p:nvSpPr>
          <p:cNvPr id="17" name="Text 15"/>
          <p:cNvSpPr/>
          <p:nvPr/>
        </p:nvSpPr>
        <p:spPr>
          <a:xfrm>
            <a:off x="6409944" y="2130552"/>
            <a:ext cx="1892808" cy="310896"/>
          </a:xfrm>
          <a:prstGeom prst="rect">
            <a:avLst/>
          </a:prstGeom>
          <a:noFill/>
          <a:ln/>
        </p:spPr>
        <p:txBody>
          <a:bodyPr wrap="square" lIns="0" tIns="0" rIns="0" bIns="0" rtlCol="0" anchor="ctr">
            <a:normAutofit/>
          </a:bodyPr>
          <a:lstStyle/>
          <a:p>
            <a:pPr marL="0" indent="0" algn="ctr">
              <a:buNone/>
            </a:pPr>
            <a:r>
              <a:rPr lang="en-US" sz="1200" b="1" dirty="0">
                <a:solidFill>
                  <a:srgbClr val="B58A1A"/>
                </a:solidFill>
                <a:latin typeface="Arial" pitchFamily="34" charset="0"/>
                <a:ea typeface="Arial" pitchFamily="34" charset="-122"/>
                <a:cs typeface="Arial" pitchFamily="34" charset="-120"/>
              </a:rPr>
              <a:t>AUTHORIZATION</a:t>
            </a:r>
            <a:endParaRPr lang="en-US" sz="1200" dirty="0"/>
          </a:p>
        </p:txBody>
      </p:sp>
      <p:sp>
        <p:nvSpPr>
          <p:cNvPr id="18" name="Text 16"/>
          <p:cNvSpPr/>
          <p:nvPr/>
        </p:nvSpPr>
        <p:spPr>
          <a:xfrm>
            <a:off x="6300216" y="2688336"/>
            <a:ext cx="5001768" cy="466344"/>
          </a:xfrm>
          <a:prstGeom prst="rect">
            <a:avLst/>
          </a:prstGeom>
          <a:noFill/>
          <a:ln/>
        </p:spPr>
        <p:txBody>
          <a:bodyPr wrap="square" lIns="0" tIns="0" rIns="0" bIns="0" rtlCol="0" anchor="ctr">
            <a:normAutofit/>
          </a:bodyPr>
          <a:lstStyle/>
          <a:p>
            <a:pPr marL="0" indent="0">
              <a:buNone/>
            </a:pPr>
            <a:r>
              <a:rPr lang="en-US" sz="2300" b="1" dirty="0">
                <a:solidFill>
                  <a:srgbClr val="15365E"/>
                </a:solidFill>
                <a:latin typeface="Arial" pitchFamily="34" charset="0"/>
                <a:ea typeface="Arial" pitchFamily="34" charset="-122"/>
                <a:cs typeface="Arial" pitchFamily="34" charset="-120"/>
              </a:rPr>
              <a:t>BẠN ĐƯỢC LÀM GÌ?</a:t>
            </a:r>
            <a:endParaRPr lang="en-US" sz="2300" dirty="0"/>
          </a:p>
        </p:txBody>
      </p:sp>
      <p:sp>
        <p:nvSpPr>
          <p:cNvPr id="19" name="Text 17"/>
          <p:cNvSpPr/>
          <p:nvPr/>
        </p:nvSpPr>
        <p:spPr>
          <a:xfrm>
            <a:off x="6309360" y="3328416"/>
            <a:ext cx="4910328" cy="411480"/>
          </a:xfrm>
          <a:prstGeom prst="rect">
            <a:avLst/>
          </a:prstGeom>
          <a:noFill/>
          <a:ln/>
        </p:spPr>
        <p:txBody>
          <a:bodyPr wrap="square" lIns="0" tIns="0" rIns="0" bIns="0" rtlCol="0" anchor="ctr">
            <a:normAutofit/>
          </a:bodyPr>
          <a:lstStyle/>
          <a:p>
            <a:pPr marL="0" indent="0">
              <a:buNone/>
            </a:pPr>
            <a:r>
              <a:rPr lang="en-US" sz="1600" dirty="0">
                <a:solidFill>
                  <a:srgbClr val="62738C"/>
                </a:solidFill>
                <a:latin typeface="Arial" pitchFamily="34" charset="0"/>
                <a:ea typeface="Arial" pitchFamily="34" charset="-122"/>
                <a:cs typeface="Arial" pitchFamily="34" charset="-120"/>
              </a:rPr>
              <a:t>isAdmin / hasRole  •  Kiểm tra quyền</a:t>
            </a:r>
            <a:endParaRPr lang="en-US" sz="1600" dirty="0"/>
          </a:p>
        </p:txBody>
      </p:sp>
      <p:sp>
        <p:nvSpPr>
          <p:cNvPr id="20" name="Shape 18"/>
          <p:cNvSpPr/>
          <p:nvPr/>
        </p:nvSpPr>
        <p:spPr>
          <a:xfrm>
            <a:off x="530352" y="4361688"/>
            <a:ext cx="6446520" cy="1408176"/>
          </a:xfrm>
          <a:prstGeom prst="roundRect">
            <a:avLst>
              <a:gd name="adj" fmla="val 8442"/>
            </a:avLst>
          </a:prstGeom>
          <a:solidFill>
            <a:srgbClr val="0D2543"/>
          </a:solidFill>
          <a:ln w="11430">
            <a:solidFill>
              <a:srgbClr val="0D2543"/>
            </a:solidFill>
            <a:prstDash val="solid"/>
          </a:ln>
        </p:spPr>
        <p:txBody>
          <a:bodyPr/>
          <a:lstStyle/>
          <a:p>
            <a:endParaRPr lang="en-US"/>
          </a:p>
        </p:txBody>
      </p:sp>
      <p:sp>
        <p:nvSpPr>
          <p:cNvPr id="21" name="Text 19"/>
          <p:cNvSpPr/>
          <p:nvPr/>
        </p:nvSpPr>
        <p:spPr>
          <a:xfrm>
            <a:off x="740664" y="4471416"/>
            <a:ext cx="6080760" cy="201168"/>
          </a:xfrm>
          <a:prstGeom prst="rect">
            <a:avLst/>
          </a:prstGeom>
          <a:noFill/>
          <a:ln/>
        </p:spPr>
        <p:txBody>
          <a:bodyPr wrap="square" lIns="0" tIns="0" rIns="0" bIns="0" rtlCol="0" anchor="ctr">
            <a:normAutofit/>
          </a:bodyPr>
          <a:lstStyle/>
          <a:p>
            <a:pPr marL="0" indent="0">
              <a:buNone/>
            </a:pPr>
            <a:r>
              <a:rPr lang="en-US" sz="1010" b="1" kern="0" spc="70" dirty="0">
                <a:solidFill>
                  <a:srgbClr val="69CAE3"/>
                </a:solidFill>
                <a:latin typeface="Arial" pitchFamily="34" charset="0"/>
                <a:ea typeface="Arial" pitchFamily="34" charset="-122"/>
                <a:cs typeface="Arial" pitchFamily="34" charset="-120"/>
              </a:rPr>
              <a:t>ROUTE MINH HỌA</a:t>
            </a:r>
            <a:endParaRPr lang="en-US" sz="1010" dirty="0"/>
          </a:p>
        </p:txBody>
      </p:sp>
      <p:sp>
        <p:nvSpPr>
          <p:cNvPr id="22" name="Shape 20"/>
          <p:cNvSpPr/>
          <p:nvPr/>
        </p:nvSpPr>
        <p:spPr>
          <a:xfrm>
            <a:off x="740664" y="4754880"/>
            <a:ext cx="6025896" cy="0"/>
          </a:xfrm>
          <a:prstGeom prst="line">
            <a:avLst/>
          </a:prstGeom>
          <a:noFill/>
          <a:ln w="8890">
            <a:solidFill>
              <a:srgbClr val="49627D"/>
            </a:solidFill>
            <a:prstDash val="solid"/>
          </a:ln>
        </p:spPr>
        <p:txBody>
          <a:bodyPr/>
          <a:lstStyle/>
          <a:p>
            <a:endParaRPr lang="en-US"/>
          </a:p>
        </p:txBody>
      </p:sp>
      <p:sp>
        <p:nvSpPr>
          <p:cNvPr id="23" name="Text 21"/>
          <p:cNvSpPr/>
          <p:nvPr/>
        </p:nvSpPr>
        <p:spPr>
          <a:xfrm>
            <a:off x="749808" y="4818888"/>
            <a:ext cx="6016752" cy="886968"/>
          </a:xfrm>
          <a:prstGeom prst="rect">
            <a:avLst/>
          </a:prstGeom>
          <a:noFill/>
          <a:ln/>
        </p:spPr>
        <p:txBody>
          <a:bodyPr wrap="square" lIns="0" tIns="0" rIns="0" bIns="0" rtlCol="0" anchor="t">
            <a:normAutofit fontScale="92500" lnSpcReduction="20000"/>
          </a:bodyPr>
          <a:lstStyle/>
          <a:p>
            <a:pPr marL="0" indent="0">
              <a:buNone/>
            </a:pPr>
            <a:r>
              <a:rPr lang="en-US" sz="1500" dirty="0">
                <a:solidFill>
                  <a:srgbClr val="F3F8FF"/>
                </a:solidFill>
                <a:latin typeface="Consolas" pitchFamily="34" charset="0"/>
                <a:ea typeface="Consolas" pitchFamily="34" charset="-122"/>
                <a:cs typeface="Consolas" pitchFamily="34" charset="-120"/>
              </a:rPr>
              <a:t>router.post("/me/avatar",</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isAuth,</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upload.single("avatar"),</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uploadAvatar</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a:t>
            </a:r>
            <a:endParaRPr lang="en-US" sz="1500" dirty="0"/>
          </a:p>
        </p:txBody>
      </p:sp>
      <p:sp>
        <p:nvSpPr>
          <p:cNvPr id="24" name="Shape 22"/>
          <p:cNvSpPr/>
          <p:nvPr/>
        </p:nvSpPr>
        <p:spPr>
          <a:xfrm>
            <a:off x="7232904" y="4361688"/>
            <a:ext cx="4416552" cy="1408176"/>
          </a:xfrm>
          <a:prstGeom prst="roundRect">
            <a:avLst>
              <a:gd name="adj" fmla="val 8442"/>
            </a:avLst>
          </a:prstGeom>
          <a:solidFill>
            <a:srgbClr val="FFF4DF"/>
          </a:solidFill>
          <a:ln w="11430">
            <a:solidFill>
              <a:srgbClr val="F0DCAA"/>
            </a:solidFill>
            <a:prstDash val="solid"/>
          </a:ln>
        </p:spPr>
        <p:txBody>
          <a:bodyPr/>
          <a:lstStyle/>
          <a:p>
            <a:endParaRPr lang="en-US"/>
          </a:p>
        </p:txBody>
      </p:sp>
      <p:sp>
        <p:nvSpPr>
          <p:cNvPr id="25" name="Text 23"/>
          <p:cNvSpPr/>
          <p:nvPr/>
        </p:nvSpPr>
        <p:spPr>
          <a:xfrm>
            <a:off x="7479792" y="4572000"/>
            <a:ext cx="3913632" cy="804672"/>
          </a:xfrm>
          <a:prstGeom prst="rect">
            <a:avLst/>
          </a:prstGeom>
          <a:noFill/>
          <a:ln/>
        </p:spPr>
        <p:txBody>
          <a:bodyPr wrap="square" lIns="0" tIns="0" rIns="0" bIns="0" rtlCol="0" anchor="ctr">
            <a:normAutofit/>
          </a:bodyPr>
          <a:lstStyle/>
          <a:p>
            <a:pPr marL="0" indent="0">
              <a:buNone/>
            </a:pPr>
            <a:r>
              <a:rPr lang="en-US" sz="1760" b="1" dirty="0">
                <a:solidFill>
                  <a:srgbClr val="15365E"/>
                </a:solidFill>
                <a:latin typeface="Arial" pitchFamily="34" charset="0"/>
                <a:ea typeface="Arial" pitchFamily="34" charset="-122"/>
                <a:cs typeface="Arial" pitchFamily="34" charset="-120"/>
              </a:rPr>
              <a:t>401: thiếu / sai JWT</a:t>
            </a:r>
            <a:endParaRPr lang="en-US" sz="1760" dirty="0"/>
          </a:p>
          <a:p>
            <a:pPr marL="0" indent="0">
              <a:buNone/>
            </a:pPr>
            <a:r>
              <a:rPr lang="en-US" sz="1760" b="1" dirty="0">
                <a:solidFill>
                  <a:srgbClr val="15365E"/>
                </a:solidFill>
                <a:latin typeface="Arial" pitchFamily="34" charset="0"/>
                <a:ea typeface="Arial" pitchFamily="34" charset="-122"/>
                <a:cs typeface="Arial" pitchFamily="34" charset="-120"/>
              </a:rPr>
              <a:t>403: không đủ quyền</a:t>
            </a:r>
            <a:endParaRPr lang="en-US" sz="1760" dirty="0"/>
          </a:p>
        </p:txBody>
      </p:sp>
      <p:sp>
        <p:nvSpPr>
          <p:cNvPr id="26" name="Shape 24"/>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27" name="Text 25"/>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28" name="Text 26"/>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Kiểm tra quyền ở Backend; chỉ ẩn nút trên Frontend là chưa đủ.</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a:t>
            </a:r>
            <a:r>
              <a:rPr lang="en-US" sz="1230" b="1" kern="0" spc="100">
                <a:solidFill>
                  <a:srgbClr val="B58A1A"/>
                </a:solidFill>
                <a:latin typeface="Arial" pitchFamily="34" charset="0"/>
                <a:ea typeface="Arial" pitchFamily="34" charset="-122"/>
                <a:cs typeface="Arial" pitchFamily="34" charset="-120"/>
              </a:rPr>
              <a:t>TRÌNH BACKEND</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KIẾN TRÚC</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Một Request đi qua hệ thống như thế nào?</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Từ giao diện web đến API, xử lý nghiệp vụ và SQL Server.</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04 / 16    ·    3 phút</a:t>
            </a:r>
            <a:endParaRPr lang="en-US" sz="950" dirty="0"/>
          </a:p>
        </p:txBody>
      </p:sp>
      <p:sp>
        <p:nvSpPr>
          <p:cNvPr id="10" name="Shape 8"/>
          <p:cNvSpPr/>
          <p:nvPr/>
        </p:nvSpPr>
        <p:spPr>
          <a:xfrm>
            <a:off x="530352" y="2267712"/>
            <a:ext cx="2157984" cy="1463040"/>
          </a:xfrm>
          <a:prstGeom prst="roundRect">
            <a:avLst>
              <a:gd name="adj" fmla="val 8125"/>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530352" y="2267712"/>
            <a:ext cx="54864" cy="1463040"/>
          </a:xfrm>
          <a:prstGeom prst="rect">
            <a:avLst/>
          </a:prstGeom>
          <a:solidFill>
            <a:srgbClr val="16A2BE"/>
          </a:solidFill>
          <a:ln w="12700">
            <a:solidFill>
              <a:srgbClr val="16A2BE">
                <a:alpha val="0"/>
              </a:srgbClr>
            </a:solidFill>
            <a:prstDash val="solid"/>
          </a:ln>
        </p:spPr>
        <p:txBody>
          <a:bodyPr/>
          <a:lstStyle/>
          <a:p>
            <a:endParaRPr lang="en-US"/>
          </a:p>
        </p:txBody>
      </p:sp>
      <p:sp>
        <p:nvSpPr>
          <p:cNvPr id="12" name="Text 10"/>
          <p:cNvSpPr/>
          <p:nvPr/>
        </p:nvSpPr>
        <p:spPr>
          <a:xfrm>
            <a:off x="658368" y="2377440"/>
            <a:ext cx="191109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CLIENT</a:t>
            </a:r>
            <a:endParaRPr lang="en-US" sz="1510" dirty="0"/>
          </a:p>
        </p:txBody>
      </p:sp>
      <p:sp>
        <p:nvSpPr>
          <p:cNvPr id="13" name="Text 11"/>
          <p:cNvSpPr/>
          <p:nvPr/>
        </p:nvSpPr>
        <p:spPr>
          <a:xfrm>
            <a:off x="658368" y="2706624"/>
            <a:ext cx="1901952" cy="950976"/>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React UI</a:t>
            </a:r>
            <a:endParaRPr lang="en-US" sz="1190" dirty="0"/>
          </a:p>
          <a:p>
            <a:pPr marL="0" indent="0">
              <a:buNone/>
            </a:pPr>
            <a:r>
              <a:rPr lang="en-US" sz="1190" dirty="0">
                <a:solidFill>
                  <a:srgbClr val="62738C"/>
                </a:solidFill>
                <a:latin typeface="Arial" pitchFamily="34" charset="0"/>
                <a:ea typeface="Arial" pitchFamily="34" charset="-122"/>
                <a:cs typeface="Arial" pitchFamily="34" charset="-120"/>
              </a:rPr>
              <a:t>localhost:5173</a:t>
            </a:r>
            <a:endParaRPr lang="en-US" sz="1190" dirty="0"/>
          </a:p>
        </p:txBody>
      </p:sp>
      <p:sp>
        <p:nvSpPr>
          <p:cNvPr id="14" name="Shape 12"/>
          <p:cNvSpPr/>
          <p:nvPr/>
        </p:nvSpPr>
        <p:spPr>
          <a:xfrm>
            <a:off x="2697480" y="2953512"/>
            <a:ext cx="192024" cy="0"/>
          </a:xfrm>
          <a:prstGeom prst="line">
            <a:avLst/>
          </a:prstGeom>
          <a:noFill/>
          <a:ln w="31750">
            <a:solidFill>
              <a:srgbClr val="B58A1A"/>
            </a:solidFill>
            <a:prstDash val="solid"/>
            <a:tailEnd type="triangle"/>
          </a:ln>
        </p:spPr>
        <p:txBody>
          <a:bodyPr/>
          <a:lstStyle/>
          <a:p>
            <a:endParaRPr lang="en-US"/>
          </a:p>
        </p:txBody>
      </p:sp>
      <p:sp>
        <p:nvSpPr>
          <p:cNvPr id="15" name="Shape 13"/>
          <p:cNvSpPr/>
          <p:nvPr/>
        </p:nvSpPr>
        <p:spPr>
          <a:xfrm>
            <a:off x="2916936" y="2267712"/>
            <a:ext cx="2157984" cy="1463040"/>
          </a:xfrm>
          <a:prstGeom prst="roundRect">
            <a:avLst>
              <a:gd name="adj" fmla="val 8125"/>
            </a:avLst>
          </a:prstGeom>
          <a:solidFill>
            <a:srgbClr val="FFFFFF"/>
          </a:solidFill>
          <a:ln w="11430">
            <a:solidFill>
              <a:srgbClr val="DCE5F1"/>
            </a:solidFill>
            <a:prstDash val="solid"/>
          </a:ln>
        </p:spPr>
        <p:txBody>
          <a:bodyPr/>
          <a:lstStyle/>
          <a:p>
            <a:endParaRPr lang="en-US"/>
          </a:p>
        </p:txBody>
      </p:sp>
      <p:sp>
        <p:nvSpPr>
          <p:cNvPr id="16" name="Shape 14"/>
          <p:cNvSpPr/>
          <p:nvPr/>
        </p:nvSpPr>
        <p:spPr>
          <a:xfrm>
            <a:off x="2916936" y="2267712"/>
            <a:ext cx="54864" cy="1463040"/>
          </a:xfrm>
          <a:prstGeom prst="rect">
            <a:avLst/>
          </a:prstGeom>
          <a:solidFill>
            <a:srgbClr val="285CB2"/>
          </a:solidFill>
          <a:ln w="12700">
            <a:solidFill>
              <a:srgbClr val="285CB2">
                <a:alpha val="0"/>
              </a:srgbClr>
            </a:solidFill>
            <a:prstDash val="solid"/>
          </a:ln>
        </p:spPr>
        <p:txBody>
          <a:bodyPr/>
          <a:lstStyle/>
          <a:p>
            <a:endParaRPr lang="en-US"/>
          </a:p>
        </p:txBody>
      </p:sp>
      <p:sp>
        <p:nvSpPr>
          <p:cNvPr id="17" name="Text 15"/>
          <p:cNvSpPr/>
          <p:nvPr/>
        </p:nvSpPr>
        <p:spPr>
          <a:xfrm>
            <a:off x="3044952" y="2377440"/>
            <a:ext cx="191109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HTTP</a:t>
            </a:r>
            <a:endParaRPr lang="en-US" sz="1510" dirty="0"/>
          </a:p>
        </p:txBody>
      </p:sp>
      <p:sp>
        <p:nvSpPr>
          <p:cNvPr id="18" name="Text 16"/>
          <p:cNvSpPr/>
          <p:nvPr/>
        </p:nvSpPr>
        <p:spPr>
          <a:xfrm>
            <a:off x="3044952" y="2706624"/>
            <a:ext cx="1901952" cy="950976"/>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Axios</a:t>
            </a:r>
            <a:endParaRPr lang="en-US" sz="1190" dirty="0"/>
          </a:p>
          <a:p>
            <a:pPr marL="0" indent="0">
              <a:buNone/>
            </a:pPr>
            <a:r>
              <a:rPr lang="en-US" sz="1190" dirty="0">
                <a:solidFill>
                  <a:srgbClr val="62738C"/>
                </a:solidFill>
                <a:latin typeface="Arial" pitchFamily="34" charset="0"/>
                <a:ea typeface="Arial" pitchFamily="34" charset="-122"/>
                <a:cs typeface="Arial" pitchFamily="34" charset="-120"/>
              </a:rPr>
              <a:t>GET / POST</a:t>
            </a:r>
            <a:endParaRPr lang="en-US" sz="1190" dirty="0"/>
          </a:p>
        </p:txBody>
      </p:sp>
      <p:sp>
        <p:nvSpPr>
          <p:cNvPr id="19" name="Shape 17"/>
          <p:cNvSpPr/>
          <p:nvPr/>
        </p:nvSpPr>
        <p:spPr>
          <a:xfrm>
            <a:off x="5084064" y="2953512"/>
            <a:ext cx="192024" cy="0"/>
          </a:xfrm>
          <a:prstGeom prst="line">
            <a:avLst/>
          </a:prstGeom>
          <a:noFill/>
          <a:ln w="31750">
            <a:solidFill>
              <a:srgbClr val="B58A1A"/>
            </a:solidFill>
            <a:prstDash val="solid"/>
            <a:tailEnd type="triangle"/>
          </a:ln>
        </p:spPr>
        <p:txBody>
          <a:bodyPr/>
          <a:lstStyle/>
          <a:p>
            <a:endParaRPr lang="en-US"/>
          </a:p>
        </p:txBody>
      </p:sp>
      <p:sp>
        <p:nvSpPr>
          <p:cNvPr id="20" name="Shape 18"/>
          <p:cNvSpPr/>
          <p:nvPr/>
        </p:nvSpPr>
        <p:spPr>
          <a:xfrm>
            <a:off x="5303520" y="2267712"/>
            <a:ext cx="2157984" cy="1463040"/>
          </a:xfrm>
          <a:prstGeom prst="roundRect">
            <a:avLst>
              <a:gd name="adj" fmla="val 8125"/>
            </a:avLst>
          </a:prstGeom>
          <a:solidFill>
            <a:srgbClr val="FFFFFF"/>
          </a:solidFill>
          <a:ln w="11430">
            <a:solidFill>
              <a:srgbClr val="DCE5F1"/>
            </a:solidFill>
            <a:prstDash val="solid"/>
          </a:ln>
        </p:spPr>
        <p:txBody>
          <a:bodyPr/>
          <a:lstStyle/>
          <a:p>
            <a:endParaRPr lang="en-US"/>
          </a:p>
        </p:txBody>
      </p:sp>
      <p:sp>
        <p:nvSpPr>
          <p:cNvPr id="21" name="Shape 19"/>
          <p:cNvSpPr/>
          <p:nvPr/>
        </p:nvSpPr>
        <p:spPr>
          <a:xfrm>
            <a:off x="5303520" y="2267712"/>
            <a:ext cx="54864" cy="1463040"/>
          </a:xfrm>
          <a:prstGeom prst="rect">
            <a:avLst/>
          </a:prstGeom>
          <a:solidFill>
            <a:srgbClr val="285CB2"/>
          </a:solidFill>
          <a:ln w="12700">
            <a:solidFill>
              <a:srgbClr val="285CB2">
                <a:alpha val="0"/>
              </a:srgbClr>
            </a:solidFill>
            <a:prstDash val="solid"/>
          </a:ln>
        </p:spPr>
        <p:txBody>
          <a:bodyPr/>
          <a:lstStyle/>
          <a:p>
            <a:endParaRPr lang="en-US"/>
          </a:p>
        </p:txBody>
      </p:sp>
      <p:sp>
        <p:nvSpPr>
          <p:cNvPr id="22" name="Text 20"/>
          <p:cNvSpPr/>
          <p:nvPr/>
        </p:nvSpPr>
        <p:spPr>
          <a:xfrm>
            <a:off x="5431536" y="2377440"/>
            <a:ext cx="191109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SERVER</a:t>
            </a:r>
            <a:endParaRPr lang="en-US" sz="1510" dirty="0"/>
          </a:p>
        </p:txBody>
      </p:sp>
      <p:sp>
        <p:nvSpPr>
          <p:cNvPr id="23" name="Text 21"/>
          <p:cNvSpPr/>
          <p:nvPr/>
        </p:nvSpPr>
        <p:spPr>
          <a:xfrm>
            <a:off x="5431536" y="2706624"/>
            <a:ext cx="1901952" cy="950976"/>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Express</a:t>
            </a:r>
            <a:endParaRPr lang="en-US" sz="1190" dirty="0"/>
          </a:p>
          <a:p>
            <a:pPr marL="0" indent="0">
              <a:buNone/>
            </a:pPr>
            <a:r>
              <a:rPr lang="en-US" sz="1190" dirty="0">
                <a:solidFill>
                  <a:srgbClr val="62738C"/>
                </a:solidFill>
                <a:latin typeface="Arial" pitchFamily="34" charset="0"/>
                <a:ea typeface="Arial" pitchFamily="34" charset="-122"/>
                <a:cs typeface="Arial" pitchFamily="34" charset="-120"/>
              </a:rPr>
              <a:t>Route + Middleware</a:t>
            </a:r>
            <a:endParaRPr lang="en-US" sz="1190" dirty="0"/>
          </a:p>
        </p:txBody>
      </p:sp>
      <p:sp>
        <p:nvSpPr>
          <p:cNvPr id="24" name="Shape 22"/>
          <p:cNvSpPr/>
          <p:nvPr/>
        </p:nvSpPr>
        <p:spPr>
          <a:xfrm>
            <a:off x="7470648" y="2953512"/>
            <a:ext cx="192024" cy="0"/>
          </a:xfrm>
          <a:prstGeom prst="line">
            <a:avLst/>
          </a:prstGeom>
          <a:noFill/>
          <a:ln w="31750">
            <a:solidFill>
              <a:srgbClr val="B58A1A"/>
            </a:solidFill>
            <a:prstDash val="solid"/>
            <a:tailEnd type="triangle"/>
          </a:ln>
        </p:spPr>
        <p:txBody>
          <a:bodyPr/>
          <a:lstStyle/>
          <a:p>
            <a:endParaRPr lang="en-US"/>
          </a:p>
        </p:txBody>
      </p:sp>
      <p:sp>
        <p:nvSpPr>
          <p:cNvPr id="25" name="Shape 23"/>
          <p:cNvSpPr/>
          <p:nvPr/>
        </p:nvSpPr>
        <p:spPr>
          <a:xfrm>
            <a:off x="7690104" y="2267712"/>
            <a:ext cx="2157984" cy="1463040"/>
          </a:xfrm>
          <a:prstGeom prst="roundRect">
            <a:avLst>
              <a:gd name="adj" fmla="val 8125"/>
            </a:avLst>
          </a:prstGeom>
          <a:solidFill>
            <a:srgbClr val="FFFFFF"/>
          </a:solidFill>
          <a:ln w="11430">
            <a:solidFill>
              <a:srgbClr val="DCE5F1"/>
            </a:solidFill>
            <a:prstDash val="solid"/>
          </a:ln>
        </p:spPr>
        <p:txBody>
          <a:bodyPr/>
          <a:lstStyle/>
          <a:p>
            <a:endParaRPr lang="en-US"/>
          </a:p>
        </p:txBody>
      </p:sp>
      <p:sp>
        <p:nvSpPr>
          <p:cNvPr id="26" name="Shape 24"/>
          <p:cNvSpPr/>
          <p:nvPr/>
        </p:nvSpPr>
        <p:spPr>
          <a:xfrm>
            <a:off x="7690104" y="2267712"/>
            <a:ext cx="54864" cy="1463040"/>
          </a:xfrm>
          <a:prstGeom prst="rect">
            <a:avLst/>
          </a:prstGeom>
          <a:solidFill>
            <a:srgbClr val="285CB2"/>
          </a:solidFill>
          <a:ln w="12700">
            <a:solidFill>
              <a:srgbClr val="285CB2">
                <a:alpha val="0"/>
              </a:srgbClr>
            </a:solidFill>
            <a:prstDash val="solid"/>
          </a:ln>
        </p:spPr>
        <p:txBody>
          <a:bodyPr/>
          <a:lstStyle/>
          <a:p>
            <a:endParaRPr lang="en-US"/>
          </a:p>
        </p:txBody>
      </p:sp>
      <p:sp>
        <p:nvSpPr>
          <p:cNvPr id="27" name="Text 25"/>
          <p:cNvSpPr/>
          <p:nvPr/>
        </p:nvSpPr>
        <p:spPr>
          <a:xfrm>
            <a:off x="7818120" y="2377440"/>
            <a:ext cx="191109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DATA</a:t>
            </a:r>
            <a:endParaRPr lang="en-US" sz="1510" dirty="0"/>
          </a:p>
        </p:txBody>
      </p:sp>
      <p:sp>
        <p:nvSpPr>
          <p:cNvPr id="28" name="Text 26"/>
          <p:cNvSpPr/>
          <p:nvPr/>
        </p:nvSpPr>
        <p:spPr>
          <a:xfrm>
            <a:off x="7818120" y="2706624"/>
            <a:ext cx="1901952" cy="950976"/>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Sequelize</a:t>
            </a:r>
            <a:endParaRPr lang="en-US" sz="1190" dirty="0"/>
          </a:p>
          <a:p>
            <a:pPr marL="0" indent="0">
              <a:buNone/>
            </a:pPr>
            <a:r>
              <a:rPr lang="en-US" sz="1190" dirty="0">
                <a:solidFill>
                  <a:srgbClr val="62738C"/>
                </a:solidFill>
                <a:latin typeface="Arial" pitchFamily="34" charset="0"/>
                <a:ea typeface="Arial" pitchFamily="34" charset="-122"/>
                <a:cs typeface="Arial" pitchFamily="34" charset="-120"/>
              </a:rPr>
              <a:t>Model / Service</a:t>
            </a:r>
            <a:endParaRPr lang="en-US" sz="1190" dirty="0"/>
          </a:p>
        </p:txBody>
      </p:sp>
      <p:sp>
        <p:nvSpPr>
          <p:cNvPr id="29" name="Shape 27"/>
          <p:cNvSpPr/>
          <p:nvPr/>
        </p:nvSpPr>
        <p:spPr>
          <a:xfrm>
            <a:off x="9857232" y="2953512"/>
            <a:ext cx="192024" cy="0"/>
          </a:xfrm>
          <a:prstGeom prst="line">
            <a:avLst/>
          </a:prstGeom>
          <a:noFill/>
          <a:ln w="31750">
            <a:solidFill>
              <a:srgbClr val="B58A1A"/>
            </a:solidFill>
            <a:prstDash val="solid"/>
            <a:tailEnd type="triangle"/>
          </a:ln>
        </p:spPr>
        <p:txBody>
          <a:bodyPr/>
          <a:lstStyle/>
          <a:p>
            <a:endParaRPr lang="en-US"/>
          </a:p>
        </p:txBody>
      </p:sp>
      <p:sp>
        <p:nvSpPr>
          <p:cNvPr id="30" name="Shape 28"/>
          <p:cNvSpPr/>
          <p:nvPr/>
        </p:nvSpPr>
        <p:spPr>
          <a:xfrm>
            <a:off x="10076688" y="2267712"/>
            <a:ext cx="2157984" cy="1463040"/>
          </a:xfrm>
          <a:prstGeom prst="roundRect">
            <a:avLst>
              <a:gd name="adj" fmla="val 8125"/>
            </a:avLst>
          </a:prstGeom>
          <a:solidFill>
            <a:srgbClr val="FFFFFF"/>
          </a:solidFill>
          <a:ln w="11430">
            <a:solidFill>
              <a:srgbClr val="DCE5F1"/>
            </a:solidFill>
            <a:prstDash val="solid"/>
          </a:ln>
        </p:spPr>
        <p:txBody>
          <a:bodyPr/>
          <a:lstStyle/>
          <a:p>
            <a:endParaRPr lang="en-US"/>
          </a:p>
        </p:txBody>
      </p:sp>
      <p:sp>
        <p:nvSpPr>
          <p:cNvPr id="31" name="Shape 29"/>
          <p:cNvSpPr/>
          <p:nvPr/>
        </p:nvSpPr>
        <p:spPr>
          <a:xfrm>
            <a:off x="10076688" y="2267712"/>
            <a:ext cx="54864" cy="1463040"/>
          </a:xfrm>
          <a:prstGeom prst="rect">
            <a:avLst/>
          </a:prstGeom>
          <a:solidFill>
            <a:srgbClr val="21764E"/>
          </a:solidFill>
          <a:ln w="12700">
            <a:solidFill>
              <a:srgbClr val="21764E">
                <a:alpha val="0"/>
              </a:srgbClr>
            </a:solidFill>
            <a:prstDash val="solid"/>
          </a:ln>
        </p:spPr>
        <p:txBody>
          <a:bodyPr/>
          <a:lstStyle/>
          <a:p>
            <a:endParaRPr lang="en-US"/>
          </a:p>
        </p:txBody>
      </p:sp>
      <p:sp>
        <p:nvSpPr>
          <p:cNvPr id="32" name="Text 30"/>
          <p:cNvSpPr/>
          <p:nvPr/>
        </p:nvSpPr>
        <p:spPr>
          <a:xfrm>
            <a:off x="10204704" y="2377440"/>
            <a:ext cx="191109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STORAGE</a:t>
            </a:r>
            <a:endParaRPr lang="en-US" sz="1510" dirty="0"/>
          </a:p>
        </p:txBody>
      </p:sp>
      <p:sp>
        <p:nvSpPr>
          <p:cNvPr id="33" name="Text 31"/>
          <p:cNvSpPr/>
          <p:nvPr/>
        </p:nvSpPr>
        <p:spPr>
          <a:xfrm>
            <a:off x="10204704" y="2706624"/>
            <a:ext cx="1901952" cy="950976"/>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SQL Server</a:t>
            </a:r>
            <a:endParaRPr lang="en-US" sz="1190" dirty="0"/>
          </a:p>
          <a:p>
            <a:pPr marL="0" indent="0">
              <a:buNone/>
            </a:pPr>
            <a:r>
              <a:rPr lang="en-US" sz="1190" dirty="0">
                <a:solidFill>
                  <a:srgbClr val="62738C"/>
                </a:solidFill>
                <a:latin typeface="Arial" pitchFamily="34" charset="0"/>
                <a:ea typeface="Arial" pitchFamily="34" charset="-122"/>
                <a:cs typeface="Arial" pitchFamily="34" charset="-120"/>
              </a:rPr>
              <a:t>Lưu dữ liệu</a:t>
            </a:r>
            <a:endParaRPr lang="en-US" sz="1190" dirty="0"/>
          </a:p>
        </p:txBody>
      </p:sp>
      <p:sp>
        <p:nvSpPr>
          <p:cNvPr id="34" name="Shape 32"/>
          <p:cNvSpPr/>
          <p:nvPr/>
        </p:nvSpPr>
        <p:spPr>
          <a:xfrm>
            <a:off x="530352" y="4151376"/>
            <a:ext cx="11082528" cy="1143000"/>
          </a:xfrm>
          <a:prstGeom prst="roundRect">
            <a:avLst>
              <a:gd name="adj" fmla="val 10400"/>
            </a:avLst>
          </a:prstGeom>
          <a:solidFill>
            <a:srgbClr val="EDF2F9"/>
          </a:solidFill>
          <a:ln w="11430">
            <a:solidFill>
              <a:srgbClr val="DCE5F1"/>
            </a:solidFill>
            <a:prstDash val="solid"/>
          </a:ln>
        </p:spPr>
        <p:txBody>
          <a:bodyPr/>
          <a:lstStyle/>
          <a:p>
            <a:endParaRPr lang="en-US"/>
          </a:p>
        </p:txBody>
      </p:sp>
      <p:sp>
        <p:nvSpPr>
          <p:cNvPr id="35" name="Text 33"/>
          <p:cNvSpPr/>
          <p:nvPr/>
        </p:nvSpPr>
        <p:spPr>
          <a:xfrm>
            <a:off x="768096" y="4352544"/>
            <a:ext cx="2651760" cy="347472"/>
          </a:xfrm>
          <a:prstGeom prst="rect">
            <a:avLst/>
          </a:prstGeom>
          <a:noFill/>
          <a:ln/>
        </p:spPr>
        <p:txBody>
          <a:bodyPr wrap="square" lIns="0" tIns="0" rIns="0" bIns="0" rtlCol="0" anchor="ctr">
            <a:normAutofit/>
          </a:bodyPr>
          <a:lstStyle/>
          <a:p>
            <a:pPr marL="0" indent="0">
              <a:buNone/>
            </a:pPr>
            <a:r>
              <a:rPr lang="en-US" sz="1700" b="1" dirty="0">
                <a:solidFill>
                  <a:srgbClr val="15365E"/>
                </a:solidFill>
                <a:latin typeface="Arial" pitchFamily="34" charset="0"/>
                <a:ea typeface="Arial" pitchFamily="34" charset="-122"/>
                <a:cs typeface="Arial" pitchFamily="34" charset="-120"/>
              </a:rPr>
              <a:t>HTTP REQUEST</a:t>
            </a:r>
            <a:endParaRPr lang="en-US" sz="1700" dirty="0"/>
          </a:p>
        </p:txBody>
      </p:sp>
      <p:sp>
        <p:nvSpPr>
          <p:cNvPr id="36" name="Text 34"/>
          <p:cNvSpPr/>
          <p:nvPr/>
        </p:nvSpPr>
        <p:spPr>
          <a:xfrm>
            <a:off x="3401568" y="4343400"/>
            <a:ext cx="7754112" cy="384048"/>
          </a:xfrm>
          <a:prstGeom prst="rect">
            <a:avLst/>
          </a:prstGeom>
          <a:noFill/>
          <a:ln/>
        </p:spPr>
        <p:txBody>
          <a:bodyPr wrap="square" lIns="0" tIns="0" rIns="0" bIns="0" rtlCol="0" anchor="ctr">
            <a:normAutofit/>
          </a:bodyPr>
          <a:lstStyle/>
          <a:p>
            <a:pPr marL="0" indent="0">
              <a:buNone/>
            </a:pPr>
            <a:r>
              <a:rPr lang="en-US" sz="1600" dirty="0">
                <a:solidFill>
                  <a:srgbClr val="62738C"/>
                </a:solidFill>
                <a:latin typeface="Arial" pitchFamily="34" charset="0"/>
                <a:ea typeface="Arial" pitchFamily="34" charset="-122"/>
                <a:cs typeface="Arial" pitchFamily="34" charset="-120"/>
              </a:rPr>
              <a:t>Method  ·  URL  ·  Headers  ·  Body (nếu có)</a:t>
            </a:r>
            <a:endParaRPr lang="en-US" sz="1600" dirty="0"/>
          </a:p>
        </p:txBody>
      </p:sp>
      <p:sp>
        <p:nvSpPr>
          <p:cNvPr id="37" name="Shape 35"/>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38" name="Text 36"/>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39" name="Text 37"/>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Frontend không truy cập trực tiếp SQL Server; các thao tác đi qua API Backend.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a:t>
            </a:r>
            <a:r>
              <a:rPr lang="en-US" sz="1230" b="1" kern="0" spc="100">
                <a:solidFill>
                  <a:srgbClr val="B58A1A"/>
                </a:solidFill>
                <a:latin typeface="Arial" pitchFamily="34" charset="0"/>
                <a:ea typeface="Arial" pitchFamily="34" charset="-122"/>
                <a:cs typeface="Arial" pitchFamily="34" charset="-120"/>
              </a:rPr>
              <a:t>TRÌNH BACKEND</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DỮ LIỆU HTTP</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JSON và multipart/form-data khác nhau</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Một request có thể mang trường văn bản, hoặc mang cả file nhị phân.</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05 / 16    ·    3 phút</a:t>
            </a:r>
            <a:endParaRPr lang="en-US" sz="950" dirty="0"/>
          </a:p>
        </p:txBody>
      </p:sp>
      <p:sp>
        <p:nvSpPr>
          <p:cNvPr id="10" name="Shape 8"/>
          <p:cNvSpPr/>
          <p:nvPr/>
        </p:nvSpPr>
        <p:spPr>
          <a:xfrm>
            <a:off x="530352" y="1901952"/>
            <a:ext cx="5285232" cy="3410712"/>
          </a:xfrm>
          <a:prstGeom prst="roundRect">
            <a:avLst>
              <a:gd name="adj" fmla="val 3485"/>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768096" y="2121408"/>
            <a:ext cx="2075688"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12" name="Text 10"/>
          <p:cNvSpPr/>
          <p:nvPr/>
        </p:nvSpPr>
        <p:spPr>
          <a:xfrm>
            <a:off x="877824" y="2121408"/>
            <a:ext cx="1856232"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application/json</a:t>
            </a:r>
            <a:endParaRPr lang="en-US" sz="1200" dirty="0"/>
          </a:p>
        </p:txBody>
      </p:sp>
      <p:sp>
        <p:nvSpPr>
          <p:cNvPr id="13" name="Text 11"/>
          <p:cNvSpPr/>
          <p:nvPr/>
        </p:nvSpPr>
        <p:spPr>
          <a:xfrm>
            <a:off x="768096" y="2615184"/>
            <a:ext cx="4480560" cy="356616"/>
          </a:xfrm>
          <a:prstGeom prst="rect">
            <a:avLst/>
          </a:prstGeom>
          <a:noFill/>
          <a:ln/>
        </p:spPr>
        <p:txBody>
          <a:bodyPr wrap="square" lIns="0" tIns="0" rIns="0" bIns="0" rtlCol="0" anchor="ctr">
            <a:normAutofit/>
          </a:bodyPr>
          <a:lstStyle/>
          <a:p>
            <a:pPr marL="0" indent="0">
              <a:buNone/>
            </a:pPr>
            <a:r>
              <a:rPr lang="en-US" sz="2000" b="1" dirty="0">
                <a:solidFill>
                  <a:srgbClr val="15365E"/>
                </a:solidFill>
                <a:latin typeface="Arial" pitchFamily="34" charset="0"/>
                <a:ea typeface="Arial" pitchFamily="34" charset="-122"/>
                <a:cs typeface="Arial" pitchFamily="34" charset="-120"/>
              </a:rPr>
              <a:t>Dữ liệu thông thường</a:t>
            </a:r>
            <a:endParaRPr lang="en-US" sz="2000" dirty="0"/>
          </a:p>
        </p:txBody>
      </p:sp>
      <p:sp>
        <p:nvSpPr>
          <p:cNvPr id="14" name="Shape 12"/>
          <p:cNvSpPr/>
          <p:nvPr/>
        </p:nvSpPr>
        <p:spPr>
          <a:xfrm>
            <a:off x="768096" y="3127248"/>
            <a:ext cx="4764024" cy="1453896"/>
          </a:xfrm>
          <a:prstGeom prst="roundRect">
            <a:avLst>
              <a:gd name="adj" fmla="val 8176"/>
            </a:avLst>
          </a:prstGeom>
          <a:solidFill>
            <a:srgbClr val="0D2543"/>
          </a:solidFill>
          <a:ln w="11430">
            <a:solidFill>
              <a:srgbClr val="0D2543"/>
            </a:solidFill>
            <a:prstDash val="solid"/>
          </a:ln>
        </p:spPr>
        <p:txBody>
          <a:bodyPr/>
          <a:lstStyle/>
          <a:p>
            <a:endParaRPr lang="en-US"/>
          </a:p>
        </p:txBody>
      </p:sp>
      <p:sp>
        <p:nvSpPr>
          <p:cNvPr id="15" name="Text 13"/>
          <p:cNvSpPr/>
          <p:nvPr/>
        </p:nvSpPr>
        <p:spPr>
          <a:xfrm>
            <a:off x="978408" y="3236976"/>
            <a:ext cx="4398264" cy="201168"/>
          </a:xfrm>
          <a:prstGeom prst="rect">
            <a:avLst/>
          </a:prstGeom>
          <a:noFill/>
          <a:ln/>
        </p:spPr>
        <p:txBody>
          <a:bodyPr wrap="square" lIns="0" tIns="0" rIns="0" bIns="0" rtlCol="0" anchor="ctr">
            <a:normAutofit/>
          </a:bodyPr>
          <a:lstStyle/>
          <a:p>
            <a:pPr marL="0" indent="0">
              <a:buNone/>
            </a:pPr>
            <a:r>
              <a:rPr lang="en-US" sz="1010" b="1" kern="0" spc="70" dirty="0">
                <a:solidFill>
                  <a:srgbClr val="69CAE3"/>
                </a:solidFill>
                <a:latin typeface="Arial" pitchFamily="34" charset="0"/>
                <a:ea typeface="Arial" pitchFamily="34" charset="-122"/>
                <a:cs typeface="Arial" pitchFamily="34" charset="-120"/>
              </a:rPr>
              <a:t>BODY / JSON</a:t>
            </a:r>
            <a:endParaRPr lang="en-US" sz="1010" dirty="0"/>
          </a:p>
        </p:txBody>
      </p:sp>
      <p:sp>
        <p:nvSpPr>
          <p:cNvPr id="16" name="Shape 14"/>
          <p:cNvSpPr/>
          <p:nvPr/>
        </p:nvSpPr>
        <p:spPr>
          <a:xfrm>
            <a:off x="978408" y="3520440"/>
            <a:ext cx="4343400" cy="0"/>
          </a:xfrm>
          <a:prstGeom prst="line">
            <a:avLst/>
          </a:prstGeom>
          <a:noFill/>
          <a:ln w="8890">
            <a:solidFill>
              <a:srgbClr val="49627D"/>
            </a:solidFill>
            <a:prstDash val="solid"/>
          </a:ln>
        </p:spPr>
        <p:txBody>
          <a:bodyPr/>
          <a:lstStyle/>
          <a:p>
            <a:endParaRPr lang="en-US"/>
          </a:p>
        </p:txBody>
      </p:sp>
      <p:sp>
        <p:nvSpPr>
          <p:cNvPr id="17" name="Text 15"/>
          <p:cNvSpPr/>
          <p:nvPr/>
        </p:nvSpPr>
        <p:spPr>
          <a:xfrm>
            <a:off x="987552" y="3584448"/>
            <a:ext cx="4334256" cy="932688"/>
          </a:xfrm>
          <a:prstGeom prst="rect">
            <a:avLst/>
          </a:prstGeom>
          <a:noFill/>
          <a:ln/>
        </p:spPr>
        <p:txBody>
          <a:bodyPr wrap="square" lIns="0" tIns="0" rIns="0" bIns="0" rtlCol="0" anchor="t">
            <a:normAutofit/>
          </a:bodyPr>
          <a:lstStyle/>
          <a:p>
            <a:pPr marL="0" indent="0">
              <a:buNone/>
            </a:pPr>
            <a:r>
              <a:rPr lang="en-US" sz="1500" dirty="0">
                <a:solidFill>
                  <a:srgbClr val="F3F8FF"/>
                </a:solidFill>
                <a:latin typeface="Consolas" pitchFamily="34" charset="0"/>
                <a:ea typeface="Consolas" pitchFamily="34" charset="-122"/>
                <a:cs typeface="Consolas" pitchFamily="34" charset="-120"/>
              </a:rPr>
              <a:t>{</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"hoTen": "Minh Nhật",</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"email": "nhat@example.com"</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a:t>
            </a:r>
            <a:endParaRPr lang="en-US" sz="1500" dirty="0"/>
          </a:p>
        </p:txBody>
      </p:sp>
      <p:sp>
        <p:nvSpPr>
          <p:cNvPr id="18" name="Text 16"/>
          <p:cNvSpPr/>
          <p:nvPr/>
        </p:nvSpPr>
        <p:spPr>
          <a:xfrm>
            <a:off x="795528" y="4773168"/>
            <a:ext cx="4608576" cy="274320"/>
          </a:xfrm>
          <a:prstGeom prst="rect">
            <a:avLst/>
          </a:prstGeom>
          <a:noFill/>
          <a:ln/>
        </p:spPr>
        <p:txBody>
          <a:bodyPr wrap="square" lIns="0" tIns="0" rIns="0" bIns="0" rtlCol="0" anchor="ctr">
            <a:normAutofit/>
          </a:bodyPr>
          <a:lstStyle/>
          <a:p>
            <a:pPr marL="0" indent="0">
              <a:buNone/>
            </a:pPr>
            <a:r>
              <a:rPr lang="en-US" sz="1300" dirty="0">
                <a:solidFill>
                  <a:srgbClr val="62738C"/>
                </a:solidFill>
                <a:latin typeface="Arial" pitchFamily="34" charset="0"/>
                <a:ea typeface="Arial" pitchFamily="34" charset="-122"/>
                <a:cs typeface="Arial" pitchFamily="34" charset="-120"/>
              </a:rPr>
              <a:t>Express thường đọc bằng express.json()</a:t>
            </a:r>
            <a:endParaRPr lang="en-US" sz="1300" dirty="0"/>
          </a:p>
        </p:txBody>
      </p:sp>
      <p:sp>
        <p:nvSpPr>
          <p:cNvPr id="19" name="Shape 17"/>
          <p:cNvSpPr/>
          <p:nvPr/>
        </p:nvSpPr>
        <p:spPr>
          <a:xfrm>
            <a:off x="6099048" y="1901952"/>
            <a:ext cx="5559552" cy="3410712"/>
          </a:xfrm>
          <a:prstGeom prst="roundRect">
            <a:avLst>
              <a:gd name="adj" fmla="val 3485"/>
            </a:avLst>
          </a:prstGeom>
          <a:solidFill>
            <a:srgbClr val="FFFFFF"/>
          </a:solidFill>
          <a:ln w="11430">
            <a:solidFill>
              <a:srgbClr val="DCE5F1"/>
            </a:solidFill>
            <a:prstDash val="solid"/>
          </a:ln>
        </p:spPr>
        <p:txBody>
          <a:bodyPr/>
          <a:lstStyle/>
          <a:p>
            <a:endParaRPr lang="en-US"/>
          </a:p>
        </p:txBody>
      </p:sp>
      <p:sp>
        <p:nvSpPr>
          <p:cNvPr id="20" name="Shape 18"/>
          <p:cNvSpPr/>
          <p:nvPr/>
        </p:nvSpPr>
        <p:spPr>
          <a:xfrm>
            <a:off x="6327648" y="2121408"/>
            <a:ext cx="2441448" cy="310896"/>
          </a:xfrm>
          <a:prstGeom prst="roundRect">
            <a:avLst>
              <a:gd name="adj" fmla="val 38235"/>
            </a:avLst>
          </a:prstGeom>
          <a:solidFill>
            <a:srgbClr val="E0F6F8"/>
          </a:solidFill>
          <a:ln w="11430">
            <a:solidFill>
              <a:srgbClr val="E0F6F8"/>
            </a:solidFill>
            <a:prstDash val="solid"/>
          </a:ln>
        </p:spPr>
        <p:txBody>
          <a:bodyPr/>
          <a:lstStyle/>
          <a:p>
            <a:endParaRPr lang="en-US"/>
          </a:p>
        </p:txBody>
      </p:sp>
      <p:sp>
        <p:nvSpPr>
          <p:cNvPr id="21" name="Text 19"/>
          <p:cNvSpPr/>
          <p:nvPr/>
        </p:nvSpPr>
        <p:spPr>
          <a:xfrm>
            <a:off x="6437376" y="2121408"/>
            <a:ext cx="2221992" cy="310896"/>
          </a:xfrm>
          <a:prstGeom prst="rect">
            <a:avLst/>
          </a:prstGeom>
          <a:noFill/>
          <a:ln/>
        </p:spPr>
        <p:txBody>
          <a:bodyPr wrap="square" lIns="0" tIns="0" rIns="0" bIns="0" rtlCol="0" anchor="ctr">
            <a:normAutofit/>
          </a:bodyPr>
          <a:lstStyle/>
          <a:p>
            <a:pPr marL="0" indent="0" algn="ctr">
              <a:buNone/>
            </a:pPr>
            <a:r>
              <a:rPr lang="en-US" sz="1200" b="1" dirty="0">
                <a:solidFill>
                  <a:srgbClr val="168AA4"/>
                </a:solidFill>
                <a:latin typeface="Arial" pitchFamily="34" charset="0"/>
                <a:ea typeface="Arial" pitchFamily="34" charset="-122"/>
                <a:cs typeface="Arial" pitchFamily="34" charset="-120"/>
              </a:rPr>
              <a:t>multipart/form-data</a:t>
            </a:r>
            <a:endParaRPr lang="en-US" sz="1200" dirty="0"/>
          </a:p>
        </p:txBody>
      </p:sp>
      <p:sp>
        <p:nvSpPr>
          <p:cNvPr id="22" name="Text 20"/>
          <p:cNvSpPr/>
          <p:nvPr/>
        </p:nvSpPr>
        <p:spPr>
          <a:xfrm>
            <a:off x="6336792" y="2615184"/>
            <a:ext cx="4992624" cy="356616"/>
          </a:xfrm>
          <a:prstGeom prst="rect">
            <a:avLst/>
          </a:prstGeom>
          <a:noFill/>
          <a:ln/>
        </p:spPr>
        <p:txBody>
          <a:bodyPr wrap="square" lIns="0" tIns="0" rIns="0" bIns="0" rtlCol="0" anchor="ctr">
            <a:normAutofit/>
          </a:bodyPr>
          <a:lstStyle/>
          <a:p>
            <a:pPr marL="0" indent="0">
              <a:buNone/>
            </a:pPr>
            <a:r>
              <a:rPr lang="en-US" sz="2000" b="1" dirty="0">
                <a:solidFill>
                  <a:srgbClr val="15365E"/>
                </a:solidFill>
                <a:latin typeface="Arial" pitchFamily="34" charset="0"/>
                <a:ea typeface="Arial" pitchFamily="34" charset="-122"/>
                <a:cs typeface="Arial" pitchFamily="34" charset="-120"/>
              </a:rPr>
              <a:t>File + trường đi kèm</a:t>
            </a:r>
            <a:endParaRPr lang="en-US" sz="2000" dirty="0"/>
          </a:p>
        </p:txBody>
      </p:sp>
      <p:sp>
        <p:nvSpPr>
          <p:cNvPr id="23" name="Shape 21"/>
          <p:cNvSpPr/>
          <p:nvPr/>
        </p:nvSpPr>
        <p:spPr>
          <a:xfrm>
            <a:off x="6355080" y="3154680"/>
            <a:ext cx="5020056" cy="1463040"/>
          </a:xfrm>
          <a:prstGeom prst="roundRect">
            <a:avLst>
              <a:gd name="adj" fmla="val 8125"/>
            </a:avLst>
          </a:prstGeom>
          <a:solidFill>
            <a:srgbClr val="EDF2F9"/>
          </a:solidFill>
          <a:ln w="11430">
            <a:solidFill>
              <a:srgbClr val="DCE5F1"/>
            </a:solidFill>
            <a:prstDash val="solid"/>
          </a:ln>
        </p:spPr>
        <p:txBody>
          <a:bodyPr/>
          <a:lstStyle/>
          <a:p>
            <a:endParaRPr lang="en-US"/>
          </a:p>
        </p:txBody>
      </p:sp>
      <p:sp>
        <p:nvSpPr>
          <p:cNvPr id="24" name="Text 22"/>
          <p:cNvSpPr/>
          <p:nvPr/>
        </p:nvSpPr>
        <p:spPr>
          <a:xfrm>
            <a:off x="6574536" y="3410712"/>
            <a:ext cx="4572000" cy="283464"/>
          </a:xfrm>
          <a:prstGeom prst="rect">
            <a:avLst/>
          </a:prstGeom>
          <a:noFill/>
          <a:ln/>
        </p:spPr>
        <p:txBody>
          <a:bodyPr wrap="square" lIns="0" tIns="0" rIns="0" bIns="0" rtlCol="0" anchor="ctr">
            <a:normAutofit/>
          </a:bodyPr>
          <a:lstStyle/>
          <a:p>
            <a:pPr marL="0" indent="0">
              <a:buNone/>
            </a:pPr>
            <a:r>
              <a:rPr lang="en-US" sz="1700" b="1" dirty="0">
                <a:solidFill>
                  <a:srgbClr val="15365E"/>
                </a:solidFill>
                <a:latin typeface="Arial" pitchFamily="34" charset="0"/>
                <a:ea typeface="Arial" pitchFamily="34" charset="-122"/>
                <a:cs typeface="Arial" pitchFamily="34" charset="-120"/>
              </a:rPr>
              <a:t>avatar     ảnh-đại-diện.png</a:t>
            </a:r>
            <a:endParaRPr lang="en-US" sz="1700" dirty="0"/>
          </a:p>
        </p:txBody>
      </p:sp>
      <p:sp>
        <p:nvSpPr>
          <p:cNvPr id="25" name="Shape 23"/>
          <p:cNvSpPr/>
          <p:nvPr/>
        </p:nvSpPr>
        <p:spPr>
          <a:xfrm>
            <a:off x="6565392" y="3831336"/>
            <a:ext cx="4517136" cy="0"/>
          </a:xfrm>
          <a:prstGeom prst="line">
            <a:avLst/>
          </a:prstGeom>
          <a:noFill/>
          <a:ln w="12700">
            <a:solidFill>
              <a:srgbClr val="DCE5F1"/>
            </a:solidFill>
            <a:prstDash val="solid"/>
          </a:ln>
        </p:spPr>
        <p:txBody>
          <a:bodyPr/>
          <a:lstStyle/>
          <a:p>
            <a:endParaRPr lang="en-US"/>
          </a:p>
        </p:txBody>
      </p:sp>
      <p:sp>
        <p:nvSpPr>
          <p:cNvPr id="26" name="Text 24"/>
          <p:cNvSpPr/>
          <p:nvPr/>
        </p:nvSpPr>
        <p:spPr>
          <a:xfrm>
            <a:off x="6574536" y="3995928"/>
            <a:ext cx="4572000" cy="292608"/>
          </a:xfrm>
          <a:prstGeom prst="rect">
            <a:avLst/>
          </a:prstGeom>
          <a:noFill/>
          <a:ln/>
        </p:spPr>
        <p:txBody>
          <a:bodyPr wrap="square" lIns="0" tIns="0" rIns="0" bIns="0" rtlCol="0" anchor="ctr">
            <a:normAutofit/>
          </a:bodyPr>
          <a:lstStyle/>
          <a:p>
            <a:pPr marL="0" indent="0">
              <a:buNone/>
            </a:pPr>
            <a:r>
              <a:rPr lang="en-US" sz="1600" dirty="0">
                <a:solidFill>
                  <a:srgbClr val="15365E"/>
                </a:solidFill>
                <a:latin typeface="Arial" pitchFamily="34" charset="0"/>
                <a:ea typeface="Arial" pitchFamily="34" charset="-122"/>
                <a:cs typeface="Arial" pitchFamily="34" charset="-120"/>
              </a:rPr>
              <a:t>hoTen      Minh Nhật</a:t>
            </a:r>
            <a:endParaRPr lang="en-US" sz="1600" dirty="0"/>
          </a:p>
        </p:txBody>
      </p:sp>
      <p:sp>
        <p:nvSpPr>
          <p:cNvPr id="27" name="Text 25"/>
          <p:cNvSpPr/>
          <p:nvPr/>
        </p:nvSpPr>
        <p:spPr>
          <a:xfrm>
            <a:off x="6364224" y="4773168"/>
            <a:ext cx="5001768" cy="274320"/>
          </a:xfrm>
          <a:prstGeom prst="rect">
            <a:avLst/>
          </a:prstGeom>
          <a:noFill/>
          <a:ln/>
        </p:spPr>
        <p:txBody>
          <a:bodyPr wrap="square" lIns="0" tIns="0" rIns="0" bIns="0" rtlCol="0" anchor="ctr">
            <a:normAutofit/>
          </a:bodyPr>
          <a:lstStyle/>
          <a:p>
            <a:pPr marL="0" indent="0">
              <a:buNone/>
            </a:pPr>
            <a:r>
              <a:rPr lang="en-US" sz="1300" dirty="0">
                <a:solidFill>
                  <a:srgbClr val="62738C"/>
                </a:solidFill>
                <a:latin typeface="Arial" pitchFamily="34" charset="0"/>
                <a:ea typeface="Arial" pitchFamily="34" charset="-122"/>
                <a:cs typeface="Arial" pitchFamily="34" charset="-120"/>
              </a:rPr>
              <a:t>Multer xử lý multipart; express.json() không đủ.</a:t>
            </a:r>
            <a:endParaRPr lang="en-US" sz="1300" dirty="0"/>
          </a:p>
        </p:txBody>
      </p:sp>
      <p:sp>
        <p:nvSpPr>
          <p:cNvPr id="28" name="Shape 26"/>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29" name="Text 27"/>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30" name="Text 28"/>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Content-Type cho Server biết cách đọc Body; không phải loại dữ liệu nào cũng là JSON.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a:t>
            </a:r>
            <a:r>
              <a:rPr lang="en-US" sz="1230" b="1" kern="0" spc="100">
                <a:solidFill>
                  <a:srgbClr val="B58A1A"/>
                </a:solidFill>
                <a:latin typeface="Arial" pitchFamily="34" charset="0"/>
                <a:ea typeface="Arial" pitchFamily="34" charset="-122"/>
                <a:cs typeface="Arial" pitchFamily="34" charset="-120"/>
              </a:rPr>
              <a:t>TRÌNH BACKEND</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FRONTEND</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FormData chuẩn bị file trước khi gửi</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Frontend đóng gói ảnh cùng tên trường; Server nhận đúng trường tương ứng.</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06 / 16    ·    2 phút</a:t>
            </a:r>
            <a:endParaRPr lang="en-US" sz="950" dirty="0"/>
          </a:p>
        </p:txBody>
      </p:sp>
      <p:sp>
        <p:nvSpPr>
          <p:cNvPr id="10" name="Shape 8"/>
          <p:cNvSpPr/>
          <p:nvPr/>
        </p:nvSpPr>
        <p:spPr>
          <a:xfrm>
            <a:off x="576072" y="2148840"/>
            <a:ext cx="3300984" cy="1298448"/>
          </a:xfrm>
          <a:prstGeom prst="roundRect">
            <a:avLst>
              <a:gd name="adj" fmla="val 9155"/>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576072" y="2148840"/>
            <a:ext cx="54864" cy="1298448"/>
          </a:xfrm>
          <a:prstGeom prst="rect">
            <a:avLst/>
          </a:prstGeom>
          <a:solidFill>
            <a:srgbClr val="16A2BE"/>
          </a:solidFill>
          <a:ln w="12700">
            <a:solidFill>
              <a:srgbClr val="16A2BE">
                <a:alpha val="0"/>
              </a:srgbClr>
            </a:solidFill>
            <a:prstDash val="solid"/>
          </a:ln>
        </p:spPr>
        <p:txBody>
          <a:bodyPr/>
          <a:lstStyle/>
          <a:p>
            <a:endParaRPr lang="en-US"/>
          </a:p>
        </p:txBody>
      </p:sp>
      <p:sp>
        <p:nvSpPr>
          <p:cNvPr id="12" name="Text 10"/>
          <p:cNvSpPr/>
          <p:nvPr/>
        </p:nvSpPr>
        <p:spPr>
          <a:xfrm>
            <a:off x="704088" y="2258568"/>
            <a:ext cx="305409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01. CHỌN FILE</a:t>
            </a:r>
            <a:endParaRPr lang="en-US" sz="1510" dirty="0"/>
          </a:p>
        </p:txBody>
      </p:sp>
      <p:sp>
        <p:nvSpPr>
          <p:cNvPr id="13" name="Text 11"/>
          <p:cNvSpPr/>
          <p:nvPr/>
        </p:nvSpPr>
        <p:spPr>
          <a:xfrm>
            <a:off x="704088" y="2587752"/>
            <a:ext cx="3044952" cy="786384"/>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&lt;input type="file"&gt;</a:t>
            </a:r>
            <a:endParaRPr lang="en-US" sz="1190" dirty="0"/>
          </a:p>
          <a:p>
            <a:pPr marL="0" indent="0">
              <a:buNone/>
            </a:pPr>
            <a:r>
              <a:rPr lang="en-US" sz="1190" dirty="0">
                <a:solidFill>
                  <a:srgbClr val="62738C"/>
                </a:solidFill>
                <a:latin typeface="Arial" pitchFamily="34" charset="0"/>
                <a:ea typeface="Arial" pitchFamily="34" charset="-122"/>
                <a:cs typeface="Arial" pitchFamily="34" charset="-120"/>
              </a:rPr>
              <a:t>→ người dùng chọn ảnh</a:t>
            </a:r>
            <a:endParaRPr lang="en-US" sz="1190" dirty="0"/>
          </a:p>
        </p:txBody>
      </p:sp>
      <p:sp>
        <p:nvSpPr>
          <p:cNvPr id="14" name="Shape 12"/>
          <p:cNvSpPr/>
          <p:nvPr/>
        </p:nvSpPr>
        <p:spPr>
          <a:xfrm>
            <a:off x="4462272" y="2148840"/>
            <a:ext cx="3300984" cy="1298448"/>
          </a:xfrm>
          <a:prstGeom prst="roundRect">
            <a:avLst>
              <a:gd name="adj" fmla="val 9155"/>
            </a:avLst>
          </a:prstGeom>
          <a:solidFill>
            <a:srgbClr val="FFFFFF"/>
          </a:solidFill>
          <a:ln w="11430">
            <a:solidFill>
              <a:srgbClr val="DCE5F1"/>
            </a:solidFill>
            <a:prstDash val="solid"/>
          </a:ln>
        </p:spPr>
        <p:txBody>
          <a:bodyPr/>
          <a:lstStyle/>
          <a:p>
            <a:endParaRPr lang="en-US"/>
          </a:p>
        </p:txBody>
      </p:sp>
      <p:sp>
        <p:nvSpPr>
          <p:cNvPr id="15" name="Shape 13"/>
          <p:cNvSpPr/>
          <p:nvPr/>
        </p:nvSpPr>
        <p:spPr>
          <a:xfrm>
            <a:off x="4462272" y="2148840"/>
            <a:ext cx="54864" cy="1298448"/>
          </a:xfrm>
          <a:prstGeom prst="rect">
            <a:avLst/>
          </a:prstGeom>
          <a:solidFill>
            <a:srgbClr val="285CB2"/>
          </a:solidFill>
          <a:ln w="12700">
            <a:solidFill>
              <a:srgbClr val="285CB2">
                <a:alpha val="0"/>
              </a:srgbClr>
            </a:solidFill>
            <a:prstDash val="solid"/>
          </a:ln>
        </p:spPr>
        <p:txBody>
          <a:bodyPr/>
          <a:lstStyle/>
          <a:p>
            <a:endParaRPr lang="en-US"/>
          </a:p>
        </p:txBody>
      </p:sp>
      <p:sp>
        <p:nvSpPr>
          <p:cNvPr id="16" name="Text 14"/>
          <p:cNvSpPr/>
          <p:nvPr/>
        </p:nvSpPr>
        <p:spPr>
          <a:xfrm>
            <a:off x="4590288" y="2258568"/>
            <a:ext cx="305409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02. FORMDATA</a:t>
            </a:r>
            <a:endParaRPr lang="en-US" sz="1510" dirty="0"/>
          </a:p>
        </p:txBody>
      </p:sp>
      <p:sp>
        <p:nvSpPr>
          <p:cNvPr id="17" name="Text 15"/>
          <p:cNvSpPr/>
          <p:nvPr/>
        </p:nvSpPr>
        <p:spPr>
          <a:xfrm>
            <a:off x="4590288" y="2587752"/>
            <a:ext cx="3044952" cy="786384"/>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append("avatar", file)</a:t>
            </a:r>
            <a:endParaRPr lang="en-US" sz="1190" dirty="0"/>
          </a:p>
        </p:txBody>
      </p:sp>
      <p:sp>
        <p:nvSpPr>
          <p:cNvPr id="18" name="Shape 16"/>
          <p:cNvSpPr/>
          <p:nvPr/>
        </p:nvSpPr>
        <p:spPr>
          <a:xfrm>
            <a:off x="8348472" y="2148840"/>
            <a:ext cx="3300984" cy="1298448"/>
          </a:xfrm>
          <a:prstGeom prst="roundRect">
            <a:avLst>
              <a:gd name="adj" fmla="val 9155"/>
            </a:avLst>
          </a:prstGeom>
          <a:solidFill>
            <a:srgbClr val="FFFFFF"/>
          </a:solidFill>
          <a:ln w="11430">
            <a:solidFill>
              <a:srgbClr val="DCE5F1"/>
            </a:solidFill>
            <a:prstDash val="solid"/>
          </a:ln>
        </p:spPr>
        <p:txBody>
          <a:bodyPr/>
          <a:lstStyle/>
          <a:p>
            <a:endParaRPr lang="en-US"/>
          </a:p>
        </p:txBody>
      </p:sp>
      <p:sp>
        <p:nvSpPr>
          <p:cNvPr id="19" name="Shape 17"/>
          <p:cNvSpPr/>
          <p:nvPr/>
        </p:nvSpPr>
        <p:spPr>
          <a:xfrm>
            <a:off x="8348472" y="2148840"/>
            <a:ext cx="54864" cy="1298448"/>
          </a:xfrm>
          <a:prstGeom prst="rect">
            <a:avLst/>
          </a:prstGeom>
          <a:solidFill>
            <a:srgbClr val="21764E"/>
          </a:solidFill>
          <a:ln w="12700">
            <a:solidFill>
              <a:srgbClr val="21764E">
                <a:alpha val="0"/>
              </a:srgbClr>
            </a:solidFill>
            <a:prstDash val="solid"/>
          </a:ln>
        </p:spPr>
        <p:txBody>
          <a:bodyPr/>
          <a:lstStyle/>
          <a:p>
            <a:endParaRPr lang="en-US"/>
          </a:p>
        </p:txBody>
      </p:sp>
      <p:sp>
        <p:nvSpPr>
          <p:cNvPr id="20" name="Text 18"/>
          <p:cNvSpPr/>
          <p:nvPr/>
        </p:nvSpPr>
        <p:spPr>
          <a:xfrm>
            <a:off x="8476488" y="2258568"/>
            <a:ext cx="305409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03. GỬI HTTP</a:t>
            </a:r>
            <a:endParaRPr lang="en-US" sz="1510" dirty="0"/>
          </a:p>
        </p:txBody>
      </p:sp>
      <p:sp>
        <p:nvSpPr>
          <p:cNvPr id="21" name="Text 19"/>
          <p:cNvSpPr/>
          <p:nvPr/>
        </p:nvSpPr>
        <p:spPr>
          <a:xfrm>
            <a:off x="8476488" y="2587752"/>
            <a:ext cx="3044952" cy="786384"/>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Axios POST → Express</a:t>
            </a:r>
            <a:endParaRPr lang="en-US" sz="1190" dirty="0"/>
          </a:p>
        </p:txBody>
      </p:sp>
      <p:sp>
        <p:nvSpPr>
          <p:cNvPr id="22" name="Shape 20"/>
          <p:cNvSpPr/>
          <p:nvPr/>
        </p:nvSpPr>
        <p:spPr>
          <a:xfrm>
            <a:off x="3895344" y="2788920"/>
            <a:ext cx="521208" cy="0"/>
          </a:xfrm>
          <a:prstGeom prst="line">
            <a:avLst/>
          </a:prstGeom>
          <a:noFill/>
          <a:ln w="31750">
            <a:solidFill>
              <a:srgbClr val="B58A1A"/>
            </a:solidFill>
            <a:prstDash val="solid"/>
            <a:tailEnd type="triangle"/>
          </a:ln>
        </p:spPr>
        <p:txBody>
          <a:bodyPr/>
          <a:lstStyle/>
          <a:p>
            <a:endParaRPr lang="en-US"/>
          </a:p>
        </p:txBody>
      </p:sp>
      <p:sp>
        <p:nvSpPr>
          <p:cNvPr id="23" name="Shape 21"/>
          <p:cNvSpPr/>
          <p:nvPr/>
        </p:nvSpPr>
        <p:spPr>
          <a:xfrm>
            <a:off x="7781544" y="2788920"/>
            <a:ext cx="521208" cy="0"/>
          </a:xfrm>
          <a:prstGeom prst="line">
            <a:avLst/>
          </a:prstGeom>
          <a:noFill/>
          <a:ln w="31750">
            <a:solidFill>
              <a:srgbClr val="B58A1A"/>
            </a:solidFill>
            <a:prstDash val="solid"/>
            <a:tailEnd type="triangle"/>
          </a:ln>
        </p:spPr>
        <p:txBody>
          <a:bodyPr/>
          <a:lstStyle/>
          <a:p>
            <a:endParaRPr lang="en-US"/>
          </a:p>
        </p:txBody>
      </p:sp>
      <p:sp>
        <p:nvSpPr>
          <p:cNvPr id="24" name="Shape 22"/>
          <p:cNvSpPr/>
          <p:nvPr/>
        </p:nvSpPr>
        <p:spPr>
          <a:xfrm>
            <a:off x="576072" y="3886200"/>
            <a:ext cx="6473952" cy="1225296"/>
          </a:xfrm>
          <a:prstGeom prst="roundRect">
            <a:avLst>
              <a:gd name="adj" fmla="val 9701"/>
            </a:avLst>
          </a:prstGeom>
          <a:solidFill>
            <a:srgbClr val="0D2543"/>
          </a:solidFill>
          <a:ln w="11430">
            <a:solidFill>
              <a:srgbClr val="0D2543"/>
            </a:solidFill>
            <a:prstDash val="solid"/>
          </a:ln>
        </p:spPr>
        <p:txBody>
          <a:bodyPr/>
          <a:lstStyle/>
          <a:p>
            <a:endParaRPr lang="en-US"/>
          </a:p>
        </p:txBody>
      </p:sp>
      <p:sp>
        <p:nvSpPr>
          <p:cNvPr id="25" name="Text 23"/>
          <p:cNvSpPr/>
          <p:nvPr/>
        </p:nvSpPr>
        <p:spPr>
          <a:xfrm>
            <a:off x="786384" y="3995928"/>
            <a:ext cx="6108192" cy="201168"/>
          </a:xfrm>
          <a:prstGeom prst="rect">
            <a:avLst/>
          </a:prstGeom>
          <a:noFill/>
          <a:ln/>
        </p:spPr>
        <p:txBody>
          <a:bodyPr wrap="square" lIns="0" tIns="0" rIns="0" bIns="0" rtlCol="0" anchor="ctr">
            <a:normAutofit/>
          </a:bodyPr>
          <a:lstStyle/>
          <a:p>
            <a:pPr marL="0" indent="0">
              <a:buNone/>
            </a:pPr>
            <a:r>
              <a:rPr lang="en-US" sz="1010" b="1" kern="0" spc="70" dirty="0">
                <a:solidFill>
                  <a:srgbClr val="69CAE3"/>
                </a:solidFill>
                <a:latin typeface="Arial" pitchFamily="34" charset="0"/>
                <a:ea typeface="Arial" pitchFamily="34" charset="-122"/>
                <a:cs typeface="Arial" pitchFamily="34" charset="-120"/>
              </a:rPr>
              <a:t>JAVASCRIPT</a:t>
            </a:r>
            <a:endParaRPr lang="en-US" sz="1010" dirty="0"/>
          </a:p>
        </p:txBody>
      </p:sp>
      <p:sp>
        <p:nvSpPr>
          <p:cNvPr id="26" name="Shape 24"/>
          <p:cNvSpPr/>
          <p:nvPr/>
        </p:nvSpPr>
        <p:spPr>
          <a:xfrm>
            <a:off x="786384" y="4279392"/>
            <a:ext cx="6053328" cy="0"/>
          </a:xfrm>
          <a:prstGeom prst="line">
            <a:avLst/>
          </a:prstGeom>
          <a:noFill/>
          <a:ln w="8890">
            <a:solidFill>
              <a:srgbClr val="49627D"/>
            </a:solidFill>
            <a:prstDash val="solid"/>
          </a:ln>
        </p:spPr>
        <p:txBody>
          <a:bodyPr/>
          <a:lstStyle/>
          <a:p>
            <a:endParaRPr lang="en-US"/>
          </a:p>
        </p:txBody>
      </p:sp>
      <p:sp>
        <p:nvSpPr>
          <p:cNvPr id="27" name="Text 25"/>
          <p:cNvSpPr/>
          <p:nvPr/>
        </p:nvSpPr>
        <p:spPr>
          <a:xfrm>
            <a:off x="795528" y="4343400"/>
            <a:ext cx="6044184" cy="704088"/>
          </a:xfrm>
          <a:prstGeom prst="rect">
            <a:avLst/>
          </a:prstGeom>
          <a:noFill/>
          <a:ln/>
        </p:spPr>
        <p:txBody>
          <a:bodyPr wrap="square" lIns="0" tIns="0" rIns="0" bIns="0" rtlCol="0" anchor="t">
            <a:normAutofit/>
          </a:bodyPr>
          <a:lstStyle/>
          <a:p>
            <a:pPr marL="0" indent="0">
              <a:buNone/>
            </a:pPr>
            <a:r>
              <a:rPr lang="en-US" sz="1500" dirty="0">
                <a:solidFill>
                  <a:srgbClr val="F3F8FF"/>
                </a:solidFill>
                <a:latin typeface="Consolas" pitchFamily="34" charset="0"/>
                <a:ea typeface="Consolas" pitchFamily="34" charset="-122"/>
                <a:cs typeface="Consolas" pitchFamily="34" charset="-120"/>
              </a:rPr>
              <a:t>const formData = new FormData();</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formData.append("avatar", file);</a:t>
            </a:r>
            <a:endParaRPr lang="en-US" sz="1500" dirty="0"/>
          </a:p>
        </p:txBody>
      </p:sp>
      <p:sp>
        <p:nvSpPr>
          <p:cNvPr id="28" name="Shape 26"/>
          <p:cNvSpPr/>
          <p:nvPr/>
        </p:nvSpPr>
        <p:spPr>
          <a:xfrm>
            <a:off x="7342632" y="3886200"/>
            <a:ext cx="4279392" cy="1225296"/>
          </a:xfrm>
          <a:prstGeom prst="roundRect">
            <a:avLst>
              <a:gd name="adj" fmla="val 9701"/>
            </a:avLst>
          </a:prstGeom>
          <a:solidFill>
            <a:srgbClr val="FFF2D7"/>
          </a:solidFill>
          <a:ln w="11430">
            <a:solidFill>
              <a:srgbClr val="F1D49B"/>
            </a:solidFill>
            <a:prstDash val="solid"/>
          </a:ln>
        </p:spPr>
        <p:txBody>
          <a:bodyPr/>
          <a:lstStyle/>
          <a:p>
            <a:endParaRPr lang="en-US"/>
          </a:p>
        </p:txBody>
      </p:sp>
      <p:sp>
        <p:nvSpPr>
          <p:cNvPr id="29" name="Text 27"/>
          <p:cNvSpPr/>
          <p:nvPr/>
        </p:nvSpPr>
        <p:spPr>
          <a:xfrm>
            <a:off x="7571232" y="4096512"/>
            <a:ext cx="3840480" cy="274320"/>
          </a:xfrm>
          <a:prstGeom prst="rect">
            <a:avLst/>
          </a:prstGeom>
          <a:noFill/>
          <a:ln/>
        </p:spPr>
        <p:txBody>
          <a:bodyPr wrap="square" lIns="0" tIns="0" rIns="0" bIns="0" rtlCol="0" anchor="ctr">
            <a:normAutofit/>
          </a:bodyPr>
          <a:lstStyle/>
          <a:p>
            <a:pPr marL="0" indent="0">
              <a:buNone/>
            </a:pPr>
            <a:r>
              <a:rPr lang="en-US" sz="1400" dirty="0">
                <a:solidFill>
                  <a:srgbClr val="62738C"/>
                </a:solidFill>
                <a:latin typeface="Arial" pitchFamily="34" charset="0"/>
                <a:ea typeface="Arial" pitchFamily="34" charset="-122"/>
                <a:cs typeface="Arial" pitchFamily="34" charset="-120"/>
              </a:rPr>
              <a:t>Tên field phải trùng:</a:t>
            </a:r>
            <a:endParaRPr lang="en-US" sz="1400" dirty="0"/>
          </a:p>
        </p:txBody>
      </p:sp>
      <p:sp>
        <p:nvSpPr>
          <p:cNvPr id="30" name="Text 28"/>
          <p:cNvSpPr/>
          <p:nvPr/>
        </p:nvSpPr>
        <p:spPr>
          <a:xfrm>
            <a:off x="7562088" y="4434840"/>
            <a:ext cx="3840480" cy="310896"/>
          </a:xfrm>
          <a:prstGeom prst="rect">
            <a:avLst/>
          </a:prstGeom>
          <a:noFill/>
          <a:ln/>
        </p:spPr>
        <p:txBody>
          <a:bodyPr wrap="square" lIns="0" tIns="0" rIns="0" bIns="0" rtlCol="0" anchor="ctr">
            <a:normAutofit/>
          </a:bodyPr>
          <a:lstStyle/>
          <a:p>
            <a:pPr marL="0" indent="0">
              <a:buNone/>
            </a:pPr>
            <a:r>
              <a:rPr lang="en-US" sz="1400" b="1" dirty="0">
                <a:solidFill>
                  <a:srgbClr val="15365E"/>
                </a:solidFill>
                <a:latin typeface="Arial" pitchFamily="34" charset="0"/>
                <a:ea typeface="Arial" pitchFamily="34" charset="-122"/>
                <a:cs typeface="Arial" pitchFamily="34" charset="-120"/>
              </a:rPr>
              <a:t>avatar ⇄ upload.single("avatar")</a:t>
            </a:r>
            <a:endParaRPr lang="en-US" sz="1400" dirty="0"/>
          </a:p>
        </p:txBody>
      </p:sp>
      <p:sp>
        <p:nvSpPr>
          <p:cNvPr id="31" name="Shape 29"/>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32" name="Text 30"/>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33" name="Text 31"/>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Với FormData gửi từ trình duyệt, để trình duyệt tự đặt multipart Content-Type và boundary.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a:t>
            </a:r>
            <a:r>
              <a:rPr lang="en-US" sz="1230" b="1" kern="0" spc="100">
                <a:solidFill>
                  <a:srgbClr val="B58A1A"/>
                </a:solidFill>
                <a:latin typeface="Arial" pitchFamily="34" charset="0"/>
                <a:ea typeface="Arial" pitchFamily="34" charset="-122"/>
                <a:cs typeface="Arial" pitchFamily="34" charset="-120"/>
              </a:rPr>
              <a:t>TRÌNH BACKEND</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MIDDLEWARE</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Multer tiếp nhận và xử lý file upload</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Nhớ vị trí của Multer trong pipeline đã học ở Buổi 6.</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07 / 16    ·    4 phút</a:t>
            </a:r>
            <a:endParaRPr lang="en-US" sz="950" dirty="0"/>
          </a:p>
        </p:txBody>
      </p:sp>
      <p:sp>
        <p:nvSpPr>
          <p:cNvPr id="10" name="Shape 8"/>
          <p:cNvSpPr/>
          <p:nvPr/>
        </p:nvSpPr>
        <p:spPr>
          <a:xfrm>
            <a:off x="530352" y="1947672"/>
            <a:ext cx="2660904" cy="1078992"/>
          </a:xfrm>
          <a:prstGeom prst="roundRect">
            <a:avLst>
              <a:gd name="adj" fmla="val 11017"/>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530352" y="1947672"/>
            <a:ext cx="54864" cy="1078992"/>
          </a:xfrm>
          <a:prstGeom prst="rect">
            <a:avLst/>
          </a:prstGeom>
          <a:solidFill>
            <a:srgbClr val="285CB2"/>
          </a:solidFill>
          <a:ln w="12700">
            <a:solidFill>
              <a:srgbClr val="285CB2">
                <a:alpha val="0"/>
              </a:srgbClr>
            </a:solidFill>
            <a:prstDash val="solid"/>
          </a:ln>
        </p:spPr>
        <p:txBody>
          <a:bodyPr/>
          <a:lstStyle/>
          <a:p>
            <a:endParaRPr lang="en-US"/>
          </a:p>
        </p:txBody>
      </p:sp>
      <p:sp>
        <p:nvSpPr>
          <p:cNvPr id="12" name="Text 10"/>
          <p:cNvSpPr/>
          <p:nvPr/>
        </p:nvSpPr>
        <p:spPr>
          <a:xfrm>
            <a:off x="658368" y="2057400"/>
            <a:ext cx="241401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CLIENT</a:t>
            </a:r>
            <a:endParaRPr lang="en-US" sz="1510" dirty="0"/>
          </a:p>
        </p:txBody>
      </p:sp>
      <p:sp>
        <p:nvSpPr>
          <p:cNvPr id="13" name="Text 11"/>
          <p:cNvSpPr/>
          <p:nvPr/>
        </p:nvSpPr>
        <p:spPr>
          <a:xfrm>
            <a:off x="658368" y="2386584"/>
            <a:ext cx="2404872" cy="566928"/>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POST file</a:t>
            </a:r>
            <a:endParaRPr lang="en-US" sz="1190" dirty="0"/>
          </a:p>
        </p:txBody>
      </p:sp>
      <p:sp>
        <p:nvSpPr>
          <p:cNvPr id="14" name="Shape 12"/>
          <p:cNvSpPr/>
          <p:nvPr/>
        </p:nvSpPr>
        <p:spPr>
          <a:xfrm>
            <a:off x="3200400" y="2478024"/>
            <a:ext cx="192024" cy="0"/>
          </a:xfrm>
          <a:prstGeom prst="line">
            <a:avLst/>
          </a:prstGeom>
          <a:noFill/>
          <a:ln w="25400">
            <a:solidFill>
              <a:srgbClr val="B58A1A"/>
            </a:solidFill>
            <a:prstDash val="solid"/>
            <a:tailEnd type="triangle"/>
          </a:ln>
        </p:spPr>
        <p:txBody>
          <a:bodyPr/>
          <a:lstStyle/>
          <a:p>
            <a:endParaRPr lang="en-US"/>
          </a:p>
        </p:txBody>
      </p:sp>
      <p:sp>
        <p:nvSpPr>
          <p:cNvPr id="15" name="Shape 13"/>
          <p:cNvSpPr/>
          <p:nvPr/>
        </p:nvSpPr>
        <p:spPr>
          <a:xfrm>
            <a:off x="3419856" y="1947672"/>
            <a:ext cx="2660904" cy="1078992"/>
          </a:xfrm>
          <a:prstGeom prst="roundRect">
            <a:avLst>
              <a:gd name="adj" fmla="val 11017"/>
            </a:avLst>
          </a:prstGeom>
          <a:solidFill>
            <a:srgbClr val="FFFFFF"/>
          </a:solidFill>
          <a:ln w="11430">
            <a:solidFill>
              <a:srgbClr val="DCE5F1"/>
            </a:solidFill>
            <a:prstDash val="solid"/>
          </a:ln>
        </p:spPr>
        <p:txBody>
          <a:bodyPr/>
          <a:lstStyle/>
          <a:p>
            <a:endParaRPr lang="en-US"/>
          </a:p>
        </p:txBody>
      </p:sp>
      <p:sp>
        <p:nvSpPr>
          <p:cNvPr id="16" name="Shape 14"/>
          <p:cNvSpPr/>
          <p:nvPr/>
        </p:nvSpPr>
        <p:spPr>
          <a:xfrm>
            <a:off x="3419856" y="1947672"/>
            <a:ext cx="54864" cy="1078992"/>
          </a:xfrm>
          <a:prstGeom prst="rect">
            <a:avLst/>
          </a:prstGeom>
          <a:solidFill>
            <a:srgbClr val="285CB2"/>
          </a:solidFill>
          <a:ln w="12700">
            <a:solidFill>
              <a:srgbClr val="285CB2">
                <a:alpha val="0"/>
              </a:srgbClr>
            </a:solidFill>
            <a:prstDash val="solid"/>
          </a:ln>
        </p:spPr>
        <p:txBody>
          <a:bodyPr/>
          <a:lstStyle/>
          <a:p>
            <a:endParaRPr lang="en-US"/>
          </a:p>
        </p:txBody>
      </p:sp>
      <p:sp>
        <p:nvSpPr>
          <p:cNvPr id="17" name="Text 15"/>
          <p:cNvSpPr/>
          <p:nvPr/>
        </p:nvSpPr>
        <p:spPr>
          <a:xfrm>
            <a:off x="3547872" y="2057400"/>
            <a:ext cx="241401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isAuth</a:t>
            </a:r>
            <a:endParaRPr lang="en-US" sz="1510" dirty="0"/>
          </a:p>
        </p:txBody>
      </p:sp>
      <p:sp>
        <p:nvSpPr>
          <p:cNvPr id="18" name="Text 16"/>
          <p:cNvSpPr/>
          <p:nvPr/>
        </p:nvSpPr>
        <p:spPr>
          <a:xfrm>
            <a:off x="3547872" y="2386584"/>
            <a:ext cx="2404872" cy="566928"/>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Xác minh JWT</a:t>
            </a:r>
            <a:endParaRPr lang="en-US" sz="1190" dirty="0"/>
          </a:p>
        </p:txBody>
      </p:sp>
      <p:sp>
        <p:nvSpPr>
          <p:cNvPr id="19" name="Shape 17"/>
          <p:cNvSpPr/>
          <p:nvPr/>
        </p:nvSpPr>
        <p:spPr>
          <a:xfrm>
            <a:off x="6089904" y="2478024"/>
            <a:ext cx="192024" cy="0"/>
          </a:xfrm>
          <a:prstGeom prst="line">
            <a:avLst/>
          </a:prstGeom>
          <a:noFill/>
          <a:ln w="25400">
            <a:solidFill>
              <a:srgbClr val="B58A1A"/>
            </a:solidFill>
            <a:prstDash val="solid"/>
            <a:tailEnd type="triangle"/>
          </a:ln>
        </p:spPr>
        <p:txBody>
          <a:bodyPr/>
          <a:lstStyle/>
          <a:p>
            <a:endParaRPr lang="en-US"/>
          </a:p>
        </p:txBody>
      </p:sp>
      <p:sp>
        <p:nvSpPr>
          <p:cNvPr id="20" name="Shape 18"/>
          <p:cNvSpPr/>
          <p:nvPr/>
        </p:nvSpPr>
        <p:spPr>
          <a:xfrm>
            <a:off x="6309360" y="1947672"/>
            <a:ext cx="2660904" cy="1078992"/>
          </a:xfrm>
          <a:prstGeom prst="roundRect">
            <a:avLst>
              <a:gd name="adj" fmla="val 11017"/>
            </a:avLst>
          </a:prstGeom>
          <a:solidFill>
            <a:srgbClr val="FFFFFF"/>
          </a:solidFill>
          <a:ln w="11430">
            <a:solidFill>
              <a:srgbClr val="DCE5F1"/>
            </a:solidFill>
            <a:prstDash val="solid"/>
          </a:ln>
        </p:spPr>
        <p:txBody>
          <a:bodyPr/>
          <a:lstStyle/>
          <a:p>
            <a:endParaRPr lang="en-US"/>
          </a:p>
        </p:txBody>
      </p:sp>
      <p:sp>
        <p:nvSpPr>
          <p:cNvPr id="21" name="Shape 19"/>
          <p:cNvSpPr/>
          <p:nvPr/>
        </p:nvSpPr>
        <p:spPr>
          <a:xfrm>
            <a:off x="6309360" y="1947672"/>
            <a:ext cx="54864" cy="1078992"/>
          </a:xfrm>
          <a:prstGeom prst="rect">
            <a:avLst/>
          </a:prstGeom>
          <a:solidFill>
            <a:srgbClr val="16A2BE"/>
          </a:solidFill>
          <a:ln w="12700">
            <a:solidFill>
              <a:srgbClr val="16A2BE">
                <a:alpha val="0"/>
              </a:srgbClr>
            </a:solidFill>
            <a:prstDash val="solid"/>
          </a:ln>
        </p:spPr>
        <p:txBody>
          <a:bodyPr/>
          <a:lstStyle/>
          <a:p>
            <a:endParaRPr lang="en-US"/>
          </a:p>
        </p:txBody>
      </p:sp>
      <p:sp>
        <p:nvSpPr>
          <p:cNvPr id="22" name="Text 20"/>
          <p:cNvSpPr/>
          <p:nvPr/>
        </p:nvSpPr>
        <p:spPr>
          <a:xfrm>
            <a:off x="6437376" y="2057400"/>
            <a:ext cx="241401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MULTER</a:t>
            </a:r>
            <a:endParaRPr lang="en-US" sz="1510" dirty="0"/>
          </a:p>
        </p:txBody>
      </p:sp>
      <p:sp>
        <p:nvSpPr>
          <p:cNvPr id="23" name="Text 21"/>
          <p:cNvSpPr/>
          <p:nvPr/>
        </p:nvSpPr>
        <p:spPr>
          <a:xfrm>
            <a:off x="6437376" y="2386584"/>
            <a:ext cx="2404872" cy="566928"/>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Nhận / kiểm tra file</a:t>
            </a:r>
            <a:endParaRPr lang="en-US" sz="1190" dirty="0"/>
          </a:p>
        </p:txBody>
      </p:sp>
      <p:sp>
        <p:nvSpPr>
          <p:cNvPr id="24" name="Shape 22"/>
          <p:cNvSpPr/>
          <p:nvPr/>
        </p:nvSpPr>
        <p:spPr>
          <a:xfrm>
            <a:off x="8979408" y="2478024"/>
            <a:ext cx="192024" cy="0"/>
          </a:xfrm>
          <a:prstGeom prst="line">
            <a:avLst/>
          </a:prstGeom>
          <a:noFill/>
          <a:ln w="25400">
            <a:solidFill>
              <a:srgbClr val="B58A1A"/>
            </a:solidFill>
            <a:prstDash val="solid"/>
            <a:tailEnd type="triangle"/>
          </a:ln>
        </p:spPr>
        <p:txBody>
          <a:bodyPr/>
          <a:lstStyle/>
          <a:p>
            <a:endParaRPr lang="en-US"/>
          </a:p>
        </p:txBody>
      </p:sp>
      <p:sp>
        <p:nvSpPr>
          <p:cNvPr id="25" name="Shape 23"/>
          <p:cNvSpPr/>
          <p:nvPr/>
        </p:nvSpPr>
        <p:spPr>
          <a:xfrm>
            <a:off x="9198864" y="1947672"/>
            <a:ext cx="2660904" cy="1078992"/>
          </a:xfrm>
          <a:prstGeom prst="roundRect">
            <a:avLst>
              <a:gd name="adj" fmla="val 11017"/>
            </a:avLst>
          </a:prstGeom>
          <a:solidFill>
            <a:srgbClr val="FFFFFF"/>
          </a:solidFill>
          <a:ln w="11430">
            <a:solidFill>
              <a:srgbClr val="DCE5F1"/>
            </a:solidFill>
            <a:prstDash val="solid"/>
          </a:ln>
        </p:spPr>
        <p:txBody>
          <a:bodyPr/>
          <a:lstStyle/>
          <a:p>
            <a:endParaRPr lang="en-US"/>
          </a:p>
        </p:txBody>
      </p:sp>
      <p:sp>
        <p:nvSpPr>
          <p:cNvPr id="26" name="Shape 24"/>
          <p:cNvSpPr/>
          <p:nvPr/>
        </p:nvSpPr>
        <p:spPr>
          <a:xfrm>
            <a:off x="9198864" y="1947672"/>
            <a:ext cx="54864" cy="1078992"/>
          </a:xfrm>
          <a:prstGeom prst="rect">
            <a:avLst/>
          </a:prstGeom>
          <a:solidFill>
            <a:srgbClr val="285CB2"/>
          </a:solidFill>
          <a:ln w="12700">
            <a:solidFill>
              <a:srgbClr val="285CB2">
                <a:alpha val="0"/>
              </a:srgbClr>
            </a:solidFill>
            <a:prstDash val="solid"/>
          </a:ln>
        </p:spPr>
        <p:txBody>
          <a:bodyPr/>
          <a:lstStyle/>
          <a:p>
            <a:endParaRPr lang="en-US"/>
          </a:p>
        </p:txBody>
      </p:sp>
      <p:sp>
        <p:nvSpPr>
          <p:cNvPr id="27" name="Text 25"/>
          <p:cNvSpPr/>
          <p:nvPr/>
        </p:nvSpPr>
        <p:spPr>
          <a:xfrm>
            <a:off x="9326880" y="2057400"/>
            <a:ext cx="241401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CONTROLLER</a:t>
            </a:r>
            <a:endParaRPr lang="en-US" sz="1510" dirty="0"/>
          </a:p>
        </p:txBody>
      </p:sp>
      <p:sp>
        <p:nvSpPr>
          <p:cNvPr id="28" name="Text 26"/>
          <p:cNvSpPr/>
          <p:nvPr/>
        </p:nvSpPr>
        <p:spPr>
          <a:xfrm>
            <a:off x="9326880" y="2386584"/>
            <a:ext cx="2404872" cy="566928"/>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Xử lý kết quả</a:t>
            </a:r>
            <a:endParaRPr lang="en-US" sz="1190" dirty="0"/>
          </a:p>
        </p:txBody>
      </p:sp>
      <p:sp>
        <p:nvSpPr>
          <p:cNvPr id="29" name="Shape 27"/>
          <p:cNvSpPr/>
          <p:nvPr/>
        </p:nvSpPr>
        <p:spPr>
          <a:xfrm>
            <a:off x="530352" y="3355848"/>
            <a:ext cx="6473952" cy="1956816"/>
          </a:xfrm>
          <a:prstGeom prst="roundRect">
            <a:avLst>
              <a:gd name="adj" fmla="val 6075"/>
            </a:avLst>
          </a:prstGeom>
          <a:solidFill>
            <a:srgbClr val="0D2543"/>
          </a:solidFill>
          <a:ln w="11430">
            <a:solidFill>
              <a:srgbClr val="0D2543"/>
            </a:solidFill>
            <a:prstDash val="solid"/>
          </a:ln>
        </p:spPr>
        <p:txBody>
          <a:bodyPr/>
          <a:lstStyle/>
          <a:p>
            <a:endParaRPr lang="en-US"/>
          </a:p>
        </p:txBody>
      </p:sp>
      <p:sp>
        <p:nvSpPr>
          <p:cNvPr id="30" name="Text 28"/>
          <p:cNvSpPr/>
          <p:nvPr/>
        </p:nvSpPr>
        <p:spPr>
          <a:xfrm>
            <a:off x="740664" y="3465576"/>
            <a:ext cx="6108192" cy="201168"/>
          </a:xfrm>
          <a:prstGeom prst="rect">
            <a:avLst/>
          </a:prstGeom>
          <a:noFill/>
          <a:ln/>
        </p:spPr>
        <p:txBody>
          <a:bodyPr wrap="square" lIns="0" tIns="0" rIns="0" bIns="0" rtlCol="0" anchor="ctr">
            <a:normAutofit/>
          </a:bodyPr>
          <a:lstStyle/>
          <a:p>
            <a:pPr marL="0" indent="0">
              <a:buNone/>
            </a:pPr>
            <a:r>
              <a:rPr lang="en-US" sz="1010" b="1" kern="0" spc="70" dirty="0">
                <a:solidFill>
                  <a:srgbClr val="69CAE3"/>
                </a:solidFill>
                <a:latin typeface="Arial" pitchFamily="34" charset="0"/>
                <a:ea typeface="Arial" pitchFamily="34" charset="-122"/>
                <a:cs typeface="Arial" pitchFamily="34" charset="-120"/>
              </a:rPr>
              <a:t>ROUTE / EXPRESS</a:t>
            </a:r>
            <a:endParaRPr lang="en-US" sz="1010" dirty="0"/>
          </a:p>
        </p:txBody>
      </p:sp>
      <p:sp>
        <p:nvSpPr>
          <p:cNvPr id="31" name="Shape 29"/>
          <p:cNvSpPr/>
          <p:nvPr/>
        </p:nvSpPr>
        <p:spPr>
          <a:xfrm>
            <a:off x="740664" y="3749040"/>
            <a:ext cx="6053328" cy="0"/>
          </a:xfrm>
          <a:prstGeom prst="line">
            <a:avLst/>
          </a:prstGeom>
          <a:noFill/>
          <a:ln w="8890">
            <a:solidFill>
              <a:srgbClr val="49627D"/>
            </a:solidFill>
            <a:prstDash val="solid"/>
          </a:ln>
        </p:spPr>
        <p:txBody>
          <a:bodyPr/>
          <a:lstStyle/>
          <a:p>
            <a:endParaRPr lang="en-US"/>
          </a:p>
        </p:txBody>
      </p:sp>
      <p:sp>
        <p:nvSpPr>
          <p:cNvPr id="32" name="Text 30"/>
          <p:cNvSpPr/>
          <p:nvPr/>
        </p:nvSpPr>
        <p:spPr>
          <a:xfrm>
            <a:off x="749808" y="3813048"/>
            <a:ext cx="6044184" cy="1435608"/>
          </a:xfrm>
          <a:prstGeom prst="rect">
            <a:avLst/>
          </a:prstGeom>
          <a:noFill/>
          <a:ln/>
        </p:spPr>
        <p:txBody>
          <a:bodyPr wrap="square" lIns="0" tIns="0" rIns="0" bIns="0" rtlCol="0" anchor="t">
            <a:normAutofit/>
          </a:bodyPr>
          <a:lstStyle/>
          <a:p>
            <a:pPr marL="0" indent="0">
              <a:buNone/>
            </a:pPr>
            <a:r>
              <a:rPr lang="en-US" sz="1500" dirty="0">
                <a:solidFill>
                  <a:srgbClr val="F3F8FF"/>
                </a:solidFill>
                <a:latin typeface="Consolas" pitchFamily="34" charset="0"/>
                <a:ea typeface="Consolas" pitchFamily="34" charset="-122"/>
                <a:cs typeface="Consolas" pitchFamily="34" charset="-120"/>
              </a:rPr>
              <a:t>router.post(</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"/me/avatar", isAuth,</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upload.single("avatar"), uploadAvatar</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a:t>
            </a:r>
            <a:endParaRPr lang="en-US" sz="1500" dirty="0"/>
          </a:p>
        </p:txBody>
      </p:sp>
      <p:sp>
        <p:nvSpPr>
          <p:cNvPr id="33" name="Shape 31"/>
          <p:cNvSpPr/>
          <p:nvPr/>
        </p:nvSpPr>
        <p:spPr>
          <a:xfrm>
            <a:off x="7260336" y="3355848"/>
            <a:ext cx="4379976" cy="1956816"/>
          </a:xfrm>
          <a:prstGeom prst="roundRect">
            <a:avLst>
              <a:gd name="adj" fmla="val 6075"/>
            </a:avLst>
          </a:prstGeom>
          <a:solidFill>
            <a:srgbClr val="FFFFFF"/>
          </a:solidFill>
          <a:ln w="11430">
            <a:solidFill>
              <a:srgbClr val="DCE5F1"/>
            </a:solidFill>
            <a:prstDash val="solid"/>
          </a:ln>
        </p:spPr>
        <p:txBody>
          <a:bodyPr/>
          <a:lstStyle/>
          <a:p>
            <a:endParaRPr lang="en-US"/>
          </a:p>
        </p:txBody>
      </p:sp>
      <p:sp>
        <p:nvSpPr>
          <p:cNvPr id="34" name="Text 32"/>
          <p:cNvSpPr/>
          <p:nvPr/>
        </p:nvSpPr>
        <p:spPr>
          <a:xfrm>
            <a:off x="7507224" y="3547872"/>
            <a:ext cx="3849624" cy="384048"/>
          </a:xfrm>
          <a:prstGeom prst="rect">
            <a:avLst/>
          </a:prstGeom>
          <a:noFill/>
          <a:ln/>
        </p:spPr>
        <p:txBody>
          <a:bodyPr wrap="square" lIns="0" tIns="0" rIns="0" bIns="0" rtlCol="0" anchor="ctr">
            <a:normAutofit/>
          </a:bodyPr>
          <a:lstStyle/>
          <a:p>
            <a:pPr marL="0" indent="0">
              <a:buNone/>
            </a:pPr>
            <a:r>
              <a:rPr lang="en-US" sz="1900" b="1" dirty="0">
                <a:solidFill>
                  <a:srgbClr val="15365E"/>
                </a:solidFill>
                <a:latin typeface="Arial" pitchFamily="34" charset="0"/>
                <a:ea typeface="Arial" pitchFamily="34" charset="-122"/>
                <a:cs typeface="Arial" pitchFamily="34" charset="-120"/>
              </a:rPr>
              <a:t>Sau khi Multer xử lý</a:t>
            </a:r>
            <a:endParaRPr lang="en-US" sz="1900" dirty="0"/>
          </a:p>
        </p:txBody>
      </p:sp>
      <p:sp>
        <p:nvSpPr>
          <p:cNvPr id="35" name="Text 33"/>
          <p:cNvSpPr/>
          <p:nvPr/>
        </p:nvSpPr>
        <p:spPr>
          <a:xfrm>
            <a:off x="7516368" y="4050792"/>
            <a:ext cx="3877056" cy="969264"/>
          </a:xfrm>
          <a:prstGeom prst="rect">
            <a:avLst/>
          </a:prstGeom>
          <a:noFill/>
          <a:ln/>
        </p:spPr>
        <p:txBody>
          <a:bodyPr wrap="square" lIns="0" tIns="0" rIns="0" bIns="0" rtlCol="0" anchor="ctr">
            <a:normAutofit/>
          </a:bodyPr>
          <a:lstStyle/>
          <a:p>
            <a:pPr marL="0" indent="0">
              <a:buNone/>
            </a:pPr>
            <a:r>
              <a:rPr lang="en-US" sz="1600" dirty="0">
                <a:solidFill>
                  <a:srgbClr val="15365E"/>
                </a:solidFill>
                <a:latin typeface="Arial" pitchFamily="34" charset="0"/>
                <a:ea typeface="Arial" pitchFamily="34" charset="-122"/>
                <a:cs typeface="Arial" pitchFamily="34" charset="-120"/>
              </a:rPr>
              <a:t>req.file  → thông tin file</a:t>
            </a:r>
            <a:endParaRPr lang="en-US" sz="1600" dirty="0"/>
          </a:p>
          <a:p>
            <a:pPr marL="0" indent="0">
              <a:buNone/>
            </a:pPr>
            <a:r>
              <a:rPr lang="en-US" sz="1600" dirty="0">
                <a:solidFill>
                  <a:srgbClr val="15365E"/>
                </a:solidFill>
                <a:latin typeface="Arial" pitchFamily="34" charset="0"/>
                <a:ea typeface="Arial" pitchFamily="34" charset="-122"/>
                <a:cs typeface="Arial" pitchFamily="34" charset="-120"/>
              </a:rPr>
              <a:t>req.body → trường văn bản</a:t>
            </a:r>
            <a:endParaRPr lang="en-US" sz="1600" dirty="0"/>
          </a:p>
          <a:p>
            <a:pPr marL="0" indent="0">
              <a:buNone/>
            </a:pPr>
            <a:r>
              <a:rPr lang="en-US" sz="1600" dirty="0">
                <a:solidFill>
                  <a:srgbClr val="15365E"/>
                </a:solidFill>
                <a:latin typeface="Arial" pitchFamily="34" charset="0"/>
                <a:ea typeface="Arial" pitchFamily="34" charset="-122"/>
                <a:cs typeface="Arial" pitchFamily="34" charset="-120"/>
              </a:rPr>
              <a:t>next()    → xử lý tiếp</a:t>
            </a:r>
            <a:endParaRPr lang="en-US" sz="1600" dirty="0"/>
          </a:p>
        </p:txBody>
      </p:sp>
      <p:sp>
        <p:nvSpPr>
          <p:cNvPr id="36" name="Shape 34"/>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37" name="Text 35"/>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38" name="Text 36"/>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Thứ tự middleware quan trọng: kiểm tra JWT trước khi xử lý file.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TRÌNH </a:t>
            </a:r>
            <a:r>
              <a:rPr lang="en-US" sz="1230" b="1" kern="0" spc="100">
                <a:solidFill>
                  <a:srgbClr val="B58A1A"/>
                </a:solidFill>
                <a:latin typeface="Arial" pitchFamily="34" charset="0"/>
                <a:ea typeface="Arial" pitchFamily="34" charset="-122"/>
                <a:cs typeface="Arial" pitchFamily="34" charset="-120"/>
              </a:rPr>
              <a:t>BACKEND   </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LƯU TRỮ</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Ổ đĩa giữ ảnh – Database giữ đường dẫn</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Phân biệt file vật lý trên Server và URL truy cập của trình duyệt.</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08 / 16    ·    2 phút</a:t>
            </a:r>
            <a:endParaRPr lang="en-US" sz="950" dirty="0"/>
          </a:p>
        </p:txBody>
      </p:sp>
      <p:sp>
        <p:nvSpPr>
          <p:cNvPr id="10" name="Shape 8"/>
          <p:cNvSpPr/>
          <p:nvPr/>
        </p:nvSpPr>
        <p:spPr>
          <a:xfrm>
            <a:off x="548640" y="1965960"/>
            <a:ext cx="5257800" cy="1353312"/>
          </a:xfrm>
          <a:prstGeom prst="roundRect">
            <a:avLst>
              <a:gd name="adj" fmla="val 8784"/>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548640" y="1965960"/>
            <a:ext cx="54864" cy="1353312"/>
          </a:xfrm>
          <a:prstGeom prst="rect">
            <a:avLst/>
          </a:prstGeom>
          <a:solidFill>
            <a:srgbClr val="16A2BE"/>
          </a:solidFill>
          <a:ln w="12700">
            <a:solidFill>
              <a:srgbClr val="16A2BE">
                <a:alpha val="0"/>
              </a:srgbClr>
            </a:solidFill>
            <a:prstDash val="solid"/>
          </a:ln>
        </p:spPr>
        <p:txBody>
          <a:bodyPr/>
          <a:lstStyle/>
          <a:p>
            <a:endParaRPr lang="en-US"/>
          </a:p>
        </p:txBody>
      </p:sp>
      <p:sp>
        <p:nvSpPr>
          <p:cNvPr id="12" name="Text 10"/>
          <p:cNvSpPr/>
          <p:nvPr/>
        </p:nvSpPr>
        <p:spPr>
          <a:xfrm>
            <a:off x="676656" y="2075688"/>
            <a:ext cx="5010912"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FILE VẬT LÝ</a:t>
            </a:r>
            <a:endParaRPr lang="en-US" sz="1510" dirty="0"/>
          </a:p>
        </p:txBody>
      </p:sp>
      <p:sp>
        <p:nvSpPr>
          <p:cNvPr id="13" name="Text 11"/>
          <p:cNvSpPr/>
          <p:nvPr/>
        </p:nvSpPr>
        <p:spPr>
          <a:xfrm>
            <a:off x="676656" y="2404872"/>
            <a:ext cx="5001768" cy="841248"/>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public/uploads/avatar-001.jpg</a:t>
            </a:r>
            <a:endParaRPr lang="en-US" sz="1190" dirty="0"/>
          </a:p>
        </p:txBody>
      </p:sp>
      <p:sp>
        <p:nvSpPr>
          <p:cNvPr id="14" name="Shape 12"/>
          <p:cNvSpPr/>
          <p:nvPr/>
        </p:nvSpPr>
        <p:spPr>
          <a:xfrm>
            <a:off x="6044184" y="1965960"/>
            <a:ext cx="5586984" cy="1353312"/>
          </a:xfrm>
          <a:prstGeom prst="roundRect">
            <a:avLst>
              <a:gd name="adj" fmla="val 8784"/>
            </a:avLst>
          </a:prstGeom>
          <a:solidFill>
            <a:srgbClr val="FFFFFF"/>
          </a:solidFill>
          <a:ln w="11430">
            <a:solidFill>
              <a:srgbClr val="DCE5F1"/>
            </a:solidFill>
            <a:prstDash val="solid"/>
          </a:ln>
        </p:spPr>
        <p:txBody>
          <a:bodyPr/>
          <a:lstStyle/>
          <a:p>
            <a:endParaRPr lang="en-US"/>
          </a:p>
        </p:txBody>
      </p:sp>
      <p:sp>
        <p:nvSpPr>
          <p:cNvPr id="15" name="Shape 13"/>
          <p:cNvSpPr/>
          <p:nvPr/>
        </p:nvSpPr>
        <p:spPr>
          <a:xfrm>
            <a:off x="6044184" y="1965960"/>
            <a:ext cx="54864" cy="1353312"/>
          </a:xfrm>
          <a:prstGeom prst="rect">
            <a:avLst/>
          </a:prstGeom>
          <a:solidFill>
            <a:srgbClr val="21764E"/>
          </a:solidFill>
          <a:ln w="12700">
            <a:solidFill>
              <a:srgbClr val="21764E">
                <a:alpha val="0"/>
              </a:srgbClr>
            </a:solidFill>
            <a:prstDash val="solid"/>
          </a:ln>
        </p:spPr>
        <p:txBody>
          <a:bodyPr/>
          <a:lstStyle/>
          <a:p>
            <a:endParaRPr lang="en-US"/>
          </a:p>
        </p:txBody>
      </p:sp>
      <p:sp>
        <p:nvSpPr>
          <p:cNvPr id="16" name="Text 14"/>
          <p:cNvSpPr/>
          <p:nvPr/>
        </p:nvSpPr>
        <p:spPr>
          <a:xfrm>
            <a:off x="6172200" y="2075688"/>
            <a:ext cx="5340096"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CỘT TRONG DATABASE</a:t>
            </a:r>
            <a:endParaRPr lang="en-US" sz="1510" dirty="0"/>
          </a:p>
        </p:txBody>
      </p:sp>
      <p:sp>
        <p:nvSpPr>
          <p:cNvPr id="17" name="Text 15"/>
          <p:cNvSpPr/>
          <p:nvPr/>
        </p:nvSpPr>
        <p:spPr>
          <a:xfrm>
            <a:off x="6172200" y="2404872"/>
            <a:ext cx="5330952" cy="841248"/>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avatarUrl = "/uploads/avatar-001.jpg"</a:t>
            </a:r>
            <a:endParaRPr lang="en-US" sz="1190" dirty="0"/>
          </a:p>
        </p:txBody>
      </p:sp>
      <p:sp>
        <p:nvSpPr>
          <p:cNvPr id="18" name="Shape 16"/>
          <p:cNvSpPr/>
          <p:nvPr/>
        </p:nvSpPr>
        <p:spPr>
          <a:xfrm>
            <a:off x="557784" y="3630168"/>
            <a:ext cx="11045952" cy="1417320"/>
          </a:xfrm>
          <a:prstGeom prst="roundRect">
            <a:avLst>
              <a:gd name="adj" fmla="val 8387"/>
            </a:avLst>
          </a:prstGeom>
          <a:solidFill>
            <a:srgbClr val="EDF2F9"/>
          </a:solidFill>
          <a:ln w="11430">
            <a:solidFill>
              <a:srgbClr val="DCE5F1"/>
            </a:solidFill>
            <a:prstDash val="solid"/>
          </a:ln>
        </p:spPr>
        <p:txBody>
          <a:bodyPr/>
          <a:lstStyle/>
          <a:p>
            <a:endParaRPr lang="en-US"/>
          </a:p>
        </p:txBody>
      </p:sp>
      <p:sp>
        <p:nvSpPr>
          <p:cNvPr id="19" name="Text 17"/>
          <p:cNvSpPr/>
          <p:nvPr/>
        </p:nvSpPr>
        <p:spPr>
          <a:xfrm>
            <a:off x="813816" y="3822192"/>
            <a:ext cx="5486400" cy="320040"/>
          </a:xfrm>
          <a:prstGeom prst="rect">
            <a:avLst/>
          </a:prstGeom>
          <a:noFill/>
          <a:ln/>
        </p:spPr>
        <p:txBody>
          <a:bodyPr wrap="square" lIns="0" tIns="0" rIns="0" bIns="0" rtlCol="0" anchor="ctr">
            <a:normAutofit/>
          </a:bodyPr>
          <a:lstStyle/>
          <a:p>
            <a:pPr marL="0" indent="0">
              <a:buNone/>
            </a:pPr>
            <a:r>
              <a:rPr lang="en-US" sz="1900" b="1" dirty="0">
                <a:solidFill>
                  <a:srgbClr val="15365E"/>
                </a:solidFill>
                <a:latin typeface="Arial" pitchFamily="34" charset="0"/>
                <a:ea typeface="Arial" pitchFamily="34" charset="-122"/>
                <a:cs typeface="Arial" pitchFamily="34" charset="-120"/>
              </a:rPr>
              <a:t>Express phục vụ file tĩnh</a:t>
            </a:r>
            <a:endParaRPr lang="en-US" sz="1900" dirty="0"/>
          </a:p>
        </p:txBody>
      </p:sp>
      <p:sp>
        <p:nvSpPr>
          <p:cNvPr id="20" name="Shape 18"/>
          <p:cNvSpPr/>
          <p:nvPr/>
        </p:nvSpPr>
        <p:spPr>
          <a:xfrm>
            <a:off x="813816" y="4270248"/>
            <a:ext cx="10515600" cy="530352"/>
          </a:xfrm>
          <a:prstGeom prst="roundRect">
            <a:avLst>
              <a:gd name="adj" fmla="val 22414"/>
            </a:avLst>
          </a:prstGeom>
          <a:solidFill>
            <a:srgbClr val="0D2543"/>
          </a:solidFill>
          <a:ln w="11430">
            <a:solidFill>
              <a:srgbClr val="0D2543"/>
            </a:solidFill>
            <a:prstDash val="solid"/>
          </a:ln>
        </p:spPr>
        <p:txBody>
          <a:bodyPr/>
          <a:lstStyle/>
          <a:p>
            <a:endParaRPr lang="en-US"/>
          </a:p>
        </p:txBody>
      </p:sp>
      <p:sp>
        <p:nvSpPr>
          <p:cNvPr id="21" name="Text 19"/>
          <p:cNvSpPr/>
          <p:nvPr/>
        </p:nvSpPr>
        <p:spPr>
          <a:xfrm>
            <a:off x="1042416" y="4389120"/>
            <a:ext cx="10058400" cy="292608"/>
          </a:xfrm>
          <a:prstGeom prst="rect">
            <a:avLst/>
          </a:prstGeom>
          <a:noFill/>
          <a:ln/>
        </p:spPr>
        <p:txBody>
          <a:bodyPr wrap="square" lIns="0" tIns="0" rIns="0" bIns="0" rtlCol="0" anchor="ctr">
            <a:normAutofit/>
          </a:bodyPr>
          <a:lstStyle/>
          <a:p>
            <a:pPr marL="0" indent="0">
              <a:buNone/>
            </a:pPr>
            <a:r>
              <a:rPr lang="en-US" sz="1640" dirty="0">
                <a:solidFill>
                  <a:srgbClr val="F3F8FF"/>
                </a:solidFill>
                <a:latin typeface="Consolas" pitchFamily="34" charset="0"/>
                <a:ea typeface="Consolas" pitchFamily="34" charset="-122"/>
                <a:cs typeface="Consolas" pitchFamily="34" charset="-120"/>
              </a:rPr>
              <a:t>app.use("/uploads", express.static("public/uploads"));</a:t>
            </a:r>
            <a:endParaRPr lang="en-US" sz="1640" dirty="0"/>
          </a:p>
        </p:txBody>
      </p:sp>
      <p:sp>
        <p:nvSpPr>
          <p:cNvPr id="22" name="Shape 20"/>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23" name="Text 21"/>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24" name="Text 22"/>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Chỉ công khai thư mục dành cho file đã được kiểm tra; không public toàn bộ dữ liệu máy chủ.</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TRÌNH </a:t>
            </a:r>
            <a:r>
              <a:rPr lang="en-US" sz="1230" b="1" kern="0" spc="100">
                <a:solidFill>
                  <a:srgbClr val="B58A1A"/>
                </a:solidFill>
                <a:latin typeface="Arial" pitchFamily="34" charset="0"/>
                <a:ea typeface="Arial" pitchFamily="34" charset="-122"/>
                <a:cs typeface="Arial" pitchFamily="34" charset="-120"/>
              </a:rPr>
              <a:t>BACKEND   </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SQL SERVER</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Cập nhật Avatar URL cho đúng tài khoản</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Sequelize làm việc với Database; không tự ý thay đổi hợp đồng cũ.</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09 / 16    ·    3 phút</a:t>
            </a:r>
            <a:endParaRPr lang="en-US" sz="950" dirty="0"/>
          </a:p>
        </p:txBody>
      </p:sp>
      <p:sp>
        <p:nvSpPr>
          <p:cNvPr id="10" name="Shape 8"/>
          <p:cNvSpPr/>
          <p:nvPr/>
        </p:nvSpPr>
        <p:spPr>
          <a:xfrm>
            <a:off x="548640" y="1938528"/>
            <a:ext cx="6729984" cy="2670048"/>
          </a:xfrm>
          <a:prstGeom prst="roundRect">
            <a:avLst>
              <a:gd name="adj" fmla="val 4452"/>
            </a:avLst>
          </a:prstGeom>
          <a:solidFill>
            <a:srgbClr val="FFFFFF"/>
          </a:solidFill>
          <a:ln w="11430">
            <a:solidFill>
              <a:srgbClr val="DCE5F1"/>
            </a:solidFill>
            <a:prstDash val="solid"/>
          </a:ln>
        </p:spPr>
        <p:txBody>
          <a:bodyPr/>
          <a:lstStyle/>
          <a:p>
            <a:endParaRPr lang="en-US"/>
          </a:p>
        </p:txBody>
      </p:sp>
      <p:sp>
        <p:nvSpPr>
          <p:cNvPr id="11" name="Text 9"/>
          <p:cNvSpPr/>
          <p:nvPr/>
        </p:nvSpPr>
        <p:spPr>
          <a:xfrm>
            <a:off x="786384" y="2112264"/>
            <a:ext cx="6217920" cy="329184"/>
          </a:xfrm>
          <a:prstGeom prst="rect">
            <a:avLst/>
          </a:prstGeom>
          <a:noFill/>
          <a:ln/>
        </p:spPr>
        <p:txBody>
          <a:bodyPr wrap="square" lIns="0" tIns="0" rIns="0" bIns="0" rtlCol="0" anchor="ctr">
            <a:normAutofit/>
          </a:bodyPr>
          <a:lstStyle/>
          <a:p>
            <a:pPr marL="0" indent="0">
              <a:buNone/>
            </a:pPr>
            <a:r>
              <a:rPr lang="en-US" sz="1700" b="1" dirty="0">
                <a:solidFill>
                  <a:srgbClr val="B58A1A"/>
                </a:solidFill>
                <a:latin typeface="Arial" pitchFamily="34" charset="0"/>
                <a:ea typeface="Arial" pitchFamily="34" charset="-122"/>
                <a:cs typeface="Arial" pitchFamily="34" charset="-120"/>
              </a:rPr>
              <a:t>BẢNG USER – MINH HỌA</a:t>
            </a:r>
            <a:endParaRPr lang="en-US" sz="1700" dirty="0"/>
          </a:p>
        </p:txBody>
      </p:sp>
      <p:sp>
        <p:nvSpPr>
          <p:cNvPr id="12" name="Text 10"/>
          <p:cNvSpPr/>
          <p:nvPr/>
        </p:nvSpPr>
        <p:spPr>
          <a:xfrm>
            <a:off x="813816" y="2624328"/>
            <a:ext cx="1097280" cy="329184"/>
          </a:xfrm>
          <a:prstGeom prst="rect">
            <a:avLst/>
          </a:prstGeom>
          <a:noFill/>
          <a:ln/>
        </p:spPr>
        <p:txBody>
          <a:bodyPr wrap="square" lIns="0" tIns="0" rIns="0" bIns="0" rtlCol="0" anchor="ctr">
            <a:normAutofit/>
          </a:bodyPr>
          <a:lstStyle/>
          <a:p>
            <a:pPr marL="0" indent="0">
              <a:buNone/>
            </a:pPr>
            <a:r>
              <a:rPr lang="en-US" sz="1450" b="1" dirty="0">
                <a:solidFill>
                  <a:srgbClr val="15365E"/>
                </a:solidFill>
                <a:latin typeface="Arial" pitchFamily="34" charset="0"/>
                <a:ea typeface="Arial" pitchFamily="34" charset="-122"/>
                <a:cs typeface="Arial" pitchFamily="34" charset="-120"/>
              </a:rPr>
              <a:t>UserId</a:t>
            </a:r>
            <a:endParaRPr lang="en-US" sz="1450" dirty="0"/>
          </a:p>
        </p:txBody>
      </p:sp>
      <p:sp>
        <p:nvSpPr>
          <p:cNvPr id="13" name="Text 11"/>
          <p:cNvSpPr/>
          <p:nvPr/>
        </p:nvSpPr>
        <p:spPr>
          <a:xfrm>
            <a:off x="2057400" y="2624328"/>
            <a:ext cx="1847088" cy="329184"/>
          </a:xfrm>
          <a:prstGeom prst="rect">
            <a:avLst/>
          </a:prstGeom>
          <a:noFill/>
          <a:ln/>
        </p:spPr>
        <p:txBody>
          <a:bodyPr wrap="square" lIns="0" tIns="0" rIns="0" bIns="0" rtlCol="0" anchor="ctr">
            <a:normAutofit/>
          </a:bodyPr>
          <a:lstStyle/>
          <a:p>
            <a:pPr marL="0" indent="0">
              <a:buNone/>
            </a:pPr>
            <a:r>
              <a:rPr lang="en-US" sz="1450" b="1" dirty="0">
                <a:solidFill>
                  <a:srgbClr val="15365E"/>
                </a:solidFill>
                <a:latin typeface="Arial" pitchFamily="34" charset="0"/>
                <a:ea typeface="Arial" pitchFamily="34" charset="-122"/>
                <a:cs typeface="Arial" pitchFamily="34" charset="-120"/>
              </a:rPr>
              <a:t>FullName</a:t>
            </a:r>
            <a:endParaRPr lang="en-US" sz="1450" dirty="0"/>
          </a:p>
        </p:txBody>
      </p:sp>
      <p:sp>
        <p:nvSpPr>
          <p:cNvPr id="14" name="Text 12"/>
          <p:cNvSpPr/>
          <p:nvPr/>
        </p:nvSpPr>
        <p:spPr>
          <a:xfrm>
            <a:off x="4078224" y="2624328"/>
            <a:ext cx="2834640" cy="329184"/>
          </a:xfrm>
          <a:prstGeom prst="rect">
            <a:avLst/>
          </a:prstGeom>
          <a:noFill/>
          <a:ln/>
        </p:spPr>
        <p:txBody>
          <a:bodyPr wrap="square" lIns="0" tIns="0" rIns="0" bIns="0" rtlCol="0" anchor="ctr">
            <a:normAutofit/>
          </a:bodyPr>
          <a:lstStyle/>
          <a:p>
            <a:pPr marL="0" indent="0">
              <a:buNone/>
            </a:pPr>
            <a:r>
              <a:rPr lang="en-US" sz="1450" b="1" dirty="0">
                <a:solidFill>
                  <a:srgbClr val="15365E"/>
                </a:solidFill>
                <a:latin typeface="Arial" pitchFamily="34" charset="0"/>
                <a:ea typeface="Arial" pitchFamily="34" charset="-122"/>
                <a:cs typeface="Arial" pitchFamily="34" charset="-120"/>
              </a:rPr>
              <a:t>AvatarUrl</a:t>
            </a:r>
            <a:endParaRPr lang="en-US" sz="1450" dirty="0"/>
          </a:p>
        </p:txBody>
      </p:sp>
      <p:sp>
        <p:nvSpPr>
          <p:cNvPr id="15" name="Shape 13"/>
          <p:cNvSpPr/>
          <p:nvPr/>
        </p:nvSpPr>
        <p:spPr>
          <a:xfrm>
            <a:off x="795528" y="3044952"/>
            <a:ext cx="6227064" cy="0"/>
          </a:xfrm>
          <a:prstGeom prst="line">
            <a:avLst/>
          </a:prstGeom>
          <a:noFill/>
          <a:ln w="15240">
            <a:solidFill>
              <a:srgbClr val="DCE5F1"/>
            </a:solidFill>
            <a:prstDash val="solid"/>
          </a:ln>
        </p:spPr>
        <p:txBody>
          <a:bodyPr/>
          <a:lstStyle/>
          <a:p>
            <a:endParaRPr lang="en-US"/>
          </a:p>
        </p:txBody>
      </p:sp>
      <p:sp>
        <p:nvSpPr>
          <p:cNvPr id="16" name="Text 14"/>
          <p:cNvSpPr/>
          <p:nvPr/>
        </p:nvSpPr>
        <p:spPr>
          <a:xfrm>
            <a:off x="822960" y="3209544"/>
            <a:ext cx="1078992" cy="292608"/>
          </a:xfrm>
          <a:prstGeom prst="rect">
            <a:avLst/>
          </a:prstGeom>
          <a:noFill/>
          <a:ln/>
        </p:spPr>
        <p:txBody>
          <a:bodyPr wrap="square" lIns="0" tIns="0" rIns="0" bIns="0" rtlCol="0" anchor="ctr">
            <a:normAutofit/>
          </a:bodyPr>
          <a:lstStyle/>
          <a:p>
            <a:pPr marL="0" indent="0">
              <a:buNone/>
            </a:pPr>
            <a:r>
              <a:rPr lang="en-US" sz="1500" dirty="0">
                <a:solidFill>
                  <a:srgbClr val="15365E"/>
                </a:solidFill>
                <a:latin typeface="Arial" pitchFamily="34" charset="0"/>
                <a:ea typeface="Arial" pitchFamily="34" charset="-122"/>
                <a:cs typeface="Arial" pitchFamily="34" charset="-120"/>
              </a:rPr>
              <a:t>1</a:t>
            </a:r>
            <a:endParaRPr lang="en-US" sz="1500" dirty="0"/>
          </a:p>
        </p:txBody>
      </p:sp>
      <p:sp>
        <p:nvSpPr>
          <p:cNvPr id="17" name="Text 15"/>
          <p:cNvSpPr/>
          <p:nvPr/>
        </p:nvSpPr>
        <p:spPr>
          <a:xfrm>
            <a:off x="2057400" y="3209544"/>
            <a:ext cx="1947672" cy="292608"/>
          </a:xfrm>
          <a:prstGeom prst="rect">
            <a:avLst/>
          </a:prstGeom>
          <a:noFill/>
          <a:ln/>
        </p:spPr>
        <p:txBody>
          <a:bodyPr wrap="square" lIns="0" tIns="0" rIns="0" bIns="0" rtlCol="0" anchor="ctr">
            <a:normAutofit/>
          </a:bodyPr>
          <a:lstStyle/>
          <a:p>
            <a:pPr marL="0" indent="0">
              <a:buNone/>
            </a:pPr>
            <a:r>
              <a:rPr lang="en-US" sz="1500" dirty="0">
                <a:solidFill>
                  <a:srgbClr val="15365E"/>
                </a:solidFill>
                <a:latin typeface="Arial" pitchFamily="34" charset="0"/>
                <a:ea typeface="Arial" pitchFamily="34" charset="-122"/>
                <a:cs typeface="Arial" pitchFamily="34" charset="-120"/>
              </a:rPr>
              <a:t>Minh Nhật</a:t>
            </a:r>
            <a:endParaRPr lang="en-US" sz="1500" dirty="0"/>
          </a:p>
        </p:txBody>
      </p:sp>
      <p:sp>
        <p:nvSpPr>
          <p:cNvPr id="18" name="Text 16"/>
          <p:cNvSpPr/>
          <p:nvPr/>
        </p:nvSpPr>
        <p:spPr>
          <a:xfrm>
            <a:off x="4078224" y="3209544"/>
            <a:ext cx="2862072" cy="292608"/>
          </a:xfrm>
          <a:prstGeom prst="rect">
            <a:avLst/>
          </a:prstGeom>
          <a:noFill/>
          <a:ln/>
        </p:spPr>
        <p:txBody>
          <a:bodyPr wrap="square" lIns="0" tIns="0" rIns="0" bIns="0" rtlCol="0" anchor="ctr">
            <a:normAutofit/>
          </a:bodyPr>
          <a:lstStyle/>
          <a:p>
            <a:pPr marL="0" indent="0">
              <a:buNone/>
            </a:pPr>
            <a:r>
              <a:rPr lang="en-US" sz="1340" dirty="0">
                <a:solidFill>
                  <a:srgbClr val="285CB2"/>
                </a:solidFill>
                <a:latin typeface="Arial" pitchFamily="34" charset="0"/>
                <a:ea typeface="Arial" pitchFamily="34" charset="-122"/>
                <a:cs typeface="Arial" pitchFamily="34" charset="-120"/>
              </a:rPr>
              <a:t>/uploads/avatar-001.jpg</a:t>
            </a:r>
            <a:endParaRPr lang="en-US" sz="1340" dirty="0"/>
          </a:p>
        </p:txBody>
      </p:sp>
      <p:sp>
        <p:nvSpPr>
          <p:cNvPr id="19" name="Shape 17"/>
          <p:cNvSpPr/>
          <p:nvPr/>
        </p:nvSpPr>
        <p:spPr>
          <a:xfrm>
            <a:off x="795528" y="3621024"/>
            <a:ext cx="6227064" cy="0"/>
          </a:xfrm>
          <a:prstGeom prst="line">
            <a:avLst/>
          </a:prstGeom>
          <a:noFill/>
          <a:ln w="8890">
            <a:solidFill>
              <a:srgbClr val="DCE5F1"/>
            </a:solidFill>
            <a:prstDash val="solid"/>
          </a:ln>
        </p:spPr>
        <p:txBody>
          <a:bodyPr/>
          <a:lstStyle/>
          <a:p>
            <a:endParaRPr lang="en-US"/>
          </a:p>
        </p:txBody>
      </p:sp>
      <p:sp>
        <p:nvSpPr>
          <p:cNvPr id="20" name="Text 18"/>
          <p:cNvSpPr/>
          <p:nvPr/>
        </p:nvSpPr>
        <p:spPr>
          <a:xfrm>
            <a:off x="822960" y="3712464"/>
            <a:ext cx="1078992" cy="292608"/>
          </a:xfrm>
          <a:prstGeom prst="rect">
            <a:avLst/>
          </a:prstGeom>
          <a:noFill/>
          <a:ln/>
        </p:spPr>
        <p:txBody>
          <a:bodyPr wrap="square" lIns="0" tIns="0" rIns="0" bIns="0" rtlCol="0" anchor="ctr">
            <a:normAutofit/>
          </a:bodyPr>
          <a:lstStyle/>
          <a:p>
            <a:pPr marL="0" indent="0">
              <a:buNone/>
            </a:pPr>
            <a:r>
              <a:rPr lang="en-US" sz="1500" dirty="0">
                <a:solidFill>
                  <a:srgbClr val="15365E"/>
                </a:solidFill>
                <a:latin typeface="Arial" pitchFamily="34" charset="0"/>
                <a:ea typeface="Arial" pitchFamily="34" charset="-122"/>
                <a:cs typeface="Arial" pitchFamily="34" charset="-120"/>
              </a:rPr>
              <a:t>2</a:t>
            </a:r>
            <a:endParaRPr lang="en-US" sz="1500" dirty="0"/>
          </a:p>
        </p:txBody>
      </p:sp>
      <p:sp>
        <p:nvSpPr>
          <p:cNvPr id="21" name="Text 19"/>
          <p:cNvSpPr/>
          <p:nvPr/>
        </p:nvSpPr>
        <p:spPr>
          <a:xfrm>
            <a:off x="2057400" y="3712464"/>
            <a:ext cx="1947672" cy="292608"/>
          </a:xfrm>
          <a:prstGeom prst="rect">
            <a:avLst/>
          </a:prstGeom>
          <a:noFill/>
          <a:ln/>
        </p:spPr>
        <p:txBody>
          <a:bodyPr wrap="square" lIns="0" tIns="0" rIns="0" bIns="0" rtlCol="0" anchor="ctr">
            <a:normAutofit/>
          </a:bodyPr>
          <a:lstStyle/>
          <a:p>
            <a:pPr marL="0" indent="0">
              <a:buNone/>
            </a:pPr>
            <a:r>
              <a:rPr lang="en-US" sz="1500" dirty="0">
                <a:solidFill>
                  <a:srgbClr val="15365E"/>
                </a:solidFill>
                <a:latin typeface="Arial" pitchFamily="34" charset="0"/>
                <a:ea typeface="Arial" pitchFamily="34" charset="-122"/>
                <a:cs typeface="Arial" pitchFamily="34" charset="-120"/>
              </a:rPr>
              <a:t>Lan Anh</a:t>
            </a:r>
            <a:endParaRPr lang="en-US" sz="1500" dirty="0"/>
          </a:p>
        </p:txBody>
      </p:sp>
      <p:sp>
        <p:nvSpPr>
          <p:cNvPr id="22" name="Text 20"/>
          <p:cNvSpPr/>
          <p:nvPr/>
        </p:nvSpPr>
        <p:spPr>
          <a:xfrm>
            <a:off x="4078224" y="3712464"/>
            <a:ext cx="2862072" cy="292608"/>
          </a:xfrm>
          <a:prstGeom prst="rect">
            <a:avLst/>
          </a:prstGeom>
          <a:noFill/>
          <a:ln/>
        </p:spPr>
        <p:txBody>
          <a:bodyPr wrap="square" lIns="0" tIns="0" rIns="0" bIns="0" rtlCol="0" anchor="ctr">
            <a:normAutofit/>
          </a:bodyPr>
          <a:lstStyle/>
          <a:p>
            <a:pPr marL="0" indent="0">
              <a:buNone/>
            </a:pPr>
            <a:r>
              <a:rPr lang="en-US" sz="1340" dirty="0">
                <a:solidFill>
                  <a:srgbClr val="285CB2"/>
                </a:solidFill>
                <a:latin typeface="Arial" pitchFamily="34" charset="0"/>
                <a:ea typeface="Arial" pitchFamily="34" charset="-122"/>
                <a:cs typeface="Arial" pitchFamily="34" charset="-120"/>
              </a:rPr>
              <a:t>/uploads/avatar-002.png</a:t>
            </a:r>
            <a:endParaRPr lang="en-US" sz="1340" dirty="0"/>
          </a:p>
        </p:txBody>
      </p:sp>
      <p:sp>
        <p:nvSpPr>
          <p:cNvPr id="23" name="Shape 21"/>
          <p:cNvSpPr/>
          <p:nvPr/>
        </p:nvSpPr>
        <p:spPr>
          <a:xfrm>
            <a:off x="7479792" y="1938528"/>
            <a:ext cx="4151376" cy="2670048"/>
          </a:xfrm>
          <a:prstGeom prst="roundRect">
            <a:avLst>
              <a:gd name="adj" fmla="val 4452"/>
            </a:avLst>
          </a:prstGeom>
          <a:solidFill>
            <a:srgbClr val="EDF2F9"/>
          </a:solidFill>
          <a:ln w="11430">
            <a:solidFill>
              <a:srgbClr val="DCE5F1"/>
            </a:solidFill>
            <a:prstDash val="solid"/>
          </a:ln>
        </p:spPr>
        <p:txBody>
          <a:bodyPr/>
          <a:lstStyle/>
          <a:p>
            <a:endParaRPr lang="en-US"/>
          </a:p>
        </p:txBody>
      </p:sp>
      <p:sp>
        <p:nvSpPr>
          <p:cNvPr id="24" name="Text 22"/>
          <p:cNvSpPr/>
          <p:nvPr/>
        </p:nvSpPr>
        <p:spPr>
          <a:xfrm>
            <a:off x="7717536" y="2130552"/>
            <a:ext cx="3657600" cy="320040"/>
          </a:xfrm>
          <a:prstGeom prst="rect">
            <a:avLst/>
          </a:prstGeom>
          <a:noFill/>
          <a:ln/>
        </p:spPr>
        <p:txBody>
          <a:bodyPr wrap="square" lIns="0" tIns="0" rIns="0" bIns="0" rtlCol="0" anchor="ctr">
            <a:normAutofit/>
          </a:bodyPr>
          <a:lstStyle/>
          <a:p>
            <a:pPr marL="0" indent="0">
              <a:buNone/>
            </a:pPr>
            <a:r>
              <a:rPr lang="en-US" sz="1680" b="1" dirty="0">
                <a:solidFill>
                  <a:srgbClr val="B58A1A"/>
                </a:solidFill>
                <a:latin typeface="Arial" pitchFamily="34" charset="0"/>
                <a:ea typeface="Arial" pitchFamily="34" charset="-122"/>
                <a:cs typeface="Arial" pitchFamily="34" charset="-120"/>
              </a:rPr>
              <a:t>DÒNG DỮ LIỆU</a:t>
            </a:r>
            <a:endParaRPr lang="en-US" sz="1680" dirty="0"/>
          </a:p>
        </p:txBody>
      </p:sp>
      <p:sp>
        <p:nvSpPr>
          <p:cNvPr id="25" name="Text 23"/>
          <p:cNvSpPr/>
          <p:nvPr/>
        </p:nvSpPr>
        <p:spPr>
          <a:xfrm>
            <a:off x="7726680" y="2679192"/>
            <a:ext cx="3675888" cy="1591056"/>
          </a:xfrm>
          <a:prstGeom prst="rect">
            <a:avLst/>
          </a:prstGeom>
          <a:noFill/>
          <a:ln/>
        </p:spPr>
        <p:txBody>
          <a:bodyPr wrap="square" lIns="0" tIns="0" rIns="0" bIns="0" rtlCol="0" anchor="ctr">
            <a:normAutofit/>
          </a:bodyPr>
          <a:lstStyle/>
          <a:p>
            <a:pPr marL="0" indent="0" algn="ctr">
              <a:buNone/>
            </a:pPr>
            <a:r>
              <a:rPr lang="en-US" sz="1730" b="1" dirty="0">
                <a:solidFill>
                  <a:srgbClr val="15365E"/>
                </a:solidFill>
                <a:latin typeface="Arial" pitchFamily="34" charset="0"/>
                <a:ea typeface="Arial" pitchFamily="34" charset="-122"/>
                <a:cs typeface="Arial" pitchFamily="34" charset="-120"/>
              </a:rPr>
              <a:t>Multer lưu file</a:t>
            </a:r>
            <a:endParaRPr lang="en-US" sz="1730" dirty="0"/>
          </a:p>
          <a:p>
            <a:pPr marL="0" indent="0" algn="ctr">
              <a:buNone/>
            </a:pPr>
            <a:r>
              <a:rPr lang="en-US" sz="1730" b="1" dirty="0">
                <a:solidFill>
                  <a:srgbClr val="15365E"/>
                </a:solidFill>
                <a:latin typeface="Arial" pitchFamily="34" charset="0"/>
                <a:ea typeface="Arial" pitchFamily="34" charset="-122"/>
                <a:cs typeface="Arial" pitchFamily="34" charset="-120"/>
              </a:rPr>
              <a:t>       ↓</a:t>
            </a:r>
            <a:endParaRPr lang="en-US" sz="1730" dirty="0"/>
          </a:p>
          <a:p>
            <a:pPr marL="0" indent="0" algn="ctr">
              <a:buNone/>
            </a:pPr>
            <a:r>
              <a:rPr lang="en-US" sz="1730" b="1" dirty="0">
                <a:solidFill>
                  <a:srgbClr val="15365E"/>
                </a:solidFill>
                <a:latin typeface="Arial" pitchFamily="34" charset="0"/>
                <a:ea typeface="Arial" pitchFamily="34" charset="-122"/>
                <a:cs typeface="Arial" pitchFamily="34" charset="-120"/>
              </a:rPr>
              <a:t>Service cập nhật URL</a:t>
            </a:r>
            <a:endParaRPr lang="en-US" sz="1730" dirty="0"/>
          </a:p>
          <a:p>
            <a:pPr marL="0" indent="0" algn="ctr">
              <a:buNone/>
            </a:pPr>
            <a:r>
              <a:rPr lang="en-US" sz="1730" b="1" dirty="0">
                <a:solidFill>
                  <a:srgbClr val="15365E"/>
                </a:solidFill>
                <a:latin typeface="Arial" pitchFamily="34" charset="0"/>
                <a:ea typeface="Arial" pitchFamily="34" charset="-122"/>
                <a:cs typeface="Arial" pitchFamily="34" charset="-120"/>
              </a:rPr>
              <a:t>       ↓</a:t>
            </a:r>
            <a:endParaRPr lang="en-US" sz="1730" dirty="0"/>
          </a:p>
          <a:p>
            <a:pPr marL="0" indent="0" algn="ctr">
              <a:buNone/>
            </a:pPr>
            <a:r>
              <a:rPr lang="en-US" sz="1730" b="1" dirty="0">
                <a:solidFill>
                  <a:srgbClr val="15365E"/>
                </a:solidFill>
                <a:latin typeface="Arial" pitchFamily="34" charset="0"/>
                <a:ea typeface="Arial" pitchFamily="34" charset="-122"/>
                <a:cs typeface="Arial" pitchFamily="34" charset="-120"/>
              </a:rPr>
              <a:t>Sequelize → SQL Server</a:t>
            </a:r>
            <a:endParaRPr lang="en-US" sz="1730" dirty="0"/>
          </a:p>
        </p:txBody>
      </p:sp>
      <p:sp>
        <p:nvSpPr>
          <p:cNvPr id="26" name="Shape 24"/>
          <p:cNvSpPr/>
          <p:nvPr/>
        </p:nvSpPr>
        <p:spPr>
          <a:xfrm>
            <a:off x="548640" y="4855464"/>
            <a:ext cx="11064240" cy="521208"/>
          </a:xfrm>
          <a:prstGeom prst="roundRect">
            <a:avLst>
              <a:gd name="adj" fmla="val 22807"/>
            </a:avLst>
          </a:prstGeom>
          <a:solidFill>
            <a:srgbClr val="FFF2D4"/>
          </a:solidFill>
          <a:ln w="11430">
            <a:solidFill>
              <a:srgbClr val="F1DCA1"/>
            </a:solidFill>
            <a:prstDash val="solid"/>
          </a:ln>
        </p:spPr>
        <p:txBody>
          <a:bodyPr/>
          <a:lstStyle/>
          <a:p>
            <a:endParaRPr lang="en-US"/>
          </a:p>
        </p:txBody>
      </p:sp>
      <p:sp>
        <p:nvSpPr>
          <p:cNvPr id="27" name="Text 25"/>
          <p:cNvSpPr/>
          <p:nvPr/>
        </p:nvSpPr>
        <p:spPr>
          <a:xfrm>
            <a:off x="768096" y="4965192"/>
            <a:ext cx="10607040" cy="265176"/>
          </a:xfrm>
          <a:prstGeom prst="rect">
            <a:avLst/>
          </a:prstGeom>
          <a:noFill/>
          <a:ln/>
        </p:spPr>
        <p:txBody>
          <a:bodyPr wrap="square" lIns="0" tIns="0" rIns="0" bIns="0" rtlCol="0" anchor="ctr">
            <a:normAutofit/>
          </a:bodyPr>
          <a:lstStyle/>
          <a:p>
            <a:pPr marL="0" indent="0">
              <a:buNone/>
            </a:pPr>
            <a:r>
              <a:rPr lang="en-US" sz="1340" b="1" dirty="0">
                <a:solidFill>
                  <a:srgbClr val="15365E"/>
                </a:solidFill>
                <a:latin typeface="Arial" pitchFamily="34" charset="0"/>
                <a:ea typeface="Arial" pitchFamily="34" charset="-122"/>
                <a:cs typeface="Arial" pitchFamily="34" charset="-120"/>
              </a:rPr>
              <a:t>Lưu ý: Cột AvatarUrl chỉ là ví dụ. Kiểm tra Schema thực tế trước khi yêu cầu AI bổ sung.</a:t>
            </a:r>
            <a:endParaRPr lang="en-US" sz="1340" dirty="0"/>
          </a:p>
        </p:txBody>
      </p:sp>
      <p:sp>
        <p:nvSpPr>
          <p:cNvPr id="28" name="Shape 26"/>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29" name="Text 27"/>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30" name="Text 28"/>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Không tin userId trong body: lấy danh tính từ JWT đã được xác minh.</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TRÌNH </a:t>
            </a:r>
            <a:r>
              <a:rPr lang="en-US" sz="1230" b="1" kern="0" spc="100">
                <a:solidFill>
                  <a:srgbClr val="B58A1A"/>
                </a:solidFill>
                <a:latin typeface="Arial" pitchFamily="34" charset="0"/>
                <a:ea typeface="Arial" pitchFamily="34" charset="-122"/>
                <a:cs typeface="Arial" pitchFamily="34" charset="-120"/>
              </a:rPr>
              <a:t>BACKEND   </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AN TOÀN</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Bốn lớp kiểm tra trước khi nhận ảnh</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AI viết được chức năng không đồng nghĩa chức năng đó an toàn.</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10 / 16    ·    4 phút</a:t>
            </a:r>
            <a:endParaRPr lang="en-US" sz="950" dirty="0"/>
          </a:p>
        </p:txBody>
      </p:sp>
      <p:sp>
        <p:nvSpPr>
          <p:cNvPr id="10" name="Shape 8"/>
          <p:cNvSpPr/>
          <p:nvPr/>
        </p:nvSpPr>
        <p:spPr>
          <a:xfrm>
            <a:off x="539496" y="1883664"/>
            <a:ext cx="5385816" cy="1197864"/>
          </a:xfrm>
          <a:prstGeom prst="roundRect">
            <a:avLst>
              <a:gd name="adj" fmla="val 9924"/>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713232" y="2057400"/>
            <a:ext cx="48463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12" name="Text 10"/>
          <p:cNvSpPr/>
          <p:nvPr/>
        </p:nvSpPr>
        <p:spPr>
          <a:xfrm>
            <a:off x="822960" y="2057400"/>
            <a:ext cx="265176"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1</a:t>
            </a:r>
            <a:endParaRPr lang="en-US" sz="1200" dirty="0"/>
          </a:p>
        </p:txBody>
      </p:sp>
      <p:sp>
        <p:nvSpPr>
          <p:cNvPr id="13" name="Text 11"/>
          <p:cNvSpPr/>
          <p:nvPr/>
        </p:nvSpPr>
        <p:spPr>
          <a:xfrm>
            <a:off x="1371600" y="2011680"/>
            <a:ext cx="4306824" cy="301752"/>
          </a:xfrm>
          <a:prstGeom prst="rect">
            <a:avLst/>
          </a:prstGeom>
          <a:noFill/>
          <a:ln/>
        </p:spPr>
        <p:txBody>
          <a:bodyPr wrap="square" lIns="0" tIns="0" rIns="0" bIns="0" rtlCol="0" anchor="ctr">
            <a:normAutofit/>
          </a:bodyPr>
          <a:lstStyle/>
          <a:p>
            <a:pPr marL="0" indent="0">
              <a:buNone/>
            </a:pPr>
            <a:r>
              <a:rPr lang="en-US" sz="1800" b="1" dirty="0">
                <a:solidFill>
                  <a:srgbClr val="15365E"/>
                </a:solidFill>
                <a:latin typeface="Arial" pitchFamily="34" charset="0"/>
                <a:ea typeface="Arial" pitchFamily="34" charset="-122"/>
                <a:cs typeface="Arial" pitchFamily="34" charset="-120"/>
              </a:rPr>
              <a:t>Dung lượng</a:t>
            </a:r>
            <a:endParaRPr lang="en-US" sz="1800" dirty="0"/>
          </a:p>
        </p:txBody>
      </p:sp>
      <p:sp>
        <p:nvSpPr>
          <p:cNvPr id="14" name="Text 12"/>
          <p:cNvSpPr/>
          <p:nvPr/>
        </p:nvSpPr>
        <p:spPr>
          <a:xfrm>
            <a:off x="1371600" y="2450592"/>
            <a:ext cx="4270248" cy="438912"/>
          </a:xfrm>
          <a:prstGeom prst="rect">
            <a:avLst/>
          </a:prstGeom>
          <a:noFill/>
          <a:ln/>
        </p:spPr>
        <p:txBody>
          <a:bodyPr wrap="square" lIns="0" tIns="0" rIns="0" bIns="0" rtlCol="0" anchor="ctr">
            <a:normAutofit/>
          </a:bodyPr>
          <a:lstStyle/>
          <a:p>
            <a:pPr marL="0" indent="0">
              <a:buNone/>
            </a:pPr>
            <a:r>
              <a:rPr lang="en-US" sz="1320" dirty="0">
                <a:solidFill>
                  <a:srgbClr val="62738C"/>
                </a:solidFill>
                <a:latin typeface="Arial" pitchFamily="34" charset="0"/>
                <a:ea typeface="Arial" pitchFamily="34" charset="-122"/>
                <a:cs typeface="Arial" pitchFamily="34" charset="-120"/>
              </a:rPr>
              <a:t>Tối đa 2MB; bắt lỗi LIMIT_FILE_SIZE.</a:t>
            </a:r>
            <a:endParaRPr lang="en-US" sz="1320" dirty="0"/>
          </a:p>
        </p:txBody>
      </p:sp>
      <p:sp>
        <p:nvSpPr>
          <p:cNvPr id="15" name="Shape 13"/>
          <p:cNvSpPr/>
          <p:nvPr/>
        </p:nvSpPr>
        <p:spPr>
          <a:xfrm>
            <a:off x="6153912" y="1883664"/>
            <a:ext cx="5385816" cy="1197864"/>
          </a:xfrm>
          <a:prstGeom prst="roundRect">
            <a:avLst>
              <a:gd name="adj" fmla="val 9924"/>
            </a:avLst>
          </a:prstGeom>
          <a:solidFill>
            <a:srgbClr val="FFFFFF"/>
          </a:solidFill>
          <a:ln w="11430">
            <a:solidFill>
              <a:srgbClr val="DCE5F1"/>
            </a:solidFill>
            <a:prstDash val="solid"/>
          </a:ln>
        </p:spPr>
        <p:txBody>
          <a:bodyPr/>
          <a:lstStyle/>
          <a:p>
            <a:endParaRPr lang="en-US"/>
          </a:p>
        </p:txBody>
      </p:sp>
      <p:sp>
        <p:nvSpPr>
          <p:cNvPr id="16" name="Shape 14"/>
          <p:cNvSpPr/>
          <p:nvPr/>
        </p:nvSpPr>
        <p:spPr>
          <a:xfrm>
            <a:off x="6327648" y="2057400"/>
            <a:ext cx="48463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17" name="Text 15"/>
          <p:cNvSpPr/>
          <p:nvPr/>
        </p:nvSpPr>
        <p:spPr>
          <a:xfrm>
            <a:off x="6437376" y="2057400"/>
            <a:ext cx="265176"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2</a:t>
            </a:r>
            <a:endParaRPr lang="en-US" sz="1200" dirty="0"/>
          </a:p>
        </p:txBody>
      </p:sp>
      <p:sp>
        <p:nvSpPr>
          <p:cNvPr id="18" name="Text 16"/>
          <p:cNvSpPr/>
          <p:nvPr/>
        </p:nvSpPr>
        <p:spPr>
          <a:xfrm>
            <a:off x="6986016" y="2011680"/>
            <a:ext cx="4306824" cy="301752"/>
          </a:xfrm>
          <a:prstGeom prst="rect">
            <a:avLst/>
          </a:prstGeom>
          <a:noFill/>
          <a:ln/>
        </p:spPr>
        <p:txBody>
          <a:bodyPr wrap="square" lIns="0" tIns="0" rIns="0" bIns="0" rtlCol="0" anchor="ctr">
            <a:normAutofit/>
          </a:bodyPr>
          <a:lstStyle/>
          <a:p>
            <a:pPr marL="0" indent="0">
              <a:buNone/>
            </a:pPr>
            <a:r>
              <a:rPr lang="en-US" sz="1800" b="1" dirty="0">
                <a:solidFill>
                  <a:srgbClr val="15365E"/>
                </a:solidFill>
                <a:latin typeface="Arial" pitchFamily="34" charset="0"/>
                <a:ea typeface="Arial" pitchFamily="34" charset="-122"/>
                <a:cs typeface="Arial" pitchFamily="34" charset="-120"/>
              </a:rPr>
              <a:t>Định dạng</a:t>
            </a:r>
            <a:endParaRPr lang="en-US" sz="1800" dirty="0"/>
          </a:p>
        </p:txBody>
      </p:sp>
      <p:sp>
        <p:nvSpPr>
          <p:cNvPr id="19" name="Text 17"/>
          <p:cNvSpPr/>
          <p:nvPr/>
        </p:nvSpPr>
        <p:spPr>
          <a:xfrm>
            <a:off x="6986016" y="2450592"/>
            <a:ext cx="4270248" cy="438912"/>
          </a:xfrm>
          <a:prstGeom prst="rect">
            <a:avLst/>
          </a:prstGeom>
          <a:noFill/>
          <a:ln/>
        </p:spPr>
        <p:txBody>
          <a:bodyPr wrap="square" lIns="0" tIns="0" rIns="0" bIns="0" rtlCol="0" anchor="ctr">
            <a:normAutofit/>
          </a:bodyPr>
          <a:lstStyle/>
          <a:p>
            <a:pPr marL="0" indent="0">
              <a:buNone/>
            </a:pPr>
            <a:r>
              <a:rPr lang="en-US" sz="1320" dirty="0">
                <a:solidFill>
                  <a:srgbClr val="62738C"/>
                </a:solidFill>
                <a:latin typeface="Arial" pitchFamily="34" charset="0"/>
                <a:ea typeface="Arial" pitchFamily="34" charset="-122"/>
                <a:cs typeface="Arial" pitchFamily="34" charset="-120"/>
              </a:rPr>
              <a:t>Chỉ JPEG / PNG theo chính sách.</a:t>
            </a:r>
            <a:endParaRPr lang="en-US" sz="1320" dirty="0"/>
          </a:p>
        </p:txBody>
      </p:sp>
      <p:sp>
        <p:nvSpPr>
          <p:cNvPr id="20" name="Shape 18"/>
          <p:cNvSpPr/>
          <p:nvPr/>
        </p:nvSpPr>
        <p:spPr>
          <a:xfrm>
            <a:off x="539496" y="3300984"/>
            <a:ext cx="5385816" cy="1197864"/>
          </a:xfrm>
          <a:prstGeom prst="roundRect">
            <a:avLst>
              <a:gd name="adj" fmla="val 9924"/>
            </a:avLst>
          </a:prstGeom>
          <a:solidFill>
            <a:srgbClr val="FFFFFF"/>
          </a:solidFill>
          <a:ln w="11430">
            <a:solidFill>
              <a:srgbClr val="DCE5F1"/>
            </a:solidFill>
            <a:prstDash val="solid"/>
          </a:ln>
        </p:spPr>
        <p:txBody>
          <a:bodyPr/>
          <a:lstStyle/>
          <a:p>
            <a:endParaRPr lang="en-US"/>
          </a:p>
        </p:txBody>
      </p:sp>
      <p:sp>
        <p:nvSpPr>
          <p:cNvPr id="21" name="Shape 19"/>
          <p:cNvSpPr/>
          <p:nvPr/>
        </p:nvSpPr>
        <p:spPr>
          <a:xfrm>
            <a:off x="713232" y="3474720"/>
            <a:ext cx="48463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22" name="Text 20"/>
          <p:cNvSpPr/>
          <p:nvPr/>
        </p:nvSpPr>
        <p:spPr>
          <a:xfrm>
            <a:off x="822960" y="3474720"/>
            <a:ext cx="265176"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3</a:t>
            </a:r>
            <a:endParaRPr lang="en-US" sz="1200" dirty="0"/>
          </a:p>
        </p:txBody>
      </p:sp>
      <p:sp>
        <p:nvSpPr>
          <p:cNvPr id="23" name="Text 21"/>
          <p:cNvSpPr/>
          <p:nvPr/>
        </p:nvSpPr>
        <p:spPr>
          <a:xfrm>
            <a:off x="1371600" y="3429000"/>
            <a:ext cx="4306824" cy="301752"/>
          </a:xfrm>
          <a:prstGeom prst="rect">
            <a:avLst/>
          </a:prstGeom>
          <a:noFill/>
          <a:ln/>
        </p:spPr>
        <p:txBody>
          <a:bodyPr wrap="square" lIns="0" tIns="0" rIns="0" bIns="0" rtlCol="0" anchor="ctr">
            <a:normAutofit/>
          </a:bodyPr>
          <a:lstStyle/>
          <a:p>
            <a:pPr marL="0" indent="0">
              <a:buNone/>
            </a:pPr>
            <a:r>
              <a:rPr lang="en-US" sz="1800" b="1" dirty="0">
                <a:solidFill>
                  <a:srgbClr val="15365E"/>
                </a:solidFill>
                <a:latin typeface="Arial" pitchFamily="34" charset="0"/>
                <a:ea typeface="Arial" pitchFamily="34" charset="-122"/>
                <a:cs typeface="Arial" pitchFamily="34" charset="-120"/>
              </a:rPr>
              <a:t>Nội dung file</a:t>
            </a:r>
            <a:endParaRPr lang="en-US" sz="1800" dirty="0"/>
          </a:p>
        </p:txBody>
      </p:sp>
      <p:sp>
        <p:nvSpPr>
          <p:cNvPr id="24" name="Text 22"/>
          <p:cNvSpPr/>
          <p:nvPr/>
        </p:nvSpPr>
        <p:spPr>
          <a:xfrm>
            <a:off x="1371600" y="3867912"/>
            <a:ext cx="4270248" cy="438912"/>
          </a:xfrm>
          <a:prstGeom prst="rect">
            <a:avLst/>
          </a:prstGeom>
          <a:noFill/>
          <a:ln/>
        </p:spPr>
        <p:txBody>
          <a:bodyPr wrap="square" lIns="0" tIns="0" rIns="0" bIns="0" rtlCol="0" anchor="ctr">
            <a:normAutofit/>
          </a:bodyPr>
          <a:lstStyle/>
          <a:p>
            <a:pPr marL="0" indent="0">
              <a:buNone/>
            </a:pPr>
            <a:r>
              <a:rPr lang="en-US" sz="1320" dirty="0">
                <a:solidFill>
                  <a:srgbClr val="62738C"/>
                </a:solidFill>
                <a:latin typeface="Arial" pitchFamily="34" charset="0"/>
                <a:ea typeface="Arial" pitchFamily="34" charset="-122"/>
                <a:cs typeface="Arial" pitchFamily="34" charset="-120"/>
              </a:rPr>
              <a:t>Kiểm tra signature thực, không tin tên đuôi.</a:t>
            </a:r>
            <a:endParaRPr lang="en-US" sz="1320" dirty="0"/>
          </a:p>
        </p:txBody>
      </p:sp>
      <p:sp>
        <p:nvSpPr>
          <p:cNvPr id="25" name="Shape 23"/>
          <p:cNvSpPr/>
          <p:nvPr/>
        </p:nvSpPr>
        <p:spPr>
          <a:xfrm>
            <a:off x="6153912" y="3300984"/>
            <a:ext cx="5385816" cy="1197864"/>
          </a:xfrm>
          <a:prstGeom prst="roundRect">
            <a:avLst>
              <a:gd name="adj" fmla="val 9924"/>
            </a:avLst>
          </a:prstGeom>
          <a:solidFill>
            <a:srgbClr val="FFFFFF"/>
          </a:solidFill>
          <a:ln w="11430">
            <a:solidFill>
              <a:srgbClr val="DCE5F1"/>
            </a:solidFill>
            <a:prstDash val="solid"/>
          </a:ln>
        </p:spPr>
        <p:txBody>
          <a:bodyPr/>
          <a:lstStyle/>
          <a:p>
            <a:endParaRPr lang="en-US"/>
          </a:p>
        </p:txBody>
      </p:sp>
      <p:sp>
        <p:nvSpPr>
          <p:cNvPr id="26" name="Shape 24"/>
          <p:cNvSpPr/>
          <p:nvPr/>
        </p:nvSpPr>
        <p:spPr>
          <a:xfrm>
            <a:off x="6327648" y="3474720"/>
            <a:ext cx="484632" cy="310896"/>
          </a:xfrm>
          <a:prstGeom prst="roundRect">
            <a:avLst>
              <a:gd name="adj" fmla="val 38235"/>
            </a:avLst>
          </a:prstGeom>
          <a:solidFill>
            <a:srgbClr val="FFF3D1"/>
          </a:solidFill>
          <a:ln w="11430">
            <a:solidFill>
              <a:srgbClr val="FFF3D1"/>
            </a:solidFill>
            <a:prstDash val="solid"/>
          </a:ln>
        </p:spPr>
        <p:txBody>
          <a:bodyPr/>
          <a:lstStyle/>
          <a:p>
            <a:endParaRPr lang="en-US"/>
          </a:p>
        </p:txBody>
      </p:sp>
      <p:sp>
        <p:nvSpPr>
          <p:cNvPr id="27" name="Text 25"/>
          <p:cNvSpPr/>
          <p:nvPr/>
        </p:nvSpPr>
        <p:spPr>
          <a:xfrm>
            <a:off x="6437376" y="3474720"/>
            <a:ext cx="265176" cy="310896"/>
          </a:xfrm>
          <a:prstGeom prst="rect">
            <a:avLst/>
          </a:prstGeom>
          <a:noFill/>
          <a:ln/>
        </p:spPr>
        <p:txBody>
          <a:bodyPr wrap="square" lIns="0" tIns="0" rIns="0" bIns="0" rtlCol="0" anchor="ctr">
            <a:normAutofit/>
          </a:bodyPr>
          <a:lstStyle/>
          <a:p>
            <a:pPr marL="0" indent="0" algn="ctr">
              <a:buNone/>
            </a:pPr>
            <a:r>
              <a:rPr lang="en-US" sz="1200" b="1" dirty="0">
                <a:solidFill>
                  <a:srgbClr val="B58A1A"/>
                </a:solidFill>
                <a:latin typeface="Arial" pitchFamily="34" charset="0"/>
                <a:ea typeface="Arial" pitchFamily="34" charset="-122"/>
                <a:cs typeface="Arial" pitchFamily="34" charset="-120"/>
              </a:rPr>
              <a:t>4</a:t>
            </a:r>
            <a:endParaRPr lang="en-US" sz="1200" dirty="0"/>
          </a:p>
        </p:txBody>
      </p:sp>
      <p:sp>
        <p:nvSpPr>
          <p:cNvPr id="28" name="Text 26"/>
          <p:cNvSpPr/>
          <p:nvPr/>
        </p:nvSpPr>
        <p:spPr>
          <a:xfrm>
            <a:off x="6986016" y="3429000"/>
            <a:ext cx="4306824" cy="301752"/>
          </a:xfrm>
          <a:prstGeom prst="rect">
            <a:avLst/>
          </a:prstGeom>
          <a:noFill/>
          <a:ln/>
        </p:spPr>
        <p:txBody>
          <a:bodyPr wrap="square" lIns="0" tIns="0" rIns="0" bIns="0" rtlCol="0" anchor="ctr">
            <a:normAutofit/>
          </a:bodyPr>
          <a:lstStyle/>
          <a:p>
            <a:pPr marL="0" indent="0">
              <a:buNone/>
            </a:pPr>
            <a:r>
              <a:rPr lang="en-US" sz="1800" b="1" dirty="0">
                <a:solidFill>
                  <a:srgbClr val="15365E"/>
                </a:solidFill>
                <a:latin typeface="Arial" pitchFamily="34" charset="0"/>
                <a:ea typeface="Arial" pitchFamily="34" charset="-122"/>
                <a:cs typeface="Arial" pitchFamily="34" charset="-120"/>
              </a:rPr>
              <a:t>Danh tính &amp; tên file</a:t>
            </a:r>
            <a:endParaRPr lang="en-US" sz="1800" dirty="0"/>
          </a:p>
        </p:txBody>
      </p:sp>
      <p:sp>
        <p:nvSpPr>
          <p:cNvPr id="29" name="Text 27"/>
          <p:cNvSpPr/>
          <p:nvPr/>
        </p:nvSpPr>
        <p:spPr>
          <a:xfrm>
            <a:off x="6986016" y="3867912"/>
            <a:ext cx="4270248" cy="438912"/>
          </a:xfrm>
          <a:prstGeom prst="rect">
            <a:avLst/>
          </a:prstGeom>
          <a:noFill/>
          <a:ln/>
        </p:spPr>
        <p:txBody>
          <a:bodyPr wrap="square" lIns="0" tIns="0" rIns="0" bIns="0" rtlCol="0" anchor="ctr">
            <a:normAutofit/>
          </a:bodyPr>
          <a:lstStyle/>
          <a:p>
            <a:pPr marL="0" indent="0">
              <a:buNone/>
            </a:pPr>
            <a:r>
              <a:rPr lang="en-US" sz="1320" dirty="0">
                <a:solidFill>
                  <a:srgbClr val="62738C"/>
                </a:solidFill>
                <a:latin typeface="Arial" pitchFamily="34" charset="0"/>
                <a:ea typeface="Arial" pitchFamily="34" charset="-122"/>
                <a:cs typeface="Arial" pitchFamily="34" charset="-120"/>
              </a:rPr>
              <a:t>isAuth, tên an toàn / duy nhất, tránh traversal.</a:t>
            </a:r>
            <a:endParaRPr lang="en-US" sz="1320" dirty="0"/>
          </a:p>
        </p:txBody>
      </p:sp>
      <p:sp>
        <p:nvSpPr>
          <p:cNvPr id="30" name="Shape 28"/>
          <p:cNvSpPr/>
          <p:nvPr/>
        </p:nvSpPr>
        <p:spPr>
          <a:xfrm>
            <a:off x="557784" y="4946904"/>
            <a:ext cx="6400800" cy="640080"/>
          </a:xfrm>
          <a:prstGeom prst="roundRect">
            <a:avLst>
              <a:gd name="adj" fmla="val 18571"/>
            </a:avLst>
          </a:prstGeom>
          <a:solidFill>
            <a:srgbClr val="0D2543"/>
          </a:solidFill>
          <a:ln w="11430">
            <a:solidFill>
              <a:srgbClr val="0D2543"/>
            </a:solidFill>
            <a:prstDash val="solid"/>
          </a:ln>
        </p:spPr>
        <p:txBody>
          <a:bodyPr/>
          <a:lstStyle/>
          <a:p>
            <a:endParaRPr lang="en-US"/>
          </a:p>
        </p:txBody>
      </p:sp>
      <p:sp>
        <p:nvSpPr>
          <p:cNvPr id="31" name="Text 29"/>
          <p:cNvSpPr/>
          <p:nvPr/>
        </p:nvSpPr>
        <p:spPr>
          <a:xfrm>
            <a:off x="786384" y="5065776"/>
            <a:ext cx="5943600" cy="402336"/>
          </a:xfrm>
          <a:prstGeom prst="rect">
            <a:avLst/>
          </a:prstGeom>
          <a:noFill/>
          <a:ln/>
        </p:spPr>
        <p:txBody>
          <a:bodyPr wrap="square" lIns="0" tIns="0" rIns="0" bIns="0" rtlCol="0" anchor="ctr">
            <a:normAutofit/>
          </a:bodyPr>
          <a:lstStyle/>
          <a:p>
            <a:pPr marL="0" indent="0">
              <a:buNone/>
            </a:pPr>
            <a:r>
              <a:rPr lang="en-US" sz="1640" dirty="0">
                <a:solidFill>
                  <a:srgbClr val="F3F8FF"/>
                </a:solidFill>
                <a:latin typeface="Consolas" pitchFamily="34" charset="0"/>
                <a:ea typeface="Consolas" pitchFamily="34" charset="-122"/>
                <a:cs typeface="Consolas" pitchFamily="34" charset="-120"/>
              </a:rPr>
              <a:t>limits: { fileSize: 2 * 1024 * 1024 }</a:t>
            </a:r>
            <a:endParaRPr lang="en-US" sz="1640" dirty="0"/>
          </a:p>
        </p:txBody>
      </p:sp>
      <p:sp>
        <p:nvSpPr>
          <p:cNvPr id="32" name="Shape 30"/>
          <p:cNvSpPr/>
          <p:nvPr/>
        </p:nvSpPr>
        <p:spPr>
          <a:xfrm>
            <a:off x="7232904" y="4946904"/>
            <a:ext cx="4398264" cy="640080"/>
          </a:xfrm>
          <a:prstGeom prst="roundRect">
            <a:avLst>
              <a:gd name="adj" fmla="val 18571"/>
            </a:avLst>
          </a:prstGeom>
          <a:solidFill>
            <a:srgbClr val="FFF2D4"/>
          </a:solidFill>
          <a:ln w="11430">
            <a:solidFill>
              <a:srgbClr val="F2DAA0"/>
            </a:solidFill>
            <a:prstDash val="solid"/>
          </a:ln>
        </p:spPr>
        <p:txBody>
          <a:bodyPr/>
          <a:lstStyle/>
          <a:p>
            <a:endParaRPr lang="en-US"/>
          </a:p>
        </p:txBody>
      </p:sp>
      <p:sp>
        <p:nvSpPr>
          <p:cNvPr id="33" name="Text 31"/>
          <p:cNvSpPr/>
          <p:nvPr/>
        </p:nvSpPr>
        <p:spPr>
          <a:xfrm>
            <a:off x="7488936" y="5120640"/>
            <a:ext cx="3813048" cy="292608"/>
          </a:xfrm>
          <a:prstGeom prst="rect">
            <a:avLst/>
          </a:prstGeom>
          <a:noFill/>
          <a:ln/>
        </p:spPr>
        <p:txBody>
          <a:bodyPr wrap="square" lIns="0" tIns="0" rIns="0" bIns="0" rtlCol="0" anchor="ctr">
            <a:normAutofit/>
          </a:bodyPr>
          <a:lstStyle/>
          <a:p>
            <a:pPr marL="0" indent="0">
              <a:buNone/>
            </a:pPr>
            <a:r>
              <a:rPr lang="en-US" sz="1630" b="1" dirty="0">
                <a:solidFill>
                  <a:srgbClr val="15365E"/>
                </a:solidFill>
                <a:latin typeface="Arial" pitchFamily="34" charset="0"/>
                <a:ea typeface="Arial" pitchFamily="34" charset="-122"/>
                <a:cs typeface="Arial" pitchFamily="34" charset="-120"/>
              </a:rPr>
              <a:t>2MB = 2.097.152 byte</a:t>
            </a:r>
            <a:endParaRPr lang="en-US" sz="1630" dirty="0"/>
          </a:p>
        </p:txBody>
      </p:sp>
      <p:sp>
        <p:nvSpPr>
          <p:cNvPr id="34" name="Shape 32"/>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35" name="Text 33"/>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36" name="Text 34"/>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Kiểm tra MIME do Client khai báo là chưa đủ; dữ liệu file vẫn cần được xác minh.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TRÌNH </a:t>
            </a:r>
            <a:r>
              <a:rPr lang="en-US" sz="1230" b="1" kern="0" spc="100">
                <a:solidFill>
                  <a:srgbClr val="B58A1A"/>
                </a:solidFill>
                <a:latin typeface="Arial" pitchFamily="34" charset="0"/>
                <a:ea typeface="Arial" pitchFamily="34" charset="-122"/>
                <a:cs typeface="Arial" pitchFamily="34" charset="-120"/>
              </a:rPr>
              <a:t>BACKEND   </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BỘ CÔNG CỤ</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Vite, React, Axios và Express làm nhiệm vụ gì?</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Bốn công cụ khác nhau, phối hợp trong cùng một ứng dụng.</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11 / 16    ·    2 phút</a:t>
            </a:r>
            <a:endParaRPr lang="en-US" sz="950" dirty="0"/>
          </a:p>
        </p:txBody>
      </p:sp>
      <p:sp>
        <p:nvSpPr>
          <p:cNvPr id="10" name="Shape 8"/>
          <p:cNvSpPr/>
          <p:nvPr/>
        </p:nvSpPr>
        <p:spPr>
          <a:xfrm>
            <a:off x="521208" y="2020824"/>
            <a:ext cx="5367528" cy="1298448"/>
          </a:xfrm>
          <a:prstGeom prst="roundRect">
            <a:avLst>
              <a:gd name="adj" fmla="val 9155"/>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521208" y="2020824"/>
            <a:ext cx="77724" cy="1298448"/>
          </a:xfrm>
          <a:prstGeom prst="rect">
            <a:avLst/>
          </a:prstGeom>
          <a:solidFill>
            <a:srgbClr val="B58A1A"/>
          </a:solidFill>
          <a:ln w="12700">
            <a:solidFill>
              <a:srgbClr val="FFFFFF">
                <a:alpha val="0"/>
              </a:srgbClr>
            </a:solidFill>
            <a:prstDash val="solid"/>
          </a:ln>
        </p:spPr>
        <p:txBody>
          <a:bodyPr/>
          <a:lstStyle/>
          <a:p>
            <a:endParaRPr lang="en-US"/>
          </a:p>
        </p:txBody>
      </p:sp>
      <p:sp>
        <p:nvSpPr>
          <p:cNvPr id="12" name="Text 10"/>
          <p:cNvSpPr/>
          <p:nvPr/>
        </p:nvSpPr>
        <p:spPr>
          <a:xfrm>
            <a:off x="749808" y="2212848"/>
            <a:ext cx="1225296" cy="338328"/>
          </a:xfrm>
          <a:prstGeom prst="rect">
            <a:avLst/>
          </a:prstGeom>
          <a:noFill/>
          <a:ln/>
        </p:spPr>
        <p:txBody>
          <a:bodyPr wrap="square" lIns="0" tIns="0" rIns="0" bIns="0" rtlCol="0" anchor="ctr">
            <a:normAutofit/>
          </a:bodyPr>
          <a:lstStyle/>
          <a:p>
            <a:pPr marL="0" indent="0">
              <a:buNone/>
            </a:pPr>
            <a:r>
              <a:rPr lang="en-US" sz="2050" b="1" dirty="0">
                <a:solidFill>
                  <a:srgbClr val="B58A1A"/>
                </a:solidFill>
                <a:latin typeface="Arial" pitchFamily="34" charset="0"/>
                <a:ea typeface="Arial" pitchFamily="34" charset="-122"/>
                <a:cs typeface="Arial" pitchFamily="34" charset="-120"/>
              </a:rPr>
              <a:t>VITE</a:t>
            </a:r>
            <a:endParaRPr lang="en-US" sz="2050" dirty="0"/>
          </a:p>
        </p:txBody>
      </p:sp>
      <p:sp>
        <p:nvSpPr>
          <p:cNvPr id="13" name="Text 11"/>
          <p:cNvSpPr/>
          <p:nvPr/>
        </p:nvSpPr>
        <p:spPr>
          <a:xfrm>
            <a:off x="2057400" y="2194560"/>
            <a:ext cx="3566160" cy="320040"/>
          </a:xfrm>
          <a:prstGeom prst="rect">
            <a:avLst/>
          </a:prstGeom>
          <a:noFill/>
          <a:ln/>
        </p:spPr>
        <p:txBody>
          <a:bodyPr wrap="square" lIns="0" tIns="0" rIns="0" bIns="0" rtlCol="0" anchor="ctr">
            <a:normAutofit/>
          </a:bodyPr>
          <a:lstStyle/>
          <a:p>
            <a:pPr marL="0" indent="0">
              <a:buNone/>
            </a:pPr>
            <a:r>
              <a:rPr lang="en-US" sz="1730" b="1" dirty="0">
                <a:solidFill>
                  <a:srgbClr val="15365E"/>
                </a:solidFill>
                <a:latin typeface="Arial" pitchFamily="34" charset="0"/>
                <a:ea typeface="Arial" pitchFamily="34" charset="-122"/>
                <a:cs typeface="Arial" pitchFamily="34" charset="-120"/>
              </a:rPr>
              <a:t>Chạy dự án Frontend</a:t>
            </a:r>
            <a:endParaRPr lang="en-US" sz="1730" dirty="0"/>
          </a:p>
        </p:txBody>
      </p:sp>
      <p:sp>
        <p:nvSpPr>
          <p:cNvPr id="14" name="Text 12"/>
          <p:cNvSpPr/>
          <p:nvPr/>
        </p:nvSpPr>
        <p:spPr>
          <a:xfrm>
            <a:off x="2057400" y="2670048"/>
            <a:ext cx="3511296" cy="365760"/>
          </a:xfrm>
          <a:prstGeom prst="rect">
            <a:avLst/>
          </a:prstGeom>
          <a:noFill/>
          <a:ln/>
        </p:spPr>
        <p:txBody>
          <a:bodyPr wrap="square" lIns="0" tIns="0" rIns="0" bIns="0" rtlCol="0" anchor="ctr">
            <a:normAutofit/>
          </a:bodyPr>
          <a:lstStyle/>
          <a:p>
            <a:pPr marL="0" indent="0">
              <a:buNone/>
            </a:pPr>
            <a:r>
              <a:rPr lang="en-US" sz="1350" dirty="0">
                <a:solidFill>
                  <a:srgbClr val="62738C"/>
                </a:solidFill>
                <a:latin typeface="Arial" pitchFamily="34" charset="0"/>
                <a:ea typeface="Arial" pitchFamily="34" charset="-122"/>
                <a:cs typeface="Arial" pitchFamily="34" charset="-120"/>
              </a:rPr>
              <a:t>Dev server và build ứng dụng.</a:t>
            </a:r>
            <a:endParaRPr lang="en-US" sz="1350" dirty="0"/>
          </a:p>
        </p:txBody>
      </p:sp>
      <p:sp>
        <p:nvSpPr>
          <p:cNvPr id="15" name="Shape 13"/>
          <p:cNvSpPr/>
          <p:nvPr/>
        </p:nvSpPr>
        <p:spPr>
          <a:xfrm>
            <a:off x="6153912" y="2020824"/>
            <a:ext cx="5367528" cy="1298448"/>
          </a:xfrm>
          <a:prstGeom prst="roundRect">
            <a:avLst>
              <a:gd name="adj" fmla="val 9155"/>
            </a:avLst>
          </a:prstGeom>
          <a:solidFill>
            <a:srgbClr val="FFFFFF"/>
          </a:solidFill>
          <a:ln w="11430">
            <a:solidFill>
              <a:srgbClr val="DCE5F1"/>
            </a:solidFill>
            <a:prstDash val="solid"/>
          </a:ln>
        </p:spPr>
        <p:txBody>
          <a:bodyPr/>
          <a:lstStyle/>
          <a:p>
            <a:endParaRPr lang="en-US"/>
          </a:p>
        </p:txBody>
      </p:sp>
      <p:sp>
        <p:nvSpPr>
          <p:cNvPr id="16" name="Shape 14"/>
          <p:cNvSpPr/>
          <p:nvPr/>
        </p:nvSpPr>
        <p:spPr>
          <a:xfrm>
            <a:off x="6153912" y="2020824"/>
            <a:ext cx="77724" cy="1298448"/>
          </a:xfrm>
          <a:prstGeom prst="rect">
            <a:avLst/>
          </a:prstGeom>
          <a:solidFill>
            <a:srgbClr val="16A2BE"/>
          </a:solidFill>
          <a:ln w="12700">
            <a:solidFill>
              <a:srgbClr val="FFFFFF">
                <a:alpha val="0"/>
              </a:srgbClr>
            </a:solidFill>
            <a:prstDash val="solid"/>
          </a:ln>
        </p:spPr>
        <p:txBody>
          <a:bodyPr/>
          <a:lstStyle/>
          <a:p>
            <a:endParaRPr lang="en-US"/>
          </a:p>
        </p:txBody>
      </p:sp>
      <p:sp>
        <p:nvSpPr>
          <p:cNvPr id="17" name="Text 15"/>
          <p:cNvSpPr/>
          <p:nvPr/>
        </p:nvSpPr>
        <p:spPr>
          <a:xfrm>
            <a:off x="6382512" y="2212848"/>
            <a:ext cx="1225296" cy="338328"/>
          </a:xfrm>
          <a:prstGeom prst="rect">
            <a:avLst/>
          </a:prstGeom>
          <a:noFill/>
          <a:ln/>
        </p:spPr>
        <p:txBody>
          <a:bodyPr wrap="square" lIns="0" tIns="0" rIns="0" bIns="0" rtlCol="0" anchor="ctr">
            <a:normAutofit/>
          </a:bodyPr>
          <a:lstStyle/>
          <a:p>
            <a:pPr marL="0" indent="0">
              <a:buNone/>
            </a:pPr>
            <a:r>
              <a:rPr lang="en-US" sz="2050" b="1" dirty="0">
                <a:solidFill>
                  <a:srgbClr val="16A2BE"/>
                </a:solidFill>
                <a:latin typeface="Arial" pitchFamily="34" charset="0"/>
                <a:ea typeface="Arial" pitchFamily="34" charset="-122"/>
                <a:cs typeface="Arial" pitchFamily="34" charset="-120"/>
              </a:rPr>
              <a:t>REACT</a:t>
            </a:r>
            <a:endParaRPr lang="en-US" sz="2050" dirty="0"/>
          </a:p>
        </p:txBody>
      </p:sp>
      <p:sp>
        <p:nvSpPr>
          <p:cNvPr id="18" name="Text 16"/>
          <p:cNvSpPr/>
          <p:nvPr/>
        </p:nvSpPr>
        <p:spPr>
          <a:xfrm>
            <a:off x="7690104" y="2194560"/>
            <a:ext cx="3566160" cy="320040"/>
          </a:xfrm>
          <a:prstGeom prst="rect">
            <a:avLst/>
          </a:prstGeom>
          <a:noFill/>
          <a:ln/>
        </p:spPr>
        <p:txBody>
          <a:bodyPr wrap="square" lIns="0" tIns="0" rIns="0" bIns="0" rtlCol="0" anchor="ctr">
            <a:normAutofit/>
          </a:bodyPr>
          <a:lstStyle/>
          <a:p>
            <a:pPr marL="0" indent="0">
              <a:buNone/>
            </a:pPr>
            <a:r>
              <a:rPr lang="en-US" sz="1730" b="1" dirty="0">
                <a:solidFill>
                  <a:srgbClr val="15365E"/>
                </a:solidFill>
                <a:latin typeface="Arial" pitchFamily="34" charset="0"/>
                <a:ea typeface="Arial" pitchFamily="34" charset="-122"/>
                <a:cs typeface="Arial" pitchFamily="34" charset="-120"/>
              </a:rPr>
              <a:t>Xây dựng giao diện</a:t>
            </a:r>
            <a:endParaRPr lang="en-US" sz="1730" dirty="0"/>
          </a:p>
        </p:txBody>
      </p:sp>
      <p:sp>
        <p:nvSpPr>
          <p:cNvPr id="19" name="Text 17"/>
          <p:cNvSpPr/>
          <p:nvPr/>
        </p:nvSpPr>
        <p:spPr>
          <a:xfrm>
            <a:off x="7690104" y="2670048"/>
            <a:ext cx="3511296" cy="365760"/>
          </a:xfrm>
          <a:prstGeom prst="rect">
            <a:avLst/>
          </a:prstGeom>
          <a:noFill/>
          <a:ln/>
        </p:spPr>
        <p:txBody>
          <a:bodyPr wrap="square" lIns="0" tIns="0" rIns="0" bIns="0" rtlCol="0" anchor="ctr">
            <a:normAutofit/>
          </a:bodyPr>
          <a:lstStyle/>
          <a:p>
            <a:pPr marL="0" indent="0">
              <a:buNone/>
            </a:pPr>
            <a:r>
              <a:rPr lang="en-US" sz="1350" dirty="0">
                <a:solidFill>
                  <a:srgbClr val="62738C"/>
                </a:solidFill>
                <a:latin typeface="Arial" pitchFamily="34" charset="0"/>
                <a:ea typeface="Arial" pitchFamily="34" charset="-122"/>
                <a:cs typeface="Arial" pitchFamily="34" charset="-120"/>
              </a:rPr>
              <a:t>Component hiển thị trạng thái.</a:t>
            </a:r>
            <a:endParaRPr lang="en-US" sz="1350" dirty="0"/>
          </a:p>
        </p:txBody>
      </p:sp>
      <p:sp>
        <p:nvSpPr>
          <p:cNvPr id="20" name="Shape 18"/>
          <p:cNvSpPr/>
          <p:nvPr/>
        </p:nvSpPr>
        <p:spPr>
          <a:xfrm>
            <a:off x="521208" y="3547872"/>
            <a:ext cx="5367528" cy="1298448"/>
          </a:xfrm>
          <a:prstGeom prst="roundRect">
            <a:avLst>
              <a:gd name="adj" fmla="val 9155"/>
            </a:avLst>
          </a:prstGeom>
          <a:solidFill>
            <a:srgbClr val="FFFFFF"/>
          </a:solidFill>
          <a:ln w="11430">
            <a:solidFill>
              <a:srgbClr val="DCE5F1"/>
            </a:solidFill>
            <a:prstDash val="solid"/>
          </a:ln>
        </p:spPr>
        <p:txBody>
          <a:bodyPr/>
          <a:lstStyle/>
          <a:p>
            <a:endParaRPr lang="en-US"/>
          </a:p>
        </p:txBody>
      </p:sp>
      <p:sp>
        <p:nvSpPr>
          <p:cNvPr id="21" name="Shape 19"/>
          <p:cNvSpPr/>
          <p:nvPr/>
        </p:nvSpPr>
        <p:spPr>
          <a:xfrm>
            <a:off x="521208" y="3547872"/>
            <a:ext cx="77724" cy="1298448"/>
          </a:xfrm>
          <a:prstGeom prst="rect">
            <a:avLst/>
          </a:prstGeom>
          <a:solidFill>
            <a:srgbClr val="285CB2"/>
          </a:solidFill>
          <a:ln w="12700">
            <a:solidFill>
              <a:srgbClr val="FFFFFF">
                <a:alpha val="0"/>
              </a:srgbClr>
            </a:solidFill>
            <a:prstDash val="solid"/>
          </a:ln>
        </p:spPr>
        <p:txBody>
          <a:bodyPr/>
          <a:lstStyle/>
          <a:p>
            <a:endParaRPr lang="en-US"/>
          </a:p>
        </p:txBody>
      </p:sp>
      <p:sp>
        <p:nvSpPr>
          <p:cNvPr id="22" name="Text 20"/>
          <p:cNvSpPr/>
          <p:nvPr/>
        </p:nvSpPr>
        <p:spPr>
          <a:xfrm>
            <a:off x="749808" y="3739896"/>
            <a:ext cx="1225296" cy="338328"/>
          </a:xfrm>
          <a:prstGeom prst="rect">
            <a:avLst/>
          </a:prstGeom>
          <a:noFill/>
          <a:ln/>
        </p:spPr>
        <p:txBody>
          <a:bodyPr wrap="square" lIns="0" tIns="0" rIns="0" bIns="0" rtlCol="0" anchor="ctr">
            <a:normAutofit/>
          </a:bodyPr>
          <a:lstStyle/>
          <a:p>
            <a:pPr marL="0" indent="0">
              <a:buNone/>
            </a:pPr>
            <a:r>
              <a:rPr lang="en-US" sz="2050" b="1" dirty="0">
                <a:solidFill>
                  <a:srgbClr val="285CB2"/>
                </a:solidFill>
                <a:latin typeface="Arial" pitchFamily="34" charset="0"/>
                <a:ea typeface="Arial" pitchFamily="34" charset="-122"/>
                <a:cs typeface="Arial" pitchFamily="34" charset="-120"/>
              </a:rPr>
              <a:t>AXIOS</a:t>
            </a:r>
            <a:endParaRPr lang="en-US" sz="2050" dirty="0"/>
          </a:p>
        </p:txBody>
      </p:sp>
      <p:sp>
        <p:nvSpPr>
          <p:cNvPr id="23" name="Text 21"/>
          <p:cNvSpPr/>
          <p:nvPr/>
        </p:nvSpPr>
        <p:spPr>
          <a:xfrm>
            <a:off x="2057400" y="3721608"/>
            <a:ext cx="3566160" cy="320040"/>
          </a:xfrm>
          <a:prstGeom prst="rect">
            <a:avLst/>
          </a:prstGeom>
          <a:noFill/>
          <a:ln/>
        </p:spPr>
        <p:txBody>
          <a:bodyPr wrap="square" lIns="0" tIns="0" rIns="0" bIns="0" rtlCol="0" anchor="ctr">
            <a:normAutofit/>
          </a:bodyPr>
          <a:lstStyle/>
          <a:p>
            <a:pPr marL="0" indent="0">
              <a:buNone/>
            </a:pPr>
            <a:r>
              <a:rPr lang="en-US" sz="1730" b="1" dirty="0">
                <a:solidFill>
                  <a:srgbClr val="15365E"/>
                </a:solidFill>
                <a:latin typeface="Arial" pitchFamily="34" charset="0"/>
                <a:ea typeface="Arial" pitchFamily="34" charset="-122"/>
                <a:cs typeface="Arial" pitchFamily="34" charset="-120"/>
              </a:rPr>
              <a:t>Gửi HTTP Request</a:t>
            </a:r>
            <a:endParaRPr lang="en-US" sz="1730" dirty="0"/>
          </a:p>
        </p:txBody>
      </p:sp>
      <p:sp>
        <p:nvSpPr>
          <p:cNvPr id="24" name="Text 22"/>
          <p:cNvSpPr/>
          <p:nvPr/>
        </p:nvSpPr>
        <p:spPr>
          <a:xfrm>
            <a:off x="2057400" y="4197096"/>
            <a:ext cx="3511296" cy="365760"/>
          </a:xfrm>
          <a:prstGeom prst="rect">
            <a:avLst/>
          </a:prstGeom>
          <a:noFill/>
          <a:ln/>
        </p:spPr>
        <p:txBody>
          <a:bodyPr wrap="square" lIns="0" tIns="0" rIns="0" bIns="0" rtlCol="0" anchor="ctr">
            <a:normAutofit/>
          </a:bodyPr>
          <a:lstStyle/>
          <a:p>
            <a:pPr marL="0" indent="0">
              <a:buNone/>
            </a:pPr>
            <a:r>
              <a:rPr lang="en-US" sz="1350" dirty="0">
                <a:solidFill>
                  <a:srgbClr val="62738C"/>
                </a:solidFill>
                <a:latin typeface="Arial" pitchFamily="34" charset="0"/>
                <a:ea typeface="Arial" pitchFamily="34" charset="-122"/>
                <a:cs typeface="Arial" pitchFamily="34" charset="-120"/>
              </a:rPr>
              <a:t>GET / POST / DELETE.</a:t>
            </a:r>
            <a:endParaRPr lang="en-US" sz="1350" dirty="0"/>
          </a:p>
        </p:txBody>
      </p:sp>
      <p:sp>
        <p:nvSpPr>
          <p:cNvPr id="25" name="Shape 23"/>
          <p:cNvSpPr/>
          <p:nvPr/>
        </p:nvSpPr>
        <p:spPr>
          <a:xfrm>
            <a:off x="6153912" y="3547872"/>
            <a:ext cx="5367528" cy="1298448"/>
          </a:xfrm>
          <a:prstGeom prst="roundRect">
            <a:avLst>
              <a:gd name="adj" fmla="val 9155"/>
            </a:avLst>
          </a:prstGeom>
          <a:solidFill>
            <a:srgbClr val="FFFFFF"/>
          </a:solidFill>
          <a:ln w="11430">
            <a:solidFill>
              <a:srgbClr val="DCE5F1"/>
            </a:solidFill>
            <a:prstDash val="solid"/>
          </a:ln>
        </p:spPr>
        <p:txBody>
          <a:bodyPr/>
          <a:lstStyle/>
          <a:p>
            <a:endParaRPr lang="en-US"/>
          </a:p>
        </p:txBody>
      </p:sp>
      <p:sp>
        <p:nvSpPr>
          <p:cNvPr id="26" name="Shape 24"/>
          <p:cNvSpPr/>
          <p:nvPr/>
        </p:nvSpPr>
        <p:spPr>
          <a:xfrm>
            <a:off x="6153912" y="3547872"/>
            <a:ext cx="77724" cy="1298448"/>
          </a:xfrm>
          <a:prstGeom prst="rect">
            <a:avLst/>
          </a:prstGeom>
          <a:solidFill>
            <a:srgbClr val="21764E"/>
          </a:solidFill>
          <a:ln w="12700">
            <a:solidFill>
              <a:srgbClr val="FFFFFF">
                <a:alpha val="0"/>
              </a:srgbClr>
            </a:solidFill>
            <a:prstDash val="solid"/>
          </a:ln>
        </p:spPr>
        <p:txBody>
          <a:bodyPr/>
          <a:lstStyle/>
          <a:p>
            <a:endParaRPr lang="en-US"/>
          </a:p>
        </p:txBody>
      </p:sp>
      <p:sp>
        <p:nvSpPr>
          <p:cNvPr id="27" name="Text 25"/>
          <p:cNvSpPr/>
          <p:nvPr/>
        </p:nvSpPr>
        <p:spPr>
          <a:xfrm>
            <a:off x="6382512" y="3739896"/>
            <a:ext cx="1225296" cy="338328"/>
          </a:xfrm>
          <a:prstGeom prst="rect">
            <a:avLst/>
          </a:prstGeom>
          <a:noFill/>
          <a:ln/>
        </p:spPr>
        <p:txBody>
          <a:bodyPr wrap="square" lIns="0" tIns="0" rIns="0" bIns="0" rtlCol="0" anchor="ctr">
            <a:normAutofit fontScale="92500"/>
          </a:bodyPr>
          <a:lstStyle/>
          <a:p>
            <a:pPr marL="0" indent="0">
              <a:buNone/>
            </a:pPr>
            <a:r>
              <a:rPr lang="en-US" sz="2050" b="1" dirty="0">
                <a:solidFill>
                  <a:srgbClr val="21764E"/>
                </a:solidFill>
                <a:latin typeface="Arial" pitchFamily="34" charset="0"/>
                <a:ea typeface="Arial" pitchFamily="34" charset="-122"/>
                <a:cs typeface="Arial" pitchFamily="34" charset="-120"/>
              </a:rPr>
              <a:t>EXPRESS</a:t>
            </a:r>
            <a:endParaRPr lang="en-US" sz="2050" dirty="0"/>
          </a:p>
        </p:txBody>
      </p:sp>
      <p:sp>
        <p:nvSpPr>
          <p:cNvPr id="28" name="Text 26"/>
          <p:cNvSpPr/>
          <p:nvPr/>
        </p:nvSpPr>
        <p:spPr>
          <a:xfrm>
            <a:off x="7690104" y="3721608"/>
            <a:ext cx="3566160" cy="320040"/>
          </a:xfrm>
          <a:prstGeom prst="rect">
            <a:avLst/>
          </a:prstGeom>
          <a:noFill/>
          <a:ln/>
        </p:spPr>
        <p:txBody>
          <a:bodyPr wrap="square" lIns="0" tIns="0" rIns="0" bIns="0" rtlCol="0" anchor="ctr">
            <a:normAutofit/>
          </a:bodyPr>
          <a:lstStyle/>
          <a:p>
            <a:pPr marL="0" indent="0">
              <a:buNone/>
            </a:pPr>
            <a:r>
              <a:rPr lang="en-US" sz="1730" b="1" dirty="0">
                <a:solidFill>
                  <a:srgbClr val="15365E"/>
                </a:solidFill>
                <a:latin typeface="Arial" pitchFamily="34" charset="0"/>
                <a:ea typeface="Arial" pitchFamily="34" charset="-122"/>
                <a:cs typeface="Arial" pitchFamily="34" charset="-120"/>
              </a:rPr>
              <a:t>Nhận request ở Backend</a:t>
            </a:r>
            <a:endParaRPr lang="en-US" sz="1730" dirty="0"/>
          </a:p>
        </p:txBody>
      </p:sp>
      <p:sp>
        <p:nvSpPr>
          <p:cNvPr id="29" name="Text 27"/>
          <p:cNvSpPr/>
          <p:nvPr/>
        </p:nvSpPr>
        <p:spPr>
          <a:xfrm>
            <a:off x="7690104" y="4197096"/>
            <a:ext cx="3511296" cy="365760"/>
          </a:xfrm>
          <a:prstGeom prst="rect">
            <a:avLst/>
          </a:prstGeom>
          <a:noFill/>
          <a:ln/>
        </p:spPr>
        <p:txBody>
          <a:bodyPr wrap="square" lIns="0" tIns="0" rIns="0" bIns="0" rtlCol="0" anchor="ctr">
            <a:normAutofit/>
          </a:bodyPr>
          <a:lstStyle/>
          <a:p>
            <a:pPr marL="0" indent="0">
              <a:buNone/>
            </a:pPr>
            <a:r>
              <a:rPr lang="en-US" sz="1350" dirty="0">
                <a:solidFill>
                  <a:srgbClr val="62738C"/>
                </a:solidFill>
                <a:latin typeface="Arial" pitchFamily="34" charset="0"/>
                <a:ea typeface="Arial" pitchFamily="34" charset="-122"/>
                <a:cs typeface="Arial" pitchFamily="34" charset="-120"/>
              </a:rPr>
              <a:t>Route và Middleware xử lý.</a:t>
            </a:r>
            <a:endParaRPr lang="en-US" sz="1350" dirty="0"/>
          </a:p>
        </p:txBody>
      </p:sp>
      <p:sp>
        <p:nvSpPr>
          <p:cNvPr id="30" name="Shape 28"/>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31" name="Text 29"/>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32" name="Text 30"/>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React không trực tiếp truy vấn SQL Server; Axios giao tiếp với Backend bằng HTTP.</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TRÌNH </a:t>
            </a:r>
            <a:r>
              <a:rPr lang="en-US" sz="1230" b="1" kern="0" spc="100">
                <a:solidFill>
                  <a:srgbClr val="B58A1A"/>
                </a:solidFill>
                <a:latin typeface="Arial" pitchFamily="34" charset="0"/>
                <a:ea typeface="Arial" pitchFamily="34" charset="-122"/>
                <a:cs typeface="Arial" pitchFamily="34" charset="-120"/>
              </a:rPr>
              <a:t>BACKEND   </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CROSS-ORIGIN</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CORS: Vì sao trình duyệt chặn request?</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Khác cổng cũng là khác Origin. CORS không thay thế JWT.</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12 / 16    ·    3 phút</a:t>
            </a:r>
            <a:endParaRPr lang="en-US" sz="950" dirty="0"/>
          </a:p>
        </p:txBody>
      </p:sp>
      <p:sp>
        <p:nvSpPr>
          <p:cNvPr id="10" name="Shape 8"/>
          <p:cNvSpPr/>
          <p:nvPr/>
        </p:nvSpPr>
        <p:spPr>
          <a:xfrm>
            <a:off x="557784" y="1920240"/>
            <a:ext cx="4919472" cy="1078992"/>
          </a:xfrm>
          <a:prstGeom prst="roundRect">
            <a:avLst>
              <a:gd name="adj" fmla="val 11017"/>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557784" y="1920240"/>
            <a:ext cx="54864" cy="1078992"/>
          </a:xfrm>
          <a:prstGeom prst="rect">
            <a:avLst/>
          </a:prstGeom>
          <a:solidFill>
            <a:srgbClr val="16A2BE"/>
          </a:solidFill>
          <a:ln w="12700">
            <a:solidFill>
              <a:srgbClr val="16A2BE">
                <a:alpha val="0"/>
              </a:srgbClr>
            </a:solidFill>
            <a:prstDash val="solid"/>
          </a:ln>
        </p:spPr>
        <p:txBody>
          <a:bodyPr/>
          <a:lstStyle/>
          <a:p>
            <a:endParaRPr lang="en-US"/>
          </a:p>
        </p:txBody>
      </p:sp>
      <p:sp>
        <p:nvSpPr>
          <p:cNvPr id="12" name="Text 10"/>
          <p:cNvSpPr/>
          <p:nvPr/>
        </p:nvSpPr>
        <p:spPr>
          <a:xfrm>
            <a:off x="685800" y="2029968"/>
            <a:ext cx="4672584"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FRONTEND</a:t>
            </a:r>
            <a:endParaRPr lang="en-US" sz="1510" dirty="0"/>
          </a:p>
        </p:txBody>
      </p:sp>
      <p:sp>
        <p:nvSpPr>
          <p:cNvPr id="13" name="Text 11"/>
          <p:cNvSpPr/>
          <p:nvPr/>
        </p:nvSpPr>
        <p:spPr>
          <a:xfrm>
            <a:off x="685800" y="2359152"/>
            <a:ext cx="4663440" cy="566928"/>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http://localhost:5173</a:t>
            </a:r>
            <a:endParaRPr lang="en-US" sz="1190" dirty="0"/>
          </a:p>
        </p:txBody>
      </p:sp>
      <p:sp>
        <p:nvSpPr>
          <p:cNvPr id="14" name="Shape 12"/>
          <p:cNvSpPr/>
          <p:nvPr/>
        </p:nvSpPr>
        <p:spPr>
          <a:xfrm>
            <a:off x="6693408" y="1920240"/>
            <a:ext cx="4919472" cy="1078992"/>
          </a:xfrm>
          <a:prstGeom prst="roundRect">
            <a:avLst>
              <a:gd name="adj" fmla="val 11017"/>
            </a:avLst>
          </a:prstGeom>
          <a:solidFill>
            <a:srgbClr val="FFFFFF"/>
          </a:solidFill>
          <a:ln w="11430">
            <a:solidFill>
              <a:srgbClr val="DCE5F1"/>
            </a:solidFill>
            <a:prstDash val="solid"/>
          </a:ln>
        </p:spPr>
        <p:txBody>
          <a:bodyPr/>
          <a:lstStyle/>
          <a:p>
            <a:endParaRPr lang="en-US"/>
          </a:p>
        </p:txBody>
      </p:sp>
      <p:sp>
        <p:nvSpPr>
          <p:cNvPr id="15" name="Shape 13"/>
          <p:cNvSpPr/>
          <p:nvPr/>
        </p:nvSpPr>
        <p:spPr>
          <a:xfrm>
            <a:off x="6693408" y="1920240"/>
            <a:ext cx="54864" cy="1078992"/>
          </a:xfrm>
          <a:prstGeom prst="rect">
            <a:avLst/>
          </a:prstGeom>
          <a:solidFill>
            <a:srgbClr val="285CB2"/>
          </a:solidFill>
          <a:ln w="12700">
            <a:solidFill>
              <a:srgbClr val="285CB2">
                <a:alpha val="0"/>
              </a:srgbClr>
            </a:solidFill>
            <a:prstDash val="solid"/>
          </a:ln>
        </p:spPr>
        <p:txBody>
          <a:bodyPr/>
          <a:lstStyle/>
          <a:p>
            <a:endParaRPr lang="en-US"/>
          </a:p>
        </p:txBody>
      </p:sp>
      <p:sp>
        <p:nvSpPr>
          <p:cNvPr id="16" name="Text 14"/>
          <p:cNvSpPr/>
          <p:nvPr/>
        </p:nvSpPr>
        <p:spPr>
          <a:xfrm>
            <a:off x="6821424" y="2029968"/>
            <a:ext cx="4672584"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BACKEND</a:t>
            </a:r>
            <a:endParaRPr lang="en-US" sz="1510" dirty="0"/>
          </a:p>
        </p:txBody>
      </p:sp>
      <p:sp>
        <p:nvSpPr>
          <p:cNvPr id="17" name="Text 15"/>
          <p:cNvSpPr/>
          <p:nvPr/>
        </p:nvSpPr>
        <p:spPr>
          <a:xfrm>
            <a:off x="6821424" y="2359152"/>
            <a:ext cx="4663440" cy="566928"/>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http://localhost:5000</a:t>
            </a:r>
            <a:endParaRPr lang="en-US" sz="1190" dirty="0"/>
          </a:p>
        </p:txBody>
      </p:sp>
      <p:sp>
        <p:nvSpPr>
          <p:cNvPr id="18" name="Shape 16"/>
          <p:cNvSpPr/>
          <p:nvPr/>
        </p:nvSpPr>
        <p:spPr>
          <a:xfrm>
            <a:off x="5522976" y="2478024"/>
            <a:ext cx="1097280" cy="0"/>
          </a:xfrm>
          <a:prstGeom prst="line">
            <a:avLst/>
          </a:prstGeom>
          <a:noFill/>
          <a:ln w="35560">
            <a:solidFill>
              <a:srgbClr val="B58A1A"/>
            </a:solidFill>
            <a:prstDash val="solid"/>
            <a:tailEnd type="triangle"/>
          </a:ln>
        </p:spPr>
        <p:txBody>
          <a:bodyPr/>
          <a:lstStyle/>
          <a:p>
            <a:endParaRPr lang="en-US"/>
          </a:p>
        </p:txBody>
      </p:sp>
      <p:sp>
        <p:nvSpPr>
          <p:cNvPr id="19" name="Shape 17"/>
          <p:cNvSpPr/>
          <p:nvPr/>
        </p:nvSpPr>
        <p:spPr>
          <a:xfrm>
            <a:off x="5285232" y="3136392"/>
            <a:ext cx="1627632" cy="310896"/>
          </a:xfrm>
          <a:prstGeom prst="roundRect">
            <a:avLst>
              <a:gd name="adj" fmla="val 38235"/>
            </a:avLst>
          </a:prstGeom>
          <a:solidFill>
            <a:srgbClr val="FFF3D1"/>
          </a:solidFill>
          <a:ln w="11430">
            <a:solidFill>
              <a:srgbClr val="FFF3D1"/>
            </a:solidFill>
            <a:prstDash val="solid"/>
          </a:ln>
        </p:spPr>
        <p:txBody>
          <a:bodyPr/>
          <a:lstStyle/>
          <a:p>
            <a:endParaRPr lang="en-US"/>
          </a:p>
        </p:txBody>
      </p:sp>
      <p:sp>
        <p:nvSpPr>
          <p:cNvPr id="20" name="Text 18"/>
          <p:cNvSpPr/>
          <p:nvPr/>
        </p:nvSpPr>
        <p:spPr>
          <a:xfrm>
            <a:off x="5394960" y="3136392"/>
            <a:ext cx="1408176" cy="310896"/>
          </a:xfrm>
          <a:prstGeom prst="rect">
            <a:avLst/>
          </a:prstGeom>
          <a:noFill/>
          <a:ln/>
        </p:spPr>
        <p:txBody>
          <a:bodyPr wrap="square" lIns="0" tIns="0" rIns="0" bIns="0" rtlCol="0" anchor="ctr">
            <a:normAutofit/>
          </a:bodyPr>
          <a:lstStyle/>
          <a:p>
            <a:pPr marL="0" indent="0" algn="ctr">
              <a:buNone/>
            </a:pPr>
            <a:r>
              <a:rPr lang="en-US" sz="1200" b="1" dirty="0">
                <a:solidFill>
                  <a:srgbClr val="B58A1A"/>
                </a:solidFill>
                <a:latin typeface="Arial" pitchFamily="34" charset="0"/>
                <a:ea typeface="Arial" pitchFamily="34" charset="-122"/>
                <a:cs typeface="Arial" pitchFamily="34" charset="-120"/>
              </a:rPr>
              <a:t>KHÁC ORIGIN</a:t>
            </a:r>
            <a:endParaRPr lang="en-US" sz="1200" dirty="0"/>
          </a:p>
        </p:txBody>
      </p:sp>
      <p:sp>
        <p:nvSpPr>
          <p:cNvPr id="21" name="Shape 19"/>
          <p:cNvSpPr/>
          <p:nvPr/>
        </p:nvSpPr>
        <p:spPr>
          <a:xfrm>
            <a:off x="557784" y="3675888"/>
            <a:ext cx="6693408" cy="1554480"/>
          </a:xfrm>
          <a:prstGeom prst="roundRect">
            <a:avLst>
              <a:gd name="adj" fmla="val 7647"/>
            </a:avLst>
          </a:prstGeom>
          <a:solidFill>
            <a:srgbClr val="0D2543"/>
          </a:solidFill>
          <a:ln w="11430">
            <a:solidFill>
              <a:srgbClr val="0D2543"/>
            </a:solidFill>
            <a:prstDash val="solid"/>
          </a:ln>
        </p:spPr>
        <p:txBody>
          <a:bodyPr/>
          <a:lstStyle/>
          <a:p>
            <a:endParaRPr lang="en-US"/>
          </a:p>
        </p:txBody>
      </p:sp>
      <p:sp>
        <p:nvSpPr>
          <p:cNvPr id="22" name="Text 20"/>
          <p:cNvSpPr/>
          <p:nvPr/>
        </p:nvSpPr>
        <p:spPr>
          <a:xfrm>
            <a:off x="768096" y="3785616"/>
            <a:ext cx="6327648" cy="201168"/>
          </a:xfrm>
          <a:prstGeom prst="rect">
            <a:avLst/>
          </a:prstGeom>
          <a:noFill/>
          <a:ln/>
        </p:spPr>
        <p:txBody>
          <a:bodyPr wrap="square" lIns="0" tIns="0" rIns="0" bIns="0" rtlCol="0" anchor="ctr">
            <a:normAutofit/>
          </a:bodyPr>
          <a:lstStyle/>
          <a:p>
            <a:pPr marL="0" indent="0">
              <a:buNone/>
            </a:pPr>
            <a:r>
              <a:rPr lang="en-US" sz="1010" b="1" kern="0" spc="70" dirty="0">
                <a:solidFill>
                  <a:srgbClr val="69CAE3"/>
                </a:solidFill>
                <a:latin typeface="Arial" pitchFamily="34" charset="0"/>
                <a:ea typeface="Arial" pitchFamily="34" charset="-122"/>
                <a:cs typeface="Arial" pitchFamily="34" charset="-120"/>
              </a:rPr>
              <a:t>EXPRESS / CORS</a:t>
            </a:r>
            <a:endParaRPr lang="en-US" sz="1010" dirty="0"/>
          </a:p>
        </p:txBody>
      </p:sp>
      <p:sp>
        <p:nvSpPr>
          <p:cNvPr id="23" name="Shape 21"/>
          <p:cNvSpPr/>
          <p:nvPr/>
        </p:nvSpPr>
        <p:spPr>
          <a:xfrm>
            <a:off x="768096" y="4069080"/>
            <a:ext cx="6272784" cy="0"/>
          </a:xfrm>
          <a:prstGeom prst="line">
            <a:avLst/>
          </a:prstGeom>
          <a:noFill/>
          <a:ln w="8890">
            <a:solidFill>
              <a:srgbClr val="49627D"/>
            </a:solidFill>
            <a:prstDash val="solid"/>
          </a:ln>
        </p:spPr>
        <p:txBody>
          <a:bodyPr/>
          <a:lstStyle/>
          <a:p>
            <a:endParaRPr lang="en-US"/>
          </a:p>
        </p:txBody>
      </p:sp>
      <p:sp>
        <p:nvSpPr>
          <p:cNvPr id="24" name="Text 22"/>
          <p:cNvSpPr/>
          <p:nvPr/>
        </p:nvSpPr>
        <p:spPr>
          <a:xfrm>
            <a:off x="777240" y="4133088"/>
            <a:ext cx="6263640" cy="1033272"/>
          </a:xfrm>
          <a:prstGeom prst="rect">
            <a:avLst/>
          </a:prstGeom>
          <a:noFill/>
          <a:ln/>
        </p:spPr>
        <p:txBody>
          <a:bodyPr wrap="square" lIns="0" tIns="0" rIns="0" bIns="0" rtlCol="0" anchor="t">
            <a:normAutofit/>
          </a:bodyPr>
          <a:lstStyle/>
          <a:p>
            <a:pPr marL="0" indent="0">
              <a:buNone/>
            </a:pPr>
            <a:r>
              <a:rPr lang="en-US" sz="1500" dirty="0">
                <a:solidFill>
                  <a:srgbClr val="F3F8FF"/>
                </a:solidFill>
                <a:latin typeface="Consolas" pitchFamily="34" charset="0"/>
                <a:ea typeface="Consolas" pitchFamily="34" charset="-122"/>
                <a:cs typeface="Consolas" pitchFamily="34" charset="-120"/>
              </a:rPr>
              <a:t>app.use(cors({</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origin: "http://localhost:5173"</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a:t>
            </a:r>
            <a:endParaRPr lang="en-US" sz="1500" dirty="0"/>
          </a:p>
        </p:txBody>
      </p:sp>
      <p:sp>
        <p:nvSpPr>
          <p:cNvPr id="25" name="Shape 23"/>
          <p:cNvSpPr/>
          <p:nvPr/>
        </p:nvSpPr>
        <p:spPr>
          <a:xfrm>
            <a:off x="7498080" y="3675888"/>
            <a:ext cx="4114800" cy="1554480"/>
          </a:xfrm>
          <a:prstGeom prst="roundRect">
            <a:avLst>
              <a:gd name="adj" fmla="val 7647"/>
            </a:avLst>
          </a:prstGeom>
          <a:solidFill>
            <a:srgbClr val="FFF3D9"/>
          </a:solidFill>
          <a:ln w="11430">
            <a:solidFill>
              <a:srgbClr val="F0D7A0"/>
            </a:solidFill>
            <a:prstDash val="solid"/>
          </a:ln>
        </p:spPr>
        <p:txBody>
          <a:bodyPr/>
          <a:lstStyle/>
          <a:p>
            <a:endParaRPr lang="en-US"/>
          </a:p>
        </p:txBody>
      </p:sp>
      <p:sp>
        <p:nvSpPr>
          <p:cNvPr id="26" name="Text 24"/>
          <p:cNvSpPr/>
          <p:nvPr/>
        </p:nvSpPr>
        <p:spPr>
          <a:xfrm>
            <a:off x="7726680" y="3886200"/>
            <a:ext cx="3749040" cy="365760"/>
          </a:xfrm>
          <a:prstGeom prst="rect">
            <a:avLst/>
          </a:prstGeom>
          <a:noFill/>
          <a:ln/>
        </p:spPr>
        <p:txBody>
          <a:bodyPr wrap="square" lIns="0" tIns="0" rIns="0" bIns="0" rtlCol="0" anchor="ctr">
            <a:normAutofit/>
          </a:bodyPr>
          <a:lstStyle/>
          <a:p>
            <a:pPr marL="0" indent="0">
              <a:buNone/>
            </a:pPr>
            <a:r>
              <a:rPr lang="en-US" sz="1880" b="1" dirty="0">
                <a:solidFill>
                  <a:srgbClr val="15365E"/>
                </a:solidFill>
                <a:latin typeface="Arial" pitchFamily="34" charset="0"/>
                <a:ea typeface="Arial" pitchFamily="34" charset="-122"/>
                <a:cs typeface="Arial" pitchFamily="34" charset="-120"/>
              </a:rPr>
              <a:t>CORS ≠ JWT ≠ RBAC</a:t>
            </a:r>
            <a:endParaRPr lang="en-US" sz="1880" dirty="0"/>
          </a:p>
        </p:txBody>
      </p:sp>
      <p:sp>
        <p:nvSpPr>
          <p:cNvPr id="27" name="Text 25"/>
          <p:cNvSpPr/>
          <p:nvPr/>
        </p:nvSpPr>
        <p:spPr>
          <a:xfrm>
            <a:off x="7726680" y="4370832"/>
            <a:ext cx="3611880" cy="640080"/>
          </a:xfrm>
          <a:prstGeom prst="rect">
            <a:avLst/>
          </a:prstGeom>
          <a:noFill/>
          <a:ln/>
        </p:spPr>
        <p:txBody>
          <a:bodyPr wrap="square" lIns="0" tIns="0" rIns="0" bIns="0" rtlCol="0" anchor="t">
            <a:normAutofit/>
          </a:bodyPr>
          <a:lstStyle/>
          <a:p>
            <a:pPr marL="0" indent="0">
              <a:buNone/>
            </a:pPr>
            <a:r>
              <a:rPr lang="en-US" sz="1300" dirty="0">
                <a:solidFill>
                  <a:srgbClr val="62738C"/>
                </a:solidFill>
                <a:latin typeface="Arial" pitchFamily="34" charset="0"/>
                <a:ea typeface="Arial" pitchFamily="34" charset="-122"/>
                <a:cs typeface="Arial" pitchFamily="34" charset="-120"/>
              </a:rPr>
              <a:t>Postman không bị ràng buộc CORS như JavaScript trong trình duyệt.</a:t>
            </a:r>
            <a:endParaRPr lang="en-US" sz="1300" dirty="0"/>
          </a:p>
        </p:txBody>
      </p:sp>
      <p:sp>
        <p:nvSpPr>
          <p:cNvPr id="28" name="Shape 26"/>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29" name="Text 27"/>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30" name="Text 28"/>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Không bỏ isAuth hoặc mở CORS cho mọi Origin chỉ để “sửa cho chạy được”.</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TRÌNH </a:t>
            </a:r>
            <a:r>
              <a:rPr lang="en-US" sz="1230" b="1" kern="0" spc="100">
                <a:solidFill>
                  <a:srgbClr val="B58A1A"/>
                </a:solidFill>
                <a:latin typeface="Arial" pitchFamily="34" charset="0"/>
                <a:ea typeface="Arial" pitchFamily="34" charset="-122"/>
                <a:cs typeface="Arial" pitchFamily="34" charset="-120"/>
              </a:rPr>
              <a:t>BACKEND   </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GET API</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Axios lấy dữ liệu thật để hiển thị danh sách</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Dùng lại hợp đồng API Quản lý sinh viên ở Chương 4.</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13 / 16    ·    3 phút</a:t>
            </a:r>
            <a:endParaRPr lang="en-US" sz="950" dirty="0"/>
          </a:p>
        </p:txBody>
      </p:sp>
      <p:sp>
        <p:nvSpPr>
          <p:cNvPr id="10" name="Shape 8"/>
          <p:cNvSpPr/>
          <p:nvPr/>
        </p:nvSpPr>
        <p:spPr>
          <a:xfrm>
            <a:off x="530352" y="1975104"/>
            <a:ext cx="6583680" cy="2112264"/>
          </a:xfrm>
          <a:prstGeom prst="roundRect">
            <a:avLst>
              <a:gd name="adj" fmla="val 5628"/>
            </a:avLst>
          </a:prstGeom>
          <a:solidFill>
            <a:srgbClr val="0D2543"/>
          </a:solidFill>
          <a:ln w="11430">
            <a:solidFill>
              <a:srgbClr val="0D2543"/>
            </a:solidFill>
            <a:prstDash val="solid"/>
          </a:ln>
        </p:spPr>
        <p:txBody>
          <a:bodyPr/>
          <a:lstStyle/>
          <a:p>
            <a:endParaRPr lang="en-US"/>
          </a:p>
        </p:txBody>
      </p:sp>
      <p:sp>
        <p:nvSpPr>
          <p:cNvPr id="11" name="Text 9"/>
          <p:cNvSpPr/>
          <p:nvPr/>
        </p:nvSpPr>
        <p:spPr>
          <a:xfrm>
            <a:off x="740664" y="2084832"/>
            <a:ext cx="6217920" cy="201168"/>
          </a:xfrm>
          <a:prstGeom prst="rect">
            <a:avLst/>
          </a:prstGeom>
          <a:noFill/>
          <a:ln/>
        </p:spPr>
        <p:txBody>
          <a:bodyPr wrap="square" lIns="0" tIns="0" rIns="0" bIns="0" rtlCol="0" anchor="ctr">
            <a:normAutofit/>
          </a:bodyPr>
          <a:lstStyle/>
          <a:p>
            <a:pPr marL="0" indent="0">
              <a:buNone/>
            </a:pPr>
            <a:r>
              <a:rPr lang="en-US" sz="1010" b="1" kern="0" spc="70" dirty="0">
                <a:solidFill>
                  <a:srgbClr val="69CAE3"/>
                </a:solidFill>
                <a:latin typeface="Arial" pitchFamily="34" charset="0"/>
                <a:ea typeface="Arial" pitchFamily="34" charset="-122"/>
                <a:cs typeface="Arial" pitchFamily="34" charset="-120"/>
              </a:rPr>
              <a:t>FRONTEND / TYPESCRIPT</a:t>
            </a:r>
            <a:endParaRPr lang="en-US" sz="1010" dirty="0"/>
          </a:p>
        </p:txBody>
      </p:sp>
      <p:sp>
        <p:nvSpPr>
          <p:cNvPr id="12" name="Shape 10"/>
          <p:cNvSpPr/>
          <p:nvPr/>
        </p:nvSpPr>
        <p:spPr>
          <a:xfrm>
            <a:off x="740664" y="2368296"/>
            <a:ext cx="6163056" cy="0"/>
          </a:xfrm>
          <a:prstGeom prst="line">
            <a:avLst/>
          </a:prstGeom>
          <a:noFill/>
          <a:ln w="8890">
            <a:solidFill>
              <a:srgbClr val="49627D"/>
            </a:solidFill>
            <a:prstDash val="solid"/>
          </a:ln>
        </p:spPr>
        <p:txBody>
          <a:bodyPr/>
          <a:lstStyle/>
          <a:p>
            <a:endParaRPr lang="en-US"/>
          </a:p>
        </p:txBody>
      </p:sp>
      <p:sp>
        <p:nvSpPr>
          <p:cNvPr id="13" name="Text 11"/>
          <p:cNvSpPr/>
          <p:nvPr/>
        </p:nvSpPr>
        <p:spPr>
          <a:xfrm>
            <a:off x="749808" y="2432304"/>
            <a:ext cx="6153912" cy="1591056"/>
          </a:xfrm>
          <a:prstGeom prst="rect">
            <a:avLst/>
          </a:prstGeom>
          <a:noFill/>
          <a:ln/>
        </p:spPr>
        <p:txBody>
          <a:bodyPr wrap="square" lIns="0" tIns="0" rIns="0" bIns="0" rtlCol="0" anchor="t">
            <a:normAutofit/>
          </a:bodyPr>
          <a:lstStyle/>
          <a:p>
            <a:pPr marL="0" indent="0">
              <a:buNone/>
            </a:pPr>
            <a:r>
              <a:rPr lang="en-US" sz="1500" dirty="0">
                <a:solidFill>
                  <a:srgbClr val="F3F8FF"/>
                </a:solidFill>
                <a:latin typeface="Consolas" pitchFamily="34" charset="0"/>
                <a:ea typeface="Consolas" pitchFamily="34" charset="-122"/>
                <a:cs typeface="Consolas" pitchFamily="34" charset="-120"/>
              </a:rPr>
              <a:t>const response = await axios.get(</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"http://localhost:5000/api/v1/sinh-vien"</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const ds = response.data.data;</a:t>
            </a:r>
            <a:endParaRPr lang="en-US" sz="1500" dirty="0"/>
          </a:p>
        </p:txBody>
      </p:sp>
      <p:sp>
        <p:nvSpPr>
          <p:cNvPr id="14" name="Shape 12"/>
          <p:cNvSpPr/>
          <p:nvPr/>
        </p:nvSpPr>
        <p:spPr>
          <a:xfrm>
            <a:off x="7324344" y="1975104"/>
            <a:ext cx="4306824" cy="2112264"/>
          </a:xfrm>
          <a:prstGeom prst="roundRect">
            <a:avLst>
              <a:gd name="adj" fmla="val 5628"/>
            </a:avLst>
          </a:prstGeom>
          <a:solidFill>
            <a:srgbClr val="FFFFFF"/>
          </a:solidFill>
          <a:ln w="11430">
            <a:solidFill>
              <a:srgbClr val="DCE5F1"/>
            </a:solidFill>
            <a:prstDash val="solid"/>
          </a:ln>
        </p:spPr>
        <p:txBody>
          <a:bodyPr/>
          <a:lstStyle/>
          <a:p>
            <a:endParaRPr lang="en-US"/>
          </a:p>
        </p:txBody>
      </p:sp>
      <p:sp>
        <p:nvSpPr>
          <p:cNvPr id="15" name="Text 13"/>
          <p:cNvSpPr/>
          <p:nvPr/>
        </p:nvSpPr>
        <p:spPr>
          <a:xfrm>
            <a:off x="7571232" y="2203704"/>
            <a:ext cx="3858768" cy="301752"/>
          </a:xfrm>
          <a:prstGeom prst="rect">
            <a:avLst/>
          </a:prstGeom>
          <a:noFill/>
          <a:ln/>
        </p:spPr>
        <p:txBody>
          <a:bodyPr wrap="square" lIns="0" tIns="0" rIns="0" bIns="0" rtlCol="0" anchor="ctr">
            <a:normAutofit/>
          </a:bodyPr>
          <a:lstStyle/>
          <a:p>
            <a:pPr marL="0" indent="0">
              <a:buNone/>
            </a:pPr>
            <a:r>
              <a:rPr lang="en-US" sz="1450" b="1" dirty="0">
                <a:solidFill>
                  <a:srgbClr val="B58A1A"/>
                </a:solidFill>
                <a:latin typeface="Arial" pitchFamily="34" charset="0"/>
                <a:ea typeface="Arial" pitchFamily="34" charset="-122"/>
                <a:cs typeface="Arial" pitchFamily="34" charset="-120"/>
              </a:rPr>
              <a:t>KẾT QUẢ GIAO DIỆN</a:t>
            </a:r>
            <a:endParaRPr lang="en-US" sz="1450" dirty="0"/>
          </a:p>
        </p:txBody>
      </p:sp>
      <p:sp>
        <p:nvSpPr>
          <p:cNvPr id="16" name="Shape 14"/>
          <p:cNvSpPr/>
          <p:nvPr/>
        </p:nvSpPr>
        <p:spPr>
          <a:xfrm>
            <a:off x="7562088" y="2724912"/>
            <a:ext cx="3776472" cy="0"/>
          </a:xfrm>
          <a:prstGeom prst="line">
            <a:avLst/>
          </a:prstGeom>
          <a:noFill/>
          <a:ln w="12700">
            <a:solidFill>
              <a:srgbClr val="DCE5F1"/>
            </a:solidFill>
            <a:prstDash val="solid"/>
          </a:ln>
        </p:spPr>
        <p:txBody>
          <a:bodyPr/>
          <a:lstStyle/>
          <a:p>
            <a:endParaRPr lang="en-US"/>
          </a:p>
        </p:txBody>
      </p:sp>
      <p:sp>
        <p:nvSpPr>
          <p:cNvPr id="17" name="Text 15"/>
          <p:cNvSpPr/>
          <p:nvPr/>
        </p:nvSpPr>
        <p:spPr>
          <a:xfrm>
            <a:off x="7626096" y="2935224"/>
            <a:ext cx="3547872" cy="347472"/>
          </a:xfrm>
          <a:prstGeom prst="rect">
            <a:avLst/>
          </a:prstGeom>
          <a:noFill/>
          <a:ln/>
        </p:spPr>
        <p:txBody>
          <a:bodyPr wrap="square" lIns="0" tIns="0" rIns="0" bIns="0" rtlCol="0" anchor="ctr">
            <a:normAutofit/>
          </a:bodyPr>
          <a:lstStyle/>
          <a:p>
            <a:pPr marL="0" indent="0">
              <a:buNone/>
            </a:pPr>
            <a:r>
              <a:rPr lang="en-US" sz="1600" dirty="0">
                <a:solidFill>
                  <a:srgbClr val="15365E"/>
                </a:solidFill>
                <a:latin typeface="Arial" pitchFamily="34" charset="0"/>
                <a:ea typeface="Arial" pitchFamily="34" charset="-122"/>
                <a:cs typeface="Arial" pitchFamily="34" charset="-120"/>
              </a:rPr>
              <a:t>SV001    Minh Nhật</a:t>
            </a:r>
            <a:endParaRPr lang="en-US" sz="1600" dirty="0"/>
          </a:p>
        </p:txBody>
      </p:sp>
      <p:sp>
        <p:nvSpPr>
          <p:cNvPr id="18" name="Shape 16"/>
          <p:cNvSpPr/>
          <p:nvPr/>
        </p:nvSpPr>
        <p:spPr>
          <a:xfrm>
            <a:off x="7589520" y="3364992"/>
            <a:ext cx="3749040" cy="0"/>
          </a:xfrm>
          <a:prstGeom prst="line">
            <a:avLst/>
          </a:prstGeom>
          <a:noFill/>
          <a:ln w="10160">
            <a:solidFill>
              <a:srgbClr val="DCE5F1"/>
            </a:solidFill>
            <a:prstDash val="solid"/>
          </a:ln>
        </p:spPr>
        <p:txBody>
          <a:bodyPr/>
          <a:lstStyle/>
          <a:p>
            <a:endParaRPr lang="en-US"/>
          </a:p>
        </p:txBody>
      </p:sp>
      <p:sp>
        <p:nvSpPr>
          <p:cNvPr id="19" name="Text 17"/>
          <p:cNvSpPr/>
          <p:nvPr/>
        </p:nvSpPr>
        <p:spPr>
          <a:xfrm>
            <a:off x="7626096" y="3529584"/>
            <a:ext cx="3547872" cy="347472"/>
          </a:xfrm>
          <a:prstGeom prst="rect">
            <a:avLst/>
          </a:prstGeom>
          <a:noFill/>
          <a:ln/>
        </p:spPr>
        <p:txBody>
          <a:bodyPr wrap="square" lIns="0" tIns="0" rIns="0" bIns="0" rtlCol="0" anchor="ctr">
            <a:normAutofit/>
          </a:bodyPr>
          <a:lstStyle/>
          <a:p>
            <a:pPr marL="0" indent="0">
              <a:buNone/>
            </a:pPr>
            <a:r>
              <a:rPr lang="en-US" sz="1600" dirty="0">
                <a:solidFill>
                  <a:srgbClr val="15365E"/>
                </a:solidFill>
                <a:latin typeface="Arial" pitchFamily="34" charset="0"/>
                <a:ea typeface="Arial" pitchFamily="34" charset="-122"/>
                <a:cs typeface="Arial" pitchFamily="34" charset="-120"/>
              </a:rPr>
              <a:t>SV002    Lan Anh</a:t>
            </a:r>
            <a:endParaRPr lang="en-US" sz="1600" dirty="0"/>
          </a:p>
        </p:txBody>
      </p:sp>
      <p:sp>
        <p:nvSpPr>
          <p:cNvPr id="20" name="Shape 18"/>
          <p:cNvSpPr/>
          <p:nvPr/>
        </p:nvSpPr>
        <p:spPr>
          <a:xfrm>
            <a:off x="548640" y="4325112"/>
            <a:ext cx="11064240" cy="1042416"/>
          </a:xfrm>
          <a:prstGeom prst="roundRect">
            <a:avLst>
              <a:gd name="adj" fmla="val 11404"/>
            </a:avLst>
          </a:prstGeom>
          <a:solidFill>
            <a:srgbClr val="EDF2F9"/>
          </a:solidFill>
          <a:ln w="11430">
            <a:solidFill>
              <a:srgbClr val="DCE5F1"/>
            </a:solidFill>
            <a:prstDash val="solid"/>
          </a:ln>
        </p:spPr>
        <p:txBody>
          <a:bodyPr/>
          <a:lstStyle/>
          <a:p>
            <a:endParaRPr lang="en-US"/>
          </a:p>
        </p:txBody>
      </p:sp>
      <p:sp>
        <p:nvSpPr>
          <p:cNvPr id="21" name="Text 19"/>
          <p:cNvSpPr/>
          <p:nvPr/>
        </p:nvSpPr>
        <p:spPr>
          <a:xfrm>
            <a:off x="786384" y="4507992"/>
            <a:ext cx="2907792" cy="292608"/>
          </a:xfrm>
          <a:prstGeom prst="rect">
            <a:avLst/>
          </a:prstGeom>
          <a:noFill/>
          <a:ln/>
        </p:spPr>
        <p:txBody>
          <a:bodyPr wrap="square" lIns="0" tIns="0" rIns="0" bIns="0" rtlCol="0" anchor="ctr">
            <a:normAutofit/>
          </a:bodyPr>
          <a:lstStyle/>
          <a:p>
            <a:pPr marL="0" indent="0">
              <a:buNone/>
            </a:pPr>
            <a:r>
              <a:rPr lang="en-US" sz="1450" b="1" dirty="0">
                <a:solidFill>
                  <a:srgbClr val="B58A1A"/>
                </a:solidFill>
                <a:latin typeface="Arial" pitchFamily="34" charset="0"/>
                <a:ea typeface="Arial" pitchFamily="34" charset="-122"/>
                <a:cs typeface="Arial" pitchFamily="34" charset="-120"/>
              </a:rPr>
              <a:t>RESPONSE CONTRACT</a:t>
            </a:r>
            <a:endParaRPr lang="en-US" sz="1450" dirty="0"/>
          </a:p>
        </p:txBody>
      </p:sp>
      <p:sp>
        <p:nvSpPr>
          <p:cNvPr id="22" name="Text 20"/>
          <p:cNvSpPr/>
          <p:nvPr/>
        </p:nvSpPr>
        <p:spPr>
          <a:xfrm>
            <a:off x="3675888" y="4489704"/>
            <a:ext cx="7406640" cy="310896"/>
          </a:xfrm>
          <a:prstGeom prst="rect">
            <a:avLst/>
          </a:prstGeom>
          <a:noFill/>
          <a:ln/>
        </p:spPr>
        <p:txBody>
          <a:bodyPr wrap="square" lIns="0" tIns="0" rIns="0" bIns="0" rtlCol="0" anchor="ctr">
            <a:normAutofit/>
          </a:bodyPr>
          <a:lstStyle/>
          <a:p>
            <a:pPr marL="0" indent="0">
              <a:buNone/>
            </a:pPr>
            <a:r>
              <a:rPr lang="en-US" sz="1570" dirty="0">
                <a:solidFill>
                  <a:srgbClr val="15365E"/>
                </a:solidFill>
                <a:latin typeface="Consolas" pitchFamily="34" charset="0"/>
                <a:ea typeface="Consolas" pitchFamily="34" charset="-122"/>
                <a:cs typeface="Consolas" pitchFamily="34" charset="-120"/>
              </a:rPr>
              <a:t>{ "success": true, "message": "...", "data": [ ... ] }</a:t>
            </a:r>
            <a:endParaRPr lang="en-US" sz="1570" dirty="0"/>
          </a:p>
        </p:txBody>
      </p:sp>
      <p:sp>
        <p:nvSpPr>
          <p:cNvPr id="23" name="Shape 21"/>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24" name="Text 22"/>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25" name="Text 23"/>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Không dùng mock data để “giả vờ kết nối”. Kiểm tra response thật bằng Network / Postman.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TRÌNH </a:t>
            </a:r>
            <a:r>
              <a:rPr lang="en-US" sz="1230" b="1" kern="0" spc="100">
                <a:solidFill>
                  <a:srgbClr val="B58A1A"/>
                </a:solidFill>
                <a:latin typeface="Arial" pitchFamily="34" charset="0"/>
                <a:ea typeface="Arial" pitchFamily="34" charset="-122"/>
                <a:cs typeface="Arial" pitchFamily="34" charset="-120"/>
              </a:rPr>
              <a:t>BACKEND   </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FRONTEND + AUTH</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JWT được sử dụng thế nào trên giao diện?</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Đăng nhập ở Backend, sau đó kèm Token cho những API cần xác thực.</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14 / 16    ·    3 phút</a:t>
            </a:r>
            <a:endParaRPr lang="en-US" sz="950" dirty="0"/>
          </a:p>
        </p:txBody>
      </p:sp>
      <p:sp>
        <p:nvSpPr>
          <p:cNvPr id="10" name="Shape 8"/>
          <p:cNvSpPr/>
          <p:nvPr/>
        </p:nvSpPr>
        <p:spPr>
          <a:xfrm>
            <a:off x="548640" y="2020824"/>
            <a:ext cx="2633472" cy="1197864"/>
          </a:xfrm>
          <a:prstGeom prst="roundRect">
            <a:avLst>
              <a:gd name="adj" fmla="val 9924"/>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548640" y="2020824"/>
            <a:ext cx="54864" cy="1197864"/>
          </a:xfrm>
          <a:prstGeom prst="rect">
            <a:avLst/>
          </a:prstGeom>
          <a:solidFill>
            <a:srgbClr val="16A2BE"/>
          </a:solidFill>
          <a:ln w="12700">
            <a:solidFill>
              <a:srgbClr val="16A2BE">
                <a:alpha val="0"/>
              </a:srgbClr>
            </a:solidFill>
            <a:prstDash val="solid"/>
          </a:ln>
        </p:spPr>
        <p:txBody>
          <a:bodyPr/>
          <a:lstStyle/>
          <a:p>
            <a:endParaRPr lang="en-US"/>
          </a:p>
        </p:txBody>
      </p:sp>
      <p:sp>
        <p:nvSpPr>
          <p:cNvPr id="12" name="Text 10"/>
          <p:cNvSpPr/>
          <p:nvPr/>
        </p:nvSpPr>
        <p:spPr>
          <a:xfrm>
            <a:off x="676656" y="2130552"/>
            <a:ext cx="2386584"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LOGIN</a:t>
            </a:r>
            <a:endParaRPr lang="en-US" sz="1510" dirty="0"/>
          </a:p>
        </p:txBody>
      </p:sp>
      <p:sp>
        <p:nvSpPr>
          <p:cNvPr id="13" name="Text 11"/>
          <p:cNvSpPr/>
          <p:nvPr/>
        </p:nvSpPr>
        <p:spPr>
          <a:xfrm>
            <a:off x="676656" y="2459736"/>
            <a:ext cx="2377440" cy="685800"/>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Gửi email + mật khẩu</a:t>
            </a:r>
            <a:endParaRPr lang="en-US" sz="1190" dirty="0"/>
          </a:p>
        </p:txBody>
      </p:sp>
      <p:sp>
        <p:nvSpPr>
          <p:cNvPr id="14" name="Shape 12"/>
          <p:cNvSpPr/>
          <p:nvPr/>
        </p:nvSpPr>
        <p:spPr>
          <a:xfrm>
            <a:off x="676656" y="3264408"/>
            <a:ext cx="512064"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15" name="Text 13"/>
          <p:cNvSpPr/>
          <p:nvPr/>
        </p:nvSpPr>
        <p:spPr>
          <a:xfrm>
            <a:off x="786384" y="3264408"/>
            <a:ext cx="292608"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01</a:t>
            </a:r>
            <a:endParaRPr lang="en-US" sz="1200" dirty="0"/>
          </a:p>
        </p:txBody>
      </p:sp>
      <p:sp>
        <p:nvSpPr>
          <p:cNvPr id="16" name="Shape 14"/>
          <p:cNvSpPr/>
          <p:nvPr/>
        </p:nvSpPr>
        <p:spPr>
          <a:xfrm>
            <a:off x="3200400" y="2606040"/>
            <a:ext cx="219456" cy="0"/>
          </a:xfrm>
          <a:prstGeom prst="line">
            <a:avLst/>
          </a:prstGeom>
          <a:noFill/>
          <a:ln w="25400">
            <a:solidFill>
              <a:srgbClr val="B58A1A"/>
            </a:solidFill>
            <a:prstDash val="solid"/>
            <a:tailEnd type="triangle"/>
          </a:ln>
        </p:spPr>
        <p:txBody>
          <a:bodyPr/>
          <a:lstStyle/>
          <a:p>
            <a:endParaRPr lang="en-US"/>
          </a:p>
        </p:txBody>
      </p:sp>
      <p:sp>
        <p:nvSpPr>
          <p:cNvPr id="17" name="Shape 15"/>
          <p:cNvSpPr/>
          <p:nvPr/>
        </p:nvSpPr>
        <p:spPr>
          <a:xfrm>
            <a:off x="3438144" y="2020824"/>
            <a:ext cx="2633472" cy="1197864"/>
          </a:xfrm>
          <a:prstGeom prst="roundRect">
            <a:avLst>
              <a:gd name="adj" fmla="val 9924"/>
            </a:avLst>
          </a:prstGeom>
          <a:solidFill>
            <a:srgbClr val="FFFFFF"/>
          </a:solidFill>
          <a:ln w="11430">
            <a:solidFill>
              <a:srgbClr val="DCE5F1"/>
            </a:solidFill>
            <a:prstDash val="solid"/>
          </a:ln>
        </p:spPr>
        <p:txBody>
          <a:bodyPr/>
          <a:lstStyle/>
          <a:p>
            <a:endParaRPr lang="en-US"/>
          </a:p>
        </p:txBody>
      </p:sp>
      <p:sp>
        <p:nvSpPr>
          <p:cNvPr id="18" name="Shape 16"/>
          <p:cNvSpPr/>
          <p:nvPr/>
        </p:nvSpPr>
        <p:spPr>
          <a:xfrm>
            <a:off x="3438144" y="2020824"/>
            <a:ext cx="54864" cy="1197864"/>
          </a:xfrm>
          <a:prstGeom prst="rect">
            <a:avLst/>
          </a:prstGeom>
          <a:solidFill>
            <a:srgbClr val="285CB2"/>
          </a:solidFill>
          <a:ln w="12700">
            <a:solidFill>
              <a:srgbClr val="285CB2">
                <a:alpha val="0"/>
              </a:srgbClr>
            </a:solidFill>
            <a:prstDash val="solid"/>
          </a:ln>
        </p:spPr>
        <p:txBody>
          <a:bodyPr/>
          <a:lstStyle/>
          <a:p>
            <a:endParaRPr lang="en-US"/>
          </a:p>
        </p:txBody>
      </p:sp>
      <p:sp>
        <p:nvSpPr>
          <p:cNvPr id="19" name="Text 17"/>
          <p:cNvSpPr/>
          <p:nvPr/>
        </p:nvSpPr>
        <p:spPr>
          <a:xfrm>
            <a:off x="3566160" y="2130552"/>
            <a:ext cx="2386584"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NHẬN JWT</a:t>
            </a:r>
            <a:endParaRPr lang="en-US" sz="1510" dirty="0"/>
          </a:p>
        </p:txBody>
      </p:sp>
      <p:sp>
        <p:nvSpPr>
          <p:cNvPr id="20" name="Text 18"/>
          <p:cNvSpPr/>
          <p:nvPr/>
        </p:nvSpPr>
        <p:spPr>
          <a:xfrm>
            <a:off x="3566160" y="2459736"/>
            <a:ext cx="2377440" cy="685800"/>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Backend kiểm tra và cấp token</a:t>
            </a:r>
            <a:endParaRPr lang="en-US" sz="1190" dirty="0"/>
          </a:p>
        </p:txBody>
      </p:sp>
      <p:sp>
        <p:nvSpPr>
          <p:cNvPr id="21" name="Shape 19"/>
          <p:cNvSpPr/>
          <p:nvPr/>
        </p:nvSpPr>
        <p:spPr>
          <a:xfrm>
            <a:off x="3566160" y="3264408"/>
            <a:ext cx="512064"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22" name="Text 20"/>
          <p:cNvSpPr/>
          <p:nvPr/>
        </p:nvSpPr>
        <p:spPr>
          <a:xfrm>
            <a:off x="3675888" y="3264408"/>
            <a:ext cx="292608"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02</a:t>
            </a:r>
            <a:endParaRPr lang="en-US" sz="1200" dirty="0"/>
          </a:p>
        </p:txBody>
      </p:sp>
      <p:sp>
        <p:nvSpPr>
          <p:cNvPr id="23" name="Shape 21"/>
          <p:cNvSpPr/>
          <p:nvPr/>
        </p:nvSpPr>
        <p:spPr>
          <a:xfrm>
            <a:off x="6089904" y="2606040"/>
            <a:ext cx="219456" cy="0"/>
          </a:xfrm>
          <a:prstGeom prst="line">
            <a:avLst/>
          </a:prstGeom>
          <a:noFill/>
          <a:ln w="25400">
            <a:solidFill>
              <a:srgbClr val="B58A1A"/>
            </a:solidFill>
            <a:prstDash val="solid"/>
            <a:tailEnd type="triangle"/>
          </a:ln>
        </p:spPr>
        <p:txBody>
          <a:bodyPr/>
          <a:lstStyle/>
          <a:p>
            <a:endParaRPr lang="en-US"/>
          </a:p>
        </p:txBody>
      </p:sp>
      <p:sp>
        <p:nvSpPr>
          <p:cNvPr id="24" name="Shape 22"/>
          <p:cNvSpPr/>
          <p:nvPr/>
        </p:nvSpPr>
        <p:spPr>
          <a:xfrm>
            <a:off x="6327648" y="2020824"/>
            <a:ext cx="2633472" cy="1197864"/>
          </a:xfrm>
          <a:prstGeom prst="roundRect">
            <a:avLst>
              <a:gd name="adj" fmla="val 9924"/>
            </a:avLst>
          </a:prstGeom>
          <a:solidFill>
            <a:srgbClr val="FFFFFF"/>
          </a:solidFill>
          <a:ln w="11430">
            <a:solidFill>
              <a:srgbClr val="DCE5F1"/>
            </a:solidFill>
            <a:prstDash val="solid"/>
          </a:ln>
        </p:spPr>
        <p:txBody>
          <a:bodyPr/>
          <a:lstStyle/>
          <a:p>
            <a:endParaRPr lang="en-US"/>
          </a:p>
        </p:txBody>
      </p:sp>
      <p:sp>
        <p:nvSpPr>
          <p:cNvPr id="25" name="Shape 23"/>
          <p:cNvSpPr/>
          <p:nvPr/>
        </p:nvSpPr>
        <p:spPr>
          <a:xfrm>
            <a:off x="6327648" y="2020824"/>
            <a:ext cx="54864" cy="1197864"/>
          </a:xfrm>
          <a:prstGeom prst="rect">
            <a:avLst/>
          </a:prstGeom>
          <a:solidFill>
            <a:srgbClr val="285CB2"/>
          </a:solidFill>
          <a:ln w="12700">
            <a:solidFill>
              <a:srgbClr val="285CB2">
                <a:alpha val="0"/>
              </a:srgbClr>
            </a:solidFill>
            <a:prstDash val="solid"/>
          </a:ln>
        </p:spPr>
        <p:txBody>
          <a:bodyPr/>
          <a:lstStyle/>
          <a:p>
            <a:endParaRPr lang="en-US"/>
          </a:p>
        </p:txBody>
      </p:sp>
      <p:sp>
        <p:nvSpPr>
          <p:cNvPr id="26" name="Text 24"/>
          <p:cNvSpPr/>
          <p:nvPr/>
        </p:nvSpPr>
        <p:spPr>
          <a:xfrm>
            <a:off x="6455664" y="2130552"/>
            <a:ext cx="2386584"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GỌI API</a:t>
            </a:r>
            <a:endParaRPr lang="en-US" sz="1510" dirty="0"/>
          </a:p>
        </p:txBody>
      </p:sp>
      <p:sp>
        <p:nvSpPr>
          <p:cNvPr id="27" name="Text 25"/>
          <p:cNvSpPr/>
          <p:nvPr/>
        </p:nvSpPr>
        <p:spPr>
          <a:xfrm>
            <a:off x="6455664" y="2459736"/>
            <a:ext cx="2377440" cy="685800"/>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Axios gửi Bearer Token</a:t>
            </a:r>
            <a:endParaRPr lang="en-US" sz="1190" dirty="0"/>
          </a:p>
        </p:txBody>
      </p:sp>
      <p:sp>
        <p:nvSpPr>
          <p:cNvPr id="28" name="Shape 26"/>
          <p:cNvSpPr/>
          <p:nvPr/>
        </p:nvSpPr>
        <p:spPr>
          <a:xfrm>
            <a:off x="6455664" y="3264408"/>
            <a:ext cx="512064"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29" name="Text 27"/>
          <p:cNvSpPr/>
          <p:nvPr/>
        </p:nvSpPr>
        <p:spPr>
          <a:xfrm>
            <a:off x="6565392" y="3264408"/>
            <a:ext cx="292608"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03</a:t>
            </a:r>
            <a:endParaRPr lang="en-US" sz="1200" dirty="0"/>
          </a:p>
        </p:txBody>
      </p:sp>
      <p:sp>
        <p:nvSpPr>
          <p:cNvPr id="30" name="Shape 28"/>
          <p:cNvSpPr/>
          <p:nvPr/>
        </p:nvSpPr>
        <p:spPr>
          <a:xfrm>
            <a:off x="8979408" y="2606040"/>
            <a:ext cx="219456" cy="0"/>
          </a:xfrm>
          <a:prstGeom prst="line">
            <a:avLst/>
          </a:prstGeom>
          <a:noFill/>
          <a:ln w="25400">
            <a:solidFill>
              <a:srgbClr val="B58A1A"/>
            </a:solidFill>
            <a:prstDash val="solid"/>
            <a:tailEnd type="triangle"/>
          </a:ln>
        </p:spPr>
        <p:txBody>
          <a:bodyPr/>
          <a:lstStyle/>
          <a:p>
            <a:endParaRPr lang="en-US"/>
          </a:p>
        </p:txBody>
      </p:sp>
      <p:sp>
        <p:nvSpPr>
          <p:cNvPr id="31" name="Shape 29"/>
          <p:cNvSpPr/>
          <p:nvPr/>
        </p:nvSpPr>
        <p:spPr>
          <a:xfrm>
            <a:off x="9217152" y="2020824"/>
            <a:ext cx="2633472" cy="1197864"/>
          </a:xfrm>
          <a:prstGeom prst="roundRect">
            <a:avLst>
              <a:gd name="adj" fmla="val 9924"/>
            </a:avLst>
          </a:prstGeom>
          <a:solidFill>
            <a:srgbClr val="FFFFFF"/>
          </a:solidFill>
          <a:ln w="11430">
            <a:solidFill>
              <a:srgbClr val="DCE5F1"/>
            </a:solidFill>
            <a:prstDash val="solid"/>
          </a:ln>
        </p:spPr>
        <p:txBody>
          <a:bodyPr/>
          <a:lstStyle/>
          <a:p>
            <a:endParaRPr lang="en-US"/>
          </a:p>
        </p:txBody>
      </p:sp>
      <p:sp>
        <p:nvSpPr>
          <p:cNvPr id="32" name="Shape 30"/>
          <p:cNvSpPr/>
          <p:nvPr/>
        </p:nvSpPr>
        <p:spPr>
          <a:xfrm>
            <a:off x="9217152" y="2020824"/>
            <a:ext cx="54864" cy="1197864"/>
          </a:xfrm>
          <a:prstGeom prst="rect">
            <a:avLst/>
          </a:prstGeom>
          <a:solidFill>
            <a:srgbClr val="21764E"/>
          </a:solidFill>
          <a:ln w="12700">
            <a:solidFill>
              <a:srgbClr val="21764E">
                <a:alpha val="0"/>
              </a:srgbClr>
            </a:solidFill>
            <a:prstDash val="solid"/>
          </a:ln>
        </p:spPr>
        <p:txBody>
          <a:bodyPr/>
          <a:lstStyle/>
          <a:p>
            <a:endParaRPr lang="en-US"/>
          </a:p>
        </p:txBody>
      </p:sp>
      <p:sp>
        <p:nvSpPr>
          <p:cNvPr id="33" name="Text 31"/>
          <p:cNvSpPr/>
          <p:nvPr/>
        </p:nvSpPr>
        <p:spPr>
          <a:xfrm>
            <a:off x="9345168" y="2130552"/>
            <a:ext cx="2386584"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KIỂM TRA</a:t>
            </a:r>
            <a:endParaRPr lang="en-US" sz="1510" dirty="0"/>
          </a:p>
        </p:txBody>
      </p:sp>
      <p:sp>
        <p:nvSpPr>
          <p:cNvPr id="34" name="Text 32"/>
          <p:cNvSpPr/>
          <p:nvPr/>
        </p:nvSpPr>
        <p:spPr>
          <a:xfrm>
            <a:off x="9345168" y="2459736"/>
            <a:ext cx="2377440" cy="685800"/>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isAuth xác minh token</a:t>
            </a:r>
            <a:endParaRPr lang="en-US" sz="1190" dirty="0"/>
          </a:p>
        </p:txBody>
      </p:sp>
      <p:sp>
        <p:nvSpPr>
          <p:cNvPr id="35" name="Shape 33"/>
          <p:cNvSpPr/>
          <p:nvPr/>
        </p:nvSpPr>
        <p:spPr>
          <a:xfrm>
            <a:off x="9345168" y="3264408"/>
            <a:ext cx="512064"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36" name="Text 34"/>
          <p:cNvSpPr/>
          <p:nvPr/>
        </p:nvSpPr>
        <p:spPr>
          <a:xfrm>
            <a:off x="9454896" y="3264408"/>
            <a:ext cx="292608" cy="310896"/>
          </a:xfrm>
          <a:prstGeom prst="rect">
            <a:avLst/>
          </a:prstGeom>
          <a:noFill/>
          <a:ln/>
        </p:spPr>
        <p:txBody>
          <a:bodyPr wrap="square" lIns="0" tIns="0" rIns="0" bIns="0" rtlCol="0" anchor="ctr">
            <a:normAutofit/>
          </a:bodyPr>
          <a:lstStyle/>
          <a:p>
            <a:pPr marL="0" indent="0" algn="ctr">
              <a:buNone/>
            </a:pPr>
            <a:r>
              <a:rPr lang="en-US" sz="1200" b="1" dirty="0">
                <a:solidFill>
                  <a:srgbClr val="285CB2"/>
                </a:solidFill>
                <a:latin typeface="Arial" pitchFamily="34" charset="0"/>
                <a:ea typeface="Arial" pitchFamily="34" charset="-122"/>
                <a:cs typeface="Arial" pitchFamily="34" charset="-120"/>
              </a:rPr>
              <a:t>04</a:t>
            </a:r>
            <a:endParaRPr lang="en-US" sz="1200" dirty="0"/>
          </a:p>
        </p:txBody>
      </p:sp>
      <p:sp>
        <p:nvSpPr>
          <p:cNvPr id="37" name="Shape 35"/>
          <p:cNvSpPr/>
          <p:nvPr/>
        </p:nvSpPr>
        <p:spPr>
          <a:xfrm>
            <a:off x="548640" y="3840480"/>
            <a:ext cx="7507224" cy="1490472"/>
          </a:xfrm>
          <a:prstGeom prst="roundRect">
            <a:avLst>
              <a:gd name="adj" fmla="val 7975"/>
            </a:avLst>
          </a:prstGeom>
          <a:solidFill>
            <a:srgbClr val="0D2543"/>
          </a:solidFill>
          <a:ln w="11430">
            <a:solidFill>
              <a:srgbClr val="0D2543"/>
            </a:solidFill>
            <a:prstDash val="solid"/>
          </a:ln>
        </p:spPr>
        <p:txBody>
          <a:bodyPr/>
          <a:lstStyle/>
          <a:p>
            <a:endParaRPr lang="en-US"/>
          </a:p>
        </p:txBody>
      </p:sp>
      <p:sp>
        <p:nvSpPr>
          <p:cNvPr id="38" name="Text 36"/>
          <p:cNvSpPr/>
          <p:nvPr/>
        </p:nvSpPr>
        <p:spPr>
          <a:xfrm>
            <a:off x="758952" y="3950208"/>
            <a:ext cx="7141464" cy="201168"/>
          </a:xfrm>
          <a:prstGeom prst="rect">
            <a:avLst/>
          </a:prstGeom>
          <a:noFill/>
          <a:ln/>
        </p:spPr>
        <p:txBody>
          <a:bodyPr wrap="square" lIns="0" tIns="0" rIns="0" bIns="0" rtlCol="0" anchor="ctr">
            <a:normAutofit/>
          </a:bodyPr>
          <a:lstStyle/>
          <a:p>
            <a:pPr marL="0" indent="0">
              <a:buNone/>
            </a:pPr>
            <a:r>
              <a:rPr lang="en-US" sz="1010" b="1" kern="0" spc="70" dirty="0">
                <a:solidFill>
                  <a:srgbClr val="69CAE3"/>
                </a:solidFill>
                <a:latin typeface="Arial" pitchFamily="34" charset="0"/>
                <a:ea typeface="Arial" pitchFamily="34" charset="-122"/>
                <a:cs typeface="Arial" pitchFamily="34" charset="-120"/>
              </a:rPr>
              <a:t>AXIOS / MINH HỌA</a:t>
            </a:r>
            <a:endParaRPr lang="en-US" sz="1010" dirty="0"/>
          </a:p>
        </p:txBody>
      </p:sp>
      <p:sp>
        <p:nvSpPr>
          <p:cNvPr id="39" name="Shape 37"/>
          <p:cNvSpPr/>
          <p:nvPr/>
        </p:nvSpPr>
        <p:spPr>
          <a:xfrm>
            <a:off x="758952" y="4233672"/>
            <a:ext cx="7086600" cy="0"/>
          </a:xfrm>
          <a:prstGeom prst="line">
            <a:avLst/>
          </a:prstGeom>
          <a:noFill/>
          <a:ln w="8890">
            <a:solidFill>
              <a:srgbClr val="49627D"/>
            </a:solidFill>
            <a:prstDash val="solid"/>
          </a:ln>
        </p:spPr>
        <p:txBody>
          <a:bodyPr/>
          <a:lstStyle/>
          <a:p>
            <a:endParaRPr lang="en-US"/>
          </a:p>
        </p:txBody>
      </p:sp>
      <p:sp>
        <p:nvSpPr>
          <p:cNvPr id="40" name="Text 38"/>
          <p:cNvSpPr/>
          <p:nvPr/>
        </p:nvSpPr>
        <p:spPr>
          <a:xfrm>
            <a:off x="768096" y="4297680"/>
            <a:ext cx="7077456" cy="969264"/>
          </a:xfrm>
          <a:prstGeom prst="rect">
            <a:avLst/>
          </a:prstGeom>
          <a:noFill/>
          <a:ln/>
        </p:spPr>
        <p:txBody>
          <a:bodyPr wrap="square" lIns="0" tIns="0" rIns="0" bIns="0" rtlCol="0" anchor="t">
            <a:normAutofit/>
          </a:bodyPr>
          <a:lstStyle/>
          <a:p>
            <a:pPr marL="0" indent="0">
              <a:buNone/>
            </a:pPr>
            <a:r>
              <a:rPr lang="en-US" sz="1500" dirty="0">
                <a:solidFill>
                  <a:srgbClr val="F3F8FF"/>
                </a:solidFill>
                <a:latin typeface="Consolas" pitchFamily="34" charset="0"/>
                <a:ea typeface="Consolas" pitchFamily="34" charset="-122"/>
                <a:cs typeface="Consolas" pitchFamily="34" charset="-120"/>
              </a:rPr>
              <a:t>await axios.get("/api/users/profile", {</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  headers: { Authorization: `Bearer ${token}` }</a:t>
            </a:r>
            <a:endParaRPr lang="en-US" sz="1500" dirty="0"/>
          </a:p>
          <a:p>
            <a:pPr marL="0" indent="0">
              <a:buNone/>
            </a:pPr>
            <a:r>
              <a:rPr lang="en-US" sz="1500" dirty="0">
                <a:solidFill>
                  <a:srgbClr val="F3F8FF"/>
                </a:solidFill>
                <a:latin typeface="Consolas" pitchFamily="34" charset="0"/>
                <a:ea typeface="Consolas" pitchFamily="34" charset="-122"/>
                <a:cs typeface="Consolas" pitchFamily="34" charset="-120"/>
              </a:rPr>
              <a:t>});</a:t>
            </a:r>
            <a:endParaRPr lang="en-US" sz="1500" dirty="0"/>
          </a:p>
        </p:txBody>
      </p:sp>
      <p:sp>
        <p:nvSpPr>
          <p:cNvPr id="41" name="Shape 39"/>
          <p:cNvSpPr/>
          <p:nvPr/>
        </p:nvSpPr>
        <p:spPr>
          <a:xfrm>
            <a:off x="8302752" y="3840480"/>
            <a:ext cx="3310128" cy="1490472"/>
          </a:xfrm>
          <a:prstGeom prst="roundRect">
            <a:avLst>
              <a:gd name="adj" fmla="val 7975"/>
            </a:avLst>
          </a:prstGeom>
          <a:solidFill>
            <a:srgbClr val="FFF3D9"/>
          </a:solidFill>
          <a:ln w="11430">
            <a:solidFill>
              <a:srgbClr val="EED6A0"/>
            </a:solidFill>
            <a:prstDash val="solid"/>
          </a:ln>
        </p:spPr>
        <p:txBody>
          <a:bodyPr/>
          <a:lstStyle/>
          <a:p>
            <a:endParaRPr lang="en-US"/>
          </a:p>
        </p:txBody>
      </p:sp>
      <p:sp>
        <p:nvSpPr>
          <p:cNvPr id="42" name="Text 40"/>
          <p:cNvSpPr/>
          <p:nvPr/>
        </p:nvSpPr>
        <p:spPr>
          <a:xfrm>
            <a:off x="8485632" y="4059936"/>
            <a:ext cx="2962656" cy="310896"/>
          </a:xfrm>
          <a:prstGeom prst="rect">
            <a:avLst/>
          </a:prstGeom>
          <a:noFill/>
          <a:ln/>
        </p:spPr>
        <p:txBody>
          <a:bodyPr wrap="square" lIns="0" tIns="0" rIns="0" bIns="0" rtlCol="0" anchor="ctr">
            <a:normAutofit/>
          </a:bodyPr>
          <a:lstStyle/>
          <a:p>
            <a:pPr marL="0" indent="0">
              <a:buNone/>
            </a:pPr>
            <a:r>
              <a:rPr lang="en-US" sz="1420" dirty="0">
                <a:solidFill>
                  <a:srgbClr val="62738C"/>
                </a:solidFill>
                <a:latin typeface="Arial" pitchFamily="34" charset="0"/>
                <a:ea typeface="Arial" pitchFamily="34" charset="-122"/>
                <a:cs typeface="Arial" pitchFamily="34" charset="-120"/>
              </a:rPr>
              <a:t>API được bảo vệ:</a:t>
            </a:r>
            <a:endParaRPr lang="en-US" sz="1420" dirty="0"/>
          </a:p>
        </p:txBody>
      </p:sp>
      <p:sp>
        <p:nvSpPr>
          <p:cNvPr id="43" name="Text 41"/>
          <p:cNvSpPr/>
          <p:nvPr/>
        </p:nvSpPr>
        <p:spPr>
          <a:xfrm>
            <a:off x="8485632" y="4489704"/>
            <a:ext cx="2962656" cy="603504"/>
          </a:xfrm>
          <a:prstGeom prst="rect">
            <a:avLst/>
          </a:prstGeom>
          <a:noFill/>
          <a:ln/>
        </p:spPr>
        <p:txBody>
          <a:bodyPr wrap="square" lIns="0" tIns="0" rIns="0" bIns="0" rtlCol="0" anchor="ctr">
            <a:normAutofit/>
          </a:bodyPr>
          <a:lstStyle/>
          <a:p>
            <a:pPr marL="0" indent="0">
              <a:buNone/>
            </a:pPr>
            <a:r>
              <a:rPr lang="en-US" sz="1540" b="1" dirty="0">
                <a:solidFill>
                  <a:srgbClr val="15365E"/>
                </a:solidFill>
                <a:latin typeface="Arial" pitchFamily="34" charset="0"/>
                <a:ea typeface="Arial" pitchFamily="34" charset="-122"/>
                <a:cs typeface="Arial" pitchFamily="34" charset="-120"/>
              </a:rPr>
              <a:t>401  Không hợp lệ</a:t>
            </a:r>
            <a:endParaRPr lang="en-US" sz="1540" dirty="0"/>
          </a:p>
          <a:p>
            <a:pPr marL="0" indent="0">
              <a:buNone/>
            </a:pPr>
            <a:r>
              <a:rPr lang="en-US" sz="1540" b="1" dirty="0">
                <a:solidFill>
                  <a:srgbClr val="15365E"/>
                </a:solidFill>
                <a:latin typeface="Arial" pitchFamily="34" charset="0"/>
                <a:ea typeface="Arial" pitchFamily="34" charset="-122"/>
                <a:cs typeface="Arial" pitchFamily="34" charset="-120"/>
              </a:rPr>
              <a:t>403  Không đủ quyền</a:t>
            </a:r>
            <a:endParaRPr lang="en-US" sz="1540" dirty="0"/>
          </a:p>
        </p:txBody>
      </p:sp>
      <p:sp>
        <p:nvSpPr>
          <p:cNvPr id="44" name="Shape 42"/>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45" name="Text 43"/>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46" name="Text 44"/>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Frontend có thể ẩn nút, nhưng Backend mới là nơi quyết định có cho phép thao tác hay không.</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TRÌNH </a:t>
            </a:r>
            <a:r>
              <a:rPr lang="en-US" sz="1230" b="1" kern="0" spc="100">
                <a:solidFill>
                  <a:srgbClr val="B58A1A"/>
                </a:solidFill>
                <a:latin typeface="Arial" pitchFamily="34" charset="0"/>
                <a:ea typeface="Arial" pitchFamily="34" charset="-122"/>
                <a:cs typeface="Arial" pitchFamily="34" charset="-120"/>
              </a:rPr>
              <a:t>BACKEND   </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TÍCH HỢP</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Một lần upload Avatar – Toàn bộ luồng xử lý</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Kết hợp những gì vừa học thành một tính năng duy nhất.</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15 / 16    ·    3 phút</a:t>
            </a:r>
            <a:endParaRPr lang="en-US" sz="950" dirty="0"/>
          </a:p>
        </p:txBody>
      </p:sp>
      <p:sp>
        <p:nvSpPr>
          <p:cNvPr id="10" name="Shape 8"/>
          <p:cNvSpPr/>
          <p:nvPr/>
        </p:nvSpPr>
        <p:spPr>
          <a:xfrm>
            <a:off x="530352" y="2002536"/>
            <a:ext cx="214884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530352" y="2002536"/>
            <a:ext cx="54864" cy="1271016"/>
          </a:xfrm>
          <a:prstGeom prst="rect">
            <a:avLst/>
          </a:prstGeom>
          <a:solidFill>
            <a:srgbClr val="285CB2"/>
          </a:solidFill>
          <a:ln w="12700">
            <a:solidFill>
              <a:srgbClr val="285CB2">
                <a:alpha val="0"/>
              </a:srgbClr>
            </a:solidFill>
            <a:prstDash val="solid"/>
          </a:ln>
        </p:spPr>
        <p:txBody>
          <a:bodyPr/>
          <a:lstStyle/>
          <a:p>
            <a:endParaRPr lang="en-US"/>
          </a:p>
        </p:txBody>
      </p:sp>
      <p:sp>
        <p:nvSpPr>
          <p:cNvPr id="12" name="Text 10"/>
          <p:cNvSpPr/>
          <p:nvPr/>
        </p:nvSpPr>
        <p:spPr>
          <a:xfrm>
            <a:off x="658368" y="2112264"/>
            <a:ext cx="1901952"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REACT</a:t>
            </a:r>
            <a:endParaRPr lang="en-US" sz="1510" dirty="0"/>
          </a:p>
        </p:txBody>
      </p:sp>
      <p:sp>
        <p:nvSpPr>
          <p:cNvPr id="13" name="Text 11"/>
          <p:cNvSpPr/>
          <p:nvPr/>
        </p:nvSpPr>
        <p:spPr>
          <a:xfrm>
            <a:off x="658368" y="2441448"/>
            <a:ext cx="1892808" cy="758952"/>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Chọn ảnh + FormData</a:t>
            </a:r>
            <a:endParaRPr lang="en-US" sz="1190" dirty="0"/>
          </a:p>
        </p:txBody>
      </p:sp>
      <p:sp>
        <p:nvSpPr>
          <p:cNvPr id="14" name="Shape 12"/>
          <p:cNvSpPr/>
          <p:nvPr/>
        </p:nvSpPr>
        <p:spPr>
          <a:xfrm>
            <a:off x="630936" y="3429000"/>
            <a:ext cx="429768" cy="310896"/>
          </a:xfrm>
          <a:prstGeom prst="roundRect">
            <a:avLst>
              <a:gd name="adj" fmla="val 38235"/>
            </a:avLst>
          </a:prstGeom>
          <a:solidFill>
            <a:srgbClr val="FFF3D1"/>
          </a:solidFill>
          <a:ln w="11430">
            <a:solidFill>
              <a:srgbClr val="FFF3D1"/>
            </a:solidFill>
            <a:prstDash val="solid"/>
          </a:ln>
        </p:spPr>
        <p:txBody>
          <a:bodyPr/>
          <a:lstStyle/>
          <a:p>
            <a:endParaRPr lang="en-US"/>
          </a:p>
        </p:txBody>
      </p:sp>
      <p:sp>
        <p:nvSpPr>
          <p:cNvPr id="15" name="Text 13"/>
          <p:cNvSpPr/>
          <p:nvPr/>
        </p:nvSpPr>
        <p:spPr>
          <a:xfrm>
            <a:off x="740664" y="3429000"/>
            <a:ext cx="210312" cy="310896"/>
          </a:xfrm>
          <a:prstGeom prst="rect">
            <a:avLst/>
          </a:prstGeom>
          <a:noFill/>
          <a:ln/>
        </p:spPr>
        <p:txBody>
          <a:bodyPr wrap="square" lIns="0" tIns="0" rIns="0" bIns="0" rtlCol="0" anchor="ctr">
            <a:normAutofit/>
          </a:bodyPr>
          <a:lstStyle/>
          <a:p>
            <a:pPr marL="0" indent="0" algn="ctr">
              <a:buNone/>
            </a:pPr>
            <a:r>
              <a:rPr lang="en-US" sz="1200" b="1" dirty="0">
                <a:solidFill>
                  <a:srgbClr val="B58A1A"/>
                </a:solidFill>
                <a:latin typeface="Arial" pitchFamily="34" charset="0"/>
                <a:ea typeface="Arial" pitchFamily="34" charset="-122"/>
                <a:cs typeface="Arial" pitchFamily="34" charset="-120"/>
              </a:rPr>
              <a:t>1</a:t>
            </a:r>
            <a:endParaRPr lang="en-US" sz="1200" dirty="0"/>
          </a:p>
        </p:txBody>
      </p:sp>
      <p:sp>
        <p:nvSpPr>
          <p:cNvPr id="16" name="Shape 14"/>
          <p:cNvSpPr/>
          <p:nvPr/>
        </p:nvSpPr>
        <p:spPr>
          <a:xfrm>
            <a:off x="2688336" y="2651760"/>
            <a:ext cx="210312" cy="0"/>
          </a:xfrm>
          <a:prstGeom prst="line">
            <a:avLst/>
          </a:prstGeom>
          <a:noFill/>
          <a:ln w="25400">
            <a:solidFill>
              <a:srgbClr val="B58A1A"/>
            </a:solidFill>
            <a:prstDash val="solid"/>
            <a:tailEnd type="triangle"/>
          </a:ln>
        </p:spPr>
        <p:txBody>
          <a:bodyPr/>
          <a:lstStyle/>
          <a:p>
            <a:endParaRPr lang="en-US"/>
          </a:p>
        </p:txBody>
      </p:sp>
      <p:sp>
        <p:nvSpPr>
          <p:cNvPr id="17" name="Shape 15"/>
          <p:cNvSpPr/>
          <p:nvPr/>
        </p:nvSpPr>
        <p:spPr>
          <a:xfrm>
            <a:off x="2916936" y="2002536"/>
            <a:ext cx="214884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18" name="Shape 16"/>
          <p:cNvSpPr/>
          <p:nvPr/>
        </p:nvSpPr>
        <p:spPr>
          <a:xfrm>
            <a:off x="2916936" y="2002536"/>
            <a:ext cx="54864" cy="1271016"/>
          </a:xfrm>
          <a:prstGeom prst="rect">
            <a:avLst/>
          </a:prstGeom>
          <a:solidFill>
            <a:srgbClr val="285CB2"/>
          </a:solidFill>
          <a:ln w="12700">
            <a:solidFill>
              <a:srgbClr val="285CB2">
                <a:alpha val="0"/>
              </a:srgbClr>
            </a:solidFill>
            <a:prstDash val="solid"/>
          </a:ln>
        </p:spPr>
        <p:txBody>
          <a:bodyPr/>
          <a:lstStyle/>
          <a:p>
            <a:endParaRPr lang="en-US"/>
          </a:p>
        </p:txBody>
      </p:sp>
      <p:sp>
        <p:nvSpPr>
          <p:cNvPr id="19" name="Text 17"/>
          <p:cNvSpPr/>
          <p:nvPr/>
        </p:nvSpPr>
        <p:spPr>
          <a:xfrm>
            <a:off x="3044952" y="2112264"/>
            <a:ext cx="1901952"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AXIOS</a:t>
            </a:r>
            <a:endParaRPr lang="en-US" sz="1510" dirty="0"/>
          </a:p>
        </p:txBody>
      </p:sp>
      <p:sp>
        <p:nvSpPr>
          <p:cNvPr id="20" name="Text 18"/>
          <p:cNvSpPr/>
          <p:nvPr/>
        </p:nvSpPr>
        <p:spPr>
          <a:xfrm>
            <a:off x="3044952" y="2441448"/>
            <a:ext cx="1892808" cy="758952"/>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POST + Bearer JWT</a:t>
            </a:r>
            <a:endParaRPr lang="en-US" sz="1190" dirty="0"/>
          </a:p>
        </p:txBody>
      </p:sp>
      <p:sp>
        <p:nvSpPr>
          <p:cNvPr id="21" name="Shape 19"/>
          <p:cNvSpPr/>
          <p:nvPr/>
        </p:nvSpPr>
        <p:spPr>
          <a:xfrm>
            <a:off x="3017520" y="3429000"/>
            <a:ext cx="429768" cy="310896"/>
          </a:xfrm>
          <a:prstGeom prst="roundRect">
            <a:avLst>
              <a:gd name="adj" fmla="val 38235"/>
            </a:avLst>
          </a:prstGeom>
          <a:solidFill>
            <a:srgbClr val="FFF3D1"/>
          </a:solidFill>
          <a:ln w="11430">
            <a:solidFill>
              <a:srgbClr val="FFF3D1"/>
            </a:solidFill>
            <a:prstDash val="solid"/>
          </a:ln>
        </p:spPr>
        <p:txBody>
          <a:bodyPr/>
          <a:lstStyle/>
          <a:p>
            <a:endParaRPr lang="en-US"/>
          </a:p>
        </p:txBody>
      </p:sp>
      <p:sp>
        <p:nvSpPr>
          <p:cNvPr id="22" name="Text 20"/>
          <p:cNvSpPr/>
          <p:nvPr/>
        </p:nvSpPr>
        <p:spPr>
          <a:xfrm>
            <a:off x="3127248" y="3429000"/>
            <a:ext cx="210312" cy="310896"/>
          </a:xfrm>
          <a:prstGeom prst="rect">
            <a:avLst/>
          </a:prstGeom>
          <a:noFill/>
          <a:ln/>
        </p:spPr>
        <p:txBody>
          <a:bodyPr wrap="square" lIns="0" tIns="0" rIns="0" bIns="0" rtlCol="0" anchor="ctr">
            <a:normAutofit/>
          </a:bodyPr>
          <a:lstStyle/>
          <a:p>
            <a:pPr marL="0" indent="0" algn="ctr">
              <a:buNone/>
            </a:pPr>
            <a:r>
              <a:rPr lang="en-US" sz="1200" b="1" dirty="0">
                <a:solidFill>
                  <a:srgbClr val="B58A1A"/>
                </a:solidFill>
                <a:latin typeface="Arial" pitchFamily="34" charset="0"/>
                <a:ea typeface="Arial" pitchFamily="34" charset="-122"/>
                <a:cs typeface="Arial" pitchFamily="34" charset="-120"/>
              </a:rPr>
              <a:t>2</a:t>
            </a:r>
            <a:endParaRPr lang="en-US" sz="1200" dirty="0"/>
          </a:p>
        </p:txBody>
      </p:sp>
      <p:sp>
        <p:nvSpPr>
          <p:cNvPr id="23" name="Shape 21"/>
          <p:cNvSpPr/>
          <p:nvPr/>
        </p:nvSpPr>
        <p:spPr>
          <a:xfrm>
            <a:off x="5074920" y="2651760"/>
            <a:ext cx="210312" cy="0"/>
          </a:xfrm>
          <a:prstGeom prst="line">
            <a:avLst/>
          </a:prstGeom>
          <a:noFill/>
          <a:ln w="25400">
            <a:solidFill>
              <a:srgbClr val="B58A1A"/>
            </a:solidFill>
            <a:prstDash val="solid"/>
            <a:tailEnd type="triangle"/>
          </a:ln>
        </p:spPr>
        <p:txBody>
          <a:bodyPr/>
          <a:lstStyle/>
          <a:p>
            <a:endParaRPr lang="en-US"/>
          </a:p>
        </p:txBody>
      </p:sp>
      <p:sp>
        <p:nvSpPr>
          <p:cNvPr id="24" name="Shape 22"/>
          <p:cNvSpPr/>
          <p:nvPr/>
        </p:nvSpPr>
        <p:spPr>
          <a:xfrm>
            <a:off x="5303520" y="2002536"/>
            <a:ext cx="214884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25" name="Shape 23"/>
          <p:cNvSpPr/>
          <p:nvPr/>
        </p:nvSpPr>
        <p:spPr>
          <a:xfrm>
            <a:off x="5303520" y="2002536"/>
            <a:ext cx="54864" cy="1271016"/>
          </a:xfrm>
          <a:prstGeom prst="rect">
            <a:avLst/>
          </a:prstGeom>
          <a:solidFill>
            <a:srgbClr val="16A2BE"/>
          </a:solidFill>
          <a:ln w="12700">
            <a:solidFill>
              <a:srgbClr val="16A2BE">
                <a:alpha val="0"/>
              </a:srgbClr>
            </a:solidFill>
            <a:prstDash val="solid"/>
          </a:ln>
        </p:spPr>
        <p:txBody>
          <a:bodyPr/>
          <a:lstStyle/>
          <a:p>
            <a:endParaRPr lang="en-US"/>
          </a:p>
        </p:txBody>
      </p:sp>
      <p:sp>
        <p:nvSpPr>
          <p:cNvPr id="26" name="Text 24"/>
          <p:cNvSpPr/>
          <p:nvPr/>
        </p:nvSpPr>
        <p:spPr>
          <a:xfrm>
            <a:off x="5431536" y="2112264"/>
            <a:ext cx="1901952"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EXPRESS</a:t>
            </a:r>
            <a:endParaRPr lang="en-US" sz="1510" dirty="0"/>
          </a:p>
        </p:txBody>
      </p:sp>
      <p:sp>
        <p:nvSpPr>
          <p:cNvPr id="27" name="Text 25"/>
          <p:cNvSpPr/>
          <p:nvPr/>
        </p:nvSpPr>
        <p:spPr>
          <a:xfrm>
            <a:off x="5431536" y="2441448"/>
            <a:ext cx="1892808" cy="758952"/>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isAuth → Multer</a:t>
            </a:r>
            <a:endParaRPr lang="en-US" sz="1190" dirty="0"/>
          </a:p>
        </p:txBody>
      </p:sp>
      <p:sp>
        <p:nvSpPr>
          <p:cNvPr id="28" name="Shape 26"/>
          <p:cNvSpPr/>
          <p:nvPr/>
        </p:nvSpPr>
        <p:spPr>
          <a:xfrm>
            <a:off x="5404104" y="3429000"/>
            <a:ext cx="429768" cy="310896"/>
          </a:xfrm>
          <a:prstGeom prst="roundRect">
            <a:avLst>
              <a:gd name="adj" fmla="val 38235"/>
            </a:avLst>
          </a:prstGeom>
          <a:solidFill>
            <a:srgbClr val="FFF3D1"/>
          </a:solidFill>
          <a:ln w="11430">
            <a:solidFill>
              <a:srgbClr val="FFF3D1"/>
            </a:solidFill>
            <a:prstDash val="solid"/>
          </a:ln>
        </p:spPr>
        <p:txBody>
          <a:bodyPr/>
          <a:lstStyle/>
          <a:p>
            <a:endParaRPr lang="en-US"/>
          </a:p>
        </p:txBody>
      </p:sp>
      <p:sp>
        <p:nvSpPr>
          <p:cNvPr id="29" name="Text 27"/>
          <p:cNvSpPr/>
          <p:nvPr/>
        </p:nvSpPr>
        <p:spPr>
          <a:xfrm>
            <a:off x="5513832" y="3429000"/>
            <a:ext cx="210312" cy="310896"/>
          </a:xfrm>
          <a:prstGeom prst="rect">
            <a:avLst/>
          </a:prstGeom>
          <a:noFill/>
          <a:ln/>
        </p:spPr>
        <p:txBody>
          <a:bodyPr wrap="square" lIns="0" tIns="0" rIns="0" bIns="0" rtlCol="0" anchor="ctr">
            <a:normAutofit/>
          </a:bodyPr>
          <a:lstStyle/>
          <a:p>
            <a:pPr marL="0" indent="0" algn="ctr">
              <a:buNone/>
            </a:pPr>
            <a:r>
              <a:rPr lang="en-US" sz="1200" b="1" dirty="0">
                <a:solidFill>
                  <a:srgbClr val="B58A1A"/>
                </a:solidFill>
                <a:latin typeface="Arial" pitchFamily="34" charset="0"/>
                <a:ea typeface="Arial" pitchFamily="34" charset="-122"/>
                <a:cs typeface="Arial" pitchFamily="34" charset="-120"/>
              </a:rPr>
              <a:t>3</a:t>
            </a:r>
            <a:endParaRPr lang="en-US" sz="1200" dirty="0"/>
          </a:p>
        </p:txBody>
      </p:sp>
      <p:sp>
        <p:nvSpPr>
          <p:cNvPr id="30" name="Shape 28"/>
          <p:cNvSpPr/>
          <p:nvPr/>
        </p:nvSpPr>
        <p:spPr>
          <a:xfrm>
            <a:off x="7461504" y="2651760"/>
            <a:ext cx="210312" cy="0"/>
          </a:xfrm>
          <a:prstGeom prst="line">
            <a:avLst/>
          </a:prstGeom>
          <a:noFill/>
          <a:ln w="25400">
            <a:solidFill>
              <a:srgbClr val="B58A1A"/>
            </a:solidFill>
            <a:prstDash val="solid"/>
            <a:tailEnd type="triangle"/>
          </a:ln>
        </p:spPr>
        <p:txBody>
          <a:bodyPr/>
          <a:lstStyle/>
          <a:p>
            <a:endParaRPr lang="en-US"/>
          </a:p>
        </p:txBody>
      </p:sp>
      <p:sp>
        <p:nvSpPr>
          <p:cNvPr id="31" name="Shape 29"/>
          <p:cNvSpPr/>
          <p:nvPr/>
        </p:nvSpPr>
        <p:spPr>
          <a:xfrm>
            <a:off x="7690104" y="2002536"/>
            <a:ext cx="214884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32" name="Shape 30"/>
          <p:cNvSpPr/>
          <p:nvPr/>
        </p:nvSpPr>
        <p:spPr>
          <a:xfrm>
            <a:off x="7690104" y="2002536"/>
            <a:ext cx="54864" cy="1271016"/>
          </a:xfrm>
          <a:prstGeom prst="rect">
            <a:avLst/>
          </a:prstGeom>
          <a:solidFill>
            <a:srgbClr val="21764E"/>
          </a:solidFill>
          <a:ln w="12700">
            <a:solidFill>
              <a:srgbClr val="21764E">
                <a:alpha val="0"/>
              </a:srgbClr>
            </a:solidFill>
            <a:prstDash val="solid"/>
          </a:ln>
        </p:spPr>
        <p:txBody>
          <a:bodyPr/>
          <a:lstStyle/>
          <a:p>
            <a:endParaRPr lang="en-US"/>
          </a:p>
        </p:txBody>
      </p:sp>
      <p:sp>
        <p:nvSpPr>
          <p:cNvPr id="33" name="Text 31"/>
          <p:cNvSpPr/>
          <p:nvPr/>
        </p:nvSpPr>
        <p:spPr>
          <a:xfrm>
            <a:off x="7818120" y="2112264"/>
            <a:ext cx="1901952"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SERVICE</a:t>
            </a:r>
            <a:endParaRPr lang="en-US" sz="1510" dirty="0"/>
          </a:p>
        </p:txBody>
      </p:sp>
      <p:sp>
        <p:nvSpPr>
          <p:cNvPr id="34" name="Text 32"/>
          <p:cNvSpPr/>
          <p:nvPr/>
        </p:nvSpPr>
        <p:spPr>
          <a:xfrm>
            <a:off x="7818120" y="2441448"/>
            <a:ext cx="1892808" cy="758952"/>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Lưu file + cập nhật URL</a:t>
            </a:r>
            <a:endParaRPr lang="en-US" sz="1190" dirty="0"/>
          </a:p>
        </p:txBody>
      </p:sp>
      <p:sp>
        <p:nvSpPr>
          <p:cNvPr id="35" name="Shape 33"/>
          <p:cNvSpPr/>
          <p:nvPr/>
        </p:nvSpPr>
        <p:spPr>
          <a:xfrm>
            <a:off x="7790688" y="3429000"/>
            <a:ext cx="429768" cy="310896"/>
          </a:xfrm>
          <a:prstGeom prst="roundRect">
            <a:avLst>
              <a:gd name="adj" fmla="val 38235"/>
            </a:avLst>
          </a:prstGeom>
          <a:solidFill>
            <a:srgbClr val="FFF3D1"/>
          </a:solidFill>
          <a:ln w="11430">
            <a:solidFill>
              <a:srgbClr val="FFF3D1"/>
            </a:solidFill>
            <a:prstDash val="solid"/>
          </a:ln>
        </p:spPr>
        <p:txBody>
          <a:bodyPr/>
          <a:lstStyle/>
          <a:p>
            <a:endParaRPr lang="en-US"/>
          </a:p>
        </p:txBody>
      </p:sp>
      <p:sp>
        <p:nvSpPr>
          <p:cNvPr id="36" name="Text 34"/>
          <p:cNvSpPr/>
          <p:nvPr/>
        </p:nvSpPr>
        <p:spPr>
          <a:xfrm>
            <a:off x="7900416" y="3429000"/>
            <a:ext cx="210312" cy="310896"/>
          </a:xfrm>
          <a:prstGeom prst="rect">
            <a:avLst/>
          </a:prstGeom>
          <a:noFill/>
          <a:ln/>
        </p:spPr>
        <p:txBody>
          <a:bodyPr wrap="square" lIns="0" tIns="0" rIns="0" bIns="0" rtlCol="0" anchor="ctr">
            <a:normAutofit/>
          </a:bodyPr>
          <a:lstStyle/>
          <a:p>
            <a:pPr marL="0" indent="0" algn="ctr">
              <a:buNone/>
            </a:pPr>
            <a:r>
              <a:rPr lang="en-US" sz="1200" b="1" dirty="0">
                <a:solidFill>
                  <a:srgbClr val="B58A1A"/>
                </a:solidFill>
                <a:latin typeface="Arial" pitchFamily="34" charset="0"/>
                <a:ea typeface="Arial" pitchFamily="34" charset="-122"/>
                <a:cs typeface="Arial" pitchFamily="34" charset="-120"/>
              </a:rPr>
              <a:t>4</a:t>
            </a:r>
            <a:endParaRPr lang="en-US" sz="1200" dirty="0"/>
          </a:p>
        </p:txBody>
      </p:sp>
      <p:sp>
        <p:nvSpPr>
          <p:cNvPr id="37" name="Shape 35"/>
          <p:cNvSpPr/>
          <p:nvPr/>
        </p:nvSpPr>
        <p:spPr>
          <a:xfrm>
            <a:off x="9848088" y="2651760"/>
            <a:ext cx="210312" cy="0"/>
          </a:xfrm>
          <a:prstGeom prst="line">
            <a:avLst/>
          </a:prstGeom>
          <a:noFill/>
          <a:ln w="25400">
            <a:solidFill>
              <a:srgbClr val="B58A1A"/>
            </a:solidFill>
            <a:prstDash val="solid"/>
            <a:tailEnd type="triangle"/>
          </a:ln>
        </p:spPr>
        <p:txBody>
          <a:bodyPr/>
          <a:lstStyle/>
          <a:p>
            <a:endParaRPr lang="en-US"/>
          </a:p>
        </p:txBody>
      </p:sp>
      <p:sp>
        <p:nvSpPr>
          <p:cNvPr id="38" name="Shape 36"/>
          <p:cNvSpPr/>
          <p:nvPr/>
        </p:nvSpPr>
        <p:spPr>
          <a:xfrm>
            <a:off x="10076688" y="2002536"/>
            <a:ext cx="2148840" cy="1271016"/>
          </a:xfrm>
          <a:prstGeom prst="roundRect">
            <a:avLst>
              <a:gd name="adj" fmla="val 9353"/>
            </a:avLst>
          </a:prstGeom>
          <a:solidFill>
            <a:srgbClr val="FFFFFF"/>
          </a:solidFill>
          <a:ln w="11430">
            <a:solidFill>
              <a:srgbClr val="DCE5F1"/>
            </a:solidFill>
            <a:prstDash val="solid"/>
          </a:ln>
        </p:spPr>
        <p:txBody>
          <a:bodyPr/>
          <a:lstStyle/>
          <a:p>
            <a:endParaRPr lang="en-US"/>
          </a:p>
        </p:txBody>
      </p:sp>
      <p:sp>
        <p:nvSpPr>
          <p:cNvPr id="39" name="Shape 37"/>
          <p:cNvSpPr/>
          <p:nvPr/>
        </p:nvSpPr>
        <p:spPr>
          <a:xfrm>
            <a:off x="10076688" y="2002536"/>
            <a:ext cx="54864" cy="1271016"/>
          </a:xfrm>
          <a:prstGeom prst="rect">
            <a:avLst/>
          </a:prstGeom>
          <a:solidFill>
            <a:srgbClr val="285CB2"/>
          </a:solidFill>
          <a:ln w="12700">
            <a:solidFill>
              <a:srgbClr val="285CB2">
                <a:alpha val="0"/>
              </a:srgbClr>
            </a:solidFill>
            <a:prstDash val="solid"/>
          </a:ln>
        </p:spPr>
        <p:txBody>
          <a:bodyPr/>
          <a:lstStyle/>
          <a:p>
            <a:endParaRPr lang="en-US"/>
          </a:p>
        </p:txBody>
      </p:sp>
      <p:sp>
        <p:nvSpPr>
          <p:cNvPr id="40" name="Text 38"/>
          <p:cNvSpPr/>
          <p:nvPr/>
        </p:nvSpPr>
        <p:spPr>
          <a:xfrm>
            <a:off x="10204704" y="2112264"/>
            <a:ext cx="1901952" cy="283464"/>
          </a:xfrm>
          <a:prstGeom prst="rect">
            <a:avLst/>
          </a:prstGeom>
          <a:noFill/>
          <a:ln/>
        </p:spPr>
        <p:txBody>
          <a:bodyPr wrap="square" lIns="0" tIns="0" rIns="0" bIns="0" rtlCol="0" anchor="ctr">
            <a:normAutofit/>
          </a:bodyPr>
          <a:lstStyle/>
          <a:p>
            <a:pPr marL="0" indent="0">
              <a:buNone/>
            </a:pPr>
            <a:r>
              <a:rPr lang="en-US" sz="1510" b="1" dirty="0">
                <a:solidFill>
                  <a:srgbClr val="15365E"/>
                </a:solidFill>
                <a:latin typeface="Arial" pitchFamily="34" charset="0"/>
                <a:ea typeface="Arial" pitchFamily="34" charset="-122"/>
                <a:cs typeface="Arial" pitchFamily="34" charset="-120"/>
              </a:rPr>
              <a:t>UI</a:t>
            </a:r>
            <a:endParaRPr lang="en-US" sz="1510" dirty="0"/>
          </a:p>
        </p:txBody>
      </p:sp>
      <p:sp>
        <p:nvSpPr>
          <p:cNvPr id="41" name="Text 39"/>
          <p:cNvSpPr/>
          <p:nvPr/>
        </p:nvSpPr>
        <p:spPr>
          <a:xfrm>
            <a:off x="10204704" y="2441448"/>
            <a:ext cx="1892808" cy="758952"/>
          </a:xfrm>
          <a:prstGeom prst="rect">
            <a:avLst/>
          </a:prstGeom>
          <a:noFill/>
          <a:ln/>
        </p:spPr>
        <p:txBody>
          <a:bodyPr wrap="square" lIns="0" tIns="0" rIns="0" bIns="0" rtlCol="0" anchor="t">
            <a:normAutofit/>
          </a:bodyPr>
          <a:lstStyle/>
          <a:p>
            <a:pPr marL="0" indent="0">
              <a:buNone/>
            </a:pPr>
            <a:r>
              <a:rPr lang="en-US" sz="1190" dirty="0">
                <a:solidFill>
                  <a:srgbClr val="62738C"/>
                </a:solidFill>
                <a:latin typeface="Arial" pitchFamily="34" charset="0"/>
                <a:ea typeface="Arial" pitchFamily="34" charset="-122"/>
                <a:cs typeface="Arial" pitchFamily="34" charset="-120"/>
              </a:rPr>
              <a:t>Nhận URL, hiển thị ảnh</a:t>
            </a:r>
            <a:endParaRPr lang="en-US" sz="1190" dirty="0"/>
          </a:p>
        </p:txBody>
      </p:sp>
      <p:sp>
        <p:nvSpPr>
          <p:cNvPr id="42" name="Shape 40"/>
          <p:cNvSpPr/>
          <p:nvPr/>
        </p:nvSpPr>
        <p:spPr>
          <a:xfrm>
            <a:off x="10177272" y="3429000"/>
            <a:ext cx="429768" cy="310896"/>
          </a:xfrm>
          <a:prstGeom prst="roundRect">
            <a:avLst>
              <a:gd name="adj" fmla="val 38235"/>
            </a:avLst>
          </a:prstGeom>
          <a:solidFill>
            <a:srgbClr val="FFF3D1"/>
          </a:solidFill>
          <a:ln w="11430">
            <a:solidFill>
              <a:srgbClr val="FFF3D1"/>
            </a:solidFill>
            <a:prstDash val="solid"/>
          </a:ln>
        </p:spPr>
        <p:txBody>
          <a:bodyPr/>
          <a:lstStyle/>
          <a:p>
            <a:endParaRPr lang="en-US"/>
          </a:p>
        </p:txBody>
      </p:sp>
      <p:sp>
        <p:nvSpPr>
          <p:cNvPr id="43" name="Text 41"/>
          <p:cNvSpPr/>
          <p:nvPr/>
        </p:nvSpPr>
        <p:spPr>
          <a:xfrm>
            <a:off x="10287000" y="3429000"/>
            <a:ext cx="210312" cy="310896"/>
          </a:xfrm>
          <a:prstGeom prst="rect">
            <a:avLst/>
          </a:prstGeom>
          <a:noFill/>
          <a:ln/>
        </p:spPr>
        <p:txBody>
          <a:bodyPr wrap="square" lIns="0" tIns="0" rIns="0" bIns="0" rtlCol="0" anchor="ctr">
            <a:normAutofit/>
          </a:bodyPr>
          <a:lstStyle/>
          <a:p>
            <a:pPr marL="0" indent="0" algn="ctr">
              <a:buNone/>
            </a:pPr>
            <a:r>
              <a:rPr lang="en-US" sz="1200" b="1" dirty="0">
                <a:solidFill>
                  <a:srgbClr val="B58A1A"/>
                </a:solidFill>
                <a:latin typeface="Arial" pitchFamily="34" charset="0"/>
                <a:ea typeface="Arial" pitchFamily="34" charset="-122"/>
                <a:cs typeface="Arial" pitchFamily="34" charset="-120"/>
              </a:rPr>
              <a:t>5</a:t>
            </a:r>
            <a:endParaRPr lang="en-US" sz="1200" dirty="0"/>
          </a:p>
        </p:txBody>
      </p:sp>
      <p:sp>
        <p:nvSpPr>
          <p:cNvPr id="44" name="Shape 42"/>
          <p:cNvSpPr/>
          <p:nvPr/>
        </p:nvSpPr>
        <p:spPr>
          <a:xfrm>
            <a:off x="548640" y="3977640"/>
            <a:ext cx="5349240" cy="1353312"/>
          </a:xfrm>
          <a:prstGeom prst="roundRect">
            <a:avLst>
              <a:gd name="adj" fmla="val 8784"/>
            </a:avLst>
          </a:prstGeom>
          <a:solidFill>
            <a:srgbClr val="E8F1FE"/>
          </a:solidFill>
          <a:ln w="11430">
            <a:solidFill>
              <a:srgbClr val="DCE5F1"/>
            </a:solidFill>
            <a:prstDash val="solid"/>
          </a:ln>
        </p:spPr>
        <p:txBody>
          <a:bodyPr/>
          <a:lstStyle/>
          <a:p>
            <a:endParaRPr lang="en-US"/>
          </a:p>
        </p:txBody>
      </p:sp>
      <p:sp>
        <p:nvSpPr>
          <p:cNvPr id="45" name="Text 43"/>
          <p:cNvSpPr/>
          <p:nvPr/>
        </p:nvSpPr>
        <p:spPr>
          <a:xfrm>
            <a:off x="777240" y="4279392"/>
            <a:ext cx="4846320" cy="310896"/>
          </a:xfrm>
          <a:prstGeom prst="rect">
            <a:avLst/>
          </a:prstGeom>
          <a:noFill/>
          <a:ln/>
        </p:spPr>
        <p:txBody>
          <a:bodyPr wrap="square" lIns="0" tIns="0" rIns="0" bIns="0" rtlCol="0" anchor="ctr">
            <a:normAutofit/>
          </a:bodyPr>
          <a:lstStyle/>
          <a:p>
            <a:pPr marL="0" indent="0">
              <a:buNone/>
            </a:pPr>
            <a:r>
              <a:rPr lang="en-US" sz="1700" b="1" dirty="0">
                <a:solidFill>
                  <a:srgbClr val="15365E"/>
                </a:solidFill>
                <a:latin typeface="Arial" pitchFamily="34" charset="0"/>
                <a:ea typeface="Arial" pitchFamily="34" charset="-122"/>
                <a:cs typeface="Arial" pitchFamily="34" charset="-120"/>
              </a:rPr>
              <a:t>FILE  →  public/uploads/avatar.jpg</a:t>
            </a:r>
            <a:endParaRPr lang="en-US" sz="1700" dirty="0"/>
          </a:p>
        </p:txBody>
      </p:sp>
      <p:sp>
        <p:nvSpPr>
          <p:cNvPr id="46" name="Text 44"/>
          <p:cNvSpPr/>
          <p:nvPr/>
        </p:nvSpPr>
        <p:spPr>
          <a:xfrm>
            <a:off x="777240" y="4727448"/>
            <a:ext cx="4828032" cy="265176"/>
          </a:xfrm>
          <a:prstGeom prst="rect">
            <a:avLst/>
          </a:prstGeom>
          <a:noFill/>
          <a:ln/>
        </p:spPr>
        <p:txBody>
          <a:bodyPr wrap="square" lIns="0" tIns="0" rIns="0" bIns="0" rtlCol="0" anchor="ctr">
            <a:normAutofit/>
          </a:bodyPr>
          <a:lstStyle/>
          <a:p>
            <a:pPr marL="0" indent="0">
              <a:buNone/>
            </a:pPr>
            <a:r>
              <a:rPr lang="en-US" sz="1300" dirty="0">
                <a:solidFill>
                  <a:srgbClr val="62738C"/>
                </a:solidFill>
                <a:latin typeface="Arial" pitchFamily="34" charset="0"/>
                <a:ea typeface="Arial" pitchFamily="34" charset="-122"/>
                <a:cs typeface="Arial" pitchFamily="34" charset="-120"/>
              </a:rPr>
              <a:t>Thư mục lưu file vật lý</a:t>
            </a:r>
            <a:endParaRPr lang="en-US" sz="1300" dirty="0"/>
          </a:p>
        </p:txBody>
      </p:sp>
      <p:sp>
        <p:nvSpPr>
          <p:cNvPr id="47" name="Shape 45"/>
          <p:cNvSpPr/>
          <p:nvPr/>
        </p:nvSpPr>
        <p:spPr>
          <a:xfrm>
            <a:off x="6199632" y="3977640"/>
            <a:ext cx="5413248" cy="1353312"/>
          </a:xfrm>
          <a:prstGeom prst="roundRect">
            <a:avLst>
              <a:gd name="adj" fmla="val 8784"/>
            </a:avLst>
          </a:prstGeom>
          <a:solidFill>
            <a:srgbClr val="E2F5EC"/>
          </a:solidFill>
          <a:ln w="11430">
            <a:solidFill>
              <a:srgbClr val="DCE5F1"/>
            </a:solidFill>
            <a:prstDash val="solid"/>
          </a:ln>
        </p:spPr>
        <p:txBody>
          <a:bodyPr/>
          <a:lstStyle/>
          <a:p>
            <a:endParaRPr lang="en-US"/>
          </a:p>
        </p:txBody>
      </p:sp>
      <p:sp>
        <p:nvSpPr>
          <p:cNvPr id="48" name="Text 46"/>
          <p:cNvSpPr/>
          <p:nvPr/>
        </p:nvSpPr>
        <p:spPr>
          <a:xfrm>
            <a:off x="6409944" y="4279392"/>
            <a:ext cx="4956048" cy="310896"/>
          </a:xfrm>
          <a:prstGeom prst="rect">
            <a:avLst/>
          </a:prstGeom>
          <a:noFill/>
          <a:ln/>
        </p:spPr>
        <p:txBody>
          <a:bodyPr wrap="square" lIns="0" tIns="0" rIns="0" bIns="0" rtlCol="0" anchor="ctr">
            <a:normAutofit/>
          </a:bodyPr>
          <a:lstStyle/>
          <a:p>
            <a:pPr marL="0" indent="0">
              <a:buNone/>
            </a:pPr>
            <a:r>
              <a:rPr lang="en-US" sz="1650" b="1" dirty="0">
                <a:solidFill>
                  <a:srgbClr val="15365E"/>
                </a:solidFill>
                <a:latin typeface="Arial" pitchFamily="34" charset="0"/>
                <a:ea typeface="Arial" pitchFamily="34" charset="-122"/>
                <a:cs typeface="Arial" pitchFamily="34" charset="-120"/>
              </a:rPr>
              <a:t>SQL SERVER  →  /uploads/avatar.jpg</a:t>
            </a:r>
            <a:endParaRPr lang="en-US" sz="1650" dirty="0"/>
          </a:p>
        </p:txBody>
      </p:sp>
      <p:sp>
        <p:nvSpPr>
          <p:cNvPr id="49" name="Text 47"/>
          <p:cNvSpPr/>
          <p:nvPr/>
        </p:nvSpPr>
        <p:spPr>
          <a:xfrm>
            <a:off x="6428232" y="4727448"/>
            <a:ext cx="4809744" cy="265176"/>
          </a:xfrm>
          <a:prstGeom prst="rect">
            <a:avLst/>
          </a:prstGeom>
          <a:noFill/>
          <a:ln/>
        </p:spPr>
        <p:txBody>
          <a:bodyPr wrap="square" lIns="0" tIns="0" rIns="0" bIns="0" rtlCol="0" anchor="ctr">
            <a:normAutofit/>
          </a:bodyPr>
          <a:lstStyle/>
          <a:p>
            <a:pPr marL="0" indent="0">
              <a:buNone/>
            </a:pPr>
            <a:r>
              <a:rPr lang="en-US" sz="1300" dirty="0">
                <a:solidFill>
                  <a:srgbClr val="62738C"/>
                </a:solidFill>
                <a:latin typeface="Arial" pitchFamily="34" charset="0"/>
                <a:ea typeface="Arial" pitchFamily="34" charset="-122"/>
                <a:cs typeface="Arial" pitchFamily="34" charset="-120"/>
              </a:rPr>
              <a:t>Cột avatarUrl của User đã xác thực</a:t>
            </a:r>
            <a:endParaRPr lang="en-US" sz="1300" dirty="0"/>
          </a:p>
        </p:txBody>
      </p:sp>
      <p:sp>
        <p:nvSpPr>
          <p:cNvPr id="50" name="Shape 48"/>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51" name="Text 49"/>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52" name="Text 50"/>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Thành công phải kiểm chứng ở cả giao diện, thư mục file và Database.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86868" cy="6858000"/>
          </a:xfrm>
          <a:prstGeom prst="rect">
            <a:avLst/>
          </a:prstGeom>
          <a:solidFill>
            <a:srgbClr val="B58A1A"/>
          </a:solidFill>
          <a:ln w="12700">
            <a:solidFill>
              <a:srgbClr val="B58A1A">
                <a:alpha val="0"/>
              </a:srgbClr>
            </a:solidFill>
            <a:prstDash val="solid"/>
          </a:ln>
        </p:spPr>
        <p:txBody>
          <a:bodyPr/>
          <a:lstStyle/>
          <a:p>
            <a:endParaRPr lang="en-US"/>
          </a:p>
        </p:txBody>
      </p:sp>
      <p:sp>
        <p:nvSpPr>
          <p:cNvPr id="3" name="Text 1"/>
          <p:cNvSpPr/>
          <p:nvPr/>
        </p:nvSpPr>
        <p:spPr>
          <a:xfrm>
            <a:off x="466344" y="292608"/>
            <a:ext cx="6583680" cy="228600"/>
          </a:xfrm>
          <a:prstGeom prst="rect">
            <a:avLst/>
          </a:prstGeom>
          <a:noFill/>
          <a:ln/>
        </p:spPr>
        <p:txBody>
          <a:bodyPr wrap="square" lIns="0" tIns="0" rIns="0" bIns="0" rtlCol="0" anchor="ctr">
            <a:normAutofit/>
          </a:bodyPr>
          <a:lstStyle/>
          <a:p>
            <a:pPr marL="0" indent="0">
              <a:buNone/>
            </a:pPr>
            <a:r>
              <a:rPr lang="en-US" sz="1230" b="1" kern="0" spc="100" dirty="0">
                <a:solidFill>
                  <a:srgbClr val="B58A1A"/>
                </a:solidFill>
                <a:latin typeface="Arial" pitchFamily="34" charset="0"/>
                <a:ea typeface="Arial" pitchFamily="34" charset="-122"/>
                <a:cs typeface="Arial" pitchFamily="34" charset="-120"/>
              </a:rPr>
              <a:t>LẬP TRÌNH </a:t>
            </a:r>
            <a:r>
              <a:rPr lang="en-US" sz="1230" b="1" kern="0" spc="100">
                <a:solidFill>
                  <a:srgbClr val="B58A1A"/>
                </a:solidFill>
                <a:latin typeface="Arial" pitchFamily="34" charset="0"/>
                <a:ea typeface="Arial" pitchFamily="34" charset="-122"/>
                <a:cs typeface="Arial" pitchFamily="34" charset="-120"/>
              </a:rPr>
              <a:t>BACKEND   </a:t>
            </a:r>
            <a:endParaRPr lang="en-US" sz="1230" dirty="0"/>
          </a:p>
        </p:txBody>
      </p:sp>
      <p:sp>
        <p:nvSpPr>
          <p:cNvPr id="4" name="Text 2"/>
          <p:cNvSpPr/>
          <p:nvPr/>
        </p:nvSpPr>
        <p:spPr>
          <a:xfrm>
            <a:off x="9144000" y="310896"/>
            <a:ext cx="2560320" cy="210312"/>
          </a:xfrm>
          <a:prstGeom prst="rect">
            <a:avLst/>
          </a:prstGeom>
          <a:noFill/>
          <a:ln/>
        </p:spPr>
        <p:txBody>
          <a:bodyPr wrap="square" lIns="0" tIns="0" rIns="0" bIns="0" rtlCol="0" anchor="ctr">
            <a:normAutofit/>
          </a:bodyPr>
          <a:lstStyle/>
          <a:p>
            <a:pPr marL="0" indent="0" algn="r">
              <a:buNone/>
            </a:pPr>
            <a:r>
              <a:rPr lang="en-US" sz="1100" b="1" dirty="0">
                <a:solidFill>
                  <a:srgbClr val="62738C"/>
                </a:solidFill>
                <a:latin typeface="Arial" pitchFamily="34" charset="0"/>
                <a:ea typeface="Arial" pitchFamily="34" charset="-122"/>
                <a:cs typeface="Arial" pitchFamily="34" charset="-120"/>
              </a:rPr>
              <a:t>TỔNG KẾT</a:t>
            </a:r>
            <a:endParaRPr lang="en-US" sz="1100" dirty="0"/>
          </a:p>
        </p:txBody>
      </p:sp>
      <p:sp>
        <p:nvSpPr>
          <p:cNvPr id="5" name="Text 3"/>
          <p:cNvSpPr/>
          <p:nvPr/>
        </p:nvSpPr>
        <p:spPr>
          <a:xfrm>
            <a:off x="466344" y="713232"/>
            <a:ext cx="11155680" cy="530352"/>
          </a:xfrm>
          <a:prstGeom prst="rect">
            <a:avLst/>
          </a:prstGeom>
          <a:noFill/>
          <a:ln/>
        </p:spPr>
        <p:txBody>
          <a:bodyPr wrap="square" lIns="0" tIns="0" rIns="0" bIns="0" rtlCol="0" anchor="ctr">
            <a:normAutofit/>
          </a:bodyPr>
          <a:lstStyle/>
          <a:p>
            <a:pPr marL="0" indent="0">
              <a:buNone/>
            </a:pPr>
            <a:r>
              <a:rPr lang="en-US" sz="2950" b="1" dirty="0">
                <a:solidFill>
                  <a:srgbClr val="15365E"/>
                </a:solidFill>
                <a:latin typeface="Arial" pitchFamily="34" charset="0"/>
                <a:ea typeface="Arial" pitchFamily="34" charset="-122"/>
                <a:cs typeface="Arial" pitchFamily="34" charset="-120"/>
              </a:rPr>
              <a:t>Năm điều cần nhớ trước khi thực hành</a:t>
            </a:r>
            <a:endParaRPr lang="en-US" sz="2950" dirty="0"/>
          </a:p>
        </p:txBody>
      </p:sp>
      <p:sp>
        <p:nvSpPr>
          <p:cNvPr id="6" name="Text 4"/>
          <p:cNvSpPr/>
          <p:nvPr/>
        </p:nvSpPr>
        <p:spPr>
          <a:xfrm>
            <a:off x="484632" y="1307592"/>
            <a:ext cx="11109960" cy="365760"/>
          </a:xfrm>
          <a:prstGeom prst="rect">
            <a:avLst/>
          </a:prstGeom>
          <a:noFill/>
          <a:ln/>
        </p:spPr>
        <p:txBody>
          <a:bodyPr wrap="square" lIns="0" tIns="0" rIns="0" bIns="0" rtlCol="0" anchor="ctr">
            <a:normAutofit/>
          </a:bodyPr>
          <a:lstStyle/>
          <a:p>
            <a:pPr marL="0" indent="0">
              <a:buNone/>
            </a:pPr>
            <a:r>
              <a:rPr lang="en-US" sz="1500" dirty="0">
                <a:solidFill>
                  <a:srgbClr val="62738C"/>
                </a:solidFill>
                <a:latin typeface="Arial" pitchFamily="34" charset="0"/>
                <a:ea typeface="Arial" pitchFamily="34" charset="-122"/>
                <a:cs typeface="Arial" pitchFamily="34" charset="-120"/>
              </a:rPr>
              <a:t>Công cụ AI chỉ hỗ trợ viết code; chính bạn chịu trách nhiệm kiểm chứng.</a:t>
            </a:r>
            <a:endParaRPr lang="en-US" sz="1500" dirty="0"/>
          </a:p>
        </p:txBody>
      </p:sp>
      <p:sp>
        <p:nvSpPr>
          <p:cNvPr id="7" name="Shape 5"/>
          <p:cNvSpPr/>
          <p:nvPr/>
        </p:nvSpPr>
        <p:spPr>
          <a:xfrm>
            <a:off x="475488" y="6537960"/>
            <a:ext cx="11228832" cy="0"/>
          </a:xfrm>
          <a:prstGeom prst="line">
            <a:avLst/>
          </a:prstGeom>
          <a:noFill/>
          <a:ln w="8890">
            <a:solidFill>
              <a:srgbClr val="DCE5F1"/>
            </a:solidFill>
            <a:prstDash val="solid"/>
          </a:ln>
        </p:spPr>
        <p:txBody>
          <a:bodyPr/>
          <a:lstStyle/>
          <a:p>
            <a:endParaRPr lang="en-US"/>
          </a:p>
        </p:txBody>
      </p:sp>
      <p:sp>
        <p:nvSpPr>
          <p:cNvPr id="8" name="Text 6"/>
          <p:cNvSpPr/>
          <p:nvPr/>
        </p:nvSpPr>
        <p:spPr>
          <a:xfrm>
            <a:off x="493776" y="6601968"/>
            <a:ext cx="7315200" cy="164592"/>
          </a:xfrm>
          <a:prstGeom prst="rect">
            <a:avLst/>
          </a:prstGeom>
          <a:noFill/>
          <a:ln/>
        </p:spPr>
        <p:txBody>
          <a:bodyPr wrap="square" lIns="0" tIns="0" rIns="0" bIns="0" rtlCol="0" anchor="ctr">
            <a:normAutofit/>
          </a:bodyPr>
          <a:lstStyle/>
          <a:p>
            <a:pPr marL="0" indent="0">
              <a:buNone/>
            </a:pPr>
            <a:r>
              <a:rPr lang="en-US" sz="940" b="1" dirty="0">
                <a:solidFill>
                  <a:srgbClr val="62738C"/>
                </a:solidFill>
                <a:latin typeface="Arial" pitchFamily="34" charset="0"/>
                <a:ea typeface="Arial" pitchFamily="34" charset="-122"/>
                <a:cs typeface="Arial" pitchFamily="34" charset="-120"/>
              </a:rPr>
              <a:t>NODE.JS  •  TYPESCRIPT  •  MULTER  •  REACT</a:t>
            </a:r>
            <a:endParaRPr lang="en-US" sz="940" dirty="0"/>
          </a:p>
        </p:txBody>
      </p:sp>
      <p:sp>
        <p:nvSpPr>
          <p:cNvPr id="9" name="Text 7"/>
          <p:cNvSpPr/>
          <p:nvPr/>
        </p:nvSpPr>
        <p:spPr>
          <a:xfrm>
            <a:off x="9738360" y="6583680"/>
            <a:ext cx="1920240" cy="192024"/>
          </a:xfrm>
          <a:prstGeom prst="rect">
            <a:avLst/>
          </a:prstGeom>
          <a:noFill/>
          <a:ln/>
        </p:spPr>
        <p:txBody>
          <a:bodyPr wrap="square" lIns="0" tIns="0" rIns="0" bIns="0" rtlCol="0" anchor="ctr">
            <a:normAutofit/>
          </a:bodyPr>
          <a:lstStyle/>
          <a:p>
            <a:pPr marL="0" indent="0" algn="r">
              <a:buNone/>
            </a:pPr>
            <a:r>
              <a:rPr lang="en-US" sz="950" b="1" dirty="0">
                <a:solidFill>
                  <a:srgbClr val="62738C"/>
                </a:solidFill>
                <a:latin typeface="Arial" pitchFamily="34" charset="0"/>
                <a:ea typeface="Arial" pitchFamily="34" charset="-122"/>
                <a:cs typeface="Arial" pitchFamily="34" charset="-120"/>
              </a:rPr>
              <a:t>16 / 16    ·    2 phút</a:t>
            </a:r>
            <a:endParaRPr lang="en-US" sz="950" dirty="0"/>
          </a:p>
        </p:txBody>
      </p:sp>
      <p:sp>
        <p:nvSpPr>
          <p:cNvPr id="10" name="Shape 8"/>
          <p:cNvSpPr/>
          <p:nvPr/>
        </p:nvSpPr>
        <p:spPr>
          <a:xfrm>
            <a:off x="557784" y="1828800"/>
            <a:ext cx="6592824" cy="557784"/>
          </a:xfrm>
          <a:prstGeom prst="roundRect">
            <a:avLst>
              <a:gd name="adj" fmla="val 21311"/>
            </a:avLst>
          </a:prstGeom>
          <a:solidFill>
            <a:srgbClr val="FFFFFF"/>
          </a:solidFill>
          <a:ln w="11430">
            <a:solidFill>
              <a:srgbClr val="DCE5F1"/>
            </a:solidFill>
            <a:prstDash val="solid"/>
          </a:ln>
        </p:spPr>
        <p:txBody>
          <a:bodyPr/>
          <a:lstStyle/>
          <a:p>
            <a:endParaRPr lang="en-US"/>
          </a:p>
        </p:txBody>
      </p:sp>
      <p:sp>
        <p:nvSpPr>
          <p:cNvPr id="11" name="Shape 9"/>
          <p:cNvSpPr/>
          <p:nvPr/>
        </p:nvSpPr>
        <p:spPr>
          <a:xfrm>
            <a:off x="694944" y="1956816"/>
            <a:ext cx="48463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12" name="Text 10"/>
          <p:cNvSpPr/>
          <p:nvPr/>
        </p:nvSpPr>
        <p:spPr>
          <a:xfrm>
            <a:off x="804672" y="1956816"/>
            <a:ext cx="265176" cy="310896"/>
          </a:xfrm>
          <a:prstGeom prst="rect">
            <a:avLst/>
          </a:prstGeom>
          <a:noFill/>
          <a:ln/>
        </p:spPr>
        <p:txBody>
          <a:bodyPr wrap="square" lIns="0" tIns="0" rIns="0" bIns="0" rtlCol="0" anchor="ctr">
            <a:normAutofit/>
          </a:bodyPr>
          <a:lstStyle/>
          <a:p>
            <a:pPr marL="0" indent="0" algn="ctr">
              <a:buNone/>
            </a:pPr>
            <a:r>
              <a:rPr lang="en-US" sz="1060" b="1" dirty="0">
                <a:solidFill>
                  <a:srgbClr val="285CB2"/>
                </a:solidFill>
                <a:latin typeface="Arial" pitchFamily="34" charset="0"/>
                <a:ea typeface="Arial" pitchFamily="34" charset="-122"/>
                <a:cs typeface="Arial" pitchFamily="34" charset="-120"/>
              </a:rPr>
              <a:t>01</a:t>
            </a:r>
            <a:endParaRPr lang="en-US" sz="1060" dirty="0"/>
          </a:p>
        </p:txBody>
      </p:sp>
      <p:sp>
        <p:nvSpPr>
          <p:cNvPr id="13" name="Text 11"/>
          <p:cNvSpPr/>
          <p:nvPr/>
        </p:nvSpPr>
        <p:spPr>
          <a:xfrm>
            <a:off x="1389888" y="1938528"/>
            <a:ext cx="2286000" cy="338328"/>
          </a:xfrm>
          <a:prstGeom prst="rect">
            <a:avLst/>
          </a:prstGeom>
          <a:noFill/>
          <a:ln/>
        </p:spPr>
        <p:txBody>
          <a:bodyPr wrap="square" lIns="0" tIns="0" rIns="0" bIns="0" rtlCol="0" anchor="ctr">
            <a:normAutofit/>
          </a:bodyPr>
          <a:lstStyle/>
          <a:p>
            <a:pPr marL="0" indent="0">
              <a:buNone/>
            </a:pPr>
            <a:r>
              <a:rPr lang="en-US" sz="1650" b="1" dirty="0">
                <a:solidFill>
                  <a:srgbClr val="15365E"/>
                </a:solidFill>
                <a:latin typeface="Arial" pitchFamily="34" charset="0"/>
                <a:ea typeface="Arial" pitchFamily="34" charset="-122"/>
                <a:cs typeface="Arial" pitchFamily="34" charset="-120"/>
              </a:rPr>
              <a:t>multipart/form-data</a:t>
            </a:r>
            <a:endParaRPr lang="en-US" sz="1650" dirty="0"/>
          </a:p>
        </p:txBody>
      </p:sp>
      <p:sp>
        <p:nvSpPr>
          <p:cNvPr id="14" name="Text 12"/>
          <p:cNvSpPr/>
          <p:nvPr/>
        </p:nvSpPr>
        <p:spPr>
          <a:xfrm>
            <a:off x="3730752" y="1956816"/>
            <a:ext cx="3191256" cy="274320"/>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Gửi file và trường biểu mẫu</a:t>
            </a:r>
            <a:endParaRPr lang="en-US" sz="1230" dirty="0"/>
          </a:p>
        </p:txBody>
      </p:sp>
      <p:sp>
        <p:nvSpPr>
          <p:cNvPr id="15" name="Shape 13"/>
          <p:cNvSpPr/>
          <p:nvPr/>
        </p:nvSpPr>
        <p:spPr>
          <a:xfrm>
            <a:off x="557784" y="2505456"/>
            <a:ext cx="6592824" cy="557784"/>
          </a:xfrm>
          <a:prstGeom prst="roundRect">
            <a:avLst>
              <a:gd name="adj" fmla="val 21311"/>
            </a:avLst>
          </a:prstGeom>
          <a:solidFill>
            <a:srgbClr val="FFFFFF"/>
          </a:solidFill>
          <a:ln w="11430">
            <a:solidFill>
              <a:srgbClr val="DCE5F1"/>
            </a:solidFill>
            <a:prstDash val="solid"/>
          </a:ln>
        </p:spPr>
        <p:txBody>
          <a:bodyPr/>
          <a:lstStyle/>
          <a:p>
            <a:endParaRPr lang="en-US"/>
          </a:p>
        </p:txBody>
      </p:sp>
      <p:sp>
        <p:nvSpPr>
          <p:cNvPr id="16" name="Shape 14"/>
          <p:cNvSpPr/>
          <p:nvPr/>
        </p:nvSpPr>
        <p:spPr>
          <a:xfrm>
            <a:off x="694944" y="2633472"/>
            <a:ext cx="48463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17" name="Text 15"/>
          <p:cNvSpPr/>
          <p:nvPr/>
        </p:nvSpPr>
        <p:spPr>
          <a:xfrm>
            <a:off x="804672" y="2633472"/>
            <a:ext cx="265176" cy="310896"/>
          </a:xfrm>
          <a:prstGeom prst="rect">
            <a:avLst/>
          </a:prstGeom>
          <a:noFill/>
          <a:ln/>
        </p:spPr>
        <p:txBody>
          <a:bodyPr wrap="square" lIns="0" tIns="0" rIns="0" bIns="0" rtlCol="0" anchor="ctr">
            <a:normAutofit/>
          </a:bodyPr>
          <a:lstStyle/>
          <a:p>
            <a:pPr marL="0" indent="0" algn="ctr">
              <a:buNone/>
            </a:pPr>
            <a:r>
              <a:rPr lang="en-US" sz="1060" b="1" dirty="0">
                <a:solidFill>
                  <a:srgbClr val="285CB2"/>
                </a:solidFill>
                <a:latin typeface="Arial" pitchFamily="34" charset="0"/>
                <a:ea typeface="Arial" pitchFamily="34" charset="-122"/>
                <a:cs typeface="Arial" pitchFamily="34" charset="-120"/>
              </a:rPr>
              <a:t>02</a:t>
            </a:r>
            <a:endParaRPr lang="en-US" sz="1060" dirty="0"/>
          </a:p>
        </p:txBody>
      </p:sp>
      <p:sp>
        <p:nvSpPr>
          <p:cNvPr id="18" name="Text 16"/>
          <p:cNvSpPr/>
          <p:nvPr/>
        </p:nvSpPr>
        <p:spPr>
          <a:xfrm>
            <a:off x="1389888" y="2615184"/>
            <a:ext cx="2286000" cy="338328"/>
          </a:xfrm>
          <a:prstGeom prst="rect">
            <a:avLst/>
          </a:prstGeom>
          <a:noFill/>
          <a:ln/>
        </p:spPr>
        <p:txBody>
          <a:bodyPr wrap="square" lIns="0" tIns="0" rIns="0" bIns="0" rtlCol="0" anchor="ctr">
            <a:normAutofit/>
          </a:bodyPr>
          <a:lstStyle/>
          <a:p>
            <a:pPr marL="0" indent="0">
              <a:buNone/>
            </a:pPr>
            <a:r>
              <a:rPr lang="en-US" sz="1650" b="1" dirty="0">
                <a:solidFill>
                  <a:srgbClr val="15365E"/>
                </a:solidFill>
                <a:latin typeface="Arial" pitchFamily="34" charset="0"/>
                <a:ea typeface="Arial" pitchFamily="34" charset="-122"/>
                <a:cs typeface="Arial" pitchFamily="34" charset="-120"/>
              </a:rPr>
              <a:t>Multer</a:t>
            </a:r>
            <a:endParaRPr lang="en-US" sz="1650" dirty="0"/>
          </a:p>
        </p:txBody>
      </p:sp>
      <p:sp>
        <p:nvSpPr>
          <p:cNvPr id="19" name="Text 17"/>
          <p:cNvSpPr/>
          <p:nvPr/>
        </p:nvSpPr>
        <p:spPr>
          <a:xfrm>
            <a:off x="3730752" y="2633472"/>
            <a:ext cx="3191256" cy="274320"/>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Middleware nhận và xử lý file</a:t>
            </a:r>
            <a:endParaRPr lang="en-US" sz="1230" dirty="0"/>
          </a:p>
        </p:txBody>
      </p:sp>
      <p:sp>
        <p:nvSpPr>
          <p:cNvPr id="20" name="Shape 18"/>
          <p:cNvSpPr/>
          <p:nvPr/>
        </p:nvSpPr>
        <p:spPr>
          <a:xfrm>
            <a:off x="557784" y="3182112"/>
            <a:ext cx="6592824" cy="557784"/>
          </a:xfrm>
          <a:prstGeom prst="roundRect">
            <a:avLst>
              <a:gd name="adj" fmla="val 21311"/>
            </a:avLst>
          </a:prstGeom>
          <a:solidFill>
            <a:srgbClr val="FFFFFF"/>
          </a:solidFill>
          <a:ln w="11430">
            <a:solidFill>
              <a:srgbClr val="DCE5F1"/>
            </a:solidFill>
            <a:prstDash val="solid"/>
          </a:ln>
        </p:spPr>
        <p:txBody>
          <a:bodyPr/>
          <a:lstStyle/>
          <a:p>
            <a:endParaRPr lang="en-US"/>
          </a:p>
        </p:txBody>
      </p:sp>
      <p:sp>
        <p:nvSpPr>
          <p:cNvPr id="21" name="Shape 19"/>
          <p:cNvSpPr/>
          <p:nvPr/>
        </p:nvSpPr>
        <p:spPr>
          <a:xfrm>
            <a:off x="694944" y="3310128"/>
            <a:ext cx="48463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22" name="Text 20"/>
          <p:cNvSpPr/>
          <p:nvPr/>
        </p:nvSpPr>
        <p:spPr>
          <a:xfrm>
            <a:off x="804672" y="3310128"/>
            <a:ext cx="265176" cy="310896"/>
          </a:xfrm>
          <a:prstGeom prst="rect">
            <a:avLst/>
          </a:prstGeom>
          <a:noFill/>
          <a:ln/>
        </p:spPr>
        <p:txBody>
          <a:bodyPr wrap="square" lIns="0" tIns="0" rIns="0" bIns="0" rtlCol="0" anchor="ctr">
            <a:normAutofit/>
          </a:bodyPr>
          <a:lstStyle/>
          <a:p>
            <a:pPr marL="0" indent="0" algn="ctr">
              <a:buNone/>
            </a:pPr>
            <a:r>
              <a:rPr lang="en-US" sz="1060" b="1" dirty="0">
                <a:solidFill>
                  <a:srgbClr val="285CB2"/>
                </a:solidFill>
                <a:latin typeface="Arial" pitchFamily="34" charset="0"/>
                <a:ea typeface="Arial" pitchFamily="34" charset="-122"/>
                <a:cs typeface="Arial" pitchFamily="34" charset="-120"/>
              </a:rPr>
              <a:t>03</a:t>
            </a:r>
            <a:endParaRPr lang="en-US" sz="1060" dirty="0"/>
          </a:p>
        </p:txBody>
      </p:sp>
      <p:sp>
        <p:nvSpPr>
          <p:cNvPr id="23" name="Text 21"/>
          <p:cNvSpPr/>
          <p:nvPr/>
        </p:nvSpPr>
        <p:spPr>
          <a:xfrm>
            <a:off x="1389888" y="3291840"/>
            <a:ext cx="2286000" cy="338328"/>
          </a:xfrm>
          <a:prstGeom prst="rect">
            <a:avLst/>
          </a:prstGeom>
          <a:noFill/>
          <a:ln/>
        </p:spPr>
        <p:txBody>
          <a:bodyPr wrap="square" lIns="0" tIns="0" rIns="0" bIns="0" rtlCol="0" anchor="ctr">
            <a:normAutofit/>
          </a:bodyPr>
          <a:lstStyle/>
          <a:p>
            <a:pPr marL="0" indent="0">
              <a:buNone/>
            </a:pPr>
            <a:r>
              <a:rPr lang="en-US" sz="1650" b="1" dirty="0">
                <a:solidFill>
                  <a:srgbClr val="15365E"/>
                </a:solidFill>
                <a:latin typeface="Arial" pitchFamily="34" charset="0"/>
                <a:ea typeface="Arial" pitchFamily="34" charset="-122"/>
                <a:cs typeface="Arial" pitchFamily="34" charset="-120"/>
              </a:rPr>
              <a:t>File + SQL Server</a:t>
            </a:r>
            <a:endParaRPr lang="en-US" sz="1650" dirty="0"/>
          </a:p>
        </p:txBody>
      </p:sp>
      <p:sp>
        <p:nvSpPr>
          <p:cNvPr id="24" name="Text 22"/>
          <p:cNvSpPr/>
          <p:nvPr/>
        </p:nvSpPr>
        <p:spPr>
          <a:xfrm>
            <a:off x="3730752" y="3310128"/>
            <a:ext cx="3191256" cy="274320"/>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Ổ đĩa lưu ảnh; DB lưu đường dẫn</a:t>
            </a:r>
            <a:endParaRPr lang="en-US" sz="1230" dirty="0"/>
          </a:p>
        </p:txBody>
      </p:sp>
      <p:sp>
        <p:nvSpPr>
          <p:cNvPr id="25" name="Shape 23"/>
          <p:cNvSpPr/>
          <p:nvPr/>
        </p:nvSpPr>
        <p:spPr>
          <a:xfrm>
            <a:off x="557784" y="3858768"/>
            <a:ext cx="6592824" cy="557784"/>
          </a:xfrm>
          <a:prstGeom prst="roundRect">
            <a:avLst>
              <a:gd name="adj" fmla="val 21311"/>
            </a:avLst>
          </a:prstGeom>
          <a:solidFill>
            <a:srgbClr val="FFFFFF"/>
          </a:solidFill>
          <a:ln w="11430">
            <a:solidFill>
              <a:srgbClr val="DCE5F1"/>
            </a:solidFill>
            <a:prstDash val="solid"/>
          </a:ln>
        </p:spPr>
        <p:txBody>
          <a:bodyPr/>
          <a:lstStyle/>
          <a:p>
            <a:endParaRPr lang="en-US"/>
          </a:p>
        </p:txBody>
      </p:sp>
      <p:sp>
        <p:nvSpPr>
          <p:cNvPr id="26" name="Shape 24"/>
          <p:cNvSpPr/>
          <p:nvPr/>
        </p:nvSpPr>
        <p:spPr>
          <a:xfrm>
            <a:off x="694944" y="3986784"/>
            <a:ext cx="48463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27" name="Text 25"/>
          <p:cNvSpPr/>
          <p:nvPr/>
        </p:nvSpPr>
        <p:spPr>
          <a:xfrm>
            <a:off x="804672" y="3986784"/>
            <a:ext cx="265176" cy="310896"/>
          </a:xfrm>
          <a:prstGeom prst="rect">
            <a:avLst/>
          </a:prstGeom>
          <a:noFill/>
          <a:ln/>
        </p:spPr>
        <p:txBody>
          <a:bodyPr wrap="square" lIns="0" tIns="0" rIns="0" bIns="0" rtlCol="0" anchor="ctr">
            <a:normAutofit/>
          </a:bodyPr>
          <a:lstStyle/>
          <a:p>
            <a:pPr marL="0" indent="0" algn="ctr">
              <a:buNone/>
            </a:pPr>
            <a:r>
              <a:rPr lang="en-US" sz="1060" b="1" dirty="0">
                <a:solidFill>
                  <a:srgbClr val="285CB2"/>
                </a:solidFill>
                <a:latin typeface="Arial" pitchFamily="34" charset="0"/>
                <a:ea typeface="Arial" pitchFamily="34" charset="-122"/>
                <a:cs typeface="Arial" pitchFamily="34" charset="-120"/>
              </a:rPr>
              <a:t>04</a:t>
            </a:r>
            <a:endParaRPr lang="en-US" sz="1060" dirty="0"/>
          </a:p>
        </p:txBody>
      </p:sp>
      <p:sp>
        <p:nvSpPr>
          <p:cNvPr id="28" name="Text 26"/>
          <p:cNvSpPr/>
          <p:nvPr/>
        </p:nvSpPr>
        <p:spPr>
          <a:xfrm>
            <a:off x="1389888" y="3968496"/>
            <a:ext cx="2286000" cy="338328"/>
          </a:xfrm>
          <a:prstGeom prst="rect">
            <a:avLst/>
          </a:prstGeom>
          <a:noFill/>
          <a:ln/>
        </p:spPr>
        <p:txBody>
          <a:bodyPr wrap="square" lIns="0" tIns="0" rIns="0" bIns="0" rtlCol="0" anchor="ctr">
            <a:normAutofit/>
          </a:bodyPr>
          <a:lstStyle/>
          <a:p>
            <a:pPr marL="0" indent="0">
              <a:buNone/>
            </a:pPr>
            <a:r>
              <a:rPr lang="en-US" sz="1650" b="1" dirty="0">
                <a:solidFill>
                  <a:srgbClr val="15365E"/>
                </a:solidFill>
                <a:latin typeface="Arial" pitchFamily="34" charset="0"/>
                <a:ea typeface="Arial" pitchFamily="34" charset="-122"/>
                <a:cs typeface="Arial" pitchFamily="34" charset="-120"/>
              </a:rPr>
              <a:t>CORS + Axios</a:t>
            </a:r>
            <a:endParaRPr lang="en-US" sz="1650" dirty="0"/>
          </a:p>
        </p:txBody>
      </p:sp>
      <p:sp>
        <p:nvSpPr>
          <p:cNvPr id="29" name="Text 27"/>
          <p:cNvSpPr/>
          <p:nvPr/>
        </p:nvSpPr>
        <p:spPr>
          <a:xfrm>
            <a:off x="3730752" y="3986784"/>
            <a:ext cx="3191256" cy="274320"/>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Kết nối giao diện đến API</a:t>
            </a:r>
            <a:endParaRPr lang="en-US" sz="1230" dirty="0"/>
          </a:p>
        </p:txBody>
      </p:sp>
      <p:sp>
        <p:nvSpPr>
          <p:cNvPr id="30" name="Shape 28"/>
          <p:cNvSpPr/>
          <p:nvPr/>
        </p:nvSpPr>
        <p:spPr>
          <a:xfrm>
            <a:off x="557784" y="4535424"/>
            <a:ext cx="6592824" cy="557784"/>
          </a:xfrm>
          <a:prstGeom prst="roundRect">
            <a:avLst>
              <a:gd name="adj" fmla="val 21311"/>
            </a:avLst>
          </a:prstGeom>
          <a:solidFill>
            <a:srgbClr val="FFFFFF"/>
          </a:solidFill>
          <a:ln w="11430">
            <a:solidFill>
              <a:srgbClr val="DCE5F1"/>
            </a:solidFill>
            <a:prstDash val="solid"/>
          </a:ln>
        </p:spPr>
        <p:txBody>
          <a:bodyPr/>
          <a:lstStyle/>
          <a:p>
            <a:endParaRPr lang="en-US"/>
          </a:p>
        </p:txBody>
      </p:sp>
      <p:sp>
        <p:nvSpPr>
          <p:cNvPr id="31" name="Shape 29"/>
          <p:cNvSpPr/>
          <p:nvPr/>
        </p:nvSpPr>
        <p:spPr>
          <a:xfrm>
            <a:off x="694944" y="4663440"/>
            <a:ext cx="484632" cy="310896"/>
          </a:xfrm>
          <a:prstGeom prst="roundRect">
            <a:avLst>
              <a:gd name="adj" fmla="val 38235"/>
            </a:avLst>
          </a:prstGeom>
          <a:solidFill>
            <a:srgbClr val="E8F1FE"/>
          </a:solidFill>
          <a:ln w="11430">
            <a:solidFill>
              <a:srgbClr val="E8F1FE"/>
            </a:solidFill>
            <a:prstDash val="solid"/>
          </a:ln>
        </p:spPr>
        <p:txBody>
          <a:bodyPr/>
          <a:lstStyle/>
          <a:p>
            <a:endParaRPr lang="en-US"/>
          </a:p>
        </p:txBody>
      </p:sp>
      <p:sp>
        <p:nvSpPr>
          <p:cNvPr id="32" name="Text 30"/>
          <p:cNvSpPr/>
          <p:nvPr/>
        </p:nvSpPr>
        <p:spPr>
          <a:xfrm>
            <a:off x="804672" y="4663440"/>
            <a:ext cx="265176" cy="310896"/>
          </a:xfrm>
          <a:prstGeom prst="rect">
            <a:avLst/>
          </a:prstGeom>
          <a:noFill/>
          <a:ln/>
        </p:spPr>
        <p:txBody>
          <a:bodyPr wrap="square" lIns="0" tIns="0" rIns="0" bIns="0" rtlCol="0" anchor="ctr">
            <a:normAutofit/>
          </a:bodyPr>
          <a:lstStyle/>
          <a:p>
            <a:pPr marL="0" indent="0" algn="ctr">
              <a:buNone/>
            </a:pPr>
            <a:r>
              <a:rPr lang="en-US" sz="1060" b="1" dirty="0">
                <a:solidFill>
                  <a:srgbClr val="285CB2"/>
                </a:solidFill>
                <a:latin typeface="Arial" pitchFamily="34" charset="0"/>
                <a:ea typeface="Arial" pitchFamily="34" charset="-122"/>
                <a:cs typeface="Arial" pitchFamily="34" charset="-120"/>
              </a:rPr>
              <a:t>05</a:t>
            </a:r>
            <a:endParaRPr lang="en-US" sz="1060" dirty="0"/>
          </a:p>
        </p:txBody>
      </p:sp>
      <p:sp>
        <p:nvSpPr>
          <p:cNvPr id="33" name="Text 31"/>
          <p:cNvSpPr/>
          <p:nvPr/>
        </p:nvSpPr>
        <p:spPr>
          <a:xfrm>
            <a:off x="1389888" y="4645152"/>
            <a:ext cx="2286000" cy="338328"/>
          </a:xfrm>
          <a:prstGeom prst="rect">
            <a:avLst/>
          </a:prstGeom>
          <a:noFill/>
          <a:ln/>
        </p:spPr>
        <p:txBody>
          <a:bodyPr wrap="square" lIns="0" tIns="0" rIns="0" bIns="0" rtlCol="0" anchor="ctr">
            <a:normAutofit/>
          </a:bodyPr>
          <a:lstStyle/>
          <a:p>
            <a:pPr marL="0" indent="0">
              <a:buNone/>
            </a:pPr>
            <a:r>
              <a:rPr lang="en-US" sz="1650" b="1" dirty="0">
                <a:solidFill>
                  <a:srgbClr val="15365E"/>
                </a:solidFill>
                <a:latin typeface="Arial" pitchFamily="34" charset="0"/>
                <a:ea typeface="Arial" pitchFamily="34" charset="-122"/>
                <a:cs typeface="Arial" pitchFamily="34" charset="-120"/>
              </a:rPr>
              <a:t>JWT + Testing</a:t>
            </a:r>
            <a:endParaRPr lang="en-US" sz="1650" dirty="0"/>
          </a:p>
        </p:txBody>
      </p:sp>
      <p:sp>
        <p:nvSpPr>
          <p:cNvPr id="34" name="Text 32"/>
          <p:cNvSpPr/>
          <p:nvPr/>
        </p:nvSpPr>
        <p:spPr>
          <a:xfrm>
            <a:off x="3730752" y="4663440"/>
            <a:ext cx="3191256" cy="274320"/>
          </a:xfrm>
          <a:prstGeom prst="rect">
            <a:avLst/>
          </a:prstGeom>
          <a:noFill/>
          <a:ln/>
        </p:spPr>
        <p:txBody>
          <a:bodyPr wrap="square" lIns="0" tIns="0" rIns="0" bIns="0" rtlCol="0" anchor="ctr">
            <a:normAutofit/>
          </a:bodyPr>
          <a:lstStyle/>
          <a:p>
            <a:pPr marL="0" indent="0">
              <a:buNone/>
            </a:pPr>
            <a:r>
              <a:rPr lang="en-US" sz="1230" dirty="0">
                <a:solidFill>
                  <a:srgbClr val="62738C"/>
                </a:solidFill>
                <a:latin typeface="Arial" pitchFamily="34" charset="0"/>
                <a:ea typeface="Arial" pitchFamily="34" charset="-122"/>
                <a:cs typeface="Arial" pitchFamily="34" charset="-120"/>
              </a:rPr>
              <a:t>Bảo vệ Request và xác minh kết quả</a:t>
            </a:r>
            <a:endParaRPr lang="en-US" sz="1230" dirty="0"/>
          </a:p>
        </p:txBody>
      </p:sp>
      <p:sp>
        <p:nvSpPr>
          <p:cNvPr id="35" name="Shape 33"/>
          <p:cNvSpPr/>
          <p:nvPr/>
        </p:nvSpPr>
        <p:spPr>
          <a:xfrm>
            <a:off x="7388352" y="1828800"/>
            <a:ext cx="4233672" cy="3282696"/>
          </a:xfrm>
          <a:prstGeom prst="roundRect">
            <a:avLst>
              <a:gd name="adj" fmla="val 3621"/>
            </a:avLst>
          </a:prstGeom>
          <a:solidFill>
            <a:srgbClr val="EAF3FF"/>
          </a:solidFill>
          <a:ln w="11430">
            <a:solidFill>
              <a:srgbClr val="DCE5F1"/>
            </a:solidFill>
            <a:prstDash val="solid"/>
          </a:ln>
        </p:spPr>
        <p:txBody>
          <a:bodyPr/>
          <a:lstStyle/>
          <a:p>
            <a:endParaRPr lang="en-US"/>
          </a:p>
        </p:txBody>
      </p:sp>
      <p:sp>
        <p:nvSpPr>
          <p:cNvPr id="36" name="Text 34"/>
          <p:cNvSpPr/>
          <p:nvPr/>
        </p:nvSpPr>
        <p:spPr>
          <a:xfrm>
            <a:off x="7671816" y="2084832"/>
            <a:ext cx="3694176" cy="356616"/>
          </a:xfrm>
          <a:prstGeom prst="rect">
            <a:avLst/>
          </a:prstGeom>
          <a:noFill/>
          <a:ln/>
        </p:spPr>
        <p:txBody>
          <a:bodyPr wrap="square" lIns="0" tIns="0" rIns="0" bIns="0" rtlCol="0" anchor="ctr">
            <a:normAutofit/>
          </a:bodyPr>
          <a:lstStyle/>
          <a:p>
            <a:pPr marL="0" indent="0">
              <a:buNone/>
            </a:pPr>
            <a:r>
              <a:rPr lang="en-US" sz="1900" b="1" dirty="0">
                <a:solidFill>
                  <a:srgbClr val="15365E"/>
                </a:solidFill>
                <a:latin typeface="Arial" pitchFamily="34" charset="0"/>
                <a:ea typeface="Arial" pitchFamily="34" charset="-122"/>
                <a:cs typeface="Arial" pitchFamily="34" charset="-120"/>
              </a:rPr>
              <a:t>TỰ KIỂM TRA</a:t>
            </a:r>
            <a:endParaRPr lang="en-US" sz="1900" dirty="0"/>
          </a:p>
        </p:txBody>
      </p:sp>
      <p:sp>
        <p:nvSpPr>
          <p:cNvPr id="37" name="Text 35"/>
          <p:cNvSpPr/>
          <p:nvPr/>
        </p:nvSpPr>
        <p:spPr>
          <a:xfrm>
            <a:off x="7671816" y="2734056"/>
            <a:ext cx="393192" cy="274320"/>
          </a:xfrm>
          <a:prstGeom prst="rect">
            <a:avLst/>
          </a:prstGeom>
          <a:noFill/>
          <a:ln/>
        </p:spPr>
        <p:txBody>
          <a:bodyPr wrap="square" lIns="0" tIns="0" rIns="0" bIns="0" rtlCol="0" anchor="ctr">
            <a:normAutofit/>
          </a:bodyPr>
          <a:lstStyle/>
          <a:p>
            <a:pPr marL="0" indent="0">
              <a:buNone/>
            </a:pPr>
            <a:r>
              <a:rPr lang="en-US" sz="1310" b="1" dirty="0">
                <a:solidFill>
                  <a:srgbClr val="B58A1A"/>
                </a:solidFill>
                <a:latin typeface="Arial" pitchFamily="34" charset="0"/>
                <a:ea typeface="Arial" pitchFamily="34" charset="-122"/>
                <a:cs typeface="Arial" pitchFamily="34" charset="-120"/>
              </a:rPr>
              <a:t>01</a:t>
            </a:r>
            <a:endParaRPr lang="en-US" sz="1310" dirty="0"/>
          </a:p>
        </p:txBody>
      </p:sp>
      <p:sp>
        <p:nvSpPr>
          <p:cNvPr id="38" name="Text 36"/>
          <p:cNvSpPr/>
          <p:nvPr/>
        </p:nvSpPr>
        <p:spPr>
          <a:xfrm>
            <a:off x="8138160" y="2706624"/>
            <a:ext cx="3099816" cy="457200"/>
          </a:xfrm>
          <a:prstGeom prst="rect">
            <a:avLst/>
          </a:prstGeom>
          <a:noFill/>
          <a:ln/>
        </p:spPr>
        <p:txBody>
          <a:bodyPr wrap="square" lIns="0" tIns="0" rIns="0" bIns="0" rtlCol="0" anchor="ctr">
            <a:normAutofit/>
          </a:bodyPr>
          <a:lstStyle/>
          <a:p>
            <a:pPr marL="0" indent="0">
              <a:buNone/>
            </a:pPr>
            <a:r>
              <a:rPr lang="en-US" sz="1420" dirty="0">
                <a:solidFill>
                  <a:srgbClr val="15365E"/>
                </a:solidFill>
                <a:latin typeface="Arial" pitchFamily="34" charset="0"/>
                <a:ea typeface="Arial" pitchFamily="34" charset="-122"/>
                <a:cs typeface="Arial" pitchFamily="34" charset="-120"/>
              </a:rPr>
              <a:t>Multer hoạt động trước hay sau isAuth?</a:t>
            </a:r>
            <a:endParaRPr lang="en-US" sz="1420" dirty="0"/>
          </a:p>
        </p:txBody>
      </p:sp>
      <p:sp>
        <p:nvSpPr>
          <p:cNvPr id="39" name="Text 37"/>
          <p:cNvSpPr/>
          <p:nvPr/>
        </p:nvSpPr>
        <p:spPr>
          <a:xfrm>
            <a:off x="7671816" y="3401568"/>
            <a:ext cx="393192" cy="274320"/>
          </a:xfrm>
          <a:prstGeom prst="rect">
            <a:avLst/>
          </a:prstGeom>
          <a:noFill/>
          <a:ln/>
        </p:spPr>
        <p:txBody>
          <a:bodyPr wrap="square" lIns="0" tIns="0" rIns="0" bIns="0" rtlCol="0" anchor="ctr">
            <a:normAutofit/>
          </a:bodyPr>
          <a:lstStyle/>
          <a:p>
            <a:pPr marL="0" indent="0">
              <a:buNone/>
            </a:pPr>
            <a:r>
              <a:rPr lang="en-US" sz="1310" b="1" dirty="0">
                <a:solidFill>
                  <a:srgbClr val="B58A1A"/>
                </a:solidFill>
                <a:latin typeface="Arial" pitchFamily="34" charset="0"/>
                <a:ea typeface="Arial" pitchFamily="34" charset="-122"/>
                <a:cs typeface="Arial" pitchFamily="34" charset="-120"/>
              </a:rPr>
              <a:t>02</a:t>
            </a:r>
            <a:endParaRPr lang="en-US" sz="1310" dirty="0"/>
          </a:p>
        </p:txBody>
      </p:sp>
      <p:sp>
        <p:nvSpPr>
          <p:cNvPr id="40" name="Text 38"/>
          <p:cNvSpPr/>
          <p:nvPr/>
        </p:nvSpPr>
        <p:spPr>
          <a:xfrm>
            <a:off x="8138160" y="3374136"/>
            <a:ext cx="3099816" cy="457200"/>
          </a:xfrm>
          <a:prstGeom prst="rect">
            <a:avLst/>
          </a:prstGeom>
          <a:noFill/>
          <a:ln/>
        </p:spPr>
        <p:txBody>
          <a:bodyPr wrap="square" lIns="0" tIns="0" rIns="0" bIns="0" rtlCol="0" anchor="ctr">
            <a:normAutofit/>
          </a:bodyPr>
          <a:lstStyle/>
          <a:p>
            <a:pPr marL="0" indent="0">
              <a:buNone/>
            </a:pPr>
            <a:r>
              <a:rPr lang="en-US" sz="1420" dirty="0">
                <a:solidFill>
                  <a:srgbClr val="15365E"/>
                </a:solidFill>
                <a:latin typeface="Arial" pitchFamily="34" charset="0"/>
                <a:ea typeface="Arial" pitchFamily="34" charset="-122"/>
                <a:cs typeface="Arial" pitchFamily="34" charset="-120"/>
              </a:rPr>
              <a:t>CORS có thay thế JWT không?</a:t>
            </a:r>
            <a:endParaRPr lang="en-US" sz="1420" dirty="0"/>
          </a:p>
        </p:txBody>
      </p:sp>
      <p:sp>
        <p:nvSpPr>
          <p:cNvPr id="41" name="Text 39"/>
          <p:cNvSpPr/>
          <p:nvPr/>
        </p:nvSpPr>
        <p:spPr>
          <a:xfrm>
            <a:off x="7671816" y="4069080"/>
            <a:ext cx="393192" cy="274320"/>
          </a:xfrm>
          <a:prstGeom prst="rect">
            <a:avLst/>
          </a:prstGeom>
          <a:noFill/>
          <a:ln/>
        </p:spPr>
        <p:txBody>
          <a:bodyPr wrap="square" lIns="0" tIns="0" rIns="0" bIns="0" rtlCol="0" anchor="ctr">
            <a:normAutofit/>
          </a:bodyPr>
          <a:lstStyle/>
          <a:p>
            <a:pPr marL="0" indent="0">
              <a:buNone/>
            </a:pPr>
            <a:r>
              <a:rPr lang="en-US" sz="1310" b="1" dirty="0">
                <a:solidFill>
                  <a:srgbClr val="B58A1A"/>
                </a:solidFill>
                <a:latin typeface="Arial" pitchFamily="34" charset="0"/>
                <a:ea typeface="Arial" pitchFamily="34" charset="-122"/>
                <a:cs typeface="Arial" pitchFamily="34" charset="-120"/>
              </a:rPr>
              <a:t>03</a:t>
            </a:r>
            <a:endParaRPr lang="en-US" sz="1310" dirty="0"/>
          </a:p>
        </p:txBody>
      </p:sp>
      <p:sp>
        <p:nvSpPr>
          <p:cNvPr id="42" name="Text 40"/>
          <p:cNvSpPr/>
          <p:nvPr/>
        </p:nvSpPr>
        <p:spPr>
          <a:xfrm>
            <a:off x="8138160" y="4041648"/>
            <a:ext cx="3099816" cy="457200"/>
          </a:xfrm>
          <a:prstGeom prst="rect">
            <a:avLst/>
          </a:prstGeom>
          <a:noFill/>
          <a:ln/>
        </p:spPr>
        <p:txBody>
          <a:bodyPr wrap="square" lIns="0" tIns="0" rIns="0" bIns="0" rtlCol="0" anchor="ctr">
            <a:normAutofit/>
          </a:bodyPr>
          <a:lstStyle/>
          <a:p>
            <a:pPr marL="0" indent="0">
              <a:buNone/>
            </a:pPr>
            <a:r>
              <a:rPr lang="en-US" sz="1420" dirty="0">
                <a:solidFill>
                  <a:srgbClr val="15365E"/>
                </a:solidFill>
                <a:latin typeface="Arial" pitchFamily="34" charset="0"/>
                <a:ea typeface="Arial" pitchFamily="34" charset="-122"/>
                <a:cs typeface="Arial" pitchFamily="34" charset="-120"/>
              </a:rPr>
              <a:t>SQL Server lưu gì trong bài này?</a:t>
            </a:r>
            <a:endParaRPr lang="en-US" sz="1420" dirty="0"/>
          </a:p>
        </p:txBody>
      </p:sp>
      <p:sp>
        <p:nvSpPr>
          <p:cNvPr id="43" name="Shape 41"/>
          <p:cNvSpPr/>
          <p:nvPr/>
        </p:nvSpPr>
        <p:spPr>
          <a:xfrm>
            <a:off x="475488" y="6035040"/>
            <a:ext cx="11228832" cy="411480"/>
          </a:xfrm>
          <a:prstGeom prst="roundRect">
            <a:avLst>
              <a:gd name="adj" fmla="val 28889"/>
            </a:avLst>
          </a:prstGeom>
          <a:solidFill>
            <a:srgbClr val="E2F5EC"/>
          </a:solidFill>
          <a:ln w="11430">
            <a:solidFill>
              <a:srgbClr val="E2F5EC"/>
            </a:solidFill>
            <a:prstDash val="solid"/>
          </a:ln>
        </p:spPr>
        <p:txBody>
          <a:bodyPr/>
          <a:lstStyle/>
          <a:p>
            <a:endParaRPr lang="en-US"/>
          </a:p>
        </p:txBody>
      </p:sp>
      <p:sp>
        <p:nvSpPr>
          <p:cNvPr id="44" name="Text 42"/>
          <p:cNvSpPr/>
          <p:nvPr/>
        </p:nvSpPr>
        <p:spPr>
          <a:xfrm>
            <a:off x="640080" y="6117336"/>
            <a:ext cx="996696" cy="219456"/>
          </a:xfrm>
          <a:prstGeom prst="rect">
            <a:avLst/>
          </a:prstGeom>
          <a:noFill/>
          <a:ln/>
        </p:spPr>
        <p:txBody>
          <a:bodyPr wrap="square" lIns="0" tIns="0" rIns="0" bIns="0" rtlCol="0" anchor="ctr">
            <a:normAutofit/>
          </a:bodyPr>
          <a:lstStyle/>
          <a:p>
            <a:pPr marL="0" indent="0">
              <a:buNone/>
            </a:pPr>
            <a:r>
              <a:rPr lang="en-US" sz="1070" b="1" dirty="0">
                <a:solidFill>
                  <a:srgbClr val="21764E"/>
                </a:solidFill>
                <a:latin typeface="Arial" pitchFamily="34" charset="0"/>
                <a:ea typeface="Arial" pitchFamily="34" charset="-122"/>
                <a:cs typeface="Arial" pitchFamily="34" charset="-120"/>
              </a:rPr>
              <a:t>GHI NHỚ</a:t>
            </a:r>
            <a:endParaRPr lang="en-US" sz="1070" dirty="0"/>
          </a:p>
        </p:txBody>
      </p:sp>
      <p:sp>
        <p:nvSpPr>
          <p:cNvPr id="45" name="Text 43"/>
          <p:cNvSpPr/>
          <p:nvPr/>
        </p:nvSpPr>
        <p:spPr>
          <a:xfrm>
            <a:off x="1618488" y="6089904"/>
            <a:ext cx="9784080" cy="274320"/>
          </a:xfrm>
          <a:prstGeom prst="rect">
            <a:avLst/>
          </a:prstGeom>
          <a:noFill/>
          <a:ln/>
        </p:spPr>
        <p:txBody>
          <a:bodyPr wrap="square" lIns="0" tIns="0" rIns="0" bIns="0" rtlCol="0" anchor="ctr">
            <a:normAutofit/>
          </a:bodyPr>
          <a:lstStyle/>
          <a:p>
            <a:pPr marL="0" indent="0">
              <a:buNone/>
            </a:pPr>
            <a:r>
              <a:rPr lang="en-US" sz="1250" dirty="0">
                <a:solidFill>
                  <a:srgbClr val="15365E"/>
                </a:solidFill>
                <a:latin typeface="Arial" pitchFamily="34" charset="0"/>
                <a:ea typeface="Arial" pitchFamily="34" charset="-122"/>
                <a:cs typeface="Arial" pitchFamily="34" charset="-120"/>
              </a:rPr>
              <a:t>Quy trình Vibe Coding: Hiểu yêu cầu → Prompt → Đọc code → Chạy → Test → Giải thích.</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4569</Words>
  <Application>Microsoft Office PowerPoint</Application>
  <PresentationFormat>Widescreen</PresentationFormat>
  <Paragraphs>379</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Học phần Lập trình Backend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8–9: Multer, Vite, Axios, CORS</dc:title>
  <dc:subject>Tích hợp Frontend Backend và quản lý hình ảnh với Multer</dc:subject>
  <dc:creator>Bộ môn Lập trình Backend</dc:creator>
  <cp:lastModifiedBy>NhatPot</cp:lastModifiedBy>
  <cp:revision>2</cp:revision>
  <dcterms:created xsi:type="dcterms:W3CDTF">2026-10-17T04:51:00Z</dcterms:created>
  <dcterms:modified xsi:type="dcterms:W3CDTF">2026-10-17T11:28:24Z</dcterms:modified>
</cp:coreProperties>
</file>