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231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0"/>
          </a:solidFill>
          <a:ln w="10160">
            <a:solidFill>
              <a:srgbClr val="0B183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685800"/>
            <a:ext cx="3291840" cy="3291840"/>
          </a:xfrm>
          <a:prstGeom prst="ellipse">
            <a:avLst/>
          </a:prstGeom>
          <a:solidFill>
            <a:srgbClr val="0B1830">
              <a:alpha val="0"/>
            </a:srgbClr>
          </a:solidFill>
          <a:ln w="13970">
            <a:solidFill>
              <a:srgbClr val="214D6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932688"/>
            <a:ext cx="4023360" cy="4023360"/>
          </a:xfrm>
          <a:prstGeom prst="ellipse">
            <a:avLst/>
          </a:prstGeom>
          <a:solidFill>
            <a:srgbClr val="0B1830">
              <a:alpha val="0"/>
            </a:srgbClr>
          </a:solidFill>
          <a:ln w="13970">
            <a:solidFill>
              <a:srgbClr val="214D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0" y="1179576"/>
            <a:ext cx="4754880" cy="4754880"/>
          </a:xfrm>
          <a:prstGeom prst="ellipse">
            <a:avLst/>
          </a:prstGeom>
          <a:solidFill>
            <a:srgbClr val="0B1830">
              <a:alpha val="0"/>
            </a:srgbClr>
          </a:solidFill>
          <a:ln w="13970">
            <a:solidFill>
              <a:srgbClr val="214D6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9224" y="658368"/>
            <a:ext cx="1627632" cy="338328"/>
          </a:xfrm>
          <a:prstGeom prst="roundRect">
            <a:avLst>
              <a:gd name="adj" fmla="val 40541"/>
            </a:avLst>
          </a:prstGeom>
          <a:solidFill>
            <a:srgbClr val="163F62"/>
          </a:solidFill>
          <a:ln w="10160">
            <a:solidFill>
              <a:srgbClr val="163F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73152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B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· BUỔI 06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13232" y="1417320"/>
            <a:ext cx="9966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</a:t>
            </a:r>
            <a:endParaRPr lang="en-US" sz="49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VALIDATION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749808" y="3675888"/>
            <a:ext cx="630936" cy="82296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4105656"/>
            <a:ext cx="79369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C5D8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Kiểm soát luồng Request · Kiểm tra dữ liệu đầu vào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C5D8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  ·  Express.js  ·  Joi / Zod  ·  Morgan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686800" y="1837944"/>
            <a:ext cx="2505456" cy="685800"/>
          </a:xfrm>
          <a:prstGeom prst="roundRect">
            <a:avLst>
              <a:gd name="adj" fmla="val 24000"/>
            </a:avLst>
          </a:prstGeom>
          <a:solidFill>
            <a:srgbClr val="203854"/>
          </a:solidFill>
          <a:ln w="10160">
            <a:solidFill>
              <a:srgbClr val="2038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87968" y="2057400"/>
            <a:ext cx="2130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957816" y="2551176"/>
            <a:ext cx="0" cy="283464"/>
          </a:xfrm>
          <a:prstGeom prst="line">
            <a:avLst/>
          </a:prstGeom>
          <a:noFill/>
          <a:ln w="29210">
            <a:solidFill>
              <a:srgbClr val="48C9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86800" y="2880360"/>
            <a:ext cx="2505456" cy="685800"/>
          </a:xfrm>
          <a:prstGeom prst="roundRect">
            <a:avLst>
              <a:gd name="adj" fmla="val 24000"/>
            </a:avLst>
          </a:prstGeom>
          <a:solidFill>
            <a:srgbClr val="0A819B"/>
          </a:solidFill>
          <a:ln w="10160">
            <a:solidFill>
              <a:srgbClr val="0A81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87968" y="3099816"/>
            <a:ext cx="2130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957816" y="3593592"/>
            <a:ext cx="0" cy="283464"/>
          </a:xfrm>
          <a:prstGeom prst="line">
            <a:avLst/>
          </a:prstGeom>
          <a:noFill/>
          <a:ln w="29210">
            <a:solidFill>
              <a:srgbClr val="48C9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0" y="3922776"/>
            <a:ext cx="2505456" cy="685800"/>
          </a:xfrm>
          <a:prstGeom prst="roundRect">
            <a:avLst>
              <a:gd name="adj" fmla="val 24000"/>
            </a:avLst>
          </a:prstGeom>
          <a:solidFill>
            <a:srgbClr val="203854"/>
          </a:solidFill>
          <a:ln w="10160">
            <a:solidFill>
              <a:srgbClr val="2038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87968" y="4142232"/>
            <a:ext cx="2130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ĐẶT VẤN ĐỀ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Chuyện gì xảy ra khi Client gửi dữ liệu sai?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 dụ: API POST /api/courses dùng để tạo môn học mới.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94944" y="2011680"/>
            <a:ext cx="5074920" cy="3337560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41832" y="2212848"/>
            <a:ext cx="2249424" cy="274320"/>
          </a:xfrm>
          <a:prstGeom prst="roundRect">
            <a:avLst>
              <a:gd name="adj" fmla="val 46667"/>
            </a:avLst>
          </a:prstGeom>
          <a:solidFill>
            <a:srgbClr val="E6EEF9"/>
          </a:solidFill>
          <a:ln w="10160">
            <a:solidFill>
              <a:srgbClr val="E6EE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224485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BODY TỪ CLIENT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41832" y="2734056"/>
            <a:ext cx="4553712" cy="2066544"/>
          </a:xfrm>
          <a:prstGeom prst="roundRect">
            <a:avLst>
              <a:gd name="adj" fmla="val 7080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52144" y="2898648"/>
            <a:ext cx="416052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"courseCode": "",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"courseName": "",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"credits": -5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98464" y="2011680"/>
            <a:ext cx="5468112" cy="3337560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18504" y="2258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kern="0" spc="110" dirty="0">
                <a:solidFill>
                  <a:srgbClr val="CD53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LỖI RÕ RÀNG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36208" y="2724912"/>
            <a:ext cx="4892040" cy="704088"/>
          </a:xfrm>
          <a:prstGeom prst="roundRect">
            <a:avLst>
              <a:gd name="adj" fmla="val 23377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9944" y="2880360"/>
            <a:ext cx="329184" cy="329184"/>
          </a:xfrm>
          <a:prstGeom prst="ellipse">
            <a:avLst/>
          </a:prstGeom>
          <a:solidFill>
            <a:srgbClr val="CD5360"/>
          </a:solidFill>
          <a:ln w="12700">
            <a:solidFill>
              <a:srgbClr val="CD53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9944" y="2980944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6894576" y="284378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Mã môn học trống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94576" y="316382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xác định được môn học.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236208" y="3557016"/>
            <a:ext cx="4892040" cy="704088"/>
          </a:xfrm>
          <a:prstGeom prst="roundRect">
            <a:avLst>
              <a:gd name="adj" fmla="val 23377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9944" y="3712464"/>
            <a:ext cx="329184" cy="329184"/>
          </a:xfrm>
          <a:prstGeom prst="ellipse">
            <a:avLst/>
          </a:prstGeom>
          <a:solidFill>
            <a:srgbClr val="CD5360"/>
          </a:solidFill>
          <a:ln w="12700">
            <a:solidFill>
              <a:srgbClr val="CD53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9944" y="3813048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270" dirty="0"/>
          </a:p>
        </p:txBody>
      </p:sp>
      <p:sp>
        <p:nvSpPr>
          <p:cNvPr id="24" name="Text 22"/>
          <p:cNvSpPr/>
          <p:nvPr/>
        </p:nvSpPr>
        <p:spPr>
          <a:xfrm>
            <a:off x="6894576" y="367588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Tên môn học trống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94576" y="399592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Dữ liệu không có ý nghĩa.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236208" y="4389120"/>
            <a:ext cx="4892040" cy="704088"/>
          </a:xfrm>
          <a:prstGeom prst="roundRect">
            <a:avLst>
              <a:gd name="adj" fmla="val 23377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9944" y="4544568"/>
            <a:ext cx="329184" cy="329184"/>
          </a:xfrm>
          <a:prstGeom prst="ellipse">
            <a:avLst/>
          </a:prstGeom>
          <a:solidFill>
            <a:srgbClr val="CD5360"/>
          </a:solidFill>
          <a:ln w="12700">
            <a:solidFill>
              <a:srgbClr val="CD53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9944" y="4645152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6894576" y="450799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-5 tín chỉ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94576" y="482803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Số tín chỉ không hợp lệ.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Server không nên đưa dữ liệu sai vào xử lý nghiệp vụ hoặc Database.</a:t>
            </a:r>
            <a:endParaRPr lang="en-US" sz="11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ĐẶT VẤN ĐỀ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Vì sao không kiểm tra mọi thứ trong Controller?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 vốn cần tập trung vào công việc chính của API.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85800" y="1965960"/>
            <a:ext cx="5148072" cy="3639312"/>
          </a:xfrm>
          <a:prstGeom prst="roundRect">
            <a:avLst>
              <a:gd name="adj" fmla="val 4523"/>
            </a:avLst>
          </a:prstGeom>
          <a:solidFill>
            <a:srgbClr val="FFF9F8"/>
          </a:solidFill>
          <a:ln w="10160">
            <a:solidFill>
              <a:srgbClr val="F7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544" y="21762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kern="0" spc="110" dirty="0">
                <a:solidFill>
                  <a:srgbClr val="CD53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CÁCH 1: MÃ GIẢ KIỂM TRA LẶP TRONG CONTROLLER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941832" y="2596896"/>
            <a:ext cx="4617720" cy="2496312"/>
          </a:xfrm>
          <a:prstGeom prst="roundRect">
            <a:avLst>
              <a:gd name="adj" fmla="val 5861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52144" y="2761488"/>
            <a:ext cx="4224528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createCourse() {</a:t>
            </a:r>
            <a:endParaRPr lang="en-US" sz="12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if (!name) ...</a:t>
            </a:r>
            <a:endParaRPr lang="en-US" sz="12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if (credits &lt; 1) ...</a:t>
            </a:r>
            <a:endParaRPr lang="en-US" sz="12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// Gọi Service / Database</a:t>
            </a:r>
            <a:endParaRPr lang="en-US" sz="12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2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updateCourse() {</a:t>
            </a:r>
            <a:endParaRPr lang="en-US" sz="12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if (!name) ...</a:t>
            </a:r>
            <a:endParaRPr lang="en-US" sz="12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if (credits &lt; 1) ...</a:t>
            </a:r>
            <a:endParaRPr lang="en-US" sz="12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6117336" y="1965960"/>
            <a:ext cx="5367528" cy="3639312"/>
          </a:xfrm>
          <a:prstGeom prst="roundRect">
            <a:avLst>
              <a:gd name="adj" fmla="val 4523"/>
            </a:avLst>
          </a:prstGeom>
          <a:solidFill>
            <a:srgbClr val="F2FCF9"/>
          </a:solidFill>
          <a:ln w="10160">
            <a:solidFill>
              <a:srgbClr val="CEE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64224" y="2194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kern="0" spc="110" dirty="0">
                <a:solidFill>
                  <a:srgbClr val="138A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CÁCH 2: TÁI SỬ DỤNG MIDDLEWARE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510528" y="2724912"/>
            <a:ext cx="4572000" cy="512064"/>
          </a:xfrm>
          <a:prstGeom prst="roundRect">
            <a:avLst>
              <a:gd name="adj" fmla="val 19643"/>
            </a:avLst>
          </a:prstGeom>
          <a:solidFill>
            <a:srgbClr val="EAF0F7"/>
          </a:solidFill>
          <a:ln w="1016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92440" y="28895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814816" y="3273552"/>
            <a:ext cx="0" cy="219456"/>
          </a:xfrm>
          <a:prstGeom prst="line">
            <a:avLst/>
          </a:prstGeom>
          <a:noFill/>
          <a:ln w="26670">
            <a:solidFill>
              <a:srgbClr val="00A8B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10528" y="3602736"/>
            <a:ext cx="4572000" cy="621792"/>
          </a:xfrm>
          <a:prstGeom prst="roundRect">
            <a:avLst>
              <a:gd name="adj" fmla="val 16176"/>
            </a:avLst>
          </a:prstGeom>
          <a:solidFill>
            <a:srgbClr val="DDF3F4"/>
          </a:solidFill>
          <a:ln w="10160">
            <a:solidFill>
              <a:srgbClr val="DDF3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3840480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MIDDLEWARE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814816" y="4315968"/>
            <a:ext cx="0" cy="219456"/>
          </a:xfrm>
          <a:prstGeom prst="line">
            <a:avLst/>
          </a:prstGeom>
          <a:noFill/>
          <a:ln w="26670">
            <a:solidFill>
              <a:srgbClr val="00A8B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10528" y="4645152"/>
            <a:ext cx="4572000" cy="512064"/>
          </a:xfrm>
          <a:prstGeom prst="roundRect">
            <a:avLst>
              <a:gd name="adj" fmla="val 19643"/>
            </a:avLst>
          </a:prstGeom>
          <a:solidFill>
            <a:srgbClr val="EAF0F7"/>
          </a:solidFill>
          <a:ln w="1016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44384" y="480060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Một nơi chịu trách nhiệm kiểm tra, nhiều Route có thể dùng lại.</a:t>
            </a:r>
            <a:endParaRPr lang="en-US" sz="11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VÍ DỤ ĐỜI SỐNG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 qua câu chuyện sân bay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Hành khách phải đi qua các chốt kiểm soát trước khi lên máy bay.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68096" y="2432304"/>
            <a:ext cx="2313432" cy="2176272"/>
          </a:xfrm>
          <a:prstGeom prst="roundRect">
            <a:avLst>
              <a:gd name="adj" fmla="val 7563"/>
            </a:avLst>
          </a:prstGeom>
          <a:solidFill>
            <a:srgbClr val="EAF0F7"/>
          </a:solidFill>
          <a:ln w="1016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71600" y="2688336"/>
            <a:ext cx="557784" cy="557784"/>
          </a:xfrm>
          <a:prstGeom prst="ellipse">
            <a:avLst/>
          </a:prstGeom>
          <a:solidFill>
            <a:srgbClr val="13243E"/>
          </a:solidFill>
          <a:ln w="12700">
            <a:solidFill>
              <a:srgbClr val="1324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2852928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356616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4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HÀNH KHÁCH</a:t>
            </a:r>
            <a:endParaRPr lang="en-US" sz="1640" dirty="0"/>
          </a:p>
        </p:txBody>
      </p:sp>
      <p:sp>
        <p:nvSpPr>
          <p:cNvPr id="13" name="Text 11"/>
          <p:cNvSpPr/>
          <p:nvPr/>
        </p:nvSpPr>
        <p:spPr>
          <a:xfrm>
            <a:off x="886968" y="3995928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Người muốn lên máy bay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91256" y="3520440"/>
            <a:ext cx="448056" cy="0"/>
          </a:xfrm>
          <a:prstGeom prst="line">
            <a:avLst/>
          </a:prstGeom>
          <a:noFill/>
          <a:ln w="30480">
            <a:solidFill>
              <a:srgbClr val="00A8B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39896" y="2432304"/>
            <a:ext cx="2313432" cy="2176272"/>
          </a:xfrm>
          <a:prstGeom prst="roundRect">
            <a:avLst>
              <a:gd name="adj" fmla="val 7563"/>
            </a:avLst>
          </a:prstGeom>
          <a:solidFill>
            <a:srgbClr val="E3EFFB"/>
          </a:solidFill>
          <a:ln w="10160">
            <a:solidFill>
              <a:srgbClr val="E3EF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43400" y="2688336"/>
            <a:ext cx="557784" cy="557784"/>
          </a:xfrm>
          <a:prstGeom prst="ellipse">
            <a:avLst/>
          </a:prstGeom>
          <a:solidFill>
            <a:srgbClr val="2E61C6"/>
          </a:solidFill>
          <a:ln w="12700">
            <a:solidFill>
              <a:srgbClr val="2E6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3400" y="2852928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58768" y="356616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4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SOÁT VÉ</a:t>
            </a:r>
            <a:endParaRPr lang="en-US" sz="1640" dirty="0"/>
          </a:p>
        </p:txBody>
      </p:sp>
      <p:sp>
        <p:nvSpPr>
          <p:cNvPr id="19" name="Text 17"/>
          <p:cNvSpPr/>
          <p:nvPr/>
        </p:nvSpPr>
        <p:spPr>
          <a:xfrm>
            <a:off x="3858768" y="3995928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Kiểm tra vé và danh tính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63056" y="3520440"/>
            <a:ext cx="448056" cy="0"/>
          </a:xfrm>
          <a:prstGeom prst="line">
            <a:avLst/>
          </a:prstGeom>
          <a:noFill/>
          <a:ln w="30480">
            <a:solidFill>
              <a:srgbClr val="00A8B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11696" y="2432304"/>
            <a:ext cx="2313432" cy="2176272"/>
          </a:xfrm>
          <a:prstGeom prst="roundRect">
            <a:avLst>
              <a:gd name="adj" fmla="val 7563"/>
            </a:avLst>
          </a:prstGeom>
          <a:solidFill>
            <a:srgbClr val="E1F6F8"/>
          </a:solidFill>
          <a:ln w="10160">
            <a:solidFill>
              <a:srgbClr val="E1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0" y="2688336"/>
            <a:ext cx="557784" cy="557784"/>
          </a:xfrm>
          <a:prstGeom prst="ellipse">
            <a:avLst/>
          </a:prstGeom>
          <a:solidFill>
            <a:srgbClr val="2E61C6"/>
          </a:solidFill>
          <a:ln w="12700">
            <a:solidFill>
              <a:srgbClr val="2E6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0" y="2852928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30568" y="356616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4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 HÀNH LÝ</a:t>
            </a:r>
            <a:endParaRPr lang="en-US" sz="1640" dirty="0"/>
          </a:p>
        </p:txBody>
      </p:sp>
      <p:sp>
        <p:nvSpPr>
          <p:cNvPr id="25" name="Text 23"/>
          <p:cNvSpPr/>
          <p:nvPr/>
        </p:nvSpPr>
        <p:spPr>
          <a:xfrm>
            <a:off x="6830568" y="3995928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Kiểm tra hành lý phù hợp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089136" y="3520440"/>
            <a:ext cx="484632" cy="0"/>
          </a:xfrm>
          <a:prstGeom prst="line">
            <a:avLst/>
          </a:prstGeom>
          <a:noFill/>
          <a:ln w="30480">
            <a:solidFill>
              <a:srgbClr val="00A8B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674352" y="2432304"/>
            <a:ext cx="1755648" cy="2176272"/>
          </a:xfrm>
          <a:prstGeom prst="roundRect">
            <a:avLst>
              <a:gd name="adj" fmla="val 9375"/>
            </a:avLst>
          </a:prstGeom>
          <a:solidFill>
            <a:srgbClr val="E4F8EF"/>
          </a:solidFill>
          <a:ln w="10160">
            <a:solidFill>
              <a:srgbClr val="E4F8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277856" y="2688336"/>
            <a:ext cx="557784" cy="557784"/>
          </a:xfrm>
          <a:prstGeom prst="ellipse">
            <a:avLst/>
          </a:prstGeom>
          <a:solidFill>
            <a:srgbClr val="138A69"/>
          </a:solidFill>
          <a:ln w="12700">
            <a:solidFill>
              <a:srgbClr val="138A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277856" y="2852928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793224" y="356616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LÊN MÁY BAY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793224" y="399592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Thực hiện mục tiêu cuối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97280" y="4910328"/>
            <a:ext cx="10030968" cy="868680"/>
          </a:xfrm>
          <a:prstGeom prst="roundRect">
            <a:avLst>
              <a:gd name="adj" fmla="val 18947"/>
            </a:avLst>
          </a:prstGeom>
          <a:solidFill>
            <a:srgbClr val="F6FCFE"/>
          </a:solidFill>
          <a:ln w="10160">
            <a:solidFill>
              <a:srgbClr val="C8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298448" y="5065776"/>
            <a:ext cx="0" cy="557784"/>
          </a:xfrm>
          <a:prstGeom prst="line">
            <a:avLst/>
          </a:prstGeom>
          <a:noFill/>
          <a:ln w="38100">
            <a:solidFill>
              <a:srgbClr val="00A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508760" y="5020056"/>
            <a:ext cx="9326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Nếu kiểm tra không đạt thì sao?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1508760" y="5321808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Hành khách bị từ chối đi tiếp. Trong Backend, Middleware cũng có thể trả về lỗi trước khi Controller chạy.</a:t>
            </a:r>
            <a:endParaRPr lang="en-US" sz="1230" dirty="0"/>
          </a:p>
        </p:txBody>
      </p:sp>
      <p:sp>
        <p:nvSpPr>
          <p:cNvPr id="36" name="Shape 34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Trạm kiểm soát ở sân bay là hình ảnh trực quan của Middleware.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LIÊN HỆ KỸ THUẬT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Từ sân bay đến hệ thống Backend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Đổi từng thành phần đời sống thành một khái niệm lập trình.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58952" y="2048256"/>
            <a:ext cx="5138928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78408" y="2249424"/>
            <a:ext cx="2167128" cy="274320"/>
          </a:xfrm>
          <a:prstGeom prst="roundRect">
            <a:avLst>
              <a:gd name="adj" fmla="val 46667"/>
            </a:avLst>
          </a:prstGeom>
          <a:solidFill>
            <a:srgbClr val="EAF1FC"/>
          </a:solidFill>
          <a:ln w="10160">
            <a:solidFill>
              <a:srgbClr val="EAF1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88136" y="228142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HÀNH KHÁCH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26517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Request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96696" y="31272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Dữ liệu Client gửi lên API.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6190488" y="2048256"/>
            <a:ext cx="5138928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9944" y="2249424"/>
            <a:ext cx="2167128" cy="274320"/>
          </a:xfrm>
          <a:prstGeom prst="roundRect">
            <a:avLst>
              <a:gd name="adj" fmla="val 46667"/>
            </a:avLst>
          </a:prstGeom>
          <a:solidFill>
            <a:srgbClr val="EAF1FC"/>
          </a:solidFill>
          <a:ln w="10160">
            <a:solidFill>
              <a:srgbClr val="EAF1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9672" y="228142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TRẠM KIỂM TRA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19088" y="26517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428232" y="31272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Chạy trước bước xử lý kế tiếp.</a:t>
            </a:r>
            <a:endParaRPr lang="en-US" sz="1330" dirty="0"/>
          </a:p>
        </p:txBody>
      </p:sp>
      <p:sp>
        <p:nvSpPr>
          <p:cNvPr id="19" name="Shape 17"/>
          <p:cNvSpPr/>
          <p:nvPr/>
        </p:nvSpPr>
        <p:spPr>
          <a:xfrm>
            <a:off x="758952" y="3840480"/>
            <a:ext cx="5138928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78408" y="4041648"/>
            <a:ext cx="2167128" cy="274320"/>
          </a:xfrm>
          <a:prstGeom prst="roundRect">
            <a:avLst>
              <a:gd name="adj" fmla="val 46667"/>
            </a:avLst>
          </a:prstGeom>
          <a:solidFill>
            <a:srgbClr val="EAF1FC"/>
          </a:solidFill>
          <a:ln w="10160">
            <a:solidFill>
              <a:srgbClr val="EAF1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88136" y="407365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MỜI ĐI TIẾP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7552" y="444398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next()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96696" y="491947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 Request sang bước xử lý sau.</a:t>
            </a:r>
            <a:endParaRPr 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6190488" y="3840480"/>
            <a:ext cx="5138928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9944" y="4041648"/>
            <a:ext cx="2167128" cy="274320"/>
          </a:xfrm>
          <a:prstGeom prst="roundRect">
            <a:avLst>
              <a:gd name="adj" fmla="val 46667"/>
            </a:avLst>
          </a:prstGeom>
          <a:solidFill>
            <a:srgbClr val="EAF1FC"/>
          </a:solidFill>
          <a:ln w="10160">
            <a:solidFill>
              <a:srgbClr val="EAF1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9672" y="407365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LÊN MÁY BAY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19088" y="444398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428232" y="491947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Thực hiện công việc chính của API.</a:t>
            </a:r>
            <a:endParaRPr lang="en-US" sz="1330" dirty="0"/>
          </a:p>
        </p:txBody>
      </p:sp>
      <p:sp>
        <p:nvSpPr>
          <p:cNvPr id="29" name="Shape 27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Request ≠ Controller: có thể tồn tại nhiều bước xử lý trung gian.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KHÁI NIỆM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 là gì?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Định nghĩa đúng và ngắn gọn trong Express.js.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49808" y="1975104"/>
            <a:ext cx="10698480" cy="1335024"/>
          </a:xfrm>
          <a:prstGeom prst="roundRect">
            <a:avLst>
              <a:gd name="adj" fmla="val 12329"/>
            </a:avLst>
          </a:prstGeom>
          <a:solidFill>
            <a:srgbClr val="E8F5FC"/>
          </a:solidFill>
          <a:ln w="10160">
            <a:solidFill>
              <a:srgbClr val="D4E8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3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 là hàm chạy trong chuỗi xử lý Request của Express.js. Nó có thể đọc hoặc sửa Request, tạo Response, hoặc chuyển quyền xử lý sang Middleware tiếp theo.</a:t>
            </a:r>
            <a:endParaRPr lang="en-US" sz="2130" dirty="0"/>
          </a:p>
        </p:txBody>
      </p:sp>
      <p:sp>
        <p:nvSpPr>
          <p:cNvPr id="11" name="Shape 9"/>
          <p:cNvSpPr/>
          <p:nvPr/>
        </p:nvSpPr>
        <p:spPr>
          <a:xfrm>
            <a:off x="777240" y="3657600"/>
            <a:ext cx="3447288" cy="1673352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9264" y="3831336"/>
            <a:ext cx="356616" cy="356616"/>
          </a:xfrm>
          <a:prstGeom prst="ellipse">
            <a:avLst/>
          </a:prstGeom>
          <a:solidFill>
            <a:srgbClr val="2E61C6"/>
          </a:solidFill>
          <a:ln w="12700">
            <a:solidFill>
              <a:srgbClr val="2E6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9264" y="3909060"/>
            <a:ext cx="356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1453896" y="3822192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Tiếp nhận Request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96696" y="4379976"/>
            <a:ext cx="30083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9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Đọc URL, Header, Body và thông tin liên quan.</a:t>
            </a:r>
            <a:endParaRPr lang="en-US" sz="1390" dirty="0"/>
          </a:p>
        </p:txBody>
      </p:sp>
      <p:sp>
        <p:nvSpPr>
          <p:cNvPr id="16" name="Shape 14"/>
          <p:cNvSpPr/>
          <p:nvPr/>
        </p:nvSpPr>
        <p:spPr>
          <a:xfrm>
            <a:off x="4361688" y="3657600"/>
            <a:ext cx="3438144" cy="1673352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53712" y="3831336"/>
            <a:ext cx="356616" cy="356616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53712" y="3909060"/>
            <a:ext cx="356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70" dirty="0"/>
          </a:p>
        </p:txBody>
      </p:sp>
      <p:sp>
        <p:nvSpPr>
          <p:cNvPr id="19" name="Text 17"/>
          <p:cNvSpPr/>
          <p:nvPr/>
        </p:nvSpPr>
        <p:spPr>
          <a:xfrm>
            <a:off x="5038344" y="382219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Thực hiện nhiệm vụ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81144" y="4379976"/>
            <a:ext cx="2999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9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 dụ: ghi log hoặc kiểm tra dữ liệu.</a:t>
            </a:r>
            <a:endParaRPr lang="en-US" sz="1390" dirty="0"/>
          </a:p>
        </p:txBody>
      </p:sp>
      <p:sp>
        <p:nvSpPr>
          <p:cNvPr id="21" name="Shape 19"/>
          <p:cNvSpPr/>
          <p:nvPr/>
        </p:nvSpPr>
        <p:spPr>
          <a:xfrm>
            <a:off x="7936992" y="3657600"/>
            <a:ext cx="3447288" cy="1673352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29016" y="3831336"/>
            <a:ext cx="356616" cy="356616"/>
          </a:xfrm>
          <a:prstGeom prst="ellipse">
            <a:avLst/>
          </a:prstGeom>
          <a:solidFill>
            <a:srgbClr val="138A69"/>
          </a:solidFill>
          <a:ln w="12700">
            <a:solidFill>
              <a:srgbClr val="138A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29016" y="3909060"/>
            <a:ext cx="356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70" dirty="0"/>
          </a:p>
        </p:txBody>
      </p:sp>
      <p:sp>
        <p:nvSpPr>
          <p:cNvPr id="24" name="Text 22"/>
          <p:cNvSpPr/>
          <p:nvPr/>
        </p:nvSpPr>
        <p:spPr>
          <a:xfrm>
            <a:off x="8613648" y="3822192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 đi tiếp / phản hồi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156448" y="4379976"/>
            <a:ext cx="30083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9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next() hoặc kết thúc Response.</a:t>
            </a:r>
            <a:endParaRPr lang="en-US" sz="1390" dirty="0"/>
          </a:p>
        </p:txBody>
      </p:sp>
      <p:sp>
        <p:nvSpPr>
          <p:cNvPr id="26" name="Shape 24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Trong Express, hàm Middleware thông thường có dạng (req, res, next).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REQUEST PIPELINE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Luồng Request đi qua Middleware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 dụ POST /api/courses: ghi log trước, kiểm tra dữ liệu sau.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216152" y="1938528"/>
            <a:ext cx="4087368" cy="530352"/>
          </a:xfrm>
          <a:prstGeom prst="roundRect">
            <a:avLst>
              <a:gd name="adj" fmla="val 20690"/>
            </a:avLst>
          </a:prstGeom>
          <a:solidFill>
            <a:srgbClr val="EAF0F7"/>
          </a:solidFill>
          <a:ln w="10160">
            <a:solidFill>
              <a:srgbClr val="DB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26464" y="20208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26464" y="224028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Gửi Request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55264" y="2478024"/>
            <a:ext cx="0" cy="155448"/>
          </a:xfrm>
          <a:prstGeom prst="line">
            <a:avLst/>
          </a:prstGeom>
          <a:noFill/>
          <a:ln w="25400">
            <a:solidFill>
              <a:srgbClr val="00A8B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16152" y="2679192"/>
            <a:ext cx="4087368" cy="530352"/>
          </a:xfrm>
          <a:prstGeom prst="roundRect">
            <a:avLst>
              <a:gd name="adj" fmla="val 20690"/>
            </a:avLst>
          </a:prstGeom>
          <a:solidFill>
            <a:srgbClr val="E7EFF9"/>
          </a:solidFill>
          <a:ln w="10160">
            <a:solidFill>
              <a:srgbClr val="DB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26464" y="27614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 MIDDLEWARE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26464" y="2980944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nhận truy cập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55264" y="3218688"/>
            <a:ext cx="0" cy="155448"/>
          </a:xfrm>
          <a:prstGeom prst="line">
            <a:avLst/>
          </a:prstGeom>
          <a:noFill/>
          <a:ln w="25400">
            <a:solidFill>
              <a:srgbClr val="00A8B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16152" y="3419856"/>
            <a:ext cx="4087368" cy="530352"/>
          </a:xfrm>
          <a:prstGeom prst="roundRect">
            <a:avLst>
              <a:gd name="adj" fmla="val 20690"/>
            </a:avLst>
          </a:prstGeom>
          <a:solidFill>
            <a:srgbClr val="D7F5F6"/>
          </a:solidFill>
          <a:ln w="10160">
            <a:solidFill>
              <a:srgbClr val="BC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26464" y="3502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MIDDLEWARE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26464" y="372160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Kiểm tra Body JSON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5264" y="3950208"/>
            <a:ext cx="0" cy="301752"/>
          </a:xfrm>
          <a:prstGeom prst="line">
            <a:avLst/>
          </a:prstGeom>
          <a:noFill/>
          <a:ln w="25400">
            <a:solidFill>
              <a:srgbClr val="00A8B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463040" y="4315968"/>
            <a:ext cx="3767328" cy="448056"/>
          </a:xfrm>
          <a:prstGeom prst="roundRect">
            <a:avLst>
              <a:gd name="adj" fmla="val 20408"/>
            </a:avLst>
          </a:prstGeom>
          <a:solidFill>
            <a:srgbClr val="E3F6E9"/>
          </a:solidFill>
          <a:ln w="10160">
            <a:solidFill>
              <a:srgbClr val="C5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18488" y="4471416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10" b="1" dirty="0">
                <a:solidFill>
                  <a:srgbClr val="138A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HỢP LỆ → next() → CONTROLLER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5285232" y="3685032"/>
            <a:ext cx="1271016" cy="0"/>
          </a:xfrm>
          <a:prstGeom prst="line">
            <a:avLst/>
          </a:prstGeom>
          <a:noFill/>
          <a:ln w="27940">
            <a:solidFill>
              <a:srgbClr val="CD53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0256" y="2971800"/>
            <a:ext cx="4325112" cy="1408176"/>
          </a:xfrm>
          <a:prstGeom prst="roundRect">
            <a:avLst>
              <a:gd name="adj" fmla="val 11688"/>
            </a:avLst>
          </a:prstGeom>
          <a:solidFill>
            <a:srgbClr val="FFF4F4"/>
          </a:solidFill>
          <a:ln w="10160">
            <a:solidFill>
              <a:srgbClr val="F1C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03720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CD53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HỢP LỆ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3611880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Bad Request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601968" y="4617720"/>
            <a:ext cx="4370832" cy="90525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76288" y="4828032"/>
            <a:ext cx="3886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 chỉ nhận Request đã qua kiểm tra ở Route này.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Logging không nhất thiết chặn Request; Validation có thể từ chối dữ liệu sai.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ĐIỀU KHIỂN LUỒNG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 có thể xử lý Request theo 3 hướng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phải Middleware nào cũng kiểm tra đúng/sai.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40664" y="2039112"/>
            <a:ext cx="3639312" cy="3438144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120" y="2267712"/>
            <a:ext cx="420624" cy="420624"/>
          </a:xfrm>
          <a:prstGeom prst="ellipse">
            <a:avLst/>
          </a:prstGeom>
          <a:solidFill>
            <a:srgbClr val="138A69"/>
          </a:solidFill>
          <a:ln w="12700">
            <a:solidFill>
              <a:srgbClr val="138A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40487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36192" y="224942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 đi tiếp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9264" y="2953512"/>
            <a:ext cx="3182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Gọi next() để Express chuyển sang hàm xử lý kế tiếp.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" y="4032504"/>
            <a:ext cx="3200400" cy="566928"/>
          </a:xfrm>
          <a:prstGeom prst="roundRect">
            <a:avLst>
              <a:gd name="adj" fmla="val 25806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70432" y="419709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next();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" y="4837176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Dùng khi kiểm tra hợp lệ.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4608576" y="2039112"/>
            <a:ext cx="3639312" cy="3438144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28032" y="2267712"/>
            <a:ext cx="420624" cy="420624"/>
          </a:xfrm>
          <a:prstGeom prst="ellipse">
            <a:avLst/>
          </a:prstGeom>
          <a:solidFill>
            <a:srgbClr val="CD5360"/>
          </a:solidFill>
          <a:ln w="12700">
            <a:solidFill>
              <a:srgbClr val="CD53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240487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04104" y="224942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Trả Response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37176" y="2953512"/>
            <a:ext cx="3182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Gửi dữ liệu hoặc mã lỗi về Client và kết thúc luồng.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28032" y="4032504"/>
            <a:ext cx="3200400" cy="566928"/>
          </a:xfrm>
          <a:prstGeom prst="roundRect">
            <a:avLst>
              <a:gd name="adj" fmla="val 25806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38344" y="419709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res.status(400).json({...});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837176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Dùng khi dữ liệu đầu vào sai.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8476488" y="2039112"/>
            <a:ext cx="3639312" cy="3438144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695944" y="2267712"/>
            <a:ext cx="420624" cy="420624"/>
          </a:xfrm>
          <a:prstGeom prst="ellipse">
            <a:avLst/>
          </a:prstGeom>
          <a:solidFill>
            <a:srgbClr val="6857C4"/>
          </a:solidFill>
          <a:ln w="12700">
            <a:solidFill>
              <a:srgbClr val="6857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95944" y="240487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72016" y="224942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Chuyển lỗi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705088" y="2953512"/>
            <a:ext cx="3182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Gọi next(err) để đưa lỗi sang Error Handler.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695944" y="4032504"/>
            <a:ext cx="3200400" cy="566928"/>
          </a:xfrm>
          <a:prstGeom prst="roundRect">
            <a:avLst>
              <a:gd name="adj" fmla="val 25806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906256" y="419709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next(error);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14232" y="4837176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Dùng khi cần xử lý lỗi tập trung.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Quên cả next() và Response thường khiến Request chờ mãi.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3 THAM SỐ QUAN TRỌNG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Giải thích req, res và next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Một Middleware Express thường nhận 3 tham số này.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22376" y="2057400"/>
            <a:ext cx="3648456" cy="2505456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41832" y="2322576"/>
            <a:ext cx="822960" cy="539496"/>
          </a:xfrm>
          <a:prstGeom prst="roundRect">
            <a:avLst>
              <a:gd name="adj" fmla="val 20339"/>
            </a:avLst>
          </a:prstGeom>
          <a:solidFill>
            <a:srgbClr val="E7EEF9"/>
          </a:solidFill>
          <a:ln w="10160">
            <a:solidFill>
              <a:srgbClr val="E7EE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25146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61C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req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56816" y="23134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30266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Thông tin Client gửi: body, params, query, headers.</a:t>
            </a:r>
            <a:endParaRPr lang="en-US" sz="1460" dirty="0"/>
          </a:p>
        </p:txBody>
      </p:sp>
      <p:sp>
        <p:nvSpPr>
          <p:cNvPr id="14" name="Shape 12"/>
          <p:cNvSpPr/>
          <p:nvPr/>
        </p:nvSpPr>
        <p:spPr>
          <a:xfrm>
            <a:off x="923544" y="3950208"/>
            <a:ext cx="3246120" cy="374904"/>
          </a:xfrm>
          <a:prstGeom prst="roundRect">
            <a:avLst>
              <a:gd name="adj" fmla="val 24390"/>
            </a:avLst>
          </a:prstGeom>
          <a:solidFill>
            <a:srgbClr val="EAF0F7"/>
          </a:solidFill>
          <a:ln w="1016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88136" y="4059936"/>
            <a:ext cx="2944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3243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req.body.courseName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599432" y="2057400"/>
            <a:ext cx="3648456" cy="2505456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18888" y="2322576"/>
            <a:ext cx="822960" cy="539496"/>
          </a:xfrm>
          <a:prstGeom prst="roundRect">
            <a:avLst>
              <a:gd name="adj" fmla="val 20339"/>
            </a:avLst>
          </a:prstGeom>
          <a:solidFill>
            <a:srgbClr val="FCE6EA"/>
          </a:solidFill>
          <a:ln w="10160">
            <a:solidFill>
              <a:srgbClr val="FCE6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D536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33872" y="23134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37176" y="30266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Đối tượng để trả Status Code và JSON về Client.</a:t>
            </a:r>
            <a:endParaRPr lang="en-US" sz="1460" dirty="0"/>
          </a:p>
        </p:txBody>
      </p:sp>
      <p:sp>
        <p:nvSpPr>
          <p:cNvPr id="21" name="Shape 19"/>
          <p:cNvSpPr/>
          <p:nvPr/>
        </p:nvSpPr>
        <p:spPr>
          <a:xfrm>
            <a:off x="4800600" y="3950208"/>
            <a:ext cx="3246120" cy="374904"/>
          </a:xfrm>
          <a:prstGeom prst="roundRect">
            <a:avLst>
              <a:gd name="adj" fmla="val 24390"/>
            </a:avLst>
          </a:prstGeom>
          <a:solidFill>
            <a:srgbClr val="EAF0F7"/>
          </a:solidFill>
          <a:ln w="1016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65192" y="4059936"/>
            <a:ext cx="2944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3243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res.status(400).json(...)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8476488" y="2057400"/>
            <a:ext cx="3648456" cy="2505456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95944" y="2322576"/>
            <a:ext cx="822960" cy="539496"/>
          </a:xfrm>
          <a:prstGeom prst="roundRect">
            <a:avLst>
              <a:gd name="adj" fmla="val 20339"/>
            </a:avLst>
          </a:prstGeom>
          <a:solidFill>
            <a:srgbClr val="E7F5ED"/>
          </a:solidFill>
          <a:ln w="10160">
            <a:solidFill>
              <a:srgbClr val="E7F5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14816" y="25146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8A6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710928" y="23134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Function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714232" y="30266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Hàm chuyển luồng sang Middleware / Handler tiếp theo.</a:t>
            </a:r>
            <a:endParaRPr lang="en-US" sz="1460" dirty="0"/>
          </a:p>
        </p:txBody>
      </p:sp>
      <p:sp>
        <p:nvSpPr>
          <p:cNvPr id="28" name="Shape 26"/>
          <p:cNvSpPr/>
          <p:nvPr/>
        </p:nvSpPr>
        <p:spPr>
          <a:xfrm>
            <a:off x="8677656" y="3950208"/>
            <a:ext cx="3246120" cy="374904"/>
          </a:xfrm>
          <a:prstGeom prst="roundRect">
            <a:avLst>
              <a:gd name="adj" fmla="val 24390"/>
            </a:avLst>
          </a:prstGeom>
          <a:solidFill>
            <a:srgbClr val="EAF0F7"/>
          </a:solidFill>
          <a:ln w="1016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842248" y="4059936"/>
            <a:ext cx="2944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3243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next()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1005840" y="4892040"/>
            <a:ext cx="10149840" cy="813816"/>
          </a:xfrm>
          <a:prstGeom prst="roundRect">
            <a:avLst>
              <a:gd name="adj" fmla="val 20225"/>
            </a:avLst>
          </a:prstGeom>
          <a:solidFill>
            <a:srgbClr val="F6FCFE"/>
          </a:solidFill>
          <a:ln w="10160">
            <a:solidFill>
              <a:srgbClr val="C8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07008" y="5047488"/>
            <a:ext cx="0" cy="502920"/>
          </a:xfrm>
          <a:prstGeom prst="line">
            <a:avLst/>
          </a:prstGeom>
          <a:noFill/>
          <a:ln w="38100">
            <a:solidFill>
              <a:srgbClr val="2E6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417320" y="5001768"/>
            <a:ext cx="9445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Cách nhớ trong 10 giây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1417320" y="5303520"/>
            <a:ext cx="9445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 = nhận thông tin · res = trả kết quả · next = chuyển đến bước tiếp theo.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req và res là đối tượng; next là một hàm.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PHÂN LOẠI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Các loại Middleware thường gặp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Khác nhau ở nhiệm vụ, nhưng cùng tham gia xử lý Request.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94944" y="1975104"/>
            <a:ext cx="3685032" cy="1682496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5256" y="2194560"/>
            <a:ext cx="283464" cy="283464"/>
          </a:xfrm>
          <a:prstGeom prst="ellipse">
            <a:avLst/>
          </a:prstGeom>
          <a:solidFill>
            <a:srgbClr val="2E61C6"/>
          </a:solidFill>
          <a:ln w="12700">
            <a:solidFill>
              <a:srgbClr val="2E6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25880" y="210312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</a:t>
            </a:r>
            <a:endParaRPr lang="en-US" sz="1730" dirty="0"/>
          </a:p>
        </p:txBody>
      </p:sp>
      <p:sp>
        <p:nvSpPr>
          <p:cNvPr id="12" name="Text 10"/>
          <p:cNvSpPr/>
          <p:nvPr/>
        </p:nvSpPr>
        <p:spPr>
          <a:xfrm>
            <a:off x="905256" y="2596896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nhật ký HTTP Request.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905256" y="3273552"/>
            <a:ext cx="2084832" cy="274320"/>
          </a:xfrm>
          <a:prstGeom prst="roundRect">
            <a:avLst>
              <a:gd name="adj" fmla="val 46667"/>
            </a:avLst>
          </a:prstGeom>
          <a:solidFill>
            <a:srgbClr val="EEF3FA"/>
          </a:solidFill>
          <a:ln w="10160">
            <a:solidFill>
              <a:srgbClr val="EEF3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4984" y="330555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Morgan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4608576" y="1975104"/>
            <a:ext cx="3685032" cy="1682496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18888" y="2194560"/>
            <a:ext cx="283464" cy="283464"/>
          </a:xfrm>
          <a:prstGeom prst="ellipse">
            <a:avLst/>
          </a:prstGeom>
          <a:solidFill>
            <a:srgbClr val="138A69"/>
          </a:solidFill>
          <a:ln w="12700">
            <a:solidFill>
              <a:srgbClr val="138A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39512" y="210312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730" dirty="0"/>
          </a:p>
        </p:txBody>
      </p:sp>
      <p:sp>
        <p:nvSpPr>
          <p:cNvPr id="18" name="Text 16"/>
          <p:cNvSpPr/>
          <p:nvPr/>
        </p:nvSpPr>
        <p:spPr>
          <a:xfrm>
            <a:off x="4818888" y="2596896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Kiểm tra kiểu, định dạng và giới hạn dữ liệu.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4818888" y="3273552"/>
            <a:ext cx="2084832" cy="274320"/>
          </a:xfrm>
          <a:prstGeom prst="roundRect">
            <a:avLst>
              <a:gd name="adj" fmla="val 46667"/>
            </a:avLst>
          </a:prstGeom>
          <a:solidFill>
            <a:srgbClr val="EEF3FA"/>
          </a:solidFill>
          <a:ln w="10160">
            <a:solidFill>
              <a:srgbClr val="EEF3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28616" y="330555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 / Zod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8522208" y="1975104"/>
            <a:ext cx="3685032" cy="1682496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732520" y="2194560"/>
            <a:ext cx="283464" cy="283464"/>
          </a:xfrm>
          <a:prstGeom prst="ellipse">
            <a:avLst/>
          </a:prstGeom>
          <a:solidFill>
            <a:srgbClr val="6857C4"/>
          </a:solidFill>
          <a:ln w="12700">
            <a:solidFill>
              <a:srgbClr val="6857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53144" y="210312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1730" dirty="0"/>
          </a:p>
        </p:txBody>
      </p:sp>
      <p:sp>
        <p:nvSpPr>
          <p:cNvPr id="24" name="Text 22"/>
          <p:cNvSpPr/>
          <p:nvPr/>
        </p:nvSpPr>
        <p:spPr>
          <a:xfrm>
            <a:off x="8732520" y="2596896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Xác định ai đang gửi Request.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8732520" y="3273552"/>
            <a:ext cx="2084832" cy="274320"/>
          </a:xfrm>
          <a:prstGeom prst="roundRect">
            <a:avLst>
              <a:gd name="adj" fmla="val 46667"/>
            </a:avLst>
          </a:prstGeom>
          <a:solidFill>
            <a:srgbClr val="EEF3FA"/>
          </a:solidFill>
          <a:ln w="10160">
            <a:solidFill>
              <a:srgbClr val="EEF3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842248" y="330555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(Buổi 07)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694944" y="3858768"/>
            <a:ext cx="3685032" cy="1682496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5256" y="4078224"/>
            <a:ext cx="283464" cy="283464"/>
          </a:xfrm>
          <a:prstGeom prst="ellipse">
            <a:avLst/>
          </a:prstGeom>
          <a:solidFill>
            <a:srgbClr val="2E61C6"/>
          </a:solidFill>
          <a:ln w="12700">
            <a:solidFill>
              <a:srgbClr val="2E6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25880" y="3986784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Authorization</a:t>
            </a:r>
            <a:endParaRPr lang="en-US" sz="1730" dirty="0"/>
          </a:p>
        </p:txBody>
      </p:sp>
      <p:sp>
        <p:nvSpPr>
          <p:cNvPr id="30" name="Text 28"/>
          <p:cNvSpPr/>
          <p:nvPr/>
        </p:nvSpPr>
        <p:spPr>
          <a:xfrm>
            <a:off x="905256" y="4480560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Kiểm tra người dùng có quyền hay không.</a:t>
            </a:r>
            <a:endParaRPr lang="en-US" sz="1310" dirty="0"/>
          </a:p>
        </p:txBody>
      </p:sp>
      <p:sp>
        <p:nvSpPr>
          <p:cNvPr id="31" name="Shape 29"/>
          <p:cNvSpPr/>
          <p:nvPr/>
        </p:nvSpPr>
        <p:spPr>
          <a:xfrm>
            <a:off x="905256" y="5157216"/>
            <a:ext cx="2084832" cy="274320"/>
          </a:xfrm>
          <a:prstGeom prst="roundRect">
            <a:avLst>
              <a:gd name="adj" fmla="val 46667"/>
            </a:avLst>
          </a:prstGeom>
          <a:solidFill>
            <a:srgbClr val="EEF3FA"/>
          </a:solidFill>
          <a:ln w="10160">
            <a:solidFill>
              <a:srgbClr val="EEF3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14984" y="518922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/ Policy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4608576" y="3858768"/>
            <a:ext cx="3685032" cy="1682496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18888" y="4078224"/>
            <a:ext cx="283464" cy="283464"/>
          </a:xfrm>
          <a:prstGeom prst="ellipse">
            <a:avLst/>
          </a:prstGeom>
          <a:solidFill>
            <a:srgbClr val="2E61C6"/>
          </a:solidFill>
          <a:ln w="12700">
            <a:solidFill>
              <a:srgbClr val="2E6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39512" y="3986784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CORS</a:t>
            </a:r>
            <a:endParaRPr lang="en-US" sz="1730" dirty="0"/>
          </a:p>
        </p:txBody>
      </p:sp>
      <p:sp>
        <p:nvSpPr>
          <p:cNvPr id="36" name="Text 34"/>
          <p:cNvSpPr/>
          <p:nvPr/>
        </p:nvSpPr>
        <p:spPr>
          <a:xfrm>
            <a:off x="4818888" y="4480560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Quy định trình duyệt được phép truy cập chéo nguồn.</a:t>
            </a:r>
            <a:endParaRPr lang="en-US" sz="1310" dirty="0"/>
          </a:p>
        </p:txBody>
      </p:sp>
      <p:sp>
        <p:nvSpPr>
          <p:cNvPr id="37" name="Shape 35"/>
          <p:cNvSpPr/>
          <p:nvPr/>
        </p:nvSpPr>
        <p:spPr>
          <a:xfrm>
            <a:off x="4818888" y="5157216"/>
            <a:ext cx="2084832" cy="274320"/>
          </a:xfrm>
          <a:prstGeom prst="roundRect">
            <a:avLst>
              <a:gd name="adj" fmla="val 46667"/>
            </a:avLst>
          </a:prstGeom>
          <a:solidFill>
            <a:srgbClr val="EEF3FA"/>
          </a:solidFill>
          <a:ln w="10160">
            <a:solidFill>
              <a:srgbClr val="EEF3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28616" y="518922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cors</a:t>
            </a:r>
            <a:endParaRPr lang="en-US" sz="910" dirty="0"/>
          </a:p>
        </p:txBody>
      </p:sp>
      <p:sp>
        <p:nvSpPr>
          <p:cNvPr id="39" name="Shape 37"/>
          <p:cNvSpPr/>
          <p:nvPr/>
        </p:nvSpPr>
        <p:spPr>
          <a:xfrm>
            <a:off x="8522208" y="3858768"/>
            <a:ext cx="3685032" cy="1682496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732520" y="4078224"/>
            <a:ext cx="283464" cy="283464"/>
          </a:xfrm>
          <a:prstGeom prst="ellipse">
            <a:avLst/>
          </a:prstGeom>
          <a:solidFill>
            <a:srgbClr val="2E61C6"/>
          </a:solidFill>
          <a:ln w="12700">
            <a:solidFill>
              <a:srgbClr val="2E6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153144" y="3986784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Handling</a:t>
            </a:r>
            <a:endParaRPr lang="en-US" sz="1730" dirty="0"/>
          </a:p>
        </p:txBody>
      </p:sp>
      <p:sp>
        <p:nvSpPr>
          <p:cNvPr id="42" name="Text 40"/>
          <p:cNvSpPr/>
          <p:nvPr/>
        </p:nvSpPr>
        <p:spPr>
          <a:xfrm>
            <a:off x="8732520" y="4480560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Tiếp nhận và phản hồi lỗi nhất quán.</a:t>
            </a:r>
            <a:endParaRPr lang="en-US" sz="1310" dirty="0"/>
          </a:p>
        </p:txBody>
      </p:sp>
      <p:sp>
        <p:nvSpPr>
          <p:cNvPr id="43" name="Shape 41"/>
          <p:cNvSpPr/>
          <p:nvPr/>
        </p:nvSpPr>
        <p:spPr>
          <a:xfrm>
            <a:off x="8732520" y="5157216"/>
            <a:ext cx="2084832" cy="274320"/>
          </a:xfrm>
          <a:prstGeom prst="roundRect">
            <a:avLst>
              <a:gd name="adj" fmla="val 46667"/>
            </a:avLst>
          </a:prstGeom>
          <a:solidFill>
            <a:srgbClr val="EEF3FA"/>
          </a:solidFill>
          <a:ln w="10160">
            <a:solidFill>
              <a:srgbClr val="EEF3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842248" y="518922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next(err)</a:t>
            </a:r>
            <a:endParaRPr lang="en-US" sz="910" dirty="0"/>
          </a:p>
        </p:txBody>
      </p:sp>
      <p:sp>
        <p:nvSpPr>
          <p:cNvPr id="45" name="Shape 43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Authentication = bạn là ai? Authorization = bạn có được phép làm không?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PHẠM VI &amp; THỨ TỰ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 được gắn ở đâu?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Application-level, Router-level, Route-level và Error Handler.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04088" y="1956816"/>
            <a:ext cx="6611112" cy="3529584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167128"/>
            <a:ext cx="6172200" cy="3026664"/>
          </a:xfrm>
          <a:prstGeom prst="roundRect">
            <a:avLst>
              <a:gd name="adj" fmla="val 4834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4712" y="2331720"/>
            <a:ext cx="5779008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app.ts</a:t>
            </a: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app.use(express.json());   // Toàn ứng dụng</a:t>
            </a: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app.use(morgan("dev"));    // Toàn ứng dụng</a:t>
            </a: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app.use("/api", courseRouter);</a:t>
            </a: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course.routes.ts</a:t>
            </a: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router.post("/courses", validateBody(schema), create);</a:t>
            </a: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Handler nhận lỗi: đặt sau routes</a:t>
            </a: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app.use(errorHandler);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7543800" y="1956816"/>
            <a:ext cx="3977640" cy="3529584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99832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GIẢI THÍCH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99832" y="2752344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82712" y="2660904"/>
            <a:ext cx="3218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app.use(): tác động lên các Request khớp đường dẫn, theo thứ tự khai báo.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7799832" y="3364992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82712" y="3273552"/>
            <a:ext cx="3218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router.use(): dùng chung bên trong một Router.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7799832" y="3977640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82712" y="3886200"/>
            <a:ext cx="3218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router.post(...): riêng cho Route POST đó.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7799832" y="4590288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82712" y="4498848"/>
            <a:ext cx="3218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Handler: hàm 4 tham số (err, req, res, next).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Đặt express.json() và Middleware cần thiết trước các Route sử dụng chúng.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KIỂM TRA ĐẦU VÀO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là gì? Vì sao phải kiểm tra?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giúp xác nhận dữ liệu đúng quy tắc trước khi xử lý.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94944" y="2020824"/>
            <a:ext cx="5559552" cy="3529584"/>
          </a:xfrm>
          <a:prstGeom prst="roundRect">
            <a:avLst>
              <a:gd name="adj" fmla="val 4663"/>
            </a:avLst>
          </a:prstGeom>
          <a:solidFill>
            <a:srgbClr val="F9FC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544" y="2276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ĐỊNH NGHĨA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" y="2679192"/>
            <a:ext cx="49560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là quá trình kiểm tra dữ liệu nhận được có đáp ứng các quy tắc đã định nghĩa hay không.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2702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 dụ: email đúng định dạng, tên không rỗng, số tín chỉ trong khoảng 1–10.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455664" y="2020824"/>
            <a:ext cx="5010912" cy="3529584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39128" y="226771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Tại sao cần?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75704" y="2926080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58584" y="2834640"/>
            <a:ext cx="4178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Thông báo lỗi rõ ràng cho Client.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6775704" y="3474720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58584" y="3383280"/>
            <a:ext cx="4178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đưa dữ liệu sai vào logic nghiệp vụ.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6775704" y="4023360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58584" y="3931920"/>
            <a:ext cx="4178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Hạn chế lỗi không cần thiết khi gọi Database.</a:t>
            </a:r>
            <a:endParaRPr lang="en-US" sz="1430" dirty="0"/>
          </a:p>
        </p:txBody>
      </p:sp>
      <p:sp>
        <p:nvSpPr>
          <p:cNvPr id="21" name="Shape 19"/>
          <p:cNvSpPr/>
          <p:nvPr/>
        </p:nvSpPr>
        <p:spPr>
          <a:xfrm>
            <a:off x="6775704" y="4572000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58584" y="4480560"/>
            <a:ext cx="4178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Dễ tái sử dụng quy tắc trên nhiều Route.</a:t>
            </a:r>
            <a:endParaRPr lang="en-US" sz="1430" dirty="0"/>
          </a:p>
        </p:txBody>
      </p:sp>
      <p:sp>
        <p:nvSpPr>
          <p:cNvPr id="23" name="Shape 21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Validation phía Server vẫn cần thiết dù giao diện Frontend đã kiểm tra.</a:t>
            </a:r>
            <a:endParaRPr lang="en-US" sz="11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RỦI RO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Dữ liệu sai có thể dẫn đến điều gì?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Cùng một API nhưng dữ liệu Client gửi đến rất khác nhau.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22376" y="1993392"/>
            <a:ext cx="553212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32688" y="2212848"/>
            <a:ext cx="256032" cy="256032"/>
          </a:xfrm>
          <a:prstGeom prst="ellipse">
            <a:avLst/>
          </a:prstGeom>
          <a:solidFill>
            <a:srgbClr val="CD5360"/>
          </a:solidFill>
          <a:ln w="12700">
            <a:solidFill>
              <a:srgbClr val="CD53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35024" y="213969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Thiếu trường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0976" y="2660904"/>
            <a:ext cx="2304288" cy="374904"/>
          </a:xfrm>
          <a:prstGeom prst="roundRect">
            <a:avLst>
              <a:gd name="adj" fmla="val 24390"/>
            </a:avLst>
          </a:prstGeom>
          <a:solidFill>
            <a:srgbClr val="FFF0F1"/>
          </a:solidFill>
          <a:ln w="10160">
            <a:solidFill>
              <a:srgbClr val="FFF0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5568" y="2779776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CD536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{}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3419856" y="271576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biết tên môn để tạo.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6537960" y="1993392"/>
            <a:ext cx="553212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48272" y="2212848"/>
            <a:ext cx="256032" cy="256032"/>
          </a:xfrm>
          <a:prstGeom prst="ellipse">
            <a:avLst/>
          </a:prstGeom>
          <a:solidFill>
            <a:srgbClr val="CD5360"/>
          </a:solidFill>
          <a:ln w="12700">
            <a:solidFill>
              <a:srgbClr val="CD53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50608" y="213969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kiểu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766560" y="2660904"/>
            <a:ext cx="2304288" cy="374904"/>
          </a:xfrm>
          <a:prstGeom prst="roundRect">
            <a:avLst>
              <a:gd name="adj" fmla="val 24390"/>
            </a:avLst>
          </a:prstGeom>
          <a:solidFill>
            <a:srgbClr val="FFF0F1"/>
          </a:solidFill>
          <a:ln w="10160">
            <a:solidFill>
              <a:srgbClr val="FFF0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31152" y="2779776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CD536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"credits": "ba"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9235440" y="271576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Giá trị chuỗi thay vì số.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722376" y="3776472"/>
            <a:ext cx="553212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32688" y="3995928"/>
            <a:ext cx="256032" cy="256032"/>
          </a:xfrm>
          <a:prstGeom prst="ellipse">
            <a:avLst/>
          </a:prstGeom>
          <a:solidFill>
            <a:srgbClr val="CD5360"/>
          </a:solidFill>
          <a:ln w="12700">
            <a:solidFill>
              <a:srgbClr val="CD53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35024" y="392277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phạm vi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0976" y="4443984"/>
            <a:ext cx="2304288" cy="374904"/>
          </a:xfrm>
          <a:prstGeom prst="roundRect">
            <a:avLst>
              <a:gd name="adj" fmla="val 24390"/>
            </a:avLst>
          </a:prstGeom>
          <a:solidFill>
            <a:srgbClr val="FFF0F1"/>
          </a:solidFill>
          <a:ln w="10160">
            <a:solidFill>
              <a:srgbClr val="FFF0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15568" y="4562856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CD536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"credits": -3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3419856" y="449884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Số âm không hợp lệ.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6537960" y="3776472"/>
            <a:ext cx="553212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48272" y="3995928"/>
            <a:ext cx="256032" cy="256032"/>
          </a:xfrm>
          <a:prstGeom prst="ellipse">
            <a:avLst/>
          </a:prstGeom>
          <a:solidFill>
            <a:srgbClr val="CD5360"/>
          </a:solidFill>
          <a:ln w="12700">
            <a:solidFill>
              <a:srgbClr val="CD53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50608" y="392277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định dạng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766560" y="4443984"/>
            <a:ext cx="2304288" cy="374904"/>
          </a:xfrm>
          <a:prstGeom prst="roundRect">
            <a:avLst>
              <a:gd name="adj" fmla="val 24390"/>
            </a:avLst>
          </a:prstGeom>
          <a:solidFill>
            <a:srgbClr val="FFF0F1"/>
          </a:solidFill>
          <a:ln w="10160">
            <a:solidFill>
              <a:srgbClr val="FFF0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31152" y="4562856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CD536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"email": "abc"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9235440" y="449884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đúng cấu trúc email.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Schema Validation xử lý kiểu, cấu trúc và định dạng; quy tắc nghiệp vụ vẫn cần kiểm tra riêng.</a:t>
            </a:r>
            <a:endParaRPr lang="en-US" sz="11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ĐỊNH NGHĨA SCHEMA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Validation là gì?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giống như “bảng quy định” mà dữ liệu phải tuân theo.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04088" y="1947672"/>
            <a:ext cx="5660136" cy="3639312"/>
          </a:xfrm>
          <a:prstGeom prst="roundRect">
            <a:avLst>
              <a:gd name="adj" fmla="val 452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219456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= HỢP ĐỒNG DỮ LIỆU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" y="2679192"/>
            <a:ext cx="5157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1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mô tả các trường được phép nhận, kiểu dữ liệu, trường bắt buộc và những điều kiện hợp lệ.</a:t>
            </a:r>
            <a:endParaRPr lang="en-US" sz="1810" dirty="0"/>
          </a:p>
        </p:txBody>
      </p:sp>
      <p:sp>
        <p:nvSpPr>
          <p:cNvPr id="12" name="Shape 10"/>
          <p:cNvSpPr/>
          <p:nvPr/>
        </p:nvSpPr>
        <p:spPr>
          <a:xfrm>
            <a:off x="978408" y="4270248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61288" y="4178808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Kiểu: string, number, boolean...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978408" y="4626864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61288" y="4535424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Bắt buộc: required / optional.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978408" y="4983480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61288" y="4892040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Ràng buộc: min, max, email, regex...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6547104" y="1947672"/>
            <a:ext cx="4919472" cy="3639312"/>
          </a:xfrm>
          <a:prstGeom prst="roundRect">
            <a:avLst>
              <a:gd name="adj" fmla="val 452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12280" y="2176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 DỤ QUY ĐỊNH MÔN HỌC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75704" y="2706624"/>
            <a:ext cx="4443984" cy="539496"/>
          </a:xfrm>
          <a:prstGeom prst="roundRect">
            <a:avLst>
              <a:gd name="adj" fmla="val 10169"/>
            </a:avLst>
          </a:prstGeom>
          <a:solidFill>
            <a:srgbClr val="E6EFF9"/>
          </a:solidFill>
          <a:ln w="10160">
            <a:solidFill>
              <a:srgbClr val="E6EF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0296" y="28620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TRƯỜNG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39912" y="286207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KIỂU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9235440" y="2852928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QUY TẮC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775704" y="3346704"/>
            <a:ext cx="4443984" cy="539496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40296" y="35021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courseCode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8439912" y="350215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9235440" y="3493008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rỗng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75704" y="3986784"/>
            <a:ext cx="4443984" cy="539496"/>
          </a:xfrm>
          <a:prstGeom prst="roundRect">
            <a:avLst>
              <a:gd name="adj" fmla="val 10169"/>
            </a:avLst>
          </a:prstGeom>
          <a:solidFill>
            <a:srgbClr val="F9FBFD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0296" y="414223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courseName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8439912" y="414223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9235440" y="4133088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rỗng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75704" y="4626864"/>
            <a:ext cx="4443984" cy="539496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40296" y="478231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8439912" y="478231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</a:t>
            </a:r>
            <a:endParaRPr lang="en-US" sz="1170" dirty="0"/>
          </a:p>
        </p:txBody>
      </p:sp>
      <p:sp>
        <p:nvSpPr>
          <p:cNvPr id="35" name="Text 33"/>
          <p:cNvSpPr/>
          <p:nvPr/>
        </p:nvSpPr>
        <p:spPr>
          <a:xfrm>
            <a:off x="9235440" y="4773168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Số nguyên 1–10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Schema là tập quy tắc; Schema Validation là việc kiểm tra dữ liệu theo tập quy tắc đó.</a:t>
            </a:r>
            <a:endParaRPr lang="en-US" sz="11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SO SÁNH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 và Zod là gì? Khi nào chọn thư viện nào?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Cả hai đều kiểm tra dữ liệu thật khi chương trình đang chạy (runtime).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22376" y="1984248"/>
            <a:ext cx="5257800" cy="3639312"/>
          </a:xfrm>
          <a:prstGeom prst="roundRect">
            <a:avLst>
              <a:gd name="adj" fmla="val 452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22376" y="1984248"/>
            <a:ext cx="5257800" cy="630936"/>
          </a:xfrm>
          <a:prstGeom prst="roundRect">
            <a:avLst>
              <a:gd name="adj" fmla="val 21739"/>
            </a:avLst>
          </a:prstGeom>
          <a:solidFill>
            <a:srgbClr val="6857C4"/>
          </a:solidFill>
          <a:ln w="10160">
            <a:solidFill>
              <a:srgbClr val="6857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1579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</a:t>
            </a:r>
            <a:endParaRPr lang="en-US" sz="2030" dirty="0"/>
          </a:p>
        </p:txBody>
      </p:sp>
      <p:sp>
        <p:nvSpPr>
          <p:cNvPr id="12" name="Text 10"/>
          <p:cNvSpPr/>
          <p:nvPr/>
        </p:nvSpPr>
        <p:spPr>
          <a:xfrm>
            <a:off x="3145536" y="2176272"/>
            <a:ext cx="2532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JavaScript-first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969264" y="2825496"/>
            <a:ext cx="4773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Thư viện Validation phổ biến trong Node.js, định nghĩa quy tắc bằng Joi.object(), Joi.string()...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978408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6857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NÊN DÙNG KHI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14984" y="4114800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97864" y="40233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Dự án JavaScript có sẵn đang dùng Joi.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014984" y="4462272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97864" y="437083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Cần nhiều quy tắc điều kiện phức tạp.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1014984" y="4809744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97864" y="471830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Đội nhóm đã quen Joi.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941832" y="5193792"/>
            <a:ext cx="4809744" cy="274320"/>
          </a:xfrm>
          <a:prstGeom prst="roundRect">
            <a:avLst>
              <a:gd name="adj" fmla="val 20000"/>
            </a:avLst>
          </a:prstGeom>
          <a:solidFill>
            <a:srgbClr val="EAF0F7"/>
          </a:solidFill>
          <a:ln w="1016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33272" y="5276088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13243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Joi.object({ credits: Joi.number().min(1) })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6190488" y="1984248"/>
            <a:ext cx="5257800" cy="3639312"/>
          </a:xfrm>
          <a:prstGeom prst="roundRect">
            <a:avLst>
              <a:gd name="adj" fmla="val 452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90488" y="1984248"/>
            <a:ext cx="5257800" cy="630936"/>
          </a:xfrm>
          <a:prstGeom prst="roundRect">
            <a:avLst>
              <a:gd name="adj" fmla="val 21739"/>
            </a:avLst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28232" y="21579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ZOD</a:t>
            </a:r>
            <a:endParaRPr lang="en-US" sz="2030" dirty="0"/>
          </a:p>
        </p:txBody>
      </p:sp>
      <p:sp>
        <p:nvSpPr>
          <p:cNvPr id="26" name="Text 24"/>
          <p:cNvSpPr/>
          <p:nvPr/>
        </p:nvSpPr>
        <p:spPr>
          <a:xfrm>
            <a:off x="8613648" y="2176272"/>
            <a:ext cx="2532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TypeScript-first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6437376" y="2825496"/>
            <a:ext cx="4773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Thư viện tạo Schema kiểm tra dữ liệu runtime và suy luận kiểu TypeScript bằng z.infer&lt;&gt;.</a:t>
            </a:r>
            <a:endParaRPr lang="en-US" sz="1410" dirty="0"/>
          </a:p>
        </p:txBody>
      </p:sp>
      <p:sp>
        <p:nvSpPr>
          <p:cNvPr id="28" name="Text 26"/>
          <p:cNvSpPr/>
          <p:nvPr/>
        </p:nvSpPr>
        <p:spPr>
          <a:xfrm>
            <a:off x="644652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00A8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NÊN DÙNG KHI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83096" y="4114800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65976" y="40233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Dự án viết mới bằng TypeScript.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483096" y="4462272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65976" y="437083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Muốn Schema và kiểu TS đồng bộ.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483096" y="4809744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65976" y="471830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Muốn tái sử dụng Schema giữa các tầng.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6409944" y="5193792"/>
            <a:ext cx="4809744" cy="274320"/>
          </a:xfrm>
          <a:prstGeom prst="roundRect">
            <a:avLst>
              <a:gd name="adj" fmla="val 20000"/>
            </a:avLst>
          </a:prstGeom>
          <a:solidFill>
            <a:srgbClr val="EAF0F7"/>
          </a:solidFill>
          <a:ln w="1016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01384" y="5276088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13243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z.object({ credits: z.number().min(1) })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Với khóa học này: ưu tiên Zod do ví dụ sử dụng TypeScript; Joi vẫn là lựa chọn hợp lệ.</a:t>
            </a:r>
            <a:endParaRPr lang="en-US" sz="11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VÍ DỤ TYPESCRIPT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Tạo Schema bằng Zod: từng quy tắc một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dùng để kiểm tra dữ liệu tạo môn học trong API POST.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13232" y="1956816"/>
            <a:ext cx="6757416" cy="367588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SRC/VALIDATIONS/COURSE.SCHEMA.TS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0976" y="2551176"/>
            <a:ext cx="6272784" cy="2852928"/>
          </a:xfrm>
          <a:prstGeom prst="roundRect">
            <a:avLst>
              <a:gd name="adj" fmla="val 5128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61288" y="2715768"/>
            <a:ext cx="58795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{ z } from "zod";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export const courseSchema = z.object({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courseCode: z.string().trim().min(1),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courseName: z.string().trim().min(1),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credits: z.number().int().min(1).max(10)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});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export type CourseInput =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z.infer&lt;typeof courseSchema&gt;;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08392" y="1956816"/>
            <a:ext cx="3776472" cy="367588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64424" y="215798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ĐỌC CODE NHƯ THẾ NÀO?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82712" y="2642616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65592" y="2551176"/>
            <a:ext cx="30723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z.object(): dữ liệu là một Object.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7982712" y="3035808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65592" y="2944368"/>
            <a:ext cx="30723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z.string(): bắt buộc là chuỗi.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982712" y="3429000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65592" y="3337560"/>
            <a:ext cx="30723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trim(): loại khoảng trắng thừa.</a:t>
            </a:r>
            <a:endParaRPr lang="en-US" sz="1210" dirty="0"/>
          </a:p>
        </p:txBody>
      </p:sp>
      <p:sp>
        <p:nvSpPr>
          <p:cNvPr id="21" name="Shape 19"/>
          <p:cNvSpPr/>
          <p:nvPr/>
        </p:nvSpPr>
        <p:spPr>
          <a:xfrm>
            <a:off x="7982712" y="3822192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65592" y="3730752"/>
            <a:ext cx="30723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min(1): không được rỗng.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7982712" y="4215384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65592" y="4123944"/>
            <a:ext cx="30723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z.number().int(): số nguyên.</a:t>
            </a:r>
            <a:endParaRPr lang="en-US" sz="1210" dirty="0"/>
          </a:p>
        </p:txBody>
      </p:sp>
      <p:sp>
        <p:nvSpPr>
          <p:cNvPr id="25" name="Shape 23"/>
          <p:cNvSpPr/>
          <p:nvPr/>
        </p:nvSpPr>
        <p:spPr>
          <a:xfrm>
            <a:off x="7982712" y="4608576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65592" y="4517136"/>
            <a:ext cx="30723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max(10): tối đa 10 tín chỉ.</a:t>
            </a:r>
            <a:endParaRPr lang="en-US" sz="1210" dirty="0"/>
          </a:p>
        </p:txBody>
      </p:sp>
      <p:sp>
        <p:nvSpPr>
          <p:cNvPr id="27" name="Shape 25"/>
          <p:cNvSpPr/>
          <p:nvPr/>
        </p:nvSpPr>
        <p:spPr>
          <a:xfrm>
            <a:off x="7982712" y="5001768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65592" y="4910328"/>
            <a:ext cx="30723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z.infer&lt;&gt;: suy ra kiểu TypeScript.</a:t>
            </a:r>
            <a:endParaRPr lang="en-US" sz="1210" dirty="0"/>
          </a:p>
        </p:txBody>
      </p:sp>
      <p:sp>
        <p:nvSpPr>
          <p:cNvPr id="29" name="Shape 27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Zod không tự biến chuỗi "3" thành số 3 khi dùng z.number() mặc định.</a:t>
            </a:r>
            <a:endParaRPr lang="en-US" sz="11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KIỂM TRA BẰNG SAFE PARSE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Khi Validation thành công hoặc thất bại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safeParse() trả kết quả success = true/false, không ném lỗi Validation.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31520" y="1984248"/>
            <a:ext cx="6574536" cy="3639312"/>
          </a:xfrm>
          <a:prstGeom prst="roundRect">
            <a:avLst>
              <a:gd name="adj" fmla="val 452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2194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SRC/MIDDLEWARES/VALIDATE.MIDDLEWARE.TS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" y="2523744"/>
            <a:ext cx="6153912" cy="2889504"/>
          </a:xfrm>
          <a:prstGeom prst="roundRect">
            <a:avLst>
              <a:gd name="adj" fmla="val 5063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2688336"/>
            <a:ext cx="57607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{ RequestHandler } from "express";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{ ZodType } from "zod";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export const validateBody = (schema: ZodType): RequestHandler =&gt;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(req, res, next) =&gt; {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const result = schema.safeParse(req.body);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(!result.success) {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res.status(400).json({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errors: result.error.issues.map(e =&gt; e.message)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});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return;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req.body = result.data;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next();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0" y="1984248"/>
            <a:ext cx="3931920" cy="1673352"/>
          </a:xfrm>
          <a:prstGeom prst="roundRect">
            <a:avLst>
              <a:gd name="adj" fmla="val 9836"/>
            </a:avLst>
          </a:prstGeom>
          <a:solidFill>
            <a:srgbClr val="EFFAF4"/>
          </a:solidFill>
          <a:ln w="10160">
            <a:solidFill>
              <a:srgbClr val="D0E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08976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138A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DỮ LIỆU ĐÚNG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08976" y="2724912"/>
            <a:ext cx="3364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= true → gắn body đã được kiểm tra → next().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43800" y="3950208"/>
            <a:ext cx="3931920" cy="1664208"/>
          </a:xfrm>
          <a:prstGeom prst="roundRect">
            <a:avLst>
              <a:gd name="adj" fmla="val 9890"/>
            </a:avLst>
          </a:prstGeom>
          <a:solidFill>
            <a:srgbClr val="FFF6F6"/>
          </a:solidFill>
          <a:ln w="10160">
            <a:solidFill>
              <a:srgbClr val="F1D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08976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CD53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DỮ LIỆU SAI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08976" y="4690872"/>
            <a:ext cx="3364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= false → HTTP 400 + danh sách thông báo lỗi.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HTTP 400 = Request có dữ liệu không hợp lệ; HTTP 500 không dùng cho lỗi nhập liệu thông thường.</a:t>
            </a:r>
            <a:endParaRPr lang="en-US" sz="11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MINH HỌA CODE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Viết Middleware đầu tiên: chưa cần thư viện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Hiểu cấu trúc hàm kiểm tra thủ công trước khi dùng Zod / Joi.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94944" y="1993392"/>
            <a:ext cx="6629400" cy="3593592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220370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SRC/MIDDLEWARES/CHECK-COURSE.MIDDLEWARE.TS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" y="2578608"/>
            <a:ext cx="6144768" cy="2843784"/>
          </a:xfrm>
          <a:prstGeom prst="roundRect">
            <a:avLst>
              <a:gd name="adj" fmla="val 5145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57515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{ Request, Response, NextFunction }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from "express";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export function checkCourse(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req: Request, res: Response, next: NextFunction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 {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const name = req.body?.courseName;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if (typeof name !== "string" || !name.trim()) {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res.status(400).json({ message: "Tên không hợp lệ" });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next();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62088" y="1993392"/>
            <a:ext cx="3931920" cy="3593592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2221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ĐỌC THEO THỨ TỰ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54112" y="2606040"/>
            <a:ext cx="3529584" cy="786384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27848" y="2761488"/>
            <a:ext cx="329184" cy="329184"/>
          </a:xfrm>
          <a:prstGeom prst="ellipse">
            <a:avLst/>
          </a:prstGeom>
          <a:solidFill>
            <a:srgbClr val="2E61C6"/>
          </a:solidFill>
          <a:ln w="12700">
            <a:solidFill>
              <a:srgbClr val="2E6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27848" y="2862072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8412480" y="27249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Lấy dữ liệu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30449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Đọc courseName từ req.body.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754112" y="3520440"/>
            <a:ext cx="3529584" cy="786384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27848" y="3675888"/>
            <a:ext cx="329184" cy="329184"/>
          </a:xfrm>
          <a:prstGeom prst="ellipse">
            <a:avLst/>
          </a:prstGeom>
          <a:solidFill>
            <a:srgbClr val="CD5360"/>
          </a:solidFill>
          <a:ln w="12700">
            <a:solidFill>
              <a:srgbClr val="CD53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27848" y="3776472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70" dirty="0"/>
          </a:p>
        </p:txBody>
      </p:sp>
      <p:sp>
        <p:nvSpPr>
          <p:cNvPr id="23" name="Text 21"/>
          <p:cNvSpPr/>
          <p:nvPr/>
        </p:nvSpPr>
        <p:spPr>
          <a:xfrm>
            <a:off x="8412480" y="36393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Kiểm tra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0" y="39593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Nếu không hợp lệ: trả 400 và return.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754112" y="4425696"/>
            <a:ext cx="3529584" cy="786384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927848" y="4581144"/>
            <a:ext cx="329184" cy="329184"/>
          </a:xfrm>
          <a:prstGeom prst="ellipse">
            <a:avLst/>
          </a:prstGeom>
          <a:solidFill>
            <a:srgbClr val="138A69"/>
          </a:solidFill>
          <a:ln w="12700">
            <a:solidFill>
              <a:srgbClr val="138A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27848" y="4681728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70" dirty="0"/>
          </a:p>
        </p:txBody>
      </p:sp>
      <p:sp>
        <p:nvSpPr>
          <p:cNvPr id="28" name="Text 26"/>
          <p:cNvSpPr/>
          <p:nvPr/>
        </p:nvSpPr>
        <p:spPr>
          <a:xfrm>
            <a:off x="8412480" y="45445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 qua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0" y="48646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Nếu hợp lệ: gọi next().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Tự viết if hữu ích để học; thư viện Schema giúp quản lý nhiều quy tắc hơn.</a:t>
            </a:r>
            <a:endParaRPr lang="en-US" sz="11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CẤU TRÚC DỰ ÁN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 nằm ở đâu trong cây thư mục?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Tách mỗi nhiệm vụ thành file rõ ràng để dễ tìm và tái sử dụng.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22376" y="1947672"/>
            <a:ext cx="5276088" cy="3694176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41832" y="2176272"/>
            <a:ext cx="4846320" cy="3236976"/>
          </a:xfrm>
          <a:prstGeom prst="roundRect">
            <a:avLst>
              <a:gd name="adj" fmla="val 4520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52144" y="2340864"/>
            <a:ext cx="445312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backend-buoi6/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└── src/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├── app.ts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├── routes/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│   └── course.routes.ts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├── middlewares/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│   └── validate.middleware.ts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├── validations/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│   └── course.schema.ts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└── controllers/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└── course.controller.ts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2784" y="1947672"/>
            <a:ext cx="5202936" cy="630936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28232" y="2066544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9F1FD"/>
          </a:solidFill>
          <a:ln w="10160">
            <a:solidFill>
              <a:srgbClr val="E9F1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9672" y="2180844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app.ts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8074152" y="212140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Tạo app, cấu hình middleware chung.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6272784" y="2670048"/>
            <a:ext cx="5202936" cy="630936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28232" y="27889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9F1FD"/>
          </a:solidFill>
          <a:ln w="10160">
            <a:solidFill>
              <a:srgbClr val="E9F1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19672" y="2903220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routes/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8074152" y="284378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Ghép đường dẫn + middleware + controller.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6272784" y="3392424"/>
            <a:ext cx="5202936" cy="630936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28232" y="3511296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9F1FD"/>
          </a:solidFill>
          <a:ln w="10160">
            <a:solidFill>
              <a:srgbClr val="E9F1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9672" y="3625596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middlewares/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8074152" y="356616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Kiểm tra và điều khiển luồng.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6272784" y="4114800"/>
            <a:ext cx="5202936" cy="630936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28232" y="423367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9F1FD"/>
          </a:solidFill>
          <a:ln w="10160">
            <a:solidFill>
              <a:srgbClr val="E9F1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9672" y="4347972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validations/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8074152" y="4288536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Định nghĩa các quy tắc Schema.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6272784" y="4837176"/>
            <a:ext cx="5202936" cy="630936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28232" y="495604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9F1FD"/>
          </a:solidFill>
          <a:ln w="10160">
            <a:solidFill>
              <a:srgbClr val="E9F1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19672" y="5070348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controllers/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8074152" y="5010912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Tiếp nhận Request hợp lệ để xử lý.</a:t>
            </a:r>
            <a:endParaRPr lang="en-US" sz="1270" dirty="0"/>
          </a:p>
        </p:txBody>
      </p:sp>
      <p:sp>
        <p:nvSpPr>
          <p:cNvPr id="32" name="Shape 30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Tách file giúp các Route tái sử dụng Middleware mà không copy lại logic.</a:t>
            </a:r>
            <a:endParaRPr lang="en-US" sz="11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TÍCH HỢP API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Gắn Zod Middleware vào Route POST / PUT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 chạy trước Controller theo thứ tự khai báo trong Route.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22376" y="1965960"/>
            <a:ext cx="6684264" cy="3593592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215798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SRC/ROUTES/COURSE.ROUTES.TS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9264" y="2532888"/>
            <a:ext cx="6208776" cy="2798064"/>
          </a:xfrm>
          <a:prstGeom prst="roundRect">
            <a:avLst>
              <a:gd name="adj" fmla="val 5229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9576" y="2697480"/>
            <a:ext cx="581558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{ Router } from "express";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{ courseSchema } from "../validations/course.schema";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{ validateBody } from "../middlewares/validate.middleware";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{ createCourse, updateCourse }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from "../controllers/course.controller";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router = Router();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router.post("/", validateBody(courseSchema), createCourse);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router.put("/:id", validateBody(courseSchema), updateCourse);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export default router;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7626096" y="1965960"/>
            <a:ext cx="3840480" cy="3593592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63840" y="2203704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DIỄN GIẢI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2984" y="2825496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55864" y="2734056"/>
            <a:ext cx="3090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Trong app.ts: app.use("/api/courses", router).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7872984" y="3438144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55864" y="3346704"/>
            <a:ext cx="3090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POST: yêu cầu các trường theo Schema.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7872984" y="4050792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55864" y="3959352"/>
            <a:ext cx="3090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PUT: ví dụ cập nhật đầy đủ các trường.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7872984" y="4663440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55864" y="4572000"/>
            <a:ext cx="3090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→ 400; đúng → next() → Controller.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Nếu dùng PATCH cập nhật một phần, cần Schema riêng, chẳng hạn courseSchema.partial().</a:t>
            </a:r>
            <a:endParaRPr lang="en-US" sz="11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THỰC HÀNH NHANH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Kiểm thử Postman và dùng AI để review code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Gửi dữ liệu tốt / xấu và quan sát Status Code, Response Body.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22376" y="1956816"/>
            <a:ext cx="5495544" cy="3639312"/>
          </a:xfrm>
          <a:prstGeom prst="roundRect">
            <a:avLst>
              <a:gd name="adj" fmla="val 452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BỐN CA KIỂM THỬ QUAN TRỌNG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" y="2697480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F4F8FD"/>
          </a:solidFill>
          <a:ln w="1016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8992" y="2862072"/>
            <a:ext cx="283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A8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1499616" y="28529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Đúng đầy đủ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3831336" y="285292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38A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 Created (nếu tạo thành công)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932688" y="3282696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" y="3447288"/>
            <a:ext cx="283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A8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1499616" y="34381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Thiếu courseName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3831336" y="343814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CD53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Bad Request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932688" y="3867912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F4F8FD"/>
          </a:solidFill>
          <a:ln w="1016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8992" y="4032504"/>
            <a:ext cx="283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A8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1499616" y="4023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 = -3</a:t>
            </a:r>
            <a:endParaRPr lang="en-US" sz="1360" dirty="0"/>
          </a:p>
        </p:txBody>
      </p:sp>
      <p:sp>
        <p:nvSpPr>
          <p:cNvPr id="22" name="Text 20"/>
          <p:cNvSpPr/>
          <p:nvPr/>
        </p:nvSpPr>
        <p:spPr>
          <a:xfrm>
            <a:off x="3831336" y="402336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CD53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Bad Request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932688" y="4453128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78992" y="4617720"/>
            <a:ext cx="283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A8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1499616" y="46085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 = "3"</a:t>
            </a:r>
            <a:endParaRPr lang="en-US" sz="1360" dirty="0"/>
          </a:p>
        </p:txBody>
      </p:sp>
      <p:sp>
        <p:nvSpPr>
          <p:cNvPr id="26" name="Text 24"/>
          <p:cNvSpPr/>
          <p:nvPr/>
        </p:nvSpPr>
        <p:spPr>
          <a:xfrm>
            <a:off x="3831336" y="4608576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CD53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Bad Request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6446520" y="1956816"/>
            <a:ext cx="5020056" cy="3639312"/>
          </a:xfrm>
          <a:prstGeom prst="roundRect">
            <a:avLst>
              <a:gd name="adj" fmla="val 4523"/>
            </a:avLst>
          </a:prstGeom>
          <a:solidFill>
            <a:srgbClr val="F6FBFD"/>
          </a:solidFill>
          <a:ln w="10160">
            <a:solidFill>
              <a:srgbClr val="D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84264" y="2176272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AI ĐÚNG TRỌNG TÂM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11696" y="2660904"/>
            <a:ext cx="43891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"Hãy viết Middleware Validation bằng Zod và TypeScript cho POST /api/courses: courseCode, courseName không rỗng; credits là số nguyên từ 1 đến 10. Nếu sai, trả HTTP 400 với mảng lỗi. Nếu đúng, gọi next(). Hãy giải thích code và đề xuất test case."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11696" y="4782312"/>
            <a:ext cx="44074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AI: có next()? có trả đúng 400? có kiểm tra sai kiểu và dữ liệu trống?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Đừng chỉ hỏi AI “viết code”: hãy đưa đầu vào, quy tắc, đầu ra và test case.</a:t>
            </a:r>
            <a:endParaRPr lang="en-US" sz="11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NHẬT KÝ TRUY CẬP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 Middleware là gì?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 giống như sổ trực ban: ghi lại hoạt động đã diễn ra.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13232" y="1993392"/>
            <a:ext cx="5276088" cy="3639312"/>
          </a:xfrm>
          <a:prstGeom prst="roundRect">
            <a:avLst>
              <a:gd name="adj" fmla="val 4523"/>
            </a:avLst>
          </a:prstGeom>
          <a:solidFill>
            <a:srgbClr val="F8FB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2258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ĐỊNH NGHĨA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" y="2724912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6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 Middleware ghi thông tin về các Request/Response để theo dõi, kiểm tra lỗi và phân tích hoạt động hệ thống.</a:t>
            </a:r>
            <a:endParaRPr lang="en-US" sz="1960" dirty="0"/>
          </a:p>
        </p:txBody>
      </p:sp>
      <p:sp>
        <p:nvSpPr>
          <p:cNvPr id="12" name="Text 10"/>
          <p:cNvSpPr/>
          <p:nvPr/>
        </p:nvSpPr>
        <p:spPr>
          <a:xfrm>
            <a:off x="969264" y="4297680"/>
            <a:ext cx="4718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Thông tin thường có: Method, URL, mã HTTP, thời gian phản hồi, thời điểm truy cập.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208776" y="1993392"/>
            <a:ext cx="5248656" cy="3639312"/>
          </a:xfrm>
          <a:prstGeom prst="roundRect">
            <a:avLst>
              <a:gd name="adj" fmla="val 4523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64808" y="22768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 DỤ ACCESS LOG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55664" y="2798064"/>
            <a:ext cx="4736592" cy="1463040"/>
          </a:xfrm>
          <a:prstGeom prst="roundRect">
            <a:avLst>
              <a:gd name="adj" fmla="val 10000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65976" y="2962656"/>
            <a:ext cx="4343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GET  /api/courses      200  15ms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 /api/courses      201  22ms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 /api/courses      400   4ms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PUT  /api/courses/12   200  18ms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83096" y="4572000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giúp phát hiện Client gửi dữ liệu sai; thời gian phản hồi giúp xem API có chậm hay không.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Logging dùng để quan sát hệ thống, không phải công cụ xác thực hoặc Validation.</a:t>
            </a:r>
            <a:endParaRPr lang="en-US" sz="11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ÁP DỤNG MORGAN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Morgan là gì? Ghi log vào access.log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Morgan là thư viện HTTP Request Logger cho Node.js / Express.js.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13232" y="1975104"/>
            <a:ext cx="7370064" cy="3694176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9264" y="2194560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CÀI ĐẶT VÀ CẤU HÌNH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2569464"/>
            <a:ext cx="6885432" cy="2825496"/>
          </a:xfrm>
          <a:prstGeom prst="roundRect">
            <a:avLst>
              <a:gd name="adj" fmla="val 5178"/>
            </a:avLst>
          </a:prstGeom>
          <a:solidFill>
            <a:srgbClr val="15253D"/>
          </a:solidFill>
          <a:ln w="10160">
            <a:solidFill>
              <a:srgbClr val="1525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2734056"/>
            <a:ext cx="649224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Cài đặt: npm i morgan</a:t>
            </a:r>
            <a:endParaRPr lang="en-US" sz="11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TypeScript: npm i -D @types/morgan</a:t>
            </a:r>
            <a:endParaRPr lang="en-US" sz="1170" dirty="0"/>
          </a:p>
          <a:p>
            <a:pPr marL="0" indent="0" algn="l">
              <a:lnSpc>
                <a:spcPct val="100000"/>
              </a:lnSpc>
              <a:buNone/>
            </a:pPr>
            <a:endParaRPr lang="en-US" sz="11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morgan from "morgan";</a:t>
            </a:r>
            <a:endParaRPr lang="en-US" sz="11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{ createWriteStream } from "node:fs";</a:t>
            </a:r>
            <a:endParaRPr lang="en-US" sz="11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{ join } from "node:path";</a:t>
            </a:r>
            <a:endParaRPr lang="en-US" sz="1170" dirty="0"/>
          </a:p>
          <a:p>
            <a:pPr marL="0" indent="0" algn="l">
              <a:lnSpc>
                <a:spcPct val="100000"/>
              </a:lnSpc>
              <a:buNone/>
            </a:pPr>
            <a:endParaRPr lang="en-US" sz="11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stream = createWriteStream(</a:t>
            </a:r>
            <a:endParaRPr lang="en-US" sz="11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join(process.cwd(), "access.log"), { flags: "a" }</a:t>
            </a:r>
            <a:endParaRPr lang="en-US" sz="11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);</a:t>
            </a:r>
            <a:endParaRPr lang="en-US" sz="11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app.use(morgan("combined", { stream }));</a:t>
            </a:r>
            <a:endParaRPr lang="en-US" sz="11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70" dirty="0">
                <a:solidFill>
                  <a:srgbClr val="D8E6F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Khai báo trước các Route cần ghi log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8302752" y="1975104"/>
            <a:ext cx="3163824" cy="3694176"/>
          </a:xfrm>
          <a:prstGeom prst="roundRect">
            <a:avLst>
              <a:gd name="adj" fmla="val 5202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9640" y="2194560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GIẢI THÍCH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31352" y="2761488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14232" y="2670048"/>
            <a:ext cx="25054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morgan: ghi thông tin Request.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31352" y="3246120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14232" y="3154680"/>
            <a:ext cx="25054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combined: định dạng log chi tiết.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31352" y="3730752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714232" y="3639312"/>
            <a:ext cx="25054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createWriteStream: mở file ghi.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31352" y="4215384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14232" y="4123944"/>
            <a:ext cx="25054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flags: "a": ghi nối tiếp, không xóa log cũ.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31352" y="4700016"/>
            <a:ext cx="91440" cy="91440"/>
          </a:xfrm>
          <a:prstGeom prst="ellipse">
            <a:avLst/>
          </a:prstGeom>
          <a:solidFill>
            <a:srgbClr val="00A8BC"/>
          </a:solidFill>
          <a:ln w="1270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714232" y="4608576"/>
            <a:ext cx="25054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app.use: bật cho các Route phía sau.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Không ghi mật khẩu, token hoặc dữ liệu nhạy cảm vào nhật ký.</a:t>
            </a:r>
            <a:endParaRPr lang="en-US" sz="11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" y="393192"/>
            <a:ext cx="64008" cy="393192"/>
          </a:xfrm>
          <a:prstGeom prst="rect">
            <a:avLst/>
          </a:prstGeom>
          <a:solidFill>
            <a:srgbClr val="00A8BC"/>
          </a:solidFill>
          <a:ln w="10160">
            <a:solidFill>
              <a:srgbClr val="00A8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096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0" dirty="0">
                <a:solidFill>
                  <a:srgbClr val="2E61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TỔNG KẾT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758952"/>
            <a:ext cx="10789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Tổng kết — sinh viên cần nhớ những gì?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31520" y="1380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Từ “trạm kiểm soát” đến một API có Validation và Logging.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13232" y="6592824"/>
            <a:ext cx="10762488" cy="0"/>
          </a:xfrm>
          <a:prstGeom prst="line">
            <a:avLst/>
          </a:prstGeom>
          <a:noFill/>
          <a:ln w="8890">
            <a:solidFill>
              <a:srgbClr val="DA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664768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BUỔI 06 · MIDDLEWARE &amp; VALIDATION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97896" y="66431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40664" y="1929384"/>
            <a:ext cx="3666744" cy="1545336"/>
          </a:xfrm>
          <a:prstGeom prst="roundRect">
            <a:avLst>
              <a:gd name="adj" fmla="val 10651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41832" y="2139696"/>
            <a:ext cx="356616" cy="356616"/>
          </a:xfrm>
          <a:prstGeom prst="ellipse">
            <a:avLst/>
          </a:prstGeom>
          <a:solidFill>
            <a:srgbClr val="2E61C6"/>
          </a:solidFill>
          <a:ln w="12700">
            <a:solidFill>
              <a:srgbClr val="2E6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2258568"/>
            <a:ext cx="356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1435608" y="2103120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7066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Bước xử lý trung gian trong Express.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08576" y="1929384"/>
            <a:ext cx="3666744" cy="1545336"/>
          </a:xfrm>
          <a:prstGeom prst="roundRect">
            <a:avLst>
              <a:gd name="adj" fmla="val 10651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9744" y="2139696"/>
            <a:ext cx="356616" cy="356616"/>
          </a:xfrm>
          <a:prstGeom prst="ellipse">
            <a:avLst/>
          </a:prstGeom>
          <a:solidFill>
            <a:srgbClr val="2E61C6"/>
          </a:solidFill>
          <a:ln w="12700">
            <a:solidFill>
              <a:srgbClr val="2E6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9744" y="2258568"/>
            <a:ext cx="356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5303520" y="2103120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next()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28032" y="27066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Chuyển sang bước xử lý kế tiếp.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76488" y="1929384"/>
            <a:ext cx="3666744" cy="1545336"/>
          </a:xfrm>
          <a:prstGeom prst="roundRect">
            <a:avLst>
              <a:gd name="adj" fmla="val 10651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77656" y="2139696"/>
            <a:ext cx="356616" cy="356616"/>
          </a:xfrm>
          <a:prstGeom prst="ellipse">
            <a:avLst/>
          </a:prstGeom>
          <a:solidFill>
            <a:srgbClr val="2E61C6"/>
          </a:solidFill>
          <a:ln w="12700">
            <a:solidFill>
              <a:srgbClr val="2E6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77656" y="2258568"/>
            <a:ext cx="356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9171432" y="2103120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95944" y="27066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Bộ quy tắc mô tả dữ liệu hợp lệ.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24912" y="3840480"/>
            <a:ext cx="3666744" cy="1545336"/>
          </a:xfrm>
          <a:prstGeom prst="roundRect">
            <a:avLst>
              <a:gd name="adj" fmla="val 10651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926080" y="4050792"/>
            <a:ext cx="356616" cy="356616"/>
          </a:xfrm>
          <a:prstGeom prst="ellipse">
            <a:avLst/>
          </a:prstGeom>
          <a:solidFill>
            <a:srgbClr val="138A69"/>
          </a:solidFill>
          <a:ln w="12700">
            <a:solidFill>
              <a:srgbClr val="138A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0" y="4169664"/>
            <a:ext cx="356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3419856" y="4014216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 / Zod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944368" y="4617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Thư viện kiểm tra dữ liệu runtime.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11112" y="3840480"/>
            <a:ext cx="3666744" cy="1545336"/>
          </a:xfrm>
          <a:prstGeom prst="roundRect">
            <a:avLst>
              <a:gd name="adj" fmla="val 10651"/>
            </a:avLst>
          </a:prstGeom>
          <a:solidFill>
            <a:srgbClr val="FFFFFF"/>
          </a:solidFill>
          <a:ln w="1016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12280" y="4050792"/>
            <a:ext cx="356616" cy="356616"/>
          </a:xfrm>
          <a:prstGeom prst="ellipse">
            <a:avLst/>
          </a:prstGeom>
          <a:solidFill>
            <a:srgbClr val="2E61C6"/>
          </a:solidFill>
          <a:ln w="12700">
            <a:solidFill>
              <a:srgbClr val="2E6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12280" y="4169664"/>
            <a:ext cx="356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7306056" y="4014216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Morgan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30568" y="4617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nhật ký HTTP Request.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21208" y="6080760"/>
            <a:ext cx="11137392" cy="338328"/>
          </a:xfrm>
          <a:prstGeom prst="roundRect">
            <a:avLst>
              <a:gd name="adj" fmla="val 27027"/>
            </a:avLst>
          </a:prstGeom>
          <a:solidFill>
            <a:srgbClr val="E7F7FA"/>
          </a:solidFill>
          <a:ln w="10160">
            <a:solidFill>
              <a:srgbClr val="E7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3232" y="6135624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324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 NHỚ  Buổi 07 sẽ ứng dụng Middleware để kiểm tra JWT và phân quyền người dùng.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3492</Words>
  <Application>Microsoft Office PowerPoint</Application>
  <PresentationFormat>Widescreen</PresentationFormat>
  <Paragraphs>522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DejaVu Sans Mono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Middleware &amp; Validation — Buổi 06</dc:title>
  <dc:subject>Buổi 06 · Middleware &amp; Validation</dc:subject>
  <dc:creator>Học phần Lập trình Backend - Hệ Liên thông</dc:creator>
  <cp:lastModifiedBy>NhatPot</cp:lastModifiedBy>
  <cp:revision>2</cp:revision>
  <dcterms:created xsi:type="dcterms:W3CDTF">2026-10-10T10:22:33Z</dcterms:created>
  <dcterms:modified xsi:type="dcterms:W3CDTF">2026-10-10T11:38:42Z</dcterms:modified>
</cp:coreProperties>
</file>