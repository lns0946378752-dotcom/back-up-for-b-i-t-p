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92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626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Mở đầu bằng một câu hỏi duy nhất: “Code của các em đã chạy được — vậy đã nộp cho người dùng dùng được chưa?” Ba chặng của buổi học đều quay về cùng một dự án và cùng một endpoint Login.</a:t>
            </a:r>
          </a:p>
          <a:p>
            <a:endParaRPr/>
          </a:p>
          <a:p>
            <a:r>
              <a:t>VÍ DỤ NÓI THÊM:</a:t>
            </a:r>
          </a:p>
          <a:p>
            <a:r>
              <a:t>Một API Login trả kết quả trên máy của sinh viên vẫn có thể sai logic, thiếu bảo vệ hoặc không chạy được trên máy khác — đó là lý do cần Testing, Security và Docker &amp; Deployment.</a:t>
            </a:r>
          </a:p>
          <a:p>
            <a:endParaRPr/>
          </a:p>
          <a:p>
            <a:r>
              <a:t>LƯU Ý:</a:t>
            </a:r>
          </a:p>
          <a:p>
            <a:r>
              <a:t>Không giới thiệu chi tiết từng phần ở slide này; chi tiết để dành cho Slide 03. Nhấn mạnh Vibe Coding: AI hỗ trợ viết code, lập trình viên chịu trách nhiệm kiểm soát kết quả.</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Cả ba tình huống đều lấy từ chính endpoint Login của dự án lớp, không dùng ví dụ xa lạ. Mỗi tình huống nối tới một phần học: Testing, Security, Docker &amp; Deployment.</a:t>
            </a:r>
          </a:p>
          <a:p>
            <a:endParaRPr/>
          </a:p>
          <a:p>
            <a:r>
              <a:t>HỎI NHANH:</a:t>
            </a:r>
          </a:p>
          <a:p>
            <a:r>
              <a:t>Ở tình huống 1, hỏi cả lớp: “Đây là lỗi gì — lỗi cú pháp hay lỗi logic?” Đáp án: lỗi logic — chương trình vẫn chạy, vẫn trả kết quả, nhưng kết quả sai với yêu cầu.</a:t>
            </a:r>
          </a:p>
          <a:p>
            <a:endParaRPr/>
          </a:p>
          <a:p>
            <a:r>
              <a:t>LƯU Ý TRÁNH HIỂU LẦM:</a:t>
            </a:r>
          </a:p>
          <a:p>
            <a:r>
              <a:t>“Chạy thành công” (không báo lỗi) khác với “chạy đúng”. Testing chính là cách kiểm chứng sự khác nhau đó.</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Đây là sơ đồ quan trọng nhất của phần mở đầu; sinh viên cần nhớ thứ tự 4 chặng: TEST → SECURE → DOCKER → DEPLOY.</a:t>
            </a:r>
          </a:p>
          <a:p>
            <a:endParaRPr/>
          </a:p>
          <a:p>
            <a:r>
              <a:t>ĐIỂM CẦN CHỐT:</a:t>
            </a:r>
          </a:p>
          <a:p>
            <a:r>
              <a:t>Thứ tự này cũng là thứ tự làm việc khi hoàn thiện đồ án trước buổi báo cáo. Sơ đồ này sẽ quay lại thu nhỏ ở đầu mỗi phần sau, tô sáng chặng đang học, để sinh viên luôn biết mình đang ở đâu.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Dùng ví dụ Login: nhập đúng mật khẩu thì chạy được, nhưng vẫn phải kiểm tra trường hợp sai mật khẩu. Đó là khoảng trống mà kiểm thử lấp vào.</a:t>
            </a:r>
          </a:p>
          <a:p>
            <a:endParaRPr/>
          </a:p>
          <a:p>
            <a:r>
              <a:t>PHÂN BIỆT CẦN NÓI RÕ:</a:t>
            </a:r>
          </a:p>
          <a:p>
            <a:r>
              <a:t>Kiểm thử thủ công bằng Postman (đã học ở các buổi trước) khác với kiểm thử tự động học ở phần này — tự động nghĩa là viết một chương trình kiểm tra, chạy lại được nhiều lần.</a:t>
            </a:r>
          </a:p>
          <a:p>
            <a:endParaRPr/>
          </a:p>
          <a:p>
            <a:r>
              <a:t>LƯU Ý:</a:t>
            </a:r>
          </a:p>
          <a:p>
            <a:r>
              <a:t>Testing giúp tăng độ tin cậy nhưng không bảo đảm phần mềm hoàn toàn không còn lỗi.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Chìa khoá phân biệt nằm ở cột “Đối tượng”: kiểm tra một đơn vị logic cô lập là Unit Test; kiểm tra sự phối hợp nhiều thành phần là Integration Test; kiểm tra hành vi tại giao diện HTTP là API Test.</a:t>
            </a:r>
          </a:p>
          <a:p>
            <a:endParaRPr/>
          </a:p>
          <a:p>
            <a:r>
              <a:t>CÂU HỎI THƯỜNG GẶP:</a:t>
            </a:r>
          </a:p>
          <a:p>
            <a:r>
              <a:t>Khi sinh viên hỏi “test bằng Supertest gọi là gì”, trả lời theo đối tượng được kiểm tra: nếu kiểm tra hành vi HTTP của cả ứng dụng thì đó là API Test.</a:t>
            </a:r>
          </a:p>
          <a:p>
            <a:endParaRPr/>
          </a:p>
          <a:p>
            <a:r>
              <a:t>LƯU Ý:</a:t>
            </a:r>
          </a:p>
          <a:p>
            <a:r>
              <a:t>Postman không xuất hiện trên slide này: Postman là công cụ kiểm thử thủ công và khám phá API đã học ở các buổi trước, không phải automated test.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Đây là slide cốt lõi quan trọng nhất của phần Testing. Năm thành phần của Test Case nằm bên trái; mô hình AAA bên phải là cách tổ chức ba bước khi viết test.</a:t>
            </a:r>
          </a:p>
          <a:p>
            <a:endParaRPr/>
          </a:p>
          <a:p>
            <a:r>
              <a:t>ĐIỂM CẦN CHỐT:</a:t>
            </a:r>
          </a:p>
          <a:p>
            <a:r>
              <a:t>Sinh viên không viết được Expected Result rõ ràng thì AI cũng không viết được test tốt. Muốn AI viết được Test Case tốt, lập trình viên phải mô tả kết quả mong đợi rõ ràng trước.</a:t>
            </a:r>
          </a:p>
          <a:p>
            <a:endParaRPr/>
          </a:p>
          <a:p>
            <a:r>
              <a:t>VÍ DỤ:</a:t>
            </a:r>
          </a:p>
          <a:p>
            <a:r>
              <a:t>Với Login: Input là email + mật khẩu sai; Action là gọi chức năng đăng nhập; Expected Result là bị từ chối và không được cấp JWT.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Cả hai ví dụ đều xoay quanh Login: ví dụ Jest kiểm tra một hàm logic thuần dễ cô lập (kiemTraThongTinDangNhap); ví dụ Supertest kiểm tra hành vi HTTP của API Login. Không đi sâu cấu hình Jest ở slide này.</a:t>
            </a:r>
          </a:p>
          <a:p>
            <a:endParaRPr/>
          </a:p>
          <a:p>
            <a:r>
              <a:t>THÔNG ĐIỆP:</a:t>
            </a:r>
          </a:p>
          <a:p>
            <a:r>
              <a:t>Không cần thuộc lòng code, nhưng phải đọc được đang kiểm tra cái gì và mong đợi kết quả gì. Nếu sinh viên chỉ đọc được code mà không nói được Expected Result, coi như chưa đạt yêu cầu của slide.</a:t>
            </a:r>
          </a:p>
          <a:p>
            <a:endParaRPr/>
          </a:p>
          <a:p>
            <a:r>
              <a:t>ĐÁP ÁN ĐIỂM DỪNG:</a:t>
            </a:r>
          </a:p>
          <a:p>
            <a:r>
              <a:t>Bài test kỳ vọng 401 — nếu API thực tế trả 401 thì test Pass; nếu API trả 200 và cấp JWT thì test Fail. Test Fail trong trường hợp này là tín hiệu tốt vì nó phơi ra lỗi bảo mật của chức năng Login (sai mật khẩu vẫn được cấp JWT).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Đi qua quy trình 6 bước bằng chính chức năng Login: xác định chức năng, mô tả Test Case (dùng bảng 5 kịch bản bên dưới), để AI tạo code, review, chạy test rồi phân tích lỗi.</a:t>
            </a:r>
          </a:p>
          <a:p>
            <a:endParaRPr/>
          </a:p>
          <a:p>
            <a:r>
              <a:t>KẾT LUẬN PHẦN TESTING:</a:t>
            </a:r>
          </a:p>
          <a:p>
            <a:r>
              <a:t>AI có thể tạo rất nhiều bài test, nhưng con người phải quyết định tình huống nào thực sự cần kiểm tra.</a:t>
            </a:r>
          </a:p>
          <a:p>
            <a:endParaRPr/>
          </a:p>
          <a:p>
            <a:r>
              <a:t>LƯU Ý KỸ THUẬT CHO GIẢNG VIÊN:</a:t>
            </a:r>
          </a:p>
          <a:p>
            <a:r>
              <a:t>Jest có yêu cầu riêng với ESM. Với project TypeScript + ESM/NodeNext của lớp, phần cấu hình tương thích để dành cho tài liệu thực hành, không đưa vào buổi lý thuyết này.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Giảng gọn slide này để dành thời gian cho các slide cốt lõi tiếp theo. Trên slide, CIA chỉ giữ đúng một dòng.</a:t>
            </a:r>
          </a:p>
          <a:p>
            <a:endParaRPr/>
          </a:p>
          <a:p>
            <a:r>
              <a:t>CHI TIẾT CIA (CHỈ TRONG GHI CHÚ):</a:t>
            </a:r>
          </a:p>
          <a:p>
            <a:r>
              <a:t>Confidentiality là không để lộ mật khẩu, JWT và dữ liệu nhạy cảm; Integrity là bảo đảm dữ liệu không bị thay đổi trái phép; Availability là duy trì khả năng phục vụ của hệ thống.</a:t>
            </a:r>
          </a:p>
          <a:p>
            <a:endParaRPr/>
          </a:p>
          <a:p>
            <a:r>
              <a:t>ĐIỂM CẦN CHỐT:</a:t>
            </a:r>
          </a:p>
          <a:p>
            <a:r>
              <a:t>JWT, Middleware phân quyền và Zod đã học là cần thiết nhưng chưa đủ — buổi này bổ sung bức tranh bảo vệ theo nhiều lớp.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Nói rõ với sinh viên: đoạn code nối chuỗi là mẫu sai (anti-pattern) để nhận diện khi đọc code, không phải code trong dự án của lớp.</a:t>
            </a:r>
          </a:p>
          <a:p>
            <a:endParaRPr/>
          </a:p>
          <a:p>
            <a:r>
              <a:t>DIỄN ĐẠT CHÍNH XÁC VỀ SQL INJECTION:</a:t>
            </a:r>
          </a:p>
          <a:p>
            <a:r>
              <a:t>Dùng ORM đúng cách giảm đáng kể nguy cơ vì các giá trị được truyền theo cơ chế tham số; nhưng nguy cơ vẫn còn nếu viết raw query (ví dụ sequelize.query) hoặc dùng literal có ghép dữ liệu người dùng không an toàn.</a:t>
            </a:r>
          </a:p>
          <a:p>
            <a:endParaRPr/>
          </a:p>
          <a:p>
            <a:r>
              <a:t>ĐÁP ÁN ĐIỂM DỪNG:</a:t>
            </a:r>
          </a:p>
          <a:p>
            <a:r>
              <a:t>Dòng code nối chuỗi email trực tiếp vào câu SQL là lỗ hổng SQL Injection; dữ liệu người dùng làm thay đổi ý nghĩa câu truy vấn.</a:t>
            </a:r>
          </a:p>
          <a:p>
            <a:endParaRPr/>
          </a:p>
          <a:p>
            <a:r>
              <a:t>LƯU Ý TRÁNH HIỂU LẦM:</a:t>
            </a:r>
          </a:p>
          <a:p>
            <a:r>
              <a:t>Đừng để sinh viên hiểu lầm rằng gắn Helmet là hết XSS: Helmet lo về HTTP Header, còn XSS ở ngữ cảnh này nằm ở cách Frontend chèn HTML.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Đi dọc luồng từ Client tới Database và hỏi ở mỗi lớp: “Lớp này chặn được điều gì, và không chặn được điều gì?” Rate Limit chặn tần suất, Validation chặn dữ liệu sai cấu trúc, Authentication xác định danh tính, Authorization kiểm tra quyền, Service/Database bảo vệ truy vấn và nghiệp vụ.</a:t>
            </a:r>
          </a:p>
          <a:p>
            <a:endParaRPr/>
          </a:p>
          <a:p>
            <a:r>
              <a:t>NGUYÊN TẮC:</a:t>
            </a:r>
          </a:p>
          <a:p>
            <a:r>
              <a:t>Defense in Depth — phòng thủ nhiều lớp. Helmet và Error Handler là lớp bổ sung bao quanh, không thay thế các lớp trong luồng.</a:t>
            </a:r>
          </a:p>
          <a:p>
            <a:endParaRPr/>
          </a:p>
          <a:p>
            <a:r>
              <a:t>LƯU Ý:</a:t>
            </a:r>
          </a:p>
          <a:p>
            <a:r>
              <a:t>Thứ tự thực tế có thể thay đổi tuỳ loại Route, nhưng mỗi lớp có trách nhiệm riêng và không thay thế được nhau.</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Phân biệt phạm vi ngay trên slide: Helmet cấu hình một lần cho toàn ứng dụng Express; Rate Limit trong ví dụ chỉ áp dụng cho API Login vì đây là endpoint dễ bị dò mật khẩu.</a:t>
            </a:r>
          </a:p>
          <a:p>
            <a:endParaRPr/>
          </a:p>
          <a:p>
            <a:r>
              <a:t>GIẢI NGHĨA CODE:</a:t>
            </a:r>
          </a:p>
          <a:p>
            <a:r>
              <a:t>helmet() áp dụng middleware bảo mật header; windowMs là khoảng thời gian tính giới hạn; limit là số request tối đa trong cửa sổ; vượt giới hạn thường trả 429 Too Many Requests.</a:t>
            </a:r>
          </a:p>
          <a:p>
            <a:endParaRPr/>
          </a:p>
          <a:p>
            <a:r>
              <a:t>LƯU Ý:</a:t>
            </a:r>
          </a:p>
          <a:p>
            <a:r>
              <a:t>Rate Limit không thay thế Authentication và không bảo đảm chống được mọi hình thức tấn công từ chối dịch vụ. Khi ứng dụng chạy sau reverse proxy của nhà cung cấp hosting, việc nhận diện IP client (cấu hình trust proxy) ảnh hưởng trực tiếp cách Rate Limit tính giới hạn theo từng client; chi tiết để dành cho phần thực hành.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Slide này giảng gọn: nhắc lại Pagination và chỉ chọn trường cần dùng thật ngắn, dành phần chính cho quy trình đo lường 5 bước.</a:t>
            </a:r>
          </a:p>
          <a:p>
            <a:endParaRPr/>
          </a:p>
          <a:p>
            <a:r>
              <a:t>CẢNH BÁO CẦN NÓI RÕ:</a:t>
            </a:r>
          </a:p>
          <a:p>
            <a:r>
              <a:t>Không yêu cầu AI “tối ưu cho nhanh nhất” khi chưa biết nguyên nhân chậm hoặc chưa có số liệu so sánh. Luôn đi theo vòng: Đo thời gian → Xác định nút thắt → AI đề xuất → Kiểm chứng → Đo lại.</a:t>
            </a:r>
          </a:p>
          <a:p>
            <a:endParaRPr/>
          </a:p>
          <a:p>
            <a:r>
              <a:t>CHỐT PHẦN C:</a:t>
            </a:r>
          </a:p>
          <a:p>
            <a:r>
              <a:t>Bảo mật giúp API đáng tin cậy hơn, tối ưu giúp API phục vụ hiệu quả hơn; cả hai đều phải được kiểm chứng.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Hỏi lớp: “Ai đã từng gửi project cho bạn chạy thử và nhận lại câu ‘máy tao lỗi’?” Năm nguyên nhân trên slide đều là khác biệt môi trường, không phải khác biệt code.</a:t>
            </a:r>
          </a:p>
          <a:p>
            <a:endParaRPr/>
          </a:p>
          <a:p>
            <a:r>
              <a:t>VÍ VON:</a:t>
            </a:r>
          </a:p>
          <a:p>
            <a:r>
              <a:t>Docker giống việc chuẩn bị một bộ thiết bị và quy trình vận hành tiêu chuẩn, thay vì mỗi máy tự lắp đặt mọi thứ theo một cách khác nhau.</a:t>
            </a:r>
          </a:p>
          <a:p>
            <a:endParaRPr/>
          </a:p>
          <a:p>
            <a:r>
              <a:t>GIỚI HẠN CẦN CHỐT NGAY:</a:t>
            </a:r>
          </a:p>
          <a:p>
            <a:r>
              <a:t>Docker không tự giải quyết việc thiếu Database, sai mật khẩu hay mất kết nối mạng. Nó chuẩn hoá môi trường chạy của ứng dụng, không sửa lỗi cấu hình thay cho lập trình viên.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Đây là slide khái niệm quan trọng nhất của phần Docker — dành thời gian đi kỹ từng thuật ngữ và đối chiếu với Dockerfile rút gọn bên phải.</a:t>
            </a:r>
          </a:p>
          <a:p>
            <a:endParaRPr/>
          </a:p>
          <a:p>
            <a:r>
              <a:t>PHÂN BIỆT CẦN NHẤN MẠNH:</a:t>
            </a:r>
          </a:p>
          <a:p>
            <a:r>
              <a:t>Image là bản đóng gói, tĩnh, nằm trên ổ đĩa. Container là instance đang chạy từ Image, đang xử lý request thật.</a:t>
            </a:r>
          </a:p>
          <a:p>
            <a:endParaRPr/>
          </a:p>
          <a:p>
            <a:r>
              <a:t>ĐÁP ÁN ĐIỂM DỪNG:</a:t>
            </a:r>
          </a:p>
          <a:p>
            <a:r>
              <a:t>“Bản đóng gói nặng khoảng vài trăm MB đang nằm trên ổ đĩa, chưa chạy” là Image. “Bản đang chạy và đang xử lý request Đăng nhập” là Container.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Giảng đúng thứ tự: sinh viên hiểu 3 cấp độ trước, rồi mới nghe tên Render, Railway, VPS. Không biến slide này thành hướng dẫn deploy trên một nền tảng cụ thể; nền tảng cụ thể sẽ chốt ở phần thực hành.</a:t>
            </a:r>
          </a:p>
          <a:p>
            <a:endParaRPr/>
          </a:p>
          <a:p>
            <a:r>
              <a:t>CẢNH BÁO TRỌNG TÂM:</a:t>
            </a:r>
          </a:p>
          <a:p>
            <a:r>
              <a:t>localhost bên trong Container không phải là máy Windows đang chạy Docker, cũng không phải một SQL Server bên ngoài. Đây là điểm sinh viên hay sai nhất khi chuyển từ Cấp 1 sang Cấp 2.</a:t>
            </a:r>
          </a:p>
          <a:p>
            <a:endParaRPr/>
          </a:p>
          <a:p>
            <a:r>
              <a:t>PHÂN BIỆT DATABASE Ở CẤP 3:</a:t>
            </a:r>
          </a:p>
          <a:p>
            <a:r>
              <a:t>(a) Dịch vụ Database được quản lý sẵn do nền tảng cung cấp, khác với (b) tự vận hành SQL Server dưới dạng Docker Container trên nền tảng. Đính chính: Railway hiện có template cho phép chạy SQL Server bằng Docker Container kèm volume lưu trữ dữ liệu; vì vậy không khẳng định chung rằng các nền tảng này “không có SQL Server”.</a:t>
            </a:r>
          </a:p>
          <a:p>
            <a:endParaRPr/>
          </a:p>
          <a:p>
            <a:r>
              <a:t>LƯU Ý VẬN HÀNH SQL SERVER THẬT:</a:t>
            </a:r>
          </a:p>
          <a:p>
            <a:r>
              <a:t>Cần đủ tài nguyên (RAM/CPU), phải có lưu trữ bền vững (volume) để dữ liệu không mất khi container khởi động lại, và vấn đề giấy phép — SQL Server phiên bản Developer chỉ dành cho phát triển và kiểm thử, không dùng cho môi trường sản xuất.</a:t>
            </a:r>
          </a:p>
          <a:p>
            <a:endParaRPr/>
          </a:p>
          <a:p>
            <a:r>
              <a:t>KẾT LUẬN:</a:t>
            </a:r>
          </a:p>
          <a:p>
            <a:r>
              <a:t>Docker giúp đóng gói và chạy ứng dụng; Deployment đưa ứng dụng lên môi trường phục vụ người dùng. Hai khái niệm liên hệ nhưng không đồng nghĩa.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GỢI Ý:</a:t>
            </a:r>
          </a:p>
          <a:p>
            <a:r>
              <a:t>Bảng CTCO là một khung prompt chung cho cả ba việc. Ba kiểu nhiệm vụ điền vào cùng một khung: Testing — yêu cầu đề xuất các Test Case quan trọng và giải thích kết quả mong đợi; Security — yêu cầu rà soát rủi ro, chỉ ra nguyên nhân và đề xuất khắc phục; Docker — yêu cầu phân tích cấu hình hiện tại trước khi tạo Dockerfile phù hợp.</a:t>
            </a:r>
          </a:p>
          <a:p>
            <a:endParaRPr/>
          </a:p>
          <a:p>
            <a:r>
              <a:t>QUY TRÌNH KIỂM SOÁT:</a:t>
            </a:r>
          </a:p>
          <a:p>
            <a:r>
              <a:t>Hiểu yêu cầu → AI phân tích → AI đề xuất code → Đọc file thay đổi → Build/Test → Review → Hoàn thiện. Không bước nào được bỏ qua, nhất là bước đọc file thay đổi.</a:t>
            </a:r>
          </a:p>
          <a:p>
            <a:endParaRPr/>
          </a:p>
          <a:p>
            <a:r>
              <a:t>LƯU Ý:</a:t>
            </a:r>
          </a:p>
          <a:p>
            <a:r>
              <a:t>Chưa trình bày prompt thực hành hoàn chỉnh ở buổi lý thuyết này; prompt đầy đủ nằm trong tài liệu thực hành.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THÔNG ĐIỆP KẾT THÚC (GIỮ NGUYÊN):</a:t>
            </a:r>
          </a:p>
          <a:p>
            <a:r>
              <a:rPr dirty="0"/>
              <a:t>“</a:t>
            </a:r>
            <a:r>
              <a:rPr dirty="0" err="1"/>
              <a:t>Lập</a:t>
            </a:r>
            <a:r>
              <a:rPr dirty="0"/>
              <a:t> </a:t>
            </a:r>
            <a:r>
              <a:rPr dirty="0" err="1"/>
              <a:t>trình</a:t>
            </a:r>
            <a:r>
              <a:rPr dirty="0"/>
              <a:t> </a:t>
            </a:r>
            <a:r>
              <a:rPr dirty="0" err="1"/>
              <a:t>với</a:t>
            </a:r>
            <a:r>
              <a:rPr dirty="0"/>
              <a:t> AI </a:t>
            </a:r>
            <a:r>
              <a:rPr dirty="0" err="1"/>
              <a:t>không</a:t>
            </a:r>
            <a:r>
              <a:rPr dirty="0"/>
              <a:t> </a:t>
            </a:r>
            <a:r>
              <a:rPr dirty="0" err="1"/>
              <a:t>có</a:t>
            </a:r>
            <a:r>
              <a:rPr dirty="0"/>
              <a:t> </a:t>
            </a:r>
            <a:r>
              <a:rPr dirty="0" err="1"/>
              <a:t>nghĩa</a:t>
            </a:r>
            <a:r>
              <a:rPr dirty="0"/>
              <a:t> </a:t>
            </a:r>
            <a:r>
              <a:rPr dirty="0" err="1"/>
              <a:t>là</a:t>
            </a:r>
            <a:r>
              <a:rPr dirty="0"/>
              <a:t> </a:t>
            </a:r>
            <a:r>
              <a:rPr dirty="0" err="1"/>
              <a:t>không</a:t>
            </a:r>
            <a:r>
              <a:rPr dirty="0"/>
              <a:t> </a:t>
            </a:r>
            <a:r>
              <a:rPr dirty="0" err="1"/>
              <a:t>cần</a:t>
            </a:r>
            <a:r>
              <a:rPr dirty="0"/>
              <a:t> </a:t>
            </a:r>
            <a:r>
              <a:rPr dirty="0" err="1"/>
              <a:t>hiểu</a:t>
            </a:r>
            <a:r>
              <a:rPr dirty="0"/>
              <a:t> code. </a:t>
            </a:r>
            <a:r>
              <a:rPr dirty="0" err="1"/>
              <a:t>Người</a:t>
            </a:r>
            <a:r>
              <a:rPr dirty="0"/>
              <a:t> </a:t>
            </a:r>
            <a:r>
              <a:rPr dirty="0" err="1"/>
              <a:t>lập</a:t>
            </a:r>
            <a:r>
              <a:rPr dirty="0"/>
              <a:t> </a:t>
            </a:r>
            <a:r>
              <a:rPr dirty="0" err="1"/>
              <a:t>trình</a:t>
            </a:r>
            <a:r>
              <a:rPr dirty="0"/>
              <a:t> </a:t>
            </a:r>
            <a:r>
              <a:rPr dirty="0" err="1"/>
              <a:t>cần</a:t>
            </a:r>
            <a:r>
              <a:rPr dirty="0"/>
              <a:t> </a:t>
            </a:r>
            <a:r>
              <a:rPr dirty="0" err="1"/>
              <a:t>biết</a:t>
            </a:r>
            <a:r>
              <a:rPr dirty="0"/>
              <a:t> </a:t>
            </a:r>
            <a:r>
              <a:rPr dirty="0" err="1"/>
              <a:t>mình</a:t>
            </a:r>
            <a:r>
              <a:rPr dirty="0"/>
              <a:t> </a:t>
            </a:r>
            <a:r>
              <a:rPr dirty="0" err="1"/>
              <a:t>muốn</a:t>
            </a:r>
            <a:r>
              <a:rPr dirty="0"/>
              <a:t> </a:t>
            </a:r>
            <a:r>
              <a:rPr dirty="0" err="1"/>
              <a:t>gì</a:t>
            </a:r>
            <a:r>
              <a:rPr dirty="0"/>
              <a:t>, AI </a:t>
            </a:r>
            <a:r>
              <a:rPr dirty="0" err="1"/>
              <a:t>đang</a:t>
            </a:r>
            <a:r>
              <a:rPr dirty="0"/>
              <a:t> </a:t>
            </a:r>
            <a:r>
              <a:rPr dirty="0" err="1"/>
              <a:t>làm</a:t>
            </a:r>
            <a:r>
              <a:rPr dirty="0"/>
              <a:t> </a:t>
            </a:r>
            <a:r>
              <a:rPr dirty="0" err="1"/>
              <a:t>gì</a:t>
            </a:r>
            <a:r>
              <a:rPr dirty="0"/>
              <a:t>, </a:t>
            </a:r>
            <a:r>
              <a:rPr dirty="0" err="1"/>
              <a:t>và</a:t>
            </a:r>
            <a:r>
              <a:rPr dirty="0"/>
              <a:t> </a:t>
            </a:r>
            <a:r>
              <a:rPr dirty="0" err="1"/>
              <a:t>làm</a:t>
            </a:r>
            <a:r>
              <a:rPr dirty="0"/>
              <a:t> </a:t>
            </a:r>
            <a:r>
              <a:rPr dirty="0" err="1"/>
              <a:t>sao</a:t>
            </a:r>
            <a:r>
              <a:rPr dirty="0"/>
              <a:t> </a:t>
            </a:r>
            <a:r>
              <a:rPr dirty="0" err="1"/>
              <a:t>chứng</a:t>
            </a:r>
            <a:r>
              <a:rPr dirty="0"/>
              <a:t> minh </a:t>
            </a:r>
            <a:r>
              <a:rPr dirty="0" err="1"/>
              <a:t>kết</a:t>
            </a:r>
            <a:r>
              <a:rPr dirty="0"/>
              <a:t> </a:t>
            </a:r>
            <a:r>
              <a:rPr dirty="0" err="1"/>
              <a:t>quả</a:t>
            </a:r>
            <a:r>
              <a:rPr dirty="0"/>
              <a:t> </a:t>
            </a:r>
            <a:r>
              <a:rPr dirty="0" err="1"/>
              <a:t>đó</a:t>
            </a:r>
            <a:r>
              <a:rPr dirty="0"/>
              <a:t> </a:t>
            </a:r>
            <a:r>
              <a:rPr dirty="0" err="1"/>
              <a:t>là</a:t>
            </a:r>
            <a:r>
              <a:rPr dirty="0"/>
              <a:t> </a:t>
            </a:r>
            <a:r>
              <a:rPr dirty="0" err="1"/>
              <a:t>đúng</a:t>
            </a:r>
            <a:r>
              <a:rPr dirty="0"/>
              <a:t>.”</a:t>
            </a:r>
          </a:p>
          <a:p>
            <a:endParaRPr dirty="0"/>
          </a:p>
          <a:p>
            <a:r>
              <a:rPr dirty="0"/>
              <a:t>CHECKLIST TRƯỚC BUỔI BÁO CÁO:</a:t>
            </a:r>
          </a:p>
          <a:p>
            <a:r>
              <a:rPr dirty="0" err="1"/>
              <a:t>Nhắc</a:t>
            </a:r>
            <a:r>
              <a:rPr dirty="0"/>
              <a:t> </a:t>
            </a:r>
            <a:r>
              <a:rPr dirty="0" err="1"/>
              <a:t>sinh</a:t>
            </a:r>
            <a:r>
              <a:rPr dirty="0"/>
              <a:t> </a:t>
            </a:r>
            <a:r>
              <a:rPr dirty="0" err="1"/>
              <a:t>viên</a:t>
            </a:r>
            <a:r>
              <a:rPr dirty="0"/>
              <a:t> </a:t>
            </a:r>
            <a:r>
              <a:rPr dirty="0" err="1"/>
              <a:t>tự</a:t>
            </a:r>
            <a:r>
              <a:rPr dirty="0"/>
              <a:t> </a:t>
            </a:r>
            <a:r>
              <a:rPr dirty="0" err="1"/>
              <a:t>kiểm</a:t>
            </a:r>
            <a:r>
              <a:rPr dirty="0"/>
              <a:t> </a:t>
            </a:r>
            <a:r>
              <a:rPr dirty="0" err="1"/>
              <a:t>tra</a:t>
            </a:r>
            <a:r>
              <a:rPr dirty="0"/>
              <a:t> 4 </a:t>
            </a:r>
            <a:r>
              <a:rPr dirty="0" err="1"/>
              <a:t>mục</a:t>
            </a:r>
            <a:r>
              <a:rPr dirty="0"/>
              <a:t> </a:t>
            </a:r>
            <a:r>
              <a:rPr dirty="0" err="1"/>
              <a:t>trong</a:t>
            </a:r>
            <a:r>
              <a:rPr dirty="0"/>
              <a:t> checklist </a:t>
            </a:r>
            <a:r>
              <a:rPr dirty="0" err="1"/>
              <a:t>trước</a:t>
            </a:r>
            <a:r>
              <a:rPr dirty="0"/>
              <a:t> </a:t>
            </a:r>
            <a:r>
              <a:rPr dirty="0" err="1"/>
              <a:t>buổi</a:t>
            </a:r>
            <a:r>
              <a:rPr dirty="0"/>
              <a:t> </a:t>
            </a:r>
            <a:r>
              <a:rPr dirty="0" err="1"/>
              <a:t>báo</a:t>
            </a:r>
            <a:r>
              <a:rPr dirty="0"/>
              <a:t> </a:t>
            </a:r>
            <a:r>
              <a:rPr dirty="0" err="1"/>
              <a:t>cáo</a:t>
            </a:r>
            <a:r>
              <a:rPr dirty="0"/>
              <a:t> </a:t>
            </a:r>
            <a:r>
              <a:rPr dirty="0" err="1"/>
              <a:t>đồ</a:t>
            </a:r>
            <a:r>
              <a:rPr dirty="0"/>
              <a:t> </a:t>
            </a:r>
            <a:r>
              <a:rPr dirty="0" err="1"/>
              <a:t>án</a:t>
            </a:r>
            <a:r>
              <a:rPr dirty="0"/>
              <a:t> </a:t>
            </a:r>
            <a:r>
              <a:rPr dirty="0" err="1"/>
              <a:t>vào</a:t>
            </a:r>
            <a:r>
              <a:rPr dirty="0"/>
              <a:t> </a:t>
            </a:r>
            <a:r>
              <a:rPr dirty="0" err="1"/>
              <a:t>thứ</a:t>
            </a:r>
            <a:r>
              <a:rPr dirty="0"/>
              <a:t> Bảy; </a:t>
            </a:r>
            <a:r>
              <a:rPr dirty="0" err="1"/>
              <a:t>đây</a:t>
            </a:r>
            <a:r>
              <a:rPr dirty="0"/>
              <a:t> </a:t>
            </a:r>
            <a:r>
              <a:rPr dirty="0" err="1"/>
              <a:t>là</a:t>
            </a:r>
            <a:r>
              <a:rPr dirty="0"/>
              <a:t> </a:t>
            </a:r>
            <a:r>
              <a:rPr dirty="0" err="1"/>
              <a:t>các</a:t>
            </a:r>
            <a:r>
              <a:rPr dirty="0"/>
              <a:t> </a:t>
            </a:r>
            <a:r>
              <a:rPr dirty="0" err="1"/>
              <a:t>mục</a:t>
            </a:r>
            <a:r>
              <a:rPr dirty="0"/>
              <a:t> </a:t>
            </a:r>
            <a:r>
              <a:rPr dirty="0" err="1"/>
              <a:t>kiểm</a:t>
            </a:r>
            <a:r>
              <a:rPr dirty="0"/>
              <a:t> </a:t>
            </a:r>
            <a:r>
              <a:rPr dirty="0" err="1"/>
              <a:t>chứng</a:t>
            </a:r>
            <a:r>
              <a:rPr dirty="0"/>
              <a:t> </a:t>
            </a:r>
            <a:r>
              <a:rPr dirty="0" err="1"/>
              <a:t>được</a:t>
            </a:r>
            <a:r>
              <a:rPr dirty="0"/>
              <a:t>, </a:t>
            </a:r>
            <a:r>
              <a:rPr dirty="0" err="1"/>
              <a:t>không</a:t>
            </a:r>
            <a:r>
              <a:rPr dirty="0"/>
              <a:t> </a:t>
            </a:r>
            <a:r>
              <a:rPr dirty="0" err="1"/>
              <a:t>phải</a:t>
            </a:r>
            <a:r>
              <a:rPr dirty="0"/>
              <a:t> </a:t>
            </a:r>
            <a:r>
              <a:rPr dirty="0" err="1"/>
              <a:t>mục</a:t>
            </a:r>
            <a:r>
              <a:rPr dirty="0"/>
              <a:t> </a:t>
            </a:r>
            <a:r>
              <a:rPr dirty="0" err="1"/>
              <a:t>tự</a:t>
            </a:r>
            <a:r>
              <a:rPr dirty="0"/>
              <a:t> </a:t>
            </a:r>
            <a:r>
              <a:rPr dirty="0" err="1"/>
              <a:t>đánh</a:t>
            </a:r>
            <a:r>
              <a:rPr dirty="0"/>
              <a:t> </a:t>
            </a:r>
            <a:r>
              <a:rPr dirty="0" err="1"/>
              <a:t>giá</a:t>
            </a:r>
            <a:r>
              <a:rPr dirty="0"/>
              <a:t> </a:t>
            </a:r>
            <a:r>
              <a:rPr dirty="0" err="1"/>
              <a:t>cảm</a:t>
            </a:r>
            <a:r>
              <a:rPr dirty="0"/>
              <a:t> </a:t>
            </a:r>
            <a:r>
              <a:rPr dirty="0" err="1"/>
              <a:t>tính</a:t>
            </a:r>
            <a:r>
              <a:rPr dirty="0"/>
              <a:t>: (1) </a:t>
            </a:r>
            <a:r>
              <a:rPr dirty="0" err="1"/>
              <a:t>chạy</a:t>
            </a:r>
            <a:r>
              <a:rPr dirty="0"/>
              <a:t> test Login </a:t>
            </a:r>
            <a:r>
              <a:rPr dirty="0" err="1"/>
              <a:t>với</a:t>
            </a:r>
            <a:r>
              <a:rPr dirty="0"/>
              <a:t> </a:t>
            </a:r>
            <a:r>
              <a:rPr dirty="0" err="1"/>
              <a:t>mật</a:t>
            </a:r>
            <a:r>
              <a:rPr dirty="0"/>
              <a:t> </a:t>
            </a:r>
            <a:r>
              <a:rPr dirty="0" err="1"/>
              <a:t>khẩu</a:t>
            </a:r>
            <a:r>
              <a:rPr dirty="0"/>
              <a:t> </a:t>
            </a:r>
            <a:r>
              <a:rPr dirty="0" err="1"/>
              <a:t>sai</a:t>
            </a:r>
            <a:r>
              <a:rPr dirty="0"/>
              <a:t>; (2) </a:t>
            </a:r>
            <a:r>
              <a:rPr dirty="0" err="1"/>
              <a:t>kiểm</a:t>
            </a:r>
            <a:r>
              <a:rPr dirty="0"/>
              <a:t> </a:t>
            </a:r>
            <a:r>
              <a:rPr dirty="0" err="1"/>
              <a:t>tra</a:t>
            </a:r>
            <a:r>
              <a:rPr dirty="0"/>
              <a:t> </a:t>
            </a:r>
            <a:r>
              <a:rPr dirty="0" err="1"/>
              <a:t>cấu</a:t>
            </a:r>
            <a:r>
              <a:rPr dirty="0"/>
              <a:t> </a:t>
            </a:r>
            <a:r>
              <a:rPr dirty="0" err="1"/>
              <a:t>hình</a:t>
            </a:r>
            <a:r>
              <a:rPr dirty="0"/>
              <a:t> Helmet </a:t>
            </a:r>
            <a:r>
              <a:rPr dirty="0" err="1"/>
              <a:t>cho</a:t>
            </a:r>
            <a:r>
              <a:rPr dirty="0"/>
              <a:t> </a:t>
            </a:r>
            <a:r>
              <a:rPr dirty="0" err="1"/>
              <a:t>toàn</a:t>
            </a:r>
            <a:r>
              <a:rPr dirty="0"/>
              <a:t> </a:t>
            </a:r>
            <a:r>
              <a:rPr dirty="0" err="1"/>
              <a:t>ứng</a:t>
            </a:r>
            <a:r>
              <a:rPr dirty="0"/>
              <a:t> </a:t>
            </a:r>
            <a:r>
              <a:rPr dirty="0" err="1"/>
              <a:t>dụng</a:t>
            </a:r>
            <a:r>
              <a:rPr dirty="0"/>
              <a:t> Express </a:t>
            </a:r>
            <a:r>
              <a:rPr dirty="0" err="1"/>
              <a:t>và</a:t>
            </a:r>
            <a:r>
              <a:rPr dirty="0"/>
              <a:t> Rate Limit </a:t>
            </a:r>
            <a:r>
              <a:rPr dirty="0" err="1"/>
              <a:t>cho</a:t>
            </a:r>
            <a:r>
              <a:rPr dirty="0"/>
              <a:t> API Login, </a:t>
            </a:r>
            <a:r>
              <a:rPr dirty="0" err="1"/>
              <a:t>gửi</a:t>
            </a:r>
            <a:r>
              <a:rPr dirty="0"/>
              <a:t> </a:t>
            </a:r>
            <a:r>
              <a:rPr dirty="0" err="1"/>
              <a:t>liên</a:t>
            </a:r>
            <a:r>
              <a:rPr dirty="0"/>
              <a:t> </a:t>
            </a:r>
            <a:r>
              <a:rPr dirty="0" err="1"/>
              <a:t>tiếp</a:t>
            </a:r>
            <a:r>
              <a:rPr dirty="0"/>
              <a:t> request </a:t>
            </a:r>
            <a:r>
              <a:rPr dirty="0" err="1"/>
              <a:t>tới</a:t>
            </a:r>
            <a:r>
              <a:rPr dirty="0"/>
              <a:t> </a:t>
            </a:r>
            <a:r>
              <a:rPr dirty="0" err="1"/>
              <a:t>khi</a:t>
            </a:r>
            <a:r>
              <a:rPr dirty="0"/>
              <a:t> </a:t>
            </a:r>
            <a:r>
              <a:rPr dirty="0" err="1"/>
              <a:t>nhận</a:t>
            </a:r>
            <a:r>
              <a:rPr dirty="0"/>
              <a:t> 429; (3) </a:t>
            </a:r>
            <a:r>
              <a:rPr dirty="0" err="1"/>
              <a:t>kiểm</a:t>
            </a:r>
            <a:r>
              <a:rPr dirty="0"/>
              <a:t> </a:t>
            </a:r>
            <a:r>
              <a:rPr dirty="0" err="1"/>
              <a:t>tra</a:t>
            </a:r>
            <a:r>
              <a:rPr dirty="0"/>
              <a:t> Git </a:t>
            </a:r>
            <a:r>
              <a:rPr dirty="0" err="1"/>
              <a:t>và</a:t>
            </a:r>
            <a:r>
              <a:rPr dirty="0"/>
              <a:t> source code </a:t>
            </a:r>
            <a:r>
              <a:rPr dirty="0" err="1"/>
              <a:t>để</a:t>
            </a:r>
            <a:r>
              <a:rPr dirty="0"/>
              <a:t> </a:t>
            </a:r>
            <a:r>
              <a:rPr dirty="0" err="1"/>
              <a:t>bảo</a:t>
            </a:r>
            <a:r>
              <a:rPr dirty="0"/>
              <a:t> </a:t>
            </a:r>
            <a:r>
              <a:rPr dirty="0" err="1"/>
              <a:t>đảm</a:t>
            </a:r>
            <a:r>
              <a:rPr dirty="0"/>
              <a:t> .env </a:t>
            </a:r>
            <a:r>
              <a:rPr dirty="0" err="1"/>
              <a:t>không</a:t>
            </a:r>
            <a:r>
              <a:rPr dirty="0"/>
              <a:t> </a:t>
            </a:r>
            <a:r>
              <a:rPr dirty="0" err="1"/>
              <a:t>bị</a:t>
            </a:r>
            <a:r>
              <a:rPr dirty="0"/>
              <a:t> commit </a:t>
            </a:r>
            <a:r>
              <a:rPr dirty="0" err="1"/>
              <a:t>và</a:t>
            </a:r>
            <a:r>
              <a:rPr dirty="0"/>
              <a:t> </a:t>
            </a:r>
            <a:r>
              <a:rPr dirty="0" err="1"/>
              <a:t>không</a:t>
            </a:r>
            <a:r>
              <a:rPr dirty="0"/>
              <a:t> </a:t>
            </a:r>
            <a:r>
              <a:rPr dirty="0" err="1"/>
              <a:t>ghi</a:t>
            </a:r>
            <a:r>
              <a:rPr dirty="0"/>
              <a:t> </a:t>
            </a:r>
            <a:r>
              <a:rPr dirty="0" err="1"/>
              <a:t>cứng</a:t>
            </a:r>
            <a:r>
              <a:rPr dirty="0"/>
              <a:t> </a:t>
            </a:r>
            <a:r>
              <a:rPr dirty="0" err="1"/>
              <a:t>bí</a:t>
            </a:r>
            <a:r>
              <a:rPr dirty="0"/>
              <a:t> </a:t>
            </a:r>
            <a:r>
              <a:rPr dirty="0" err="1"/>
              <a:t>mật</a:t>
            </a:r>
            <a:r>
              <a:rPr dirty="0"/>
              <a:t>; (4) </a:t>
            </a:r>
            <a:r>
              <a:rPr dirty="0" err="1"/>
              <a:t>chạy</a:t>
            </a:r>
            <a:r>
              <a:rPr dirty="0"/>
              <a:t> </a:t>
            </a:r>
            <a:r>
              <a:rPr dirty="0" err="1"/>
              <a:t>thử</a:t>
            </a:r>
            <a:r>
              <a:rPr dirty="0"/>
              <a:t> project ở </a:t>
            </a:r>
            <a:r>
              <a:rPr dirty="0" err="1"/>
              <a:t>môi</a:t>
            </a:r>
            <a:r>
              <a:rPr dirty="0"/>
              <a:t> </a:t>
            </a:r>
            <a:r>
              <a:rPr dirty="0" err="1"/>
              <a:t>trường</a:t>
            </a:r>
            <a:r>
              <a:rPr dirty="0"/>
              <a:t> </a:t>
            </a:r>
            <a:r>
              <a:rPr dirty="0" err="1"/>
              <a:t>khác</a:t>
            </a:r>
            <a:r>
              <a:rPr dirty="0"/>
              <a:t> </a:t>
            </a:r>
            <a:r>
              <a:rPr dirty="0" err="1"/>
              <a:t>máy</a:t>
            </a:r>
            <a:r>
              <a:rPr dirty="0"/>
              <a:t> </a:t>
            </a:r>
            <a:r>
              <a:rPr dirty="0" err="1"/>
              <a:t>phát</a:t>
            </a:r>
            <a:r>
              <a:rPr dirty="0"/>
              <a:t> </a:t>
            </a:r>
            <a:r>
              <a:rPr dirty="0" err="1"/>
              <a:t>triển</a:t>
            </a:r>
            <a:r>
              <a:rPr dirty="0"/>
              <a:t>.</a:t>
            </a:r>
          </a:p>
          <a:p>
            <a:endParaRPr dirty="0"/>
          </a:p>
          <a:p>
            <a:r>
              <a:rPr dirty="0"/>
              <a:t>PHÂN BIỆT PHẠM VI (NHẮC LẠI):</a:t>
            </a:r>
          </a:p>
          <a:p>
            <a:r>
              <a:rPr dirty="0"/>
              <a:t>Helmet </a:t>
            </a:r>
            <a:r>
              <a:rPr dirty="0" err="1"/>
              <a:t>cấu</a:t>
            </a:r>
            <a:r>
              <a:rPr dirty="0"/>
              <a:t> </a:t>
            </a:r>
            <a:r>
              <a:rPr dirty="0" err="1"/>
              <a:t>hình</a:t>
            </a:r>
            <a:r>
              <a:rPr dirty="0"/>
              <a:t> </a:t>
            </a:r>
            <a:r>
              <a:rPr dirty="0" err="1"/>
              <a:t>cho</a:t>
            </a:r>
            <a:r>
              <a:rPr dirty="0"/>
              <a:t> </a:t>
            </a:r>
            <a:r>
              <a:rPr dirty="0" err="1"/>
              <a:t>ứng</a:t>
            </a:r>
            <a:r>
              <a:rPr dirty="0"/>
              <a:t> </a:t>
            </a:r>
            <a:r>
              <a:rPr dirty="0" err="1"/>
              <a:t>dụng</a:t>
            </a:r>
            <a:r>
              <a:rPr dirty="0"/>
              <a:t> Express; Rate Limit </a:t>
            </a:r>
            <a:r>
              <a:rPr dirty="0" err="1"/>
              <a:t>áp</a:t>
            </a:r>
            <a:r>
              <a:rPr dirty="0"/>
              <a:t> </a:t>
            </a:r>
            <a:r>
              <a:rPr dirty="0" err="1"/>
              <a:t>dụng</a:t>
            </a:r>
            <a:r>
              <a:rPr dirty="0"/>
              <a:t> </a:t>
            </a:r>
            <a:r>
              <a:rPr dirty="0" err="1"/>
              <a:t>cho</a:t>
            </a:r>
            <a:r>
              <a:rPr dirty="0"/>
              <a:t> API Login.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713232" y="786384"/>
            <a:ext cx="96012" cy="585216"/>
          </a:xfrm>
          <a:prstGeom prst="rect">
            <a:avLst/>
          </a:prstGeom>
          <a:solidFill>
            <a:srgbClr val="02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932688" y="953262"/>
            <a:ext cx="5303520" cy="237744"/>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80" normalizeH="0" baseline="0" noProof="0" dirty="0">
                <a:ln>
                  <a:noFill/>
                </a:ln>
                <a:solidFill>
                  <a:srgbClr val="49D0DB"/>
                </a:solidFill>
                <a:effectLst/>
                <a:uLnTx/>
                <a:uFillTx/>
                <a:latin typeface="Inter"/>
                <a:ea typeface="+mn-ea"/>
                <a:cs typeface="+mn-cs"/>
              </a:rPr>
              <a:t>HỌC PHẦN LẬP TRÌNH BACKEND</a:t>
            </a:r>
          </a:p>
        </p:txBody>
      </p:sp>
      <p:sp>
        <p:nvSpPr>
          <p:cNvPr id="6" name="TextBox 5"/>
          <p:cNvSpPr txBox="1"/>
          <p:nvPr/>
        </p:nvSpPr>
        <p:spPr>
          <a:xfrm>
            <a:off x="841248" y="1764792"/>
            <a:ext cx="5623560" cy="6126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F8FBFE"/>
                </a:solidFill>
                <a:effectLst/>
                <a:uLnTx/>
                <a:uFillTx/>
                <a:latin typeface="Inter"/>
                <a:ea typeface="+mn-ea"/>
                <a:cs typeface="+mn-cs"/>
              </a:rPr>
              <a:t>KIỂM THỬ</a:t>
            </a:r>
          </a:p>
        </p:txBody>
      </p:sp>
      <p:sp>
        <p:nvSpPr>
          <p:cNvPr id="7" name="TextBox 6"/>
          <p:cNvSpPr txBox="1"/>
          <p:nvPr/>
        </p:nvSpPr>
        <p:spPr>
          <a:xfrm>
            <a:off x="841248" y="2350008"/>
            <a:ext cx="5623560" cy="6126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a:ln>
                  <a:noFill/>
                </a:ln>
                <a:solidFill>
                  <a:srgbClr val="F8FBFE"/>
                </a:solidFill>
                <a:effectLst/>
                <a:uLnTx/>
                <a:uFillTx/>
                <a:latin typeface="Inter"/>
                <a:ea typeface="+mn-ea"/>
                <a:cs typeface="+mn-cs"/>
              </a:rPr>
              <a:t>BẢO MẬT</a:t>
            </a:r>
          </a:p>
        </p:txBody>
      </p:sp>
      <p:sp>
        <p:nvSpPr>
          <p:cNvPr id="8" name="TextBox 7"/>
          <p:cNvSpPr txBox="1"/>
          <p:nvPr/>
        </p:nvSpPr>
        <p:spPr>
          <a:xfrm>
            <a:off x="841248" y="2935224"/>
            <a:ext cx="5650992" cy="649224"/>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300" b="1" i="0" u="none" strike="noStrike" kern="1200" cap="none" spc="0" normalizeH="0" baseline="0" noProof="0">
                <a:ln>
                  <a:noFill/>
                </a:ln>
                <a:solidFill>
                  <a:srgbClr val="F8FBFE"/>
                </a:solidFill>
                <a:effectLst/>
                <a:uLnTx/>
                <a:uFillTx/>
                <a:latin typeface="Inter"/>
                <a:ea typeface="+mn-ea"/>
                <a:cs typeface="+mn-cs"/>
              </a:rPr>
              <a:t>&amp; TRIỂN KHAI</a:t>
            </a:r>
          </a:p>
        </p:txBody>
      </p:sp>
      <p:sp>
        <p:nvSpPr>
          <p:cNvPr id="9" name="Rectangle 8"/>
          <p:cNvSpPr/>
          <p:nvPr/>
        </p:nvSpPr>
        <p:spPr>
          <a:xfrm>
            <a:off x="877824" y="4050791"/>
            <a:ext cx="749808" cy="91440"/>
          </a:xfrm>
          <a:prstGeom prst="rect">
            <a:avLst/>
          </a:prstGeom>
          <a:solidFill>
            <a:srgbClr val="02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877824" y="4480560"/>
            <a:ext cx="5715000" cy="34747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dirty="0">
                <a:ln>
                  <a:noFill/>
                </a:ln>
                <a:solidFill>
                  <a:srgbClr val="C5DCE9"/>
                </a:solidFill>
                <a:effectLst/>
                <a:uLnTx/>
                <a:uFillTx/>
                <a:latin typeface="Inter"/>
                <a:ea typeface="+mn-ea"/>
                <a:cs typeface="+mn-cs"/>
              </a:rPr>
              <a:t>Testing  ·  Security  ·  Docker &amp; Deployment</a:t>
            </a:r>
          </a:p>
        </p:txBody>
      </p:sp>
      <p:cxnSp>
        <p:nvCxnSpPr>
          <p:cNvPr id="12" name="Connector 11"/>
          <p:cNvCxnSpPr/>
          <p:nvPr/>
        </p:nvCxnSpPr>
        <p:spPr>
          <a:xfrm>
            <a:off x="877824" y="6135624"/>
            <a:ext cx="5129784" cy="0"/>
          </a:xfrm>
          <a:prstGeom prst="line">
            <a:avLst/>
          </a:prstGeom>
          <a:ln w="8255">
            <a:solidFill>
              <a:srgbClr val="33506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848856" y="991209"/>
            <a:ext cx="68580" cy="68580"/>
          </a:xfrm>
          <a:prstGeom prst="ellipse">
            <a:avLst/>
          </a:prstGeom>
          <a:solidFill>
            <a:srgbClr val="02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6995160" y="934516"/>
            <a:ext cx="2011680" cy="20116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40" b="1" i="0" u="none" strike="noStrike" kern="1200" cap="none" spc="60" normalizeH="0" baseline="0" noProof="0">
                <a:ln>
                  <a:noFill/>
                </a:ln>
                <a:solidFill>
                  <a:srgbClr val="C5DCE9"/>
                </a:solidFill>
                <a:effectLst/>
                <a:uLnTx/>
                <a:uFillTx/>
                <a:latin typeface="Inter"/>
                <a:ea typeface="+mn-ea"/>
                <a:cs typeface="+mn-cs"/>
              </a:rPr>
              <a:t>BACKEND LAB</a:t>
            </a:r>
          </a:p>
        </p:txBody>
      </p:sp>
      <p:sp>
        <p:nvSpPr>
          <p:cNvPr id="17" name="Rectangle 16"/>
          <p:cNvSpPr/>
          <p:nvPr/>
        </p:nvSpPr>
        <p:spPr>
          <a:xfrm>
            <a:off x="6848856" y="1179576"/>
            <a:ext cx="4672584" cy="5084064"/>
          </a:xfrm>
          <a:prstGeom prst="rect">
            <a:avLst/>
          </a:prstGeom>
          <a:solidFill>
            <a:srgbClr val="08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p:nvSpPr>
        <p:spPr>
          <a:xfrm>
            <a:off x="6848856" y="1179576"/>
            <a:ext cx="4672584" cy="22860"/>
          </a:xfrm>
          <a:prstGeom prst="rect">
            <a:avLst/>
          </a:prstGeom>
          <a:solidFill>
            <a:srgbClr val="0C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7040880" y="1353312"/>
            <a:ext cx="4233672" cy="310896"/>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920" b="1" i="0" u="none" strike="noStrike" kern="1200" cap="none" spc="0" normalizeH="0" baseline="0" noProof="0">
                <a:ln>
                  <a:noFill/>
                </a:ln>
                <a:solidFill>
                  <a:srgbClr val="F8FBFE"/>
                </a:solidFill>
                <a:effectLst/>
                <a:uLnTx/>
                <a:uFillTx/>
                <a:latin typeface="Inter"/>
                <a:ea typeface="+mn-ea"/>
                <a:cs typeface="+mn-cs"/>
              </a:rPr>
              <a:t>Hoàn thiện Backend</a:t>
            </a:r>
          </a:p>
        </p:txBody>
      </p:sp>
      <p:sp>
        <p:nvSpPr>
          <p:cNvPr id="20" name="TextBox 19"/>
          <p:cNvSpPr txBox="1"/>
          <p:nvPr/>
        </p:nvSpPr>
        <p:spPr>
          <a:xfrm>
            <a:off x="7040880" y="1700784"/>
            <a:ext cx="4261104" cy="24688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69" b="0" i="0" u="none" strike="noStrike" kern="1200" cap="none" spc="0" normalizeH="0" baseline="0" noProof="0" dirty="0" err="1">
                <a:ln>
                  <a:noFill/>
                </a:ln>
                <a:solidFill>
                  <a:srgbClr val="84A1B8"/>
                </a:solidFill>
                <a:effectLst/>
                <a:uLnTx/>
                <a:uFillTx/>
                <a:latin typeface="Inter"/>
                <a:ea typeface="+mn-ea"/>
                <a:cs typeface="+mn-cs"/>
              </a:rPr>
              <a:t>Một</a:t>
            </a:r>
            <a:r>
              <a:rPr kumimoji="0" sz="869" b="0" i="0" u="none" strike="noStrike" kern="1200" cap="none" spc="0" normalizeH="0" baseline="0" noProof="0" dirty="0">
                <a:ln>
                  <a:noFill/>
                </a:ln>
                <a:solidFill>
                  <a:srgbClr val="84A1B8"/>
                </a:solidFill>
                <a:effectLst/>
                <a:uLnTx/>
                <a:uFillTx/>
                <a:latin typeface="Inter"/>
                <a:ea typeface="+mn-ea"/>
                <a:cs typeface="+mn-cs"/>
              </a:rPr>
              <a:t> API Login · </a:t>
            </a:r>
            <a:r>
              <a:rPr kumimoji="0" sz="869" b="0" i="0" u="none" strike="noStrike" kern="1200" cap="none" spc="0" normalizeH="0" baseline="0" noProof="0" dirty="0" err="1">
                <a:ln>
                  <a:noFill/>
                </a:ln>
                <a:solidFill>
                  <a:srgbClr val="84A1B8"/>
                </a:solidFill>
                <a:effectLst/>
                <a:uLnTx/>
                <a:uFillTx/>
                <a:latin typeface="Inter"/>
                <a:ea typeface="+mn-ea"/>
                <a:cs typeface="+mn-cs"/>
              </a:rPr>
              <a:t>Bốn</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bước</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đưa</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hệ</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thống</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vào</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thực</a:t>
            </a:r>
            <a:r>
              <a:rPr kumimoji="0" sz="869" b="0" i="0" u="none" strike="noStrike" kern="1200" cap="none" spc="0" normalizeH="0" baseline="0" noProof="0" dirty="0">
                <a:ln>
                  <a:noFill/>
                </a:ln>
                <a:solidFill>
                  <a:srgbClr val="84A1B8"/>
                </a:solidFill>
                <a:effectLst/>
                <a:uLnTx/>
                <a:uFillTx/>
                <a:latin typeface="Inter"/>
                <a:ea typeface="+mn-ea"/>
                <a:cs typeface="+mn-cs"/>
              </a:rPr>
              <a:t> </a:t>
            </a:r>
            <a:r>
              <a:rPr kumimoji="0" sz="869" b="0" i="0" u="none" strike="noStrike" kern="1200" cap="none" spc="0" normalizeH="0" baseline="0" noProof="0" dirty="0" err="1">
                <a:ln>
                  <a:noFill/>
                </a:ln>
                <a:solidFill>
                  <a:srgbClr val="84A1B8"/>
                </a:solidFill>
                <a:effectLst/>
                <a:uLnTx/>
                <a:uFillTx/>
                <a:latin typeface="Inter"/>
                <a:ea typeface="+mn-ea"/>
                <a:cs typeface="+mn-cs"/>
              </a:rPr>
              <a:t>tế</a:t>
            </a:r>
            <a:endParaRPr kumimoji="0" sz="869" b="0" i="0" u="none" strike="noStrike" kern="1200" cap="none" spc="0" normalizeH="0" baseline="0" noProof="0" dirty="0">
              <a:ln>
                <a:noFill/>
              </a:ln>
              <a:solidFill>
                <a:srgbClr val="84A1B8"/>
              </a:solidFill>
              <a:effectLst/>
              <a:uLnTx/>
              <a:uFillTx/>
              <a:latin typeface="Inter"/>
              <a:ea typeface="+mn-ea"/>
              <a:cs typeface="+mn-cs"/>
            </a:endParaRPr>
          </a:p>
        </p:txBody>
      </p:sp>
      <p:sp>
        <p:nvSpPr>
          <p:cNvPr id="21" name="Rounded Rectangle 20"/>
          <p:cNvSpPr/>
          <p:nvPr/>
        </p:nvSpPr>
        <p:spPr>
          <a:xfrm>
            <a:off x="7031736" y="2093976"/>
            <a:ext cx="2039112" cy="1609344"/>
          </a:xfrm>
          <a:prstGeom prst="roundRect">
            <a:avLst>
              <a:gd name="adj" fmla="val 9500"/>
            </a:avLst>
          </a:prstGeom>
          <a:solidFill>
            <a:srgbClr val="102E49"/>
          </a:solidFill>
          <a:ln w="5715">
            <a:solidFill>
              <a:srgbClr val="24496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ounded Rectangle 21"/>
          <p:cNvSpPr/>
          <p:nvPr/>
        </p:nvSpPr>
        <p:spPr>
          <a:xfrm>
            <a:off x="9299448" y="2093976"/>
            <a:ext cx="2039112" cy="1609344"/>
          </a:xfrm>
          <a:prstGeom prst="roundRect">
            <a:avLst>
              <a:gd name="adj" fmla="val 9500"/>
            </a:avLst>
          </a:prstGeom>
          <a:solidFill>
            <a:srgbClr val="132B48"/>
          </a:solidFill>
          <a:ln w="5715">
            <a:solidFill>
              <a:srgbClr val="25496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ounded Rectangle 22"/>
          <p:cNvSpPr/>
          <p:nvPr/>
        </p:nvSpPr>
        <p:spPr>
          <a:xfrm>
            <a:off x="7031736" y="3867912"/>
            <a:ext cx="2039112" cy="1609344"/>
          </a:xfrm>
          <a:prstGeom prst="roundRect">
            <a:avLst>
              <a:gd name="adj" fmla="val 9500"/>
            </a:avLst>
          </a:prstGeom>
          <a:solidFill>
            <a:srgbClr val="0C2D43"/>
          </a:solidFill>
          <a:ln w="5715">
            <a:solidFill>
              <a:srgbClr val="24496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9299448" y="3867912"/>
            <a:ext cx="2039112" cy="1609344"/>
          </a:xfrm>
          <a:prstGeom prst="roundRect">
            <a:avLst>
              <a:gd name="adj" fmla="val 9500"/>
            </a:avLst>
          </a:prstGeom>
          <a:solidFill>
            <a:srgbClr val="102E49"/>
          </a:solidFill>
          <a:ln w="5715">
            <a:solidFill>
              <a:srgbClr val="24496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ounded Rectangle 24"/>
          <p:cNvSpPr/>
          <p:nvPr/>
        </p:nvSpPr>
        <p:spPr>
          <a:xfrm>
            <a:off x="7223760" y="2249424"/>
            <a:ext cx="1655064" cy="850392"/>
          </a:xfrm>
          <a:prstGeom prst="roundRect">
            <a:avLst>
              <a:gd name="adj" fmla="val 9500"/>
            </a:avLst>
          </a:prstGeom>
          <a:solidFill>
            <a:srgbClr val="081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7324344" y="2350008"/>
            <a:ext cx="1417320" cy="45720"/>
          </a:xfrm>
          <a:prstGeom prst="rect">
            <a:avLst/>
          </a:prstGeom>
          <a:solidFill>
            <a:srgbClr val="2649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p:cNvSpPr/>
          <p:nvPr/>
        </p:nvSpPr>
        <p:spPr>
          <a:xfrm>
            <a:off x="7351776" y="2487168"/>
            <a:ext cx="68580" cy="68580"/>
          </a:xfrm>
          <a:prstGeom prst="ellipse">
            <a:avLst/>
          </a:prstGeom>
          <a:solidFill>
            <a:srgbClr val="47DC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7343546" y="2480767"/>
            <a:ext cx="81381" cy="7315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40" b="1" i="0" u="none" strike="noStrike" kern="1200" cap="none" spc="0" normalizeH="0" baseline="0" noProof="0">
                <a:ln>
                  <a:noFill/>
                </a:ln>
                <a:solidFill>
                  <a:srgbClr val="073224"/>
                </a:solidFill>
                <a:effectLst/>
                <a:uLnTx/>
                <a:uFillTx/>
                <a:latin typeface="Inter"/>
                <a:ea typeface="+mn-ea"/>
                <a:cs typeface="+mn-cs"/>
              </a:rPr>
              <a:t>✓</a:t>
            </a:r>
          </a:p>
        </p:txBody>
      </p:sp>
      <p:sp>
        <p:nvSpPr>
          <p:cNvPr id="29" name="Rectangle 28"/>
          <p:cNvSpPr/>
          <p:nvPr/>
        </p:nvSpPr>
        <p:spPr>
          <a:xfrm>
            <a:off x="7479792" y="2502712"/>
            <a:ext cx="859536" cy="36576"/>
          </a:xfrm>
          <a:prstGeom prst="rect">
            <a:avLst/>
          </a:prstGeom>
          <a:solidFill>
            <a:srgbClr val="537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Oval 29"/>
          <p:cNvSpPr/>
          <p:nvPr/>
        </p:nvSpPr>
        <p:spPr>
          <a:xfrm>
            <a:off x="7351776" y="2651760"/>
            <a:ext cx="68580" cy="68580"/>
          </a:xfrm>
          <a:prstGeom prst="ellipse">
            <a:avLst/>
          </a:prstGeom>
          <a:solidFill>
            <a:srgbClr val="47DC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7343546" y="2645359"/>
            <a:ext cx="81381" cy="7315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40" b="1" i="0" u="none" strike="noStrike" kern="1200" cap="none" spc="0" normalizeH="0" baseline="0" noProof="0">
                <a:ln>
                  <a:noFill/>
                </a:ln>
                <a:solidFill>
                  <a:srgbClr val="073224"/>
                </a:solidFill>
                <a:effectLst/>
                <a:uLnTx/>
                <a:uFillTx/>
                <a:latin typeface="Inter"/>
                <a:ea typeface="+mn-ea"/>
                <a:cs typeface="+mn-cs"/>
              </a:rPr>
              <a:t>✓</a:t>
            </a:r>
          </a:p>
        </p:txBody>
      </p:sp>
      <p:sp>
        <p:nvSpPr>
          <p:cNvPr id="32" name="Rectangle 31"/>
          <p:cNvSpPr/>
          <p:nvPr/>
        </p:nvSpPr>
        <p:spPr>
          <a:xfrm>
            <a:off x="7479792" y="2667304"/>
            <a:ext cx="1051560" cy="36576"/>
          </a:xfrm>
          <a:prstGeom prst="rect">
            <a:avLst/>
          </a:prstGeom>
          <a:solidFill>
            <a:srgbClr val="537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Oval 32"/>
          <p:cNvSpPr/>
          <p:nvPr/>
        </p:nvSpPr>
        <p:spPr>
          <a:xfrm>
            <a:off x="7351776" y="2816352"/>
            <a:ext cx="68580" cy="68580"/>
          </a:xfrm>
          <a:prstGeom prst="ellipse">
            <a:avLst/>
          </a:prstGeom>
          <a:solidFill>
            <a:srgbClr val="47DC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TextBox 33"/>
          <p:cNvSpPr txBox="1"/>
          <p:nvPr/>
        </p:nvSpPr>
        <p:spPr>
          <a:xfrm>
            <a:off x="7343546" y="2809951"/>
            <a:ext cx="81381" cy="7315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40" b="1" i="0" u="none" strike="noStrike" kern="1200" cap="none" spc="0" normalizeH="0" baseline="0" noProof="0">
                <a:ln>
                  <a:noFill/>
                </a:ln>
                <a:solidFill>
                  <a:srgbClr val="073224"/>
                </a:solidFill>
                <a:effectLst/>
                <a:uLnTx/>
                <a:uFillTx/>
                <a:latin typeface="Inter"/>
                <a:ea typeface="+mn-ea"/>
                <a:cs typeface="+mn-cs"/>
              </a:rPr>
              <a:t>✓</a:t>
            </a:r>
          </a:p>
        </p:txBody>
      </p:sp>
      <p:sp>
        <p:nvSpPr>
          <p:cNvPr id="35" name="Rectangle 34"/>
          <p:cNvSpPr/>
          <p:nvPr/>
        </p:nvSpPr>
        <p:spPr>
          <a:xfrm>
            <a:off x="7479792" y="2831896"/>
            <a:ext cx="676656" cy="36576"/>
          </a:xfrm>
          <a:prstGeom prst="rect">
            <a:avLst/>
          </a:prstGeom>
          <a:solidFill>
            <a:srgbClr val="537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TextBox 35"/>
          <p:cNvSpPr txBox="1"/>
          <p:nvPr/>
        </p:nvSpPr>
        <p:spPr>
          <a:xfrm>
            <a:off x="7168896" y="3236976"/>
            <a:ext cx="1783080" cy="25603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10" b="1" i="0" u="none" strike="noStrike" kern="1200" cap="none" spc="0" normalizeH="0" baseline="0" noProof="0">
                <a:ln>
                  <a:noFill/>
                </a:ln>
                <a:solidFill>
                  <a:srgbClr val="F8FBFE"/>
                </a:solidFill>
                <a:effectLst/>
                <a:uLnTx/>
                <a:uFillTx/>
                <a:latin typeface="Inter"/>
                <a:ea typeface="+mn-ea"/>
                <a:cs typeface="+mn-cs"/>
              </a:rPr>
              <a:t>01  ·  KIỂM THỬ</a:t>
            </a:r>
          </a:p>
        </p:txBody>
      </p:sp>
      <p:sp>
        <p:nvSpPr>
          <p:cNvPr id="37" name="TextBox 36"/>
          <p:cNvSpPr txBox="1"/>
          <p:nvPr/>
        </p:nvSpPr>
        <p:spPr>
          <a:xfrm>
            <a:off x="7168896" y="3465576"/>
            <a:ext cx="1783080" cy="1554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90" b="0" i="0" u="none" strike="noStrike" kern="1200" cap="none" spc="0" normalizeH="0" baseline="0" noProof="0">
                <a:ln>
                  <a:noFill/>
                </a:ln>
                <a:solidFill>
                  <a:srgbClr val="84A1B8"/>
                </a:solidFill>
                <a:effectLst/>
                <a:uLnTx/>
                <a:uFillTx/>
                <a:latin typeface="Inter"/>
                <a:ea typeface="+mn-ea"/>
                <a:cs typeface="+mn-cs"/>
              </a:rPr>
              <a:t>Jest  /  Supertest</a:t>
            </a:r>
          </a:p>
        </p:txBody>
      </p:sp>
      <p:sp>
        <p:nvSpPr>
          <p:cNvPr id="38" name="Pentagon 37"/>
          <p:cNvSpPr/>
          <p:nvPr/>
        </p:nvSpPr>
        <p:spPr>
          <a:xfrm rot="10800000">
            <a:off x="9976104" y="2240280"/>
            <a:ext cx="713232" cy="868680"/>
          </a:xfrm>
          <a:prstGeom prst="homePlate">
            <a:avLst/>
          </a:prstGeom>
          <a:solidFill>
            <a:srgbClr val="184962"/>
          </a:solidFill>
          <a:ln w="19685">
            <a:solidFill>
              <a:srgbClr val="49D0D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ounded Rectangle 38"/>
          <p:cNvSpPr/>
          <p:nvPr/>
        </p:nvSpPr>
        <p:spPr>
          <a:xfrm>
            <a:off x="10204704" y="2642616"/>
            <a:ext cx="256032" cy="246888"/>
          </a:xfrm>
          <a:prstGeom prst="roundRect">
            <a:avLst>
              <a:gd name="adj" fmla="val 9500"/>
            </a:avLst>
          </a:prstGeom>
          <a:solidFill>
            <a:srgbClr val="49D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Rounded Rectangle 39"/>
          <p:cNvSpPr/>
          <p:nvPr/>
        </p:nvSpPr>
        <p:spPr>
          <a:xfrm>
            <a:off x="10254996" y="2514600"/>
            <a:ext cx="155448" cy="173736"/>
          </a:xfrm>
          <a:prstGeom prst="roundRect">
            <a:avLst>
              <a:gd name="adj" fmla="val 9500"/>
            </a:avLst>
          </a:prstGeom>
          <a:solidFill>
            <a:srgbClr val="49D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ounded Rectangle 40"/>
          <p:cNvSpPr/>
          <p:nvPr/>
        </p:nvSpPr>
        <p:spPr>
          <a:xfrm>
            <a:off x="10286085" y="2542032"/>
            <a:ext cx="91440" cy="146304"/>
          </a:xfrm>
          <a:prstGeom prst="roundRect">
            <a:avLst>
              <a:gd name="adj" fmla="val 9500"/>
            </a:avLst>
          </a:prstGeom>
          <a:solidFill>
            <a:srgbClr val="184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Oval 41"/>
          <p:cNvSpPr/>
          <p:nvPr/>
        </p:nvSpPr>
        <p:spPr>
          <a:xfrm>
            <a:off x="10314432" y="2740456"/>
            <a:ext cx="39319" cy="39319"/>
          </a:xfrm>
          <a:prstGeom prst="ellipse">
            <a:avLst/>
          </a:prstGeom>
          <a:solidFill>
            <a:srgbClr val="12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TextBox 42"/>
          <p:cNvSpPr txBox="1"/>
          <p:nvPr/>
        </p:nvSpPr>
        <p:spPr>
          <a:xfrm>
            <a:off x="9436608" y="3236976"/>
            <a:ext cx="1783080" cy="25603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10" b="1" i="0" u="none" strike="noStrike" kern="1200" cap="none" spc="0" normalizeH="0" baseline="0" noProof="0">
                <a:ln>
                  <a:noFill/>
                </a:ln>
                <a:solidFill>
                  <a:srgbClr val="F8FBFE"/>
                </a:solidFill>
                <a:effectLst/>
                <a:uLnTx/>
                <a:uFillTx/>
                <a:latin typeface="Inter"/>
                <a:ea typeface="+mn-ea"/>
                <a:cs typeface="+mn-cs"/>
              </a:rPr>
              <a:t>02  ·  BẢO MẬT</a:t>
            </a:r>
          </a:p>
        </p:txBody>
      </p:sp>
      <p:sp>
        <p:nvSpPr>
          <p:cNvPr id="44" name="TextBox 43"/>
          <p:cNvSpPr txBox="1"/>
          <p:nvPr/>
        </p:nvSpPr>
        <p:spPr>
          <a:xfrm>
            <a:off x="9436608" y="3465576"/>
            <a:ext cx="1783080" cy="1554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90" b="0" i="0" u="none" strike="noStrike" kern="1200" cap="none" spc="0" normalizeH="0" baseline="0" noProof="0">
                <a:ln>
                  <a:noFill/>
                </a:ln>
                <a:solidFill>
                  <a:srgbClr val="84A1B8"/>
                </a:solidFill>
                <a:effectLst/>
                <a:uLnTx/>
                <a:uFillTx/>
                <a:latin typeface="Inter"/>
                <a:ea typeface="+mn-ea"/>
                <a:cs typeface="+mn-cs"/>
              </a:rPr>
              <a:t>JWT  /  Rate Limit</a:t>
            </a:r>
          </a:p>
        </p:txBody>
      </p:sp>
      <p:sp>
        <p:nvSpPr>
          <p:cNvPr id="45" name="Rounded Rectangle 44"/>
          <p:cNvSpPr/>
          <p:nvPr/>
        </p:nvSpPr>
        <p:spPr>
          <a:xfrm>
            <a:off x="7306056" y="4315968"/>
            <a:ext cx="539496" cy="438912"/>
          </a:xfrm>
          <a:prstGeom prst="roundRect">
            <a:avLst>
              <a:gd name="adj" fmla="val 9500"/>
            </a:avLst>
          </a:prstGeom>
          <a:solidFill>
            <a:srgbClr val="174A66"/>
          </a:solidFill>
          <a:ln w="15240">
            <a:solidFill>
              <a:srgbClr val="52ACF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Rectangle 45"/>
          <p:cNvSpPr/>
          <p:nvPr/>
        </p:nvSpPr>
        <p:spPr>
          <a:xfrm>
            <a:off x="7392924"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Rectangle 46"/>
          <p:cNvSpPr/>
          <p:nvPr/>
        </p:nvSpPr>
        <p:spPr>
          <a:xfrm>
            <a:off x="7516368"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Rectangle 47"/>
          <p:cNvSpPr/>
          <p:nvPr/>
        </p:nvSpPr>
        <p:spPr>
          <a:xfrm>
            <a:off x="7639812"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Rounded Rectangle 48"/>
          <p:cNvSpPr/>
          <p:nvPr/>
        </p:nvSpPr>
        <p:spPr>
          <a:xfrm>
            <a:off x="7772400" y="4105656"/>
            <a:ext cx="539496" cy="438912"/>
          </a:xfrm>
          <a:prstGeom prst="roundRect">
            <a:avLst>
              <a:gd name="adj" fmla="val 9500"/>
            </a:avLst>
          </a:prstGeom>
          <a:solidFill>
            <a:srgbClr val="174A66"/>
          </a:solidFill>
          <a:ln w="15240">
            <a:solidFill>
              <a:srgbClr val="52ACF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Rectangle 49"/>
          <p:cNvSpPr/>
          <p:nvPr/>
        </p:nvSpPr>
        <p:spPr>
          <a:xfrm>
            <a:off x="7859268" y="4229100"/>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7982712" y="4229100"/>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8106156" y="4229100"/>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ounded Rectangle 52"/>
          <p:cNvSpPr/>
          <p:nvPr/>
        </p:nvSpPr>
        <p:spPr>
          <a:xfrm>
            <a:off x="8229600" y="4315968"/>
            <a:ext cx="539496" cy="438912"/>
          </a:xfrm>
          <a:prstGeom prst="roundRect">
            <a:avLst>
              <a:gd name="adj" fmla="val 9500"/>
            </a:avLst>
          </a:prstGeom>
          <a:solidFill>
            <a:srgbClr val="174A66"/>
          </a:solidFill>
          <a:ln w="15240">
            <a:solidFill>
              <a:srgbClr val="52ACF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8316468"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8439912"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ectangle 55"/>
          <p:cNvSpPr/>
          <p:nvPr/>
        </p:nvSpPr>
        <p:spPr>
          <a:xfrm>
            <a:off x="8563356" y="4439412"/>
            <a:ext cx="71323" cy="68580"/>
          </a:xfrm>
          <a:prstGeom prst="rect">
            <a:avLst/>
          </a:prstGeom>
          <a:solidFill>
            <a:srgbClr val="5BB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7" name="Connector 56"/>
          <p:cNvCxnSpPr/>
          <p:nvPr/>
        </p:nvCxnSpPr>
        <p:spPr>
          <a:xfrm>
            <a:off x="7562088" y="4828032"/>
            <a:ext cx="987552" cy="0"/>
          </a:xfrm>
          <a:prstGeom prst="line">
            <a:avLst/>
          </a:prstGeom>
          <a:ln w="19050">
            <a:solidFill>
              <a:srgbClr val="64B8E7"/>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527340" y="4796942"/>
            <a:ext cx="67665" cy="67665"/>
          </a:xfrm>
          <a:prstGeom prst="ellipse">
            <a:avLst/>
          </a:prstGeom>
          <a:solidFill>
            <a:srgbClr val="64B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Oval 58"/>
          <p:cNvSpPr/>
          <p:nvPr/>
        </p:nvSpPr>
        <p:spPr>
          <a:xfrm>
            <a:off x="8021116" y="4796942"/>
            <a:ext cx="67665" cy="67665"/>
          </a:xfrm>
          <a:prstGeom prst="ellipse">
            <a:avLst/>
          </a:prstGeom>
          <a:solidFill>
            <a:srgbClr val="64B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Oval 59"/>
          <p:cNvSpPr/>
          <p:nvPr/>
        </p:nvSpPr>
        <p:spPr>
          <a:xfrm>
            <a:off x="8514892" y="4796942"/>
            <a:ext cx="67665" cy="67665"/>
          </a:xfrm>
          <a:prstGeom prst="ellipse">
            <a:avLst/>
          </a:prstGeom>
          <a:solidFill>
            <a:srgbClr val="64B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60"/>
          <p:cNvSpPr txBox="1"/>
          <p:nvPr/>
        </p:nvSpPr>
        <p:spPr>
          <a:xfrm>
            <a:off x="7168896" y="5010912"/>
            <a:ext cx="1783080" cy="25603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10" b="1" i="0" u="none" strike="noStrike" kern="1200" cap="none" spc="0" normalizeH="0" baseline="0" noProof="0">
                <a:ln>
                  <a:noFill/>
                </a:ln>
                <a:solidFill>
                  <a:srgbClr val="F8FBFE"/>
                </a:solidFill>
                <a:effectLst/>
                <a:uLnTx/>
                <a:uFillTx/>
                <a:latin typeface="Inter"/>
                <a:ea typeface="+mn-ea"/>
                <a:cs typeface="+mn-cs"/>
              </a:rPr>
              <a:t>03  ·  DOCKER</a:t>
            </a:r>
          </a:p>
        </p:txBody>
      </p:sp>
      <p:sp>
        <p:nvSpPr>
          <p:cNvPr id="62" name="TextBox 61"/>
          <p:cNvSpPr txBox="1"/>
          <p:nvPr/>
        </p:nvSpPr>
        <p:spPr>
          <a:xfrm>
            <a:off x="7168896" y="5239512"/>
            <a:ext cx="1783080" cy="1554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90" b="0" i="0" u="none" strike="noStrike" kern="1200" cap="none" spc="0" normalizeH="0" baseline="0" noProof="0">
                <a:ln>
                  <a:noFill/>
                </a:ln>
                <a:solidFill>
                  <a:srgbClr val="84A1B8"/>
                </a:solidFill>
                <a:effectLst/>
                <a:uLnTx/>
                <a:uFillTx/>
                <a:latin typeface="Inter"/>
                <a:ea typeface="+mn-ea"/>
                <a:cs typeface="+mn-cs"/>
              </a:rPr>
              <a:t>Đóng gói môi trường</a:t>
            </a:r>
          </a:p>
        </p:txBody>
      </p:sp>
      <p:sp>
        <p:nvSpPr>
          <p:cNvPr id="63" name="Cloud 62"/>
          <p:cNvSpPr/>
          <p:nvPr/>
        </p:nvSpPr>
        <p:spPr>
          <a:xfrm>
            <a:off x="9857232" y="4114800"/>
            <a:ext cx="1024128" cy="630936"/>
          </a:xfrm>
          <a:prstGeom prst="cloud">
            <a:avLst/>
          </a:prstGeom>
          <a:solidFill>
            <a:srgbClr val="224E67"/>
          </a:solidFill>
          <a:ln w="17145">
            <a:solidFill>
              <a:srgbClr val="6ED6E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4" name="Connector 63"/>
          <p:cNvCxnSpPr/>
          <p:nvPr/>
        </p:nvCxnSpPr>
        <p:spPr>
          <a:xfrm flipV="1">
            <a:off x="10369296" y="4261104"/>
            <a:ext cx="0" cy="384048"/>
          </a:xfrm>
          <a:prstGeom prst="line">
            <a:avLst/>
          </a:prstGeom>
          <a:ln w="25400">
            <a:solidFill>
              <a:srgbClr val="DBF5F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0259568" y="4261104"/>
            <a:ext cx="109728" cy="100584"/>
          </a:xfrm>
          <a:prstGeom prst="line">
            <a:avLst/>
          </a:prstGeom>
          <a:ln w="21590">
            <a:solidFill>
              <a:srgbClr val="DBF5F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369296" y="4261104"/>
            <a:ext cx="109728" cy="100584"/>
          </a:xfrm>
          <a:prstGeom prst="line">
            <a:avLst/>
          </a:prstGeom>
          <a:ln w="21590">
            <a:solidFill>
              <a:srgbClr val="DBF5FC"/>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9994392" y="4791456"/>
            <a:ext cx="758952" cy="164592"/>
          </a:xfrm>
          <a:prstGeom prst="roundRect">
            <a:avLst>
              <a:gd name="adj" fmla="val 9500"/>
            </a:avLst>
          </a:prstGeom>
          <a:solidFill>
            <a:srgbClr val="174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Oval 67"/>
          <p:cNvSpPr/>
          <p:nvPr/>
        </p:nvSpPr>
        <p:spPr>
          <a:xfrm>
            <a:off x="10067544" y="4842662"/>
            <a:ext cx="59436" cy="59436"/>
          </a:xfrm>
          <a:prstGeom prst="ellipse">
            <a:avLst/>
          </a:prstGeom>
          <a:solidFill>
            <a:srgbClr val="47DC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68"/>
          <p:cNvSpPr txBox="1"/>
          <p:nvPr/>
        </p:nvSpPr>
        <p:spPr>
          <a:xfrm>
            <a:off x="10158984" y="4819802"/>
            <a:ext cx="521207" cy="11887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640" b="1" i="0" u="none" strike="noStrike" kern="1200" cap="none" spc="0" normalizeH="0" baseline="0" noProof="0">
                <a:ln>
                  <a:noFill/>
                </a:ln>
                <a:solidFill>
                  <a:srgbClr val="A8EBD5"/>
                </a:solidFill>
                <a:effectLst/>
                <a:uLnTx/>
                <a:uFillTx/>
                <a:latin typeface="Inter"/>
                <a:ea typeface="+mn-ea"/>
                <a:cs typeface="+mn-cs"/>
              </a:rPr>
              <a:t>ONLINE</a:t>
            </a:r>
          </a:p>
        </p:txBody>
      </p:sp>
      <p:sp>
        <p:nvSpPr>
          <p:cNvPr id="70" name="TextBox 69"/>
          <p:cNvSpPr txBox="1"/>
          <p:nvPr/>
        </p:nvSpPr>
        <p:spPr>
          <a:xfrm>
            <a:off x="9436608" y="5010912"/>
            <a:ext cx="1783080" cy="256032"/>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10" b="1" i="0" u="none" strike="noStrike" kern="1200" cap="none" spc="0" normalizeH="0" baseline="0" noProof="0">
                <a:ln>
                  <a:noFill/>
                </a:ln>
                <a:solidFill>
                  <a:srgbClr val="F8FBFE"/>
                </a:solidFill>
                <a:effectLst/>
                <a:uLnTx/>
                <a:uFillTx/>
                <a:latin typeface="Inter"/>
                <a:ea typeface="+mn-ea"/>
                <a:cs typeface="+mn-cs"/>
              </a:rPr>
              <a:t>04  ·  TRIỂN KHAI</a:t>
            </a:r>
          </a:p>
        </p:txBody>
      </p:sp>
      <p:sp>
        <p:nvSpPr>
          <p:cNvPr id="71" name="TextBox 70"/>
          <p:cNvSpPr txBox="1"/>
          <p:nvPr/>
        </p:nvSpPr>
        <p:spPr>
          <a:xfrm>
            <a:off x="9436608" y="5239512"/>
            <a:ext cx="1783080" cy="155448"/>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90" b="0" i="0" u="none" strike="noStrike" kern="1200" cap="none" spc="0" normalizeH="0" baseline="0" noProof="0">
                <a:ln>
                  <a:noFill/>
                </a:ln>
                <a:solidFill>
                  <a:srgbClr val="84A1B8"/>
                </a:solidFill>
                <a:effectLst/>
                <a:uLnTx/>
                <a:uFillTx/>
                <a:latin typeface="Inter"/>
                <a:ea typeface="+mn-ea"/>
                <a:cs typeface="+mn-cs"/>
              </a:rPr>
              <a:t>Ứng dụng sẵn sàng</a:t>
            </a:r>
          </a:p>
        </p:txBody>
      </p:sp>
      <p:cxnSp>
        <p:nvCxnSpPr>
          <p:cNvPr id="72" name="Connector 71"/>
          <p:cNvCxnSpPr/>
          <p:nvPr/>
        </p:nvCxnSpPr>
        <p:spPr>
          <a:xfrm>
            <a:off x="7031736" y="5733288"/>
            <a:ext cx="4288536" cy="0"/>
          </a:xfrm>
          <a:prstGeom prst="line">
            <a:avLst/>
          </a:prstGeom>
          <a:ln w="6350">
            <a:solidFill>
              <a:srgbClr val="23435B"/>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7059168" y="5843016"/>
            <a:ext cx="2971800" cy="146304"/>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30" b="0" i="0" u="none" strike="noStrike" kern="1200" cap="none" spc="0" normalizeH="0" baseline="0" noProof="0" dirty="0">
                <a:ln>
                  <a:noFill/>
                </a:ln>
                <a:solidFill>
                  <a:srgbClr val="84A1B8"/>
                </a:solidFill>
                <a:effectLst/>
                <a:uLnTx/>
                <a:uFillTx/>
                <a:latin typeface="Inter"/>
                <a:ea typeface="+mn-ea"/>
                <a:cs typeface="+mn-cs"/>
              </a:rPr>
              <a:t>API LOGIN  /  backend-</a:t>
            </a:r>
            <a:r>
              <a:rPr kumimoji="0" sz="730" b="0" i="0" u="none" strike="noStrike" kern="1200" cap="none" spc="0" normalizeH="0" baseline="0" noProof="0" dirty="0" err="1">
                <a:ln>
                  <a:noFill/>
                </a:ln>
                <a:solidFill>
                  <a:srgbClr val="84A1B8"/>
                </a:solidFill>
                <a:effectLst/>
                <a:uLnTx/>
                <a:uFillTx/>
                <a:latin typeface="Inter"/>
                <a:ea typeface="+mn-ea"/>
                <a:cs typeface="+mn-cs"/>
              </a:rPr>
              <a:t>qua</a:t>
            </a:r>
            <a:r>
              <a:rPr kumimoji="0" lang="en-US" sz="730" b="0" i="0" u="none" strike="noStrike" kern="1200" cap="none" spc="0" normalizeH="0" baseline="0" noProof="0" dirty="0" err="1">
                <a:ln>
                  <a:noFill/>
                </a:ln>
                <a:solidFill>
                  <a:srgbClr val="84A1B8"/>
                </a:solidFill>
                <a:effectLst/>
                <a:uLnTx/>
                <a:uFillTx/>
                <a:latin typeface="Inter"/>
                <a:ea typeface="+mn-ea"/>
                <a:cs typeface="+mn-cs"/>
              </a:rPr>
              <a:t>n</a:t>
            </a:r>
            <a:r>
              <a:rPr kumimoji="0" sz="730" b="0" i="0" u="none" strike="noStrike" kern="1200" cap="none" spc="0" normalizeH="0" baseline="0" noProof="0" dirty="0">
                <a:ln>
                  <a:noFill/>
                </a:ln>
                <a:solidFill>
                  <a:srgbClr val="84A1B8"/>
                </a:solidFill>
                <a:effectLst/>
                <a:uLnTx/>
                <a:uFillTx/>
                <a:latin typeface="Inter"/>
                <a:ea typeface="+mn-ea"/>
                <a:cs typeface="+mn-cs"/>
              </a:rPr>
              <a:t>-</a:t>
            </a:r>
            <a:r>
              <a:rPr kumimoji="0" sz="730" b="0" i="0" u="none" strike="noStrike" kern="1200" cap="none" spc="0" normalizeH="0" baseline="0" noProof="0" dirty="0" err="1">
                <a:ln>
                  <a:noFill/>
                </a:ln>
                <a:solidFill>
                  <a:srgbClr val="84A1B8"/>
                </a:solidFill>
                <a:effectLst/>
                <a:uLnTx/>
                <a:uFillTx/>
                <a:latin typeface="Inter"/>
                <a:ea typeface="+mn-ea"/>
                <a:cs typeface="+mn-cs"/>
              </a:rPr>
              <a:t>ly-sinh-vien</a:t>
            </a:r>
            <a:endParaRPr kumimoji="0" sz="730" b="0" i="0" u="none" strike="noStrike" kern="1200" cap="none" spc="0" normalizeH="0" baseline="0" noProof="0" dirty="0">
              <a:ln>
                <a:noFill/>
              </a:ln>
              <a:solidFill>
                <a:srgbClr val="84A1B8"/>
              </a:solidFill>
              <a:effectLst/>
              <a:uLnTx/>
              <a:uFillTx/>
              <a:latin typeface="Inter"/>
              <a:ea typeface="+mn-ea"/>
              <a:cs typeface="+mn-cs"/>
            </a:endParaRPr>
          </a:p>
        </p:txBody>
      </p:sp>
      <p:sp>
        <p:nvSpPr>
          <p:cNvPr id="74" name="Rounded Rectangle 73"/>
          <p:cNvSpPr/>
          <p:nvPr/>
        </p:nvSpPr>
        <p:spPr>
          <a:xfrm>
            <a:off x="10195560" y="5833872"/>
            <a:ext cx="196596" cy="201168"/>
          </a:xfrm>
          <a:prstGeom prst="roundRect">
            <a:avLst>
              <a:gd name="adj" fmla="val 9500"/>
            </a:avLst>
          </a:prstGeom>
          <a:solidFill>
            <a:srgbClr val="02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74"/>
          <p:cNvSpPr txBox="1"/>
          <p:nvPr/>
        </p:nvSpPr>
        <p:spPr>
          <a:xfrm>
            <a:off x="10195560" y="5865876"/>
            <a:ext cx="196596" cy="11887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F8FBFE"/>
                </a:solidFill>
                <a:effectLst/>
                <a:uLnTx/>
                <a:uFillTx/>
                <a:latin typeface="Inter"/>
                <a:ea typeface="+mn-ea"/>
                <a:cs typeface="+mn-cs"/>
              </a:rPr>
              <a:t>1</a:t>
            </a:r>
          </a:p>
        </p:txBody>
      </p:sp>
      <p:sp>
        <p:nvSpPr>
          <p:cNvPr id="76" name="Rounded Rectangle 75"/>
          <p:cNvSpPr/>
          <p:nvPr/>
        </p:nvSpPr>
        <p:spPr>
          <a:xfrm>
            <a:off x="10433304" y="5833872"/>
            <a:ext cx="196596" cy="201168"/>
          </a:xfrm>
          <a:prstGeom prst="roundRect">
            <a:avLst>
              <a:gd name="adj" fmla="val 9500"/>
            </a:avLst>
          </a:prstGeom>
          <a:solidFill>
            <a:srgbClr val="183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TextBox 76"/>
          <p:cNvSpPr txBox="1"/>
          <p:nvPr/>
        </p:nvSpPr>
        <p:spPr>
          <a:xfrm>
            <a:off x="10433304" y="5865876"/>
            <a:ext cx="196596" cy="11887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C5DCE9"/>
                </a:solidFill>
                <a:effectLst/>
                <a:uLnTx/>
                <a:uFillTx/>
                <a:latin typeface="Inter"/>
                <a:ea typeface="+mn-ea"/>
                <a:cs typeface="+mn-cs"/>
              </a:rPr>
              <a:t>2</a:t>
            </a:r>
          </a:p>
        </p:txBody>
      </p:sp>
      <p:sp>
        <p:nvSpPr>
          <p:cNvPr id="78" name="Rounded Rectangle 77"/>
          <p:cNvSpPr/>
          <p:nvPr/>
        </p:nvSpPr>
        <p:spPr>
          <a:xfrm>
            <a:off x="10671048" y="5833872"/>
            <a:ext cx="196596" cy="201168"/>
          </a:xfrm>
          <a:prstGeom prst="roundRect">
            <a:avLst>
              <a:gd name="adj" fmla="val 9500"/>
            </a:avLst>
          </a:prstGeom>
          <a:solidFill>
            <a:srgbClr val="183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78"/>
          <p:cNvSpPr txBox="1"/>
          <p:nvPr/>
        </p:nvSpPr>
        <p:spPr>
          <a:xfrm>
            <a:off x="10671048" y="5865876"/>
            <a:ext cx="196596" cy="11887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C5DCE9"/>
                </a:solidFill>
                <a:effectLst/>
                <a:uLnTx/>
                <a:uFillTx/>
                <a:latin typeface="Inter"/>
                <a:ea typeface="+mn-ea"/>
                <a:cs typeface="+mn-cs"/>
              </a:rPr>
              <a:t>3</a:t>
            </a:r>
          </a:p>
        </p:txBody>
      </p:sp>
      <p:sp>
        <p:nvSpPr>
          <p:cNvPr id="80" name="Rounded Rectangle 79"/>
          <p:cNvSpPr/>
          <p:nvPr/>
        </p:nvSpPr>
        <p:spPr>
          <a:xfrm>
            <a:off x="10908792" y="5833872"/>
            <a:ext cx="196596" cy="201168"/>
          </a:xfrm>
          <a:prstGeom prst="roundRect">
            <a:avLst>
              <a:gd name="adj" fmla="val 9500"/>
            </a:avLst>
          </a:prstGeom>
          <a:solidFill>
            <a:srgbClr val="183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80"/>
          <p:cNvSpPr txBox="1"/>
          <p:nvPr/>
        </p:nvSpPr>
        <p:spPr>
          <a:xfrm>
            <a:off x="10908792" y="5865876"/>
            <a:ext cx="196596" cy="118872"/>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50" b="0" i="0" u="none" strike="noStrike" kern="1200" cap="none" spc="0" normalizeH="0" baseline="0" noProof="0">
                <a:ln>
                  <a:noFill/>
                </a:ln>
                <a:solidFill>
                  <a:srgbClr val="C5DCE9"/>
                </a:solidFill>
                <a:effectLst/>
                <a:uLnTx/>
                <a:uFillTx/>
                <a:latin typeface="Inter"/>
                <a:ea typeface="+mn-ea"/>
                <a:cs typeface="+mn-cs"/>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2563EB"/>
                </a:solidFill>
                <a:latin typeface="Calibri"/>
              </a:defRPr>
            </a:pPr>
            <a:r>
              <a:t>Phần A — Đặt vấn đề</a:t>
            </a:r>
          </a:p>
        </p:txBody>
      </p:sp>
      <p:sp>
        <p:nvSpPr>
          <p:cNvPr id="5" name="TextBox 4"/>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Một API chạy thành công đã đủ chưa?</a:t>
            </a:r>
          </a:p>
        </p:txBody>
      </p:sp>
      <p:sp>
        <p:nvSpPr>
          <p:cNvPr id="7" name="TextBox 6"/>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02/18</a:t>
            </a:r>
          </a:p>
        </p:txBody>
      </p:sp>
      <p:sp>
        <p:nvSpPr>
          <p:cNvPr id="8" name="Rounded Rectangle 7"/>
          <p:cNvSpPr/>
          <p:nvPr/>
        </p:nvSpPr>
        <p:spPr>
          <a:xfrm>
            <a:off x="502920" y="1417320"/>
            <a:ext cx="3611880" cy="2286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00200"/>
            <a:ext cx="3154680" cy="365760"/>
          </a:xfrm>
          <a:prstGeom prst="rect">
            <a:avLst/>
          </a:prstGeom>
          <a:noFill/>
        </p:spPr>
        <p:txBody>
          <a:bodyPr wrap="square">
            <a:spAutoFit/>
          </a:bodyPr>
          <a:lstStyle/>
          <a:p>
            <a:pPr algn="l">
              <a:lnSpc>
                <a:spcPct val="108000"/>
              </a:lnSpc>
              <a:defRPr sz="1400" b="1" i="0">
                <a:solidFill>
                  <a:srgbClr val="2563EB"/>
                </a:solidFill>
                <a:latin typeface="Calibri"/>
              </a:defRPr>
            </a:pPr>
            <a:r>
              <a:t>Tình huống 1 — Testing</a:t>
            </a:r>
          </a:p>
        </p:txBody>
      </p:sp>
      <p:sp>
        <p:nvSpPr>
          <p:cNvPr id="10" name="TextBox 9"/>
          <p:cNvSpPr txBox="1"/>
          <p:nvPr/>
        </p:nvSpPr>
        <p:spPr>
          <a:xfrm>
            <a:off x="731520" y="2057400"/>
            <a:ext cx="3154680" cy="1280160"/>
          </a:xfrm>
          <a:prstGeom prst="rect">
            <a:avLst/>
          </a:prstGeom>
          <a:noFill/>
        </p:spPr>
        <p:txBody>
          <a:bodyPr wrap="square">
            <a:spAutoFit/>
          </a:bodyPr>
          <a:lstStyle/>
          <a:p>
            <a:pPr algn="l">
              <a:lnSpc>
                <a:spcPct val="108000"/>
              </a:lnSpc>
              <a:defRPr sz="1600" b="0" i="0">
                <a:solidFill>
                  <a:srgbClr val="0F172A"/>
                </a:solidFill>
                <a:latin typeface="Calibri"/>
              </a:defRPr>
            </a:pPr>
            <a:r>
              <a:t>Đăng nhập sai mật khẩu nhưng hệ thống vẫn cấp JWT.</a:t>
            </a:r>
          </a:p>
        </p:txBody>
      </p:sp>
      <p:sp>
        <p:nvSpPr>
          <p:cNvPr id="11" name="Rounded Rectangle 10"/>
          <p:cNvSpPr/>
          <p:nvPr/>
        </p:nvSpPr>
        <p:spPr>
          <a:xfrm>
            <a:off x="4325112" y="1417320"/>
            <a:ext cx="3611880" cy="2286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53712" y="1600200"/>
            <a:ext cx="3154680" cy="365760"/>
          </a:xfrm>
          <a:prstGeom prst="rect">
            <a:avLst/>
          </a:prstGeom>
          <a:noFill/>
        </p:spPr>
        <p:txBody>
          <a:bodyPr wrap="square">
            <a:spAutoFit/>
          </a:bodyPr>
          <a:lstStyle/>
          <a:p>
            <a:pPr algn="l">
              <a:lnSpc>
                <a:spcPct val="108000"/>
              </a:lnSpc>
              <a:defRPr sz="1400" b="1" i="0">
                <a:solidFill>
                  <a:srgbClr val="2563EB"/>
                </a:solidFill>
                <a:latin typeface="Calibri"/>
              </a:defRPr>
            </a:pPr>
            <a:r>
              <a:t>Tình huống 2 — Security</a:t>
            </a:r>
          </a:p>
        </p:txBody>
      </p:sp>
      <p:sp>
        <p:nvSpPr>
          <p:cNvPr id="13" name="TextBox 12"/>
          <p:cNvSpPr txBox="1"/>
          <p:nvPr/>
        </p:nvSpPr>
        <p:spPr>
          <a:xfrm>
            <a:off x="4553712" y="2057400"/>
            <a:ext cx="3154680" cy="1280160"/>
          </a:xfrm>
          <a:prstGeom prst="rect">
            <a:avLst/>
          </a:prstGeom>
          <a:noFill/>
        </p:spPr>
        <p:txBody>
          <a:bodyPr wrap="square">
            <a:spAutoFit/>
          </a:bodyPr>
          <a:lstStyle/>
          <a:p>
            <a:pPr algn="l">
              <a:lnSpc>
                <a:spcPct val="108000"/>
              </a:lnSpc>
              <a:defRPr sz="1600" b="0" i="0">
                <a:solidFill>
                  <a:srgbClr val="0F172A"/>
                </a:solidFill>
                <a:latin typeface="Calibri"/>
              </a:defRPr>
            </a:pPr>
            <a:r>
              <a:t>Một người liên tục gửi hàng nghìn request đến API Login.</a:t>
            </a:r>
          </a:p>
        </p:txBody>
      </p:sp>
      <p:sp>
        <p:nvSpPr>
          <p:cNvPr id="14" name="Rounded Rectangle 13"/>
          <p:cNvSpPr/>
          <p:nvPr/>
        </p:nvSpPr>
        <p:spPr>
          <a:xfrm>
            <a:off x="8147304" y="1417320"/>
            <a:ext cx="3611880" cy="2286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75904" y="1600200"/>
            <a:ext cx="3154680" cy="365760"/>
          </a:xfrm>
          <a:prstGeom prst="rect">
            <a:avLst/>
          </a:prstGeom>
          <a:noFill/>
        </p:spPr>
        <p:txBody>
          <a:bodyPr wrap="square">
            <a:spAutoFit/>
          </a:bodyPr>
          <a:lstStyle/>
          <a:p>
            <a:pPr algn="l">
              <a:lnSpc>
                <a:spcPct val="108000"/>
              </a:lnSpc>
              <a:defRPr sz="1400" b="1" i="0">
                <a:solidFill>
                  <a:srgbClr val="2563EB"/>
                </a:solidFill>
                <a:latin typeface="Calibri"/>
              </a:defRPr>
            </a:pPr>
            <a:r>
              <a:t>Tình huống 3 — Docker &amp; Deployment</a:t>
            </a:r>
          </a:p>
        </p:txBody>
      </p:sp>
      <p:sp>
        <p:nvSpPr>
          <p:cNvPr id="16" name="TextBox 15"/>
          <p:cNvSpPr txBox="1"/>
          <p:nvPr/>
        </p:nvSpPr>
        <p:spPr>
          <a:xfrm>
            <a:off x="8375904" y="2057400"/>
            <a:ext cx="3154680" cy="1280160"/>
          </a:xfrm>
          <a:prstGeom prst="rect">
            <a:avLst/>
          </a:prstGeom>
          <a:noFill/>
        </p:spPr>
        <p:txBody>
          <a:bodyPr wrap="square">
            <a:spAutoFit/>
          </a:bodyPr>
          <a:lstStyle/>
          <a:p>
            <a:pPr algn="l">
              <a:lnSpc>
                <a:spcPct val="108000"/>
              </a:lnSpc>
              <a:defRPr sz="1600" b="0" i="0">
                <a:solidFill>
                  <a:srgbClr val="0F172A"/>
                </a:solidFill>
                <a:latin typeface="Calibri"/>
              </a:defRPr>
            </a:pPr>
            <a:r>
              <a:t>Project chạy được trên máy sinh viên nhưng không chạy được trên máy chủ.</a:t>
            </a:r>
          </a:p>
        </p:txBody>
      </p:sp>
      <p:sp>
        <p:nvSpPr>
          <p:cNvPr id="17" name="Rounded Rectangle 16"/>
          <p:cNvSpPr/>
          <p:nvPr/>
        </p:nvSpPr>
        <p:spPr>
          <a:xfrm>
            <a:off x="502920" y="4114800"/>
            <a:ext cx="11183112" cy="173736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297680"/>
            <a:ext cx="10607040" cy="365760"/>
          </a:xfrm>
          <a:prstGeom prst="rect">
            <a:avLst/>
          </a:prstGeom>
          <a:noFill/>
        </p:spPr>
        <p:txBody>
          <a:bodyPr wrap="square">
            <a:spAutoFit/>
          </a:bodyPr>
          <a:lstStyle/>
          <a:p>
            <a:pPr algn="l">
              <a:lnSpc>
                <a:spcPct val="108000"/>
              </a:lnSpc>
              <a:defRPr sz="1600" b="1" i="0">
                <a:solidFill>
                  <a:srgbClr val="2563EB"/>
                </a:solidFill>
                <a:latin typeface="Calibri"/>
              </a:defRPr>
            </a:pPr>
            <a:r>
              <a:t>Ba câu hỏi dẫn vào buổi học</a:t>
            </a:r>
          </a:p>
        </p:txBody>
      </p:sp>
      <p:sp>
        <p:nvSpPr>
          <p:cNvPr id="19" name="TextBox 18"/>
          <p:cNvSpPr txBox="1"/>
          <p:nvPr/>
        </p:nvSpPr>
        <p:spPr>
          <a:xfrm>
            <a:off x="777240" y="4681728"/>
            <a:ext cx="10607040" cy="3657600"/>
          </a:xfrm>
          <a:prstGeom prst="rect">
            <a:avLst/>
          </a:prstGeom>
          <a:noFill/>
        </p:spPr>
        <p:txBody>
          <a:bodyPr wrap="square">
            <a:spAutoFit/>
          </a:bodyPr>
          <a:lstStyle/>
          <a:p>
            <a:pPr>
              <a:lnSpc>
                <a:spcPct val="112000"/>
              </a:lnSpc>
              <a:spcBef>
                <a:spcPts val="0"/>
              </a:spcBef>
              <a:defRPr sz="1500">
                <a:solidFill>
                  <a:srgbClr val="0F172A"/>
                </a:solidFill>
                <a:latin typeface="Calibri"/>
              </a:defRPr>
            </a:pPr>
            <a:r>
              <a:t>•  Làm sao biết code đúng?</a:t>
            </a:r>
          </a:p>
          <a:p>
            <a:pPr>
              <a:lnSpc>
                <a:spcPct val="112000"/>
              </a:lnSpc>
              <a:spcBef>
                <a:spcPts val="200"/>
              </a:spcBef>
              <a:defRPr sz="1500">
                <a:solidFill>
                  <a:srgbClr val="0F172A"/>
                </a:solidFill>
                <a:latin typeface="Calibri"/>
              </a:defRPr>
            </a:pPr>
            <a:r>
              <a:t>•  Làm sao bảo vệ API?</a:t>
            </a:r>
          </a:p>
          <a:p>
            <a:pPr>
              <a:lnSpc>
                <a:spcPct val="112000"/>
              </a:lnSpc>
              <a:spcBef>
                <a:spcPts val="200"/>
              </a:spcBef>
              <a:defRPr sz="1500">
                <a:solidFill>
                  <a:srgbClr val="0F172A"/>
                </a:solidFill>
                <a:latin typeface="Calibri"/>
              </a:defRPr>
            </a:pPr>
            <a:r>
              <a:t>•  Làm sao chạy ứng dụng ở môi trường khác?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2563EB"/>
                </a:solidFill>
                <a:latin typeface="Calibri"/>
              </a:defRPr>
            </a:pPr>
            <a:r>
              <a:t>Phần A — Tổng quan</a:t>
            </a:r>
          </a:p>
        </p:txBody>
      </p:sp>
      <p:sp>
        <p:nvSpPr>
          <p:cNvPr id="5" name="TextBox 4"/>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Quy trình hoàn thiện một Backend</a:t>
            </a:r>
          </a:p>
        </p:txBody>
      </p:sp>
      <p:sp>
        <p:nvSpPr>
          <p:cNvPr id="7" name="TextBox 6"/>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03/18</a:t>
            </a:r>
          </a:p>
        </p:txBody>
      </p:sp>
      <p:sp>
        <p:nvSpPr>
          <p:cNvPr id="8" name="Rounded Rectangle 7"/>
          <p:cNvSpPr/>
          <p:nvPr/>
        </p:nvSpPr>
        <p:spPr>
          <a:xfrm>
            <a:off x="502920" y="1554480"/>
            <a:ext cx="2011680" cy="86868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F172A"/>
                </a:solidFill>
                <a:latin typeface="Calibri"/>
              </a:defRPr>
            </a:pPr>
            <a:r>
              <a:t>BACKEND</a:t>
            </a:r>
          </a:p>
        </p:txBody>
      </p:sp>
      <p:sp>
        <p:nvSpPr>
          <p:cNvPr id="9" name="TextBox 8"/>
          <p:cNvSpPr txBox="1"/>
          <p:nvPr/>
        </p:nvSpPr>
        <p:spPr>
          <a:xfrm>
            <a:off x="2532888" y="170078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10" name="Rounded Rectangle 9"/>
          <p:cNvSpPr/>
          <p:nvPr/>
        </p:nvSpPr>
        <p:spPr>
          <a:xfrm>
            <a:off x="2807208" y="1554480"/>
            <a:ext cx="2011680" cy="86868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F172A"/>
                </a:solidFill>
                <a:latin typeface="Calibri"/>
              </a:defRPr>
            </a:pPr>
            <a:r>
              <a:t>TEST</a:t>
            </a:r>
          </a:p>
        </p:txBody>
      </p:sp>
      <p:sp>
        <p:nvSpPr>
          <p:cNvPr id="11" name="TextBox 10"/>
          <p:cNvSpPr txBox="1"/>
          <p:nvPr/>
        </p:nvSpPr>
        <p:spPr>
          <a:xfrm>
            <a:off x="4837176" y="170078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12" name="Rounded Rectangle 11"/>
          <p:cNvSpPr/>
          <p:nvPr/>
        </p:nvSpPr>
        <p:spPr>
          <a:xfrm>
            <a:off x="5111496" y="1554480"/>
            <a:ext cx="2011680" cy="86868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F172A"/>
                </a:solidFill>
                <a:latin typeface="Calibri"/>
              </a:defRPr>
            </a:pPr>
            <a:r>
              <a:t>SECURE</a:t>
            </a:r>
          </a:p>
        </p:txBody>
      </p:sp>
      <p:sp>
        <p:nvSpPr>
          <p:cNvPr id="13" name="TextBox 12"/>
          <p:cNvSpPr txBox="1"/>
          <p:nvPr/>
        </p:nvSpPr>
        <p:spPr>
          <a:xfrm>
            <a:off x="7141464" y="170078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14" name="Rounded Rectangle 13"/>
          <p:cNvSpPr/>
          <p:nvPr/>
        </p:nvSpPr>
        <p:spPr>
          <a:xfrm>
            <a:off x="7415784" y="1554480"/>
            <a:ext cx="2011680" cy="86868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F172A"/>
                </a:solidFill>
                <a:latin typeface="Calibri"/>
              </a:defRPr>
            </a:pPr>
            <a:r>
              <a:t>DOCKER</a:t>
            </a:r>
          </a:p>
        </p:txBody>
      </p:sp>
      <p:sp>
        <p:nvSpPr>
          <p:cNvPr id="15" name="TextBox 14"/>
          <p:cNvSpPr txBox="1"/>
          <p:nvPr/>
        </p:nvSpPr>
        <p:spPr>
          <a:xfrm>
            <a:off x="9445752" y="170078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16" name="Rounded Rectangle 15"/>
          <p:cNvSpPr/>
          <p:nvPr/>
        </p:nvSpPr>
        <p:spPr>
          <a:xfrm>
            <a:off x="9720072" y="1554480"/>
            <a:ext cx="2011680" cy="86868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F172A"/>
                </a:solidFill>
                <a:latin typeface="Calibri"/>
              </a:defRPr>
            </a:pPr>
            <a:r>
              <a:t>DEPLOY</a:t>
            </a:r>
          </a:p>
        </p:txBody>
      </p:sp>
      <p:sp>
        <p:nvSpPr>
          <p:cNvPr id="17" name="Rounded Rectangle 16"/>
          <p:cNvSpPr/>
          <p:nvPr/>
        </p:nvSpPr>
        <p:spPr>
          <a:xfrm>
            <a:off x="502920" y="2743200"/>
            <a:ext cx="11183112" cy="65836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907792"/>
            <a:ext cx="3291840" cy="365760"/>
          </a:xfrm>
          <a:prstGeom prst="rect">
            <a:avLst/>
          </a:prstGeom>
          <a:noFill/>
        </p:spPr>
        <p:txBody>
          <a:bodyPr wrap="square">
            <a:spAutoFit/>
          </a:bodyPr>
          <a:lstStyle/>
          <a:p>
            <a:pPr algn="l">
              <a:lnSpc>
                <a:spcPct val="108000"/>
              </a:lnSpc>
              <a:defRPr sz="1500" b="1" i="0">
                <a:solidFill>
                  <a:srgbClr val="2563EB"/>
                </a:solidFill>
                <a:latin typeface="Calibri"/>
              </a:defRPr>
            </a:pPr>
            <a:r>
              <a:t>TEST — Testing</a:t>
            </a:r>
          </a:p>
        </p:txBody>
      </p:sp>
      <p:sp>
        <p:nvSpPr>
          <p:cNvPr id="19" name="TextBox 18"/>
          <p:cNvSpPr txBox="1"/>
          <p:nvPr/>
        </p:nvSpPr>
        <p:spPr>
          <a:xfrm>
            <a:off x="4114800" y="2907792"/>
            <a:ext cx="7315200" cy="365760"/>
          </a:xfrm>
          <a:prstGeom prst="rect">
            <a:avLst/>
          </a:prstGeom>
          <a:noFill/>
        </p:spPr>
        <p:txBody>
          <a:bodyPr wrap="square">
            <a:spAutoFit/>
          </a:bodyPr>
          <a:lstStyle/>
          <a:p>
            <a:pPr algn="l">
              <a:lnSpc>
                <a:spcPct val="108000"/>
              </a:lnSpc>
              <a:defRPr sz="1500" b="0" i="0">
                <a:solidFill>
                  <a:srgbClr val="0F172A"/>
                </a:solidFill>
                <a:latin typeface="Calibri"/>
              </a:defRPr>
            </a:pPr>
            <a:r>
              <a:t>Kiểm tra chức năng hoạt động đúng các kịch bản.</a:t>
            </a:r>
          </a:p>
        </p:txBody>
      </p:sp>
      <p:sp>
        <p:nvSpPr>
          <p:cNvPr id="20" name="Rounded Rectangle 19"/>
          <p:cNvSpPr/>
          <p:nvPr/>
        </p:nvSpPr>
        <p:spPr>
          <a:xfrm>
            <a:off x="502920" y="3547872"/>
            <a:ext cx="11183112" cy="65836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712463"/>
            <a:ext cx="3291840" cy="365760"/>
          </a:xfrm>
          <a:prstGeom prst="rect">
            <a:avLst/>
          </a:prstGeom>
          <a:noFill/>
        </p:spPr>
        <p:txBody>
          <a:bodyPr wrap="square">
            <a:spAutoFit/>
          </a:bodyPr>
          <a:lstStyle/>
          <a:p>
            <a:pPr algn="l">
              <a:lnSpc>
                <a:spcPct val="108000"/>
              </a:lnSpc>
              <a:defRPr sz="1500" b="1" i="0">
                <a:solidFill>
                  <a:srgbClr val="2563EB"/>
                </a:solidFill>
                <a:latin typeface="Calibri"/>
              </a:defRPr>
            </a:pPr>
            <a:r>
              <a:t>SECURE — Security</a:t>
            </a:r>
          </a:p>
        </p:txBody>
      </p:sp>
      <p:sp>
        <p:nvSpPr>
          <p:cNvPr id="22" name="TextBox 21"/>
          <p:cNvSpPr txBox="1"/>
          <p:nvPr/>
        </p:nvSpPr>
        <p:spPr>
          <a:xfrm>
            <a:off x="4114800" y="3712463"/>
            <a:ext cx="7315200" cy="365760"/>
          </a:xfrm>
          <a:prstGeom prst="rect">
            <a:avLst/>
          </a:prstGeom>
          <a:noFill/>
        </p:spPr>
        <p:txBody>
          <a:bodyPr wrap="square">
            <a:spAutoFit/>
          </a:bodyPr>
          <a:lstStyle/>
          <a:p>
            <a:pPr algn="l">
              <a:lnSpc>
                <a:spcPct val="108000"/>
              </a:lnSpc>
              <a:defRPr sz="1500" b="0" i="0">
                <a:solidFill>
                  <a:srgbClr val="0F172A"/>
                </a:solidFill>
                <a:latin typeface="Calibri"/>
              </a:defRPr>
            </a:pPr>
            <a:r>
              <a:t>Hạn chế những truy cập và hành vi nguy hiểm.</a:t>
            </a:r>
          </a:p>
        </p:txBody>
      </p:sp>
      <p:sp>
        <p:nvSpPr>
          <p:cNvPr id="23" name="Rounded Rectangle 22"/>
          <p:cNvSpPr/>
          <p:nvPr/>
        </p:nvSpPr>
        <p:spPr>
          <a:xfrm>
            <a:off x="502920" y="4352544"/>
            <a:ext cx="11183112" cy="65836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4517136"/>
            <a:ext cx="3291840" cy="365760"/>
          </a:xfrm>
          <a:prstGeom prst="rect">
            <a:avLst/>
          </a:prstGeom>
          <a:noFill/>
        </p:spPr>
        <p:txBody>
          <a:bodyPr wrap="square">
            <a:spAutoFit/>
          </a:bodyPr>
          <a:lstStyle/>
          <a:p>
            <a:pPr algn="l">
              <a:lnSpc>
                <a:spcPct val="108000"/>
              </a:lnSpc>
              <a:defRPr sz="1500" b="1" i="0">
                <a:solidFill>
                  <a:srgbClr val="2563EB"/>
                </a:solidFill>
                <a:latin typeface="Calibri"/>
              </a:defRPr>
            </a:pPr>
            <a:r>
              <a:t>DOCKER — Docker</a:t>
            </a:r>
          </a:p>
        </p:txBody>
      </p:sp>
      <p:sp>
        <p:nvSpPr>
          <p:cNvPr id="25" name="TextBox 24"/>
          <p:cNvSpPr txBox="1"/>
          <p:nvPr/>
        </p:nvSpPr>
        <p:spPr>
          <a:xfrm>
            <a:off x="4114800" y="4517136"/>
            <a:ext cx="7315200" cy="365760"/>
          </a:xfrm>
          <a:prstGeom prst="rect">
            <a:avLst/>
          </a:prstGeom>
          <a:noFill/>
        </p:spPr>
        <p:txBody>
          <a:bodyPr wrap="square">
            <a:spAutoFit/>
          </a:bodyPr>
          <a:lstStyle/>
          <a:p>
            <a:pPr algn="l">
              <a:lnSpc>
                <a:spcPct val="108000"/>
              </a:lnSpc>
              <a:defRPr sz="1500" b="0" i="0">
                <a:solidFill>
                  <a:srgbClr val="0F172A"/>
                </a:solidFill>
                <a:latin typeface="Calibri"/>
              </a:defRPr>
            </a:pPr>
            <a:r>
              <a:t>Đóng gói để ứng dụng có môi trường chạy nhất quán.</a:t>
            </a:r>
          </a:p>
        </p:txBody>
      </p:sp>
      <p:sp>
        <p:nvSpPr>
          <p:cNvPr id="26" name="Rounded Rectangle 25"/>
          <p:cNvSpPr/>
          <p:nvPr/>
        </p:nvSpPr>
        <p:spPr>
          <a:xfrm>
            <a:off x="502920" y="5157216"/>
            <a:ext cx="11183112" cy="658368"/>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5321808"/>
            <a:ext cx="3291840" cy="365760"/>
          </a:xfrm>
          <a:prstGeom prst="rect">
            <a:avLst/>
          </a:prstGeom>
          <a:noFill/>
        </p:spPr>
        <p:txBody>
          <a:bodyPr wrap="square">
            <a:spAutoFit/>
          </a:bodyPr>
          <a:lstStyle/>
          <a:p>
            <a:pPr algn="l">
              <a:lnSpc>
                <a:spcPct val="108000"/>
              </a:lnSpc>
              <a:defRPr sz="1500" b="1" i="0">
                <a:solidFill>
                  <a:srgbClr val="2563EB"/>
                </a:solidFill>
                <a:latin typeface="Calibri"/>
              </a:defRPr>
            </a:pPr>
            <a:r>
              <a:t>DEPLOY — Deployment</a:t>
            </a:r>
          </a:p>
        </p:txBody>
      </p:sp>
      <p:sp>
        <p:nvSpPr>
          <p:cNvPr id="28" name="TextBox 27"/>
          <p:cNvSpPr txBox="1"/>
          <p:nvPr/>
        </p:nvSpPr>
        <p:spPr>
          <a:xfrm>
            <a:off x="4114800" y="5321808"/>
            <a:ext cx="7315200" cy="365760"/>
          </a:xfrm>
          <a:prstGeom prst="rect">
            <a:avLst/>
          </a:prstGeom>
          <a:noFill/>
        </p:spPr>
        <p:txBody>
          <a:bodyPr wrap="square">
            <a:spAutoFit/>
          </a:bodyPr>
          <a:lstStyle/>
          <a:p>
            <a:pPr algn="l">
              <a:lnSpc>
                <a:spcPct val="108000"/>
              </a:lnSpc>
              <a:defRPr sz="1500" b="0" i="0">
                <a:solidFill>
                  <a:srgbClr val="0F172A"/>
                </a:solidFill>
                <a:latin typeface="Calibri"/>
              </a:defRPr>
            </a:pPr>
            <a:r>
              <a:t>Đưa ứng dụng lên hạ tầng để người dùng có thể truy cập.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16A34A"/>
          </a:solidFill>
          <a:ln w="9525">
            <a:solidFill>
              <a:srgbClr val="16A3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16A34A"/>
                </a:solidFill>
                <a:latin typeface="Calibri"/>
              </a:defRPr>
            </a:pPr>
            <a:r>
              <a:t>Phần B — Unit Testing với AI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Testing là gì? Tại sao cần kiểm thử?</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04/18</a:t>
            </a:r>
          </a:p>
        </p:txBody>
      </p:sp>
      <p:sp>
        <p:nvSpPr>
          <p:cNvPr id="13" name="Rounded Rectangle 12"/>
          <p:cNvSpPr/>
          <p:nvPr/>
        </p:nvSpPr>
        <p:spPr>
          <a:xfrm>
            <a:off x="502920" y="1417320"/>
            <a:ext cx="6858000" cy="20116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72768"/>
            <a:ext cx="6400800" cy="365760"/>
          </a:xfrm>
          <a:prstGeom prst="rect">
            <a:avLst/>
          </a:prstGeom>
          <a:noFill/>
        </p:spPr>
        <p:txBody>
          <a:bodyPr wrap="square">
            <a:spAutoFit/>
          </a:bodyPr>
          <a:lstStyle/>
          <a:p>
            <a:pPr algn="l">
              <a:lnSpc>
                <a:spcPct val="108000"/>
              </a:lnSpc>
              <a:defRPr sz="1700" b="1" i="0">
                <a:solidFill>
                  <a:srgbClr val="16A34A"/>
                </a:solidFill>
                <a:latin typeface="Calibri"/>
              </a:defRPr>
            </a:pPr>
            <a:r>
              <a:t>Testing — Kiểm thử phần mềm</a:t>
            </a:r>
          </a:p>
        </p:txBody>
      </p:sp>
      <p:sp>
        <p:nvSpPr>
          <p:cNvPr id="15" name="TextBox 14"/>
          <p:cNvSpPr txBox="1"/>
          <p:nvPr/>
        </p:nvSpPr>
        <p:spPr>
          <a:xfrm>
            <a:off x="731520" y="1993392"/>
            <a:ext cx="6400800" cy="1280160"/>
          </a:xfrm>
          <a:prstGeom prst="rect">
            <a:avLst/>
          </a:prstGeom>
          <a:noFill/>
        </p:spPr>
        <p:txBody>
          <a:bodyPr wrap="square">
            <a:spAutoFit/>
          </a:bodyPr>
          <a:lstStyle/>
          <a:p>
            <a:pPr algn="l">
              <a:lnSpc>
                <a:spcPct val="108000"/>
              </a:lnSpc>
              <a:defRPr sz="1500" b="0" i="0">
                <a:solidFill>
                  <a:srgbClr val="0F172A"/>
                </a:solidFill>
                <a:latin typeface="Calibri"/>
              </a:defRPr>
            </a:pPr>
            <a:r>
              <a:t>Quá trình kiểm tra xem phần mềm có hoạt động đúng với yêu cầu và kết quả mong đợi hay không.</a:t>
            </a:r>
          </a:p>
        </p:txBody>
      </p:sp>
      <p:sp>
        <p:nvSpPr>
          <p:cNvPr id="16" name="Rounded Rectangle 15"/>
          <p:cNvSpPr/>
          <p:nvPr/>
        </p:nvSpPr>
        <p:spPr>
          <a:xfrm>
            <a:off x="502920" y="3657600"/>
            <a:ext cx="6858000" cy="22860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822191"/>
            <a:ext cx="6400800" cy="3657600"/>
          </a:xfrm>
          <a:prstGeom prst="rect">
            <a:avLst/>
          </a:prstGeom>
          <a:noFill/>
        </p:spPr>
        <p:txBody>
          <a:bodyPr wrap="square">
            <a:spAutoFit/>
          </a:bodyPr>
          <a:lstStyle/>
          <a:p>
            <a:pPr>
              <a:lnSpc>
                <a:spcPct val="112000"/>
              </a:lnSpc>
              <a:spcBef>
                <a:spcPts val="0"/>
              </a:spcBef>
              <a:defRPr sz="1500">
                <a:solidFill>
                  <a:srgbClr val="0F172A"/>
                </a:solidFill>
                <a:latin typeface="Calibri"/>
              </a:defRPr>
            </a:pPr>
            <a:r>
              <a:t>•  Phát hiện lỗi logic, lỗi xử lý dữ liệu, lỗi phát sinh khi sửa code.</a:t>
            </a:r>
          </a:p>
          <a:p>
            <a:pPr>
              <a:lnSpc>
                <a:spcPct val="112000"/>
              </a:lnSpc>
              <a:spcBef>
                <a:spcPts val="600"/>
              </a:spcBef>
              <a:defRPr sz="1500">
                <a:solidFill>
                  <a:srgbClr val="0F172A"/>
                </a:solidFill>
                <a:latin typeface="Calibri"/>
              </a:defRPr>
            </a:pPr>
            <a:r>
              <a:t>•  Automated Testing: dùng chương trình tự động kiểm tra, thay vì thao tác thủ công toàn bộ.</a:t>
            </a:r>
          </a:p>
        </p:txBody>
      </p:sp>
      <p:sp>
        <p:nvSpPr>
          <p:cNvPr id="18" name="Rounded Rectangle 17"/>
          <p:cNvSpPr/>
          <p:nvPr/>
        </p:nvSpPr>
        <p:spPr>
          <a:xfrm>
            <a:off x="7635240" y="1417320"/>
            <a:ext cx="4050791" cy="452628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0" y="1572768"/>
            <a:ext cx="3566160" cy="365760"/>
          </a:xfrm>
          <a:prstGeom prst="rect">
            <a:avLst/>
          </a:prstGeom>
          <a:noFill/>
        </p:spPr>
        <p:txBody>
          <a:bodyPr wrap="square">
            <a:spAutoFit/>
          </a:bodyPr>
          <a:lstStyle/>
          <a:p>
            <a:pPr algn="l">
              <a:lnSpc>
                <a:spcPct val="108000"/>
              </a:lnSpc>
              <a:defRPr sz="1700" b="1" i="0">
                <a:solidFill>
                  <a:srgbClr val="16A34A"/>
                </a:solidFill>
                <a:latin typeface="Calibri"/>
              </a:defRPr>
            </a:pPr>
            <a:r>
              <a:t>Ví dụ Login</a:t>
            </a:r>
          </a:p>
        </p:txBody>
      </p:sp>
      <p:sp>
        <p:nvSpPr>
          <p:cNvPr id="20" name="TextBox 19"/>
          <p:cNvSpPr txBox="1"/>
          <p:nvPr/>
        </p:nvSpPr>
        <p:spPr>
          <a:xfrm>
            <a:off x="7863840" y="2011680"/>
            <a:ext cx="3566160" cy="3657600"/>
          </a:xfrm>
          <a:prstGeom prst="rect">
            <a:avLst/>
          </a:prstGeom>
          <a:noFill/>
        </p:spPr>
        <p:txBody>
          <a:bodyPr wrap="square">
            <a:spAutoFit/>
          </a:bodyPr>
          <a:lstStyle/>
          <a:p>
            <a:pPr>
              <a:lnSpc>
                <a:spcPct val="112000"/>
              </a:lnSpc>
              <a:spcBef>
                <a:spcPts val="0"/>
              </a:spcBef>
              <a:defRPr sz="1500">
                <a:solidFill>
                  <a:srgbClr val="0F172A"/>
                </a:solidFill>
                <a:latin typeface="Calibri"/>
              </a:defRPr>
            </a:pPr>
            <a:r>
              <a:t>•  Nhập đúng mật khẩu → đăng nhập được.</a:t>
            </a:r>
          </a:p>
          <a:p>
            <a:pPr>
              <a:lnSpc>
                <a:spcPct val="112000"/>
              </a:lnSpc>
              <a:spcBef>
                <a:spcPts val="600"/>
              </a:spcBef>
              <a:defRPr sz="1500">
                <a:solidFill>
                  <a:srgbClr val="0F172A"/>
                </a:solidFill>
                <a:latin typeface="Calibri"/>
              </a:defRPr>
            </a:pPr>
            <a:r>
              <a:t>•  Nhập sai mật khẩu → vẫn phải kiểm tra: hệ thống có từ chối không?</a:t>
            </a:r>
          </a:p>
        </p:txBody>
      </p:sp>
      <p:sp>
        <p:nvSpPr>
          <p:cNvPr id="21" name="TextBox 20"/>
          <p:cNvSpPr txBox="1"/>
          <p:nvPr/>
        </p:nvSpPr>
        <p:spPr>
          <a:xfrm>
            <a:off x="7863840" y="4892040"/>
            <a:ext cx="3566160" cy="822960"/>
          </a:xfrm>
          <a:prstGeom prst="rect">
            <a:avLst/>
          </a:prstGeom>
          <a:noFill/>
        </p:spPr>
        <p:txBody>
          <a:bodyPr wrap="square">
            <a:spAutoFit/>
          </a:bodyPr>
          <a:lstStyle/>
          <a:p>
            <a:pPr algn="l">
              <a:lnSpc>
                <a:spcPct val="108000"/>
              </a:lnSpc>
              <a:defRPr sz="1600" b="1" i="0">
                <a:solidFill>
                  <a:srgbClr val="16A34A"/>
                </a:solidFill>
                <a:latin typeface="Calibri"/>
              </a:defRPr>
            </a:pPr>
            <a:r>
              <a:t>Chạy được ≠ chạy đúng trong mọi tình huống.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16A34A"/>
          </a:solidFill>
          <a:ln w="9525">
            <a:solidFill>
              <a:srgbClr val="16A3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16A34A"/>
                </a:solidFill>
                <a:latin typeface="Calibri"/>
              </a:defRPr>
            </a:pPr>
            <a:r>
              <a:t>Phần B — Unit Testing với AI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Unit Test, Integration Test và API Test khác nhau thế nào?</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05/18</a:t>
            </a:r>
          </a:p>
        </p:txBody>
      </p:sp>
      <p:sp>
        <p:nvSpPr>
          <p:cNvPr id="13" name="Rounded Rectangle 12"/>
          <p:cNvSpPr/>
          <p:nvPr/>
        </p:nvSpPr>
        <p:spPr>
          <a:xfrm>
            <a:off x="502920" y="1371600"/>
            <a:ext cx="5394960" cy="16916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08760"/>
            <a:ext cx="4937760" cy="365760"/>
          </a:xfrm>
          <a:prstGeom prst="rect">
            <a:avLst/>
          </a:prstGeom>
          <a:noFill/>
        </p:spPr>
        <p:txBody>
          <a:bodyPr wrap="square">
            <a:spAutoFit/>
          </a:bodyPr>
          <a:lstStyle/>
          <a:p>
            <a:pPr algn="l">
              <a:lnSpc>
                <a:spcPct val="108000"/>
              </a:lnSpc>
              <a:defRPr sz="1700" b="1" i="0">
                <a:solidFill>
                  <a:srgbClr val="16A34A"/>
                </a:solidFill>
                <a:latin typeface="Calibri"/>
              </a:defRPr>
            </a:pPr>
            <a:r>
              <a:t>Jest</a:t>
            </a:r>
          </a:p>
        </p:txBody>
      </p:sp>
      <p:sp>
        <p:nvSpPr>
          <p:cNvPr id="15" name="TextBox 14"/>
          <p:cNvSpPr txBox="1"/>
          <p:nvPr/>
        </p:nvSpPr>
        <p:spPr>
          <a:xfrm>
            <a:off x="731520" y="1901952"/>
            <a:ext cx="4937760" cy="1005840"/>
          </a:xfrm>
          <a:prstGeom prst="rect">
            <a:avLst/>
          </a:prstGeom>
          <a:noFill/>
        </p:spPr>
        <p:txBody>
          <a:bodyPr wrap="square">
            <a:spAutoFit/>
          </a:bodyPr>
          <a:lstStyle/>
          <a:p>
            <a:pPr algn="l">
              <a:lnSpc>
                <a:spcPct val="108000"/>
              </a:lnSpc>
              <a:defRPr sz="1450" b="0" i="0">
                <a:solidFill>
                  <a:srgbClr val="0F172A"/>
                </a:solidFill>
                <a:latin typeface="Calibri"/>
              </a:defRPr>
            </a:pPr>
            <a:r>
              <a:t>Test Runner và thư viện Assertion — dùng để viết và chạy kiểm thử tự động.</a:t>
            </a:r>
          </a:p>
        </p:txBody>
      </p:sp>
      <p:sp>
        <p:nvSpPr>
          <p:cNvPr id="16" name="Rounded Rectangle 15"/>
          <p:cNvSpPr/>
          <p:nvPr/>
        </p:nvSpPr>
        <p:spPr>
          <a:xfrm>
            <a:off x="6291072" y="1371600"/>
            <a:ext cx="5394960" cy="16916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9672" y="1508760"/>
            <a:ext cx="4937760" cy="365760"/>
          </a:xfrm>
          <a:prstGeom prst="rect">
            <a:avLst/>
          </a:prstGeom>
          <a:noFill/>
        </p:spPr>
        <p:txBody>
          <a:bodyPr wrap="square">
            <a:spAutoFit/>
          </a:bodyPr>
          <a:lstStyle/>
          <a:p>
            <a:pPr algn="l">
              <a:lnSpc>
                <a:spcPct val="108000"/>
              </a:lnSpc>
              <a:defRPr sz="1700" b="1" i="0">
                <a:solidFill>
                  <a:srgbClr val="16A34A"/>
                </a:solidFill>
                <a:latin typeface="Calibri"/>
              </a:defRPr>
            </a:pPr>
            <a:r>
              <a:t>Supertest</a:t>
            </a:r>
          </a:p>
        </p:txBody>
      </p:sp>
      <p:sp>
        <p:nvSpPr>
          <p:cNvPr id="18" name="TextBox 17"/>
          <p:cNvSpPr txBox="1"/>
          <p:nvPr/>
        </p:nvSpPr>
        <p:spPr>
          <a:xfrm>
            <a:off x="6519672" y="1901952"/>
            <a:ext cx="4937760" cy="1005840"/>
          </a:xfrm>
          <a:prstGeom prst="rect">
            <a:avLst/>
          </a:prstGeom>
          <a:noFill/>
        </p:spPr>
        <p:txBody>
          <a:bodyPr wrap="square">
            <a:spAutoFit/>
          </a:bodyPr>
          <a:lstStyle/>
          <a:p>
            <a:pPr algn="l">
              <a:lnSpc>
                <a:spcPct val="108000"/>
              </a:lnSpc>
              <a:defRPr sz="1450" b="0" i="0">
                <a:solidFill>
                  <a:srgbClr val="0F172A"/>
                </a:solidFill>
                <a:latin typeface="Calibri"/>
              </a:defRPr>
            </a:pPr>
            <a:r>
              <a:t>Gửi HTTP Request để kiểm thử ứng dụng Express — thường phối hợp với Jest.</a:t>
            </a:r>
          </a:p>
        </p:txBody>
      </p:sp>
      <p:graphicFrame>
        <p:nvGraphicFramePr>
          <p:cNvPr id="19" name="Table 18"/>
          <p:cNvGraphicFramePr>
            <a:graphicFrameLocks noGrp="1"/>
          </p:cNvGraphicFramePr>
          <p:nvPr/>
        </p:nvGraphicFramePr>
        <p:xfrm>
          <a:off x="502920" y="3337560"/>
          <a:ext cx="11183112" cy="17830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594360">
                <a:tc>
                  <a:txBody>
                    <a:bodyPr/>
                    <a:lstStyle/>
                    <a:p>
                      <a:pPr>
                        <a:defRPr sz="1350" b="1">
                          <a:solidFill>
                            <a:srgbClr val="FFFFFF"/>
                          </a:solidFill>
                          <a:latin typeface="Calibri"/>
                        </a:defRPr>
                      </a:pPr>
                      <a:r>
                        <a:t>Loại kiểm thử</a:t>
                      </a:r>
                    </a:p>
                  </a:txBody>
                  <a:tcPr>
                    <a:solidFill>
                      <a:srgbClr val="16A34A"/>
                    </a:solidFill>
                  </a:tcPr>
                </a:tc>
                <a:tc>
                  <a:txBody>
                    <a:bodyPr/>
                    <a:lstStyle/>
                    <a:p>
                      <a:pPr>
                        <a:defRPr sz="1350" b="1">
                          <a:solidFill>
                            <a:srgbClr val="FFFFFF"/>
                          </a:solidFill>
                          <a:latin typeface="Calibri"/>
                        </a:defRPr>
                      </a:pPr>
                      <a:r>
                        <a:t>Đối tượng</a:t>
                      </a:r>
                    </a:p>
                  </a:txBody>
                  <a:tcPr>
                    <a:solidFill>
                      <a:srgbClr val="16A34A"/>
                    </a:solidFill>
                  </a:tcPr>
                </a:tc>
                <a:tc>
                  <a:txBody>
                    <a:bodyPr/>
                    <a:lstStyle/>
                    <a:p>
                      <a:pPr>
                        <a:defRPr sz="1350" b="1">
                          <a:solidFill>
                            <a:srgbClr val="FFFFFF"/>
                          </a:solidFill>
                          <a:latin typeface="Calibri"/>
                        </a:defRPr>
                      </a:pPr>
                      <a:r>
                        <a:t>Ví dụ</a:t>
                      </a:r>
                    </a:p>
                  </a:txBody>
                  <a:tcPr>
                    <a:solidFill>
                      <a:srgbClr val="16A34A"/>
                    </a:solidFill>
                  </a:tcPr>
                </a:tc>
                <a:extLst>
                  <a:ext uri="{0D108BD9-81ED-4DB2-BD59-A6C34878D82A}">
                    <a16:rowId xmlns:a16="http://schemas.microsoft.com/office/drawing/2014/main" val="10000"/>
                  </a:ext>
                </a:extLst>
              </a:tr>
              <a:tr h="594360">
                <a:tc>
                  <a:txBody>
                    <a:bodyPr/>
                    <a:lstStyle/>
                    <a:p>
                      <a:pPr>
                        <a:defRPr sz="1350" b="0">
                          <a:solidFill>
                            <a:srgbClr val="0F172A"/>
                          </a:solidFill>
                          <a:latin typeface="Calibri"/>
                        </a:defRPr>
                      </a:pPr>
                      <a:r>
                        <a:t>Unit Test</a:t>
                      </a:r>
                    </a:p>
                  </a:txBody>
                  <a:tcPr>
                    <a:solidFill>
                      <a:srgbClr val="FFFFFF"/>
                    </a:solidFill>
                  </a:tcPr>
                </a:tc>
                <a:tc>
                  <a:txBody>
                    <a:bodyPr/>
                    <a:lstStyle/>
                    <a:p>
                      <a:pPr>
                        <a:defRPr sz="1350" b="0">
                          <a:solidFill>
                            <a:srgbClr val="0F172A"/>
                          </a:solidFill>
                          <a:latin typeface="Calibri"/>
                        </a:defRPr>
                      </a:pPr>
                      <a:r>
                        <a:t>Một hàm hoặc đơn vị logic được cô lập</a:t>
                      </a:r>
                    </a:p>
                  </a:txBody>
                  <a:tcPr>
                    <a:solidFill>
                      <a:srgbClr val="FFFFFF"/>
                    </a:solidFill>
                  </a:tcPr>
                </a:tc>
                <a:tc>
                  <a:txBody>
                    <a:bodyPr/>
                    <a:lstStyle/>
                    <a:p>
                      <a:pPr>
                        <a:defRPr sz="1350" b="0">
                          <a:solidFill>
                            <a:srgbClr val="0F172A"/>
                          </a:solidFill>
                          <a:latin typeface="Calibri"/>
                        </a:defRPr>
                      </a:pPr>
                      <a:r>
                        <a:t>Kiểm tra logic xác thực mật khẩu bằng Mock</a:t>
                      </a:r>
                    </a:p>
                  </a:txBody>
                  <a:tcPr>
                    <a:solidFill>
                      <a:srgbClr val="FFFFFF"/>
                    </a:solidFill>
                  </a:tcPr>
                </a:tc>
                <a:extLst>
                  <a:ext uri="{0D108BD9-81ED-4DB2-BD59-A6C34878D82A}">
                    <a16:rowId xmlns:a16="http://schemas.microsoft.com/office/drawing/2014/main" val="10001"/>
                  </a:ext>
                </a:extLst>
              </a:tr>
              <a:tr h="594360">
                <a:tc>
                  <a:txBody>
                    <a:bodyPr/>
                    <a:lstStyle/>
                    <a:p>
                      <a:pPr>
                        <a:defRPr sz="1350" b="0">
                          <a:solidFill>
                            <a:srgbClr val="0F172A"/>
                          </a:solidFill>
                          <a:latin typeface="Calibri"/>
                        </a:defRPr>
                      </a:pPr>
                      <a:r>
                        <a:t>Integration / API Test</a:t>
                      </a:r>
                    </a:p>
                  </a:txBody>
                  <a:tcPr>
                    <a:solidFill>
                      <a:srgbClr val="FFFFFF"/>
                    </a:solidFill>
                  </a:tcPr>
                </a:tc>
                <a:tc>
                  <a:txBody>
                    <a:bodyPr/>
                    <a:lstStyle/>
                    <a:p>
                      <a:pPr>
                        <a:defRPr sz="1350" b="0">
                          <a:solidFill>
                            <a:srgbClr val="0F172A"/>
                          </a:solidFill>
                          <a:latin typeface="Calibri"/>
                        </a:defRPr>
                      </a:pPr>
                      <a:r>
                        <a:t>Nhiều thành phần phối hợp / hành vi HTTP</a:t>
                      </a:r>
                    </a:p>
                  </a:txBody>
                  <a:tcPr>
                    <a:solidFill>
                      <a:srgbClr val="FFFFFF"/>
                    </a:solidFill>
                  </a:tcPr>
                </a:tc>
                <a:tc>
                  <a:txBody>
                    <a:bodyPr/>
                    <a:lstStyle/>
                    <a:p>
                      <a:pPr>
                        <a:defRPr sz="1350" b="0">
                          <a:solidFill>
                            <a:srgbClr val="0F172A"/>
                          </a:solidFill>
                          <a:latin typeface="Calibri"/>
                        </a:defRPr>
                      </a:pPr>
                      <a:r>
                        <a:t>POST Login trả HTTP 401</a:t>
                      </a:r>
                    </a:p>
                  </a:txBody>
                  <a:tcPr>
                    <a:solidFill>
                      <a:srgbClr val="FFFFFF"/>
                    </a:solidFill>
                  </a:tcPr>
                </a:tc>
                <a:extLst>
                  <a:ext uri="{0D108BD9-81ED-4DB2-BD59-A6C34878D82A}">
                    <a16:rowId xmlns:a16="http://schemas.microsoft.com/office/drawing/2014/main" val="10002"/>
                  </a:ext>
                </a:extLst>
              </a:tr>
            </a:tbl>
          </a:graphicData>
        </a:graphic>
      </p:graphicFrame>
      <p:sp>
        <p:nvSpPr>
          <p:cNvPr id="20" name="TextBox 19"/>
          <p:cNvSpPr txBox="1"/>
          <p:nvPr/>
        </p:nvSpPr>
        <p:spPr>
          <a:xfrm>
            <a:off x="502920" y="5349240"/>
            <a:ext cx="11183112" cy="548640"/>
          </a:xfrm>
          <a:prstGeom prst="rect">
            <a:avLst/>
          </a:prstGeom>
          <a:noFill/>
        </p:spPr>
        <p:txBody>
          <a:bodyPr wrap="square">
            <a:spAutoFit/>
          </a:bodyPr>
          <a:lstStyle/>
          <a:p>
            <a:pPr algn="l">
              <a:lnSpc>
                <a:spcPct val="108000"/>
              </a:lnSpc>
              <a:defRPr sz="1450" b="1" i="0">
                <a:solidFill>
                  <a:srgbClr val="16A34A"/>
                </a:solidFill>
                <a:latin typeface="Calibri"/>
              </a:defRPr>
            </a:pPr>
            <a:r>
              <a:t>Lưu ý: dùng Supertest không có nghĩa mọi bài test đều là Unit Test — tên gọi theo đối tượng được kiểm tra.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16A34A"/>
          </a:solidFill>
          <a:ln w="9525">
            <a:solidFill>
              <a:srgbClr val="16A3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16A34A"/>
                </a:solidFill>
                <a:latin typeface="Calibri"/>
              </a:defRPr>
            </a:pPr>
            <a:r>
              <a:t>Phần B — Unit Testing với AI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Test Case là gì? Cấu trúc của một Test Case</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06/18</a:t>
            </a:r>
          </a:p>
        </p:txBody>
      </p:sp>
      <p:sp>
        <p:nvSpPr>
          <p:cNvPr id="13" name="Rounded Rectangle 12"/>
          <p:cNvSpPr/>
          <p:nvPr/>
        </p:nvSpPr>
        <p:spPr>
          <a:xfrm>
            <a:off x="502920" y="1371600"/>
            <a:ext cx="6035040" cy="62179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17904"/>
            <a:ext cx="2194560" cy="365760"/>
          </a:xfrm>
          <a:prstGeom prst="rect">
            <a:avLst/>
          </a:prstGeom>
          <a:noFill/>
        </p:spPr>
        <p:txBody>
          <a:bodyPr wrap="square">
            <a:spAutoFit/>
          </a:bodyPr>
          <a:lstStyle/>
          <a:p>
            <a:pPr algn="l">
              <a:lnSpc>
                <a:spcPct val="108000"/>
              </a:lnSpc>
              <a:defRPr sz="1450" b="1" i="0">
                <a:solidFill>
                  <a:srgbClr val="16A34A"/>
                </a:solidFill>
                <a:latin typeface="Calibri"/>
              </a:defRPr>
            </a:pPr>
            <a:r>
              <a:t>Input</a:t>
            </a:r>
          </a:p>
        </p:txBody>
      </p:sp>
      <p:sp>
        <p:nvSpPr>
          <p:cNvPr id="15" name="TextBox 14"/>
          <p:cNvSpPr txBox="1"/>
          <p:nvPr/>
        </p:nvSpPr>
        <p:spPr>
          <a:xfrm>
            <a:off x="2926080" y="1517904"/>
            <a:ext cx="3474720" cy="365760"/>
          </a:xfrm>
          <a:prstGeom prst="rect">
            <a:avLst/>
          </a:prstGeom>
          <a:noFill/>
        </p:spPr>
        <p:txBody>
          <a:bodyPr wrap="square">
            <a:spAutoFit/>
          </a:bodyPr>
          <a:lstStyle/>
          <a:p>
            <a:pPr algn="l">
              <a:lnSpc>
                <a:spcPct val="108000"/>
              </a:lnSpc>
              <a:defRPr sz="1400" b="0" i="0">
                <a:solidFill>
                  <a:srgbClr val="0F172A"/>
                </a:solidFill>
                <a:latin typeface="Calibri"/>
              </a:defRPr>
            </a:pPr>
            <a:r>
              <a:t>Dữ liệu đầu vào</a:t>
            </a:r>
          </a:p>
        </p:txBody>
      </p:sp>
      <p:sp>
        <p:nvSpPr>
          <p:cNvPr id="16" name="Rounded Rectangle 15"/>
          <p:cNvSpPr/>
          <p:nvPr/>
        </p:nvSpPr>
        <p:spPr>
          <a:xfrm>
            <a:off x="502920" y="2121408"/>
            <a:ext cx="6035040" cy="62179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267712"/>
            <a:ext cx="2194560" cy="365760"/>
          </a:xfrm>
          <a:prstGeom prst="rect">
            <a:avLst/>
          </a:prstGeom>
          <a:noFill/>
        </p:spPr>
        <p:txBody>
          <a:bodyPr wrap="square">
            <a:spAutoFit/>
          </a:bodyPr>
          <a:lstStyle/>
          <a:p>
            <a:pPr algn="l">
              <a:lnSpc>
                <a:spcPct val="108000"/>
              </a:lnSpc>
              <a:defRPr sz="1450" b="1" i="0">
                <a:solidFill>
                  <a:srgbClr val="16A34A"/>
                </a:solidFill>
                <a:latin typeface="Calibri"/>
              </a:defRPr>
            </a:pPr>
            <a:r>
              <a:t>Action</a:t>
            </a:r>
          </a:p>
        </p:txBody>
      </p:sp>
      <p:sp>
        <p:nvSpPr>
          <p:cNvPr id="18" name="TextBox 17"/>
          <p:cNvSpPr txBox="1"/>
          <p:nvPr/>
        </p:nvSpPr>
        <p:spPr>
          <a:xfrm>
            <a:off x="2926080" y="2267712"/>
            <a:ext cx="3474720" cy="365760"/>
          </a:xfrm>
          <a:prstGeom prst="rect">
            <a:avLst/>
          </a:prstGeom>
          <a:noFill/>
        </p:spPr>
        <p:txBody>
          <a:bodyPr wrap="square">
            <a:spAutoFit/>
          </a:bodyPr>
          <a:lstStyle/>
          <a:p>
            <a:pPr algn="l">
              <a:lnSpc>
                <a:spcPct val="108000"/>
              </a:lnSpc>
              <a:defRPr sz="1400" b="0" i="0">
                <a:solidFill>
                  <a:srgbClr val="0F172A"/>
                </a:solidFill>
                <a:latin typeface="Calibri"/>
              </a:defRPr>
            </a:pPr>
            <a:r>
              <a:t>Hành động / hàm cần kiểm tra</a:t>
            </a:r>
          </a:p>
        </p:txBody>
      </p:sp>
      <p:sp>
        <p:nvSpPr>
          <p:cNvPr id="19" name="Rounded Rectangle 18"/>
          <p:cNvSpPr/>
          <p:nvPr/>
        </p:nvSpPr>
        <p:spPr>
          <a:xfrm>
            <a:off x="502920" y="2871215"/>
            <a:ext cx="6035040" cy="62179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017520"/>
            <a:ext cx="2194560" cy="365760"/>
          </a:xfrm>
          <a:prstGeom prst="rect">
            <a:avLst/>
          </a:prstGeom>
          <a:noFill/>
        </p:spPr>
        <p:txBody>
          <a:bodyPr wrap="square">
            <a:spAutoFit/>
          </a:bodyPr>
          <a:lstStyle/>
          <a:p>
            <a:pPr algn="l">
              <a:lnSpc>
                <a:spcPct val="108000"/>
              </a:lnSpc>
              <a:defRPr sz="1450" b="1" i="0">
                <a:solidFill>
                  <a:srgbClr val="16A34A"/>
                </a:solidFill>
                <a:latin typeface="Calibri"/>
              </a:defRPr>
            </a:pPr>
            <a:r>
              <a:t>Expected Result</a:t>
            </a:r>
          </a:p>
        </p:txBody>
      </p:sp>
      <p:sp>
        <p:nvSpPr>
          <p:cNvPr id="21" name="TextBox 20"/>
          <p:cNvSpPr txBox="1"/>
          <p:nvPr/>
        </p:nvSpPr>
        <p:spPr>
          <a:xfrm>
            <a:off x="2926080" y="3017520"/>
            <a:ext cx="3474720" cy="365760"/>
          </a:xfrm>
          <a:prstGeom prst="rect">
            <a:avLst/>
          </a:prstGeom>
          <a:noFill/>
        </p:spPr>
        <p:txBody>
          <a:bodyPr wrap="square">
            <a:spAutoFit/>
          </a:bodyPr>
          <a:lstStyle/>
          <a:p>
            <a:pPr algn="l">
              <a:lnSpc>
                <a:spcPct val="108000"/>
              </a:lnSpc>
              <a:defRPr sz="1400" b="0" i="0">
                <a:solidFill>
                  <a:srgbClr val="0F172A"/>
                </a:solidFill>
                <a:latin typeface="Calibri"/>
              </a:defRPr>
            </a:pPr>
            <a:r>
              <a:t>Kết quả đúng phải nhận được</a:t>
            </a:r>
          </a:p>
        </p:txBody>
      </p:sp>
      <p:sp>
        <p:nvSpPr>
          <p:cNvPr id="22" name="Rounded Rectangle 21"/>
          <p:cNvSpPr/>
          <p:nvPr/>
        </p:nvSpPr>
        <p:spPr>
          <a:xfrm>
            <a:off x="502920" y="3621024"/>
            <a:ext cx="6035040" cy="62179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767328"/>
            <a:ext cx="2194560" cy="365760"/>
          </a:xfrm>
          <a:prstGeom prst="rect">
            <a:avLst/>
          </a:prstGeom>
          <a:noFill/>
        </p:spPr>
        <p:txBody>
          <a:bodyPr wrap="square">
            <a:spAutoFit/>
          </a:bodyPr>
          <a:lstStyle/>
          <a:p>
            <a:pPr algn="l">
              <a:lnSpc>
                <a:spcPct val="108000"/>
              </a:lnSpc>
              <a:defRPr sz="1450" b="1" i="0">
                <a:solidFill>
                  <a:srgbClr val="16A34A"/>
                </a:solidFill>
                <a:latin typeface="Calibri"/>
              </a:defRPr>
            </a:pPr>
            <a:r>
              <a:t>Actual Result</a:t>
            </a:r>
          </a:p>
        </p:txBody>
      </p:sp>
      <p:sp>
        <p:nvSpPr>
          <p:cNvPr id="24" name="TextBox 23"/>
          <p:cNvSpPr txBox="1"/>
          <p:nvPr/>
        </p:nvSpPr>
        <p:spPr>
          <a:xfrm>
            <a:off x="2926080" y="3767328"/>
            <a:ext cx="3474720" cy="365760"/>
          </a:xfrm>
          <a:prstGeom prst="rect">
            <a:avLst/>
          </a:prstGeom>
          <a:noFill/>
        </p:spPr>
        <p:txBody>
          <a:bodyPr wrap="square">
            <a:spAutoFit/>
          </a:bodyPr>
          <a:lstStyle/>
          <a:p>
            <a:pPr algn="l">
              <a:lnSpc>
                <a:spcPct val="108000"/>
              </a:lnSpc>
              <a:defRPr sz="1400" b="0" i="0">
                <a:solidFill>
                  <a:srgbClr val="0F172A"/>
                </a:solidFill>
                <a:latin typeface="Calibri"/>
              </a:defRPr>
            </a:pPr>
            <a:r>
              <a:t>Kết quả chương trình thực sự tạo ra</a:t>
            </a:r>
          </a:p>
        </p:txBody>
      </p:sp>
      <p:sp>
        <p:nvSpPr>
          <p:cNvPr id="25" name="Rounded Rectangle 24"/>
          <p:cNvSpPr/>
          <p:nvPr/>
        </p:nvSpPr>
        <p:spPr>
          <a:xfrm>
            <a:off x="502920" y="4370831"/>
            <a:ext cx="6035040" cy="62179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517136"/>
            <a:ext cx="2194560" cy="365760"/>
          </a:xfrm>
          <a:prstGeom prst="rect">
            <a:avLst/>
          </a:prstGeom>
          <a:noFill/>
        </p:spPr>
        <p:txBody>
          <a:bodyPr wrap="square">
            <a:spAutoFit/>
          </a:bodyPr>
          <a:lstStyle/>
          <a:p>
            <a:pPr algn="l">
              <a:lnSpc>
                <a:spcPct val="108000"/>
              </a:lnSpc>
              <a:defRPr sz="1450" b="1" i="0">
                <a:solidFill>
                  <a:srgbClr val="16A34A"/>
                </a:solidFill>
                <a:latin typeface="Calibri"/>
              </a:defRPr>
            </a:pPr>
            <a:r>
              <a:t>Pass / Fail</a:t>
            </a:r>
          </a:p>
        </p:txBody>
      </p:sp>
      <p:sp>
        <p:nvSpPr>
          <p:cNvPr id="27" name="TextBox 26"/>
          <p:cNvSpPr txBox="1"/>
          <p:nvPr/>
        </p:nvSpPr>
        <p:spPr>
          <a:xfrm>
            <a:off x="2926080" y="4517136"/>
            <a:ext cx="3474720" cy="365760"/>
          </a:xfrm>
          <a:prstGeom prst="rect">
            <a:avLst/>
          </a:prstGeom>
          <a:noFill/>
        </p:spPr>
        <p:txBody>
          <a:bodyPr wrap="square">
            <a:spAutoFit/>
          </a:bodyPr>
          <a:lstStyle/>
          <a:p>
            <a:pPr algn="l">
              <a:lnSpc>
                <a:spcPct val="108000"/>
              </a:lnSpc>
              <a:defRPr sz="1400" b="0" i="0">
                <a:solidFill>
                  <a:srgbClr val="0F172A"/>
                </a:solidFill>
                <a:latin typeface="Calibri"/>
              </a:defRPr>
            </a:pPr>
            <a:r>
              <a:t>So sánh thực tế với mong đợi</a:t>
            </a:r>
          </a:p>
        </p:txBody>
      </p:sp>
      <p:sp>
        <p:nvSpPr>
          <p:cNvPr id="28" name="TextBox 27"/>
          <p:cNvSpPr txBox="1"/>
          <p:nvPr/>
        </p:nvSpPr>
        <p:spPr>
          <a:xfrm>
            <a:off x="6858000" y="1371600"/>
            <a:ext cx="4828032" cy="365760"/>
          </a:xfrm>
          <a:prstGeom prst="rect">
            <a:avLst/>
          </a:prstGeom>
          <a:noFill/>
        </p:spPr>
        <p:txBody>
          <a:bodyPr wrap="square">
            <a:spAutoFit/>
          </a:bodyPr>
          <a:lstStyle/>
          <a:p>
            <a:pPr algn="l">
              <a:lnSpc>
                <a:spcPct val="108000"/>
              </a:lnSpc>
              <a:defRPr sz="1700" b="1" i="0">
                <a:solidFill>
                  <a:srgbClr val="16A34A"/>
                </a:solidFill>
                <a:latin typeface="Calibri"/>
              </a:defRPr>
            </a:pPr>
            <a:r>
              <a:t>Mô hình AAA</a:t>
            </a:r>
          </a:p>
        </p:txBody>
      </p:sp>
      <p:sp>
        <p:nvSpPr>
          <p:cNvPr id="29" name="Rounded Rectangle 28"/>
          <p:cNvSpPr/>
          <p:nvPr/>
        </p:nvSpPr>
        <p:spPr>
          <a:xfrm>
            <a:off x="6858000" y="1810512"/>
            <a:ext cx="1371600" cy="64008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Arrange</a:t>
            </a:r>
          </a:p>
        </p:txBody>
      </p:sp>
      <p:sp>
        <p:nvSpPr>
          <p:cNvPr id="30" name="TextBox 29"/>
          <p:cNvSpPr txBox="1"/>
          <p:nvPr/>
        </p:nvSpPr>
        <p:spPr>
          <a:xfrm>
            <a:off x="8247888" y="1956816"/>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31" name="Rounded Rectangle 30"/>
          <p:cNvSpPr/>
          <p:nvPr/>
        </p:nvSpPr>
        <p:spPr>
          <a:xfrm>
            <a:off x="8522208" y="1810512"/>
            <a:ext cx="1371600" cy="64008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Act</a:t>
            </a:r>
          </a:p>
        </p:txBody>
      </p:sp>
      <p:sp>
        <p:nvSpPr>
          <p:cNvPr id="32" name="TextBox 31"/>
          <p:cNvSpPr txBox="1"/>
          <p:nvPr/>
        </p:nvSpPr>
        <p:spPr>
          <a:xfrm>
            <a:off x="9912096" y="1956816"/>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33" name="Rounded Rectangle 32"/>
          <p:cNvSpPr/>
          <p:nvPr/>
        </p:nvSpPr>
        <p:spPr>
          <a:xfrm>
            <a:off x="10186416" y="1810512"/>
            <a:ext cx="1371600" cy="64008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Assert</a:t>
            </a:r>
          </a:p>
        </p:txBody>
      </p:sp>
      <p:sp>
        <p:nvSpPr>
          <p:cNvPr id="34" name="TextBox 33"/>
          <p:cNvSpPr txBox="1"/>
          <p:nvPr/>
        </p:nvSpPr>
        <p:spPr>
          <a:xfrm>
            <a:off x="6858000" y="2651760"/>
            <a:ext cx="4828032" cy="3657600"/>
          </a:xfrm>
          <a:prstGeom prst="rect">
            <a:avLst/>
          </a:prstGeom>
          <a:noFill/>
        </p:spPr>
        <p:txBody>
          <a:bodyPr wrap="square">
            <a:spAutoFit/>
          </a:bodyPr>
          <a:lstStyle/>
          <a:p>
            <a:pPr>
              <a:lnSpc>
                <a:spcPct val="112000"/>
              </a:lnSpc>
              <a:spcBef>
                <a:spcPts val="0"/>
              </a:spcBef>
              <a:defRPr sz="1400">
                <a:solidFill>
                  <a:srgbClr val="0F172A"/>
                </a:solidFill>
                <a:latin typeface="Calibri"/>
              </a:defRPr>
            </a:pPr>
            <a:r>
              <a:t>•  Arrange — chuẩn bị dữ liệu</a:t>
            </a:r>
          </a:p>
          <a:p>
            <a:pPr>
              <a:lnSpc>
                <a:spcPct val="112000"/>
              </a:lnSpc>
              <a:spcBef>
                <a:spcPts val="600"/>
              </a:spcBef>
              <a:defRPr sz="1400">
                <a:solidFill>
                  <a:srgbClr val="0F172A"/>
                </a:solidFill>
                <a:latin typeface="Calibri"/>
              </a:defRPr>
            </a:pPr>
            <a:r>
              <a:t>•  Act — thực hiện hành động</a:t>
            </a:r>
          </a:p>
          <a:p>
            <a:pPr>
              <a:lnSpc>
                <a:spcPct val="112000"/>
              </a:lnSpc>
              <a:spcBef>
                <a:spcPts val="600"/>
              </a:spcBef>
              <a:defRPr sz="1400">
                <a:solidFill>
                  <a:srgbClr val="0F172A"/>
                </a:solidFill>
                <a:latin typeface="Calibri"/>
              </a:defRPr>
            </a:pPr>
            <a:r>
              <a:t>•  Assert — đối chiếu kết quả</a:t>
            </a:r>
          </a:p>
        </p:txBody>
      </p:sp>
      <p:sp>
        <p:nvSpPr>
          <p:cNvPr id="35" name="Rounded Rectangle 34"/>
          <p:cNvSpPr/>
          <p:nvPr/>
        </p:nvSpPr>
        <p:spPr>
          <a:xfrm>
            <a:off x="6858000" y="4160520"/>
            <a:ext cx="4828032" cy="178308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86600" y="4315968"/>
            <a:ext cx="4389120" cy="365760"/>
          </a:xfrm>
          <a:prstGeom prst="rect">
            <a:avLst/>
          </a:prstGeom>
          <a:noFill/>
        </p:spPr>
        <p:txBody>
          <a:bodyPr wrap="square">
            <a:spAutoFit/>
          </a:bodyPr>
          <a:lstStyle/>
          <a:p>
            <a:pPr algn="l">
              <a:lnSpc>
                <a:spcPct val="108000"/>
              </a:lnSpc>
              <a:defRPr sz="1500" b="1" i="0">
                <a:solidFill>
                  <a:srgbClr val="16A34A"/>
                </a:solidFill>
                <a:latin typeface="Calibri"/>
              </a:defRPr>
            </a:pPr>
            <a:r>
              <a:t>Ví dụ</a:t>
            </a:r>
          </a:p>
        </p:txBody>
      </p:sp>
      <p:sp>
        <p:nvSpPr>
          <p:cNvPr id="37" name="TextBox 36"/>
          <p:cNvSpPr txBox="1"/>
          <p:nvPr/>
        </p:nvSpPr>
        <p:spPr>
          <a:xfrm>
            <a:off x="7086600" y="4709160"/>
            <a:ext cx="4389120" cy="1097280"/>
          </a:xfrm>
          <a:prstGeom prst="rect">
            <a:avLst/>
          </a:prstGeom>
          <a:noFill/>
        </p:spPr>
        <p:txBody>
          <a:bodyPr wrap="square">
            <a:spAutoFit/>
          </a:bodyPr>
          <a:lstStyle/>
          <a:p>
            <a:pPr algn="l">
              <a:lnSpc>
                <a:spcPct val="108000"/>
              </a:lnSpc>
              <a:defRPr sz="1450" b="0" i="0">
                <a:solidFill>
                  <a:srgbClr val="0F172A"/>
                </a:solidFill>
                <a:latin typeface="Calibri"/>
              </a:defRPr>
            </a:pPr>
            <a:r>
              <a:t>Nhập mật khẩu sai → gọi Login → hệ thống phải từ chối, không cấp JWT.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16A34A"/>
          </a:solidFill>
          <a:ln w="9525">
            <a:solidFill>
              <a:srgbClr val="16A3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16A34A"/>
                </a:solidFill>
                <a:latin typeface="Calibri"/>
              </a:defRPr>
            </a:pPr>
            <a:r>
              <a:t>Phần B — Unit Testing với AI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Đọc hiểu code Testing do AI tạo</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07/18</a:t>
            </a:r>
          </a:p>
        </p:txBody>
      </p:sp>
      <p:sp>
        <p:nvSpPr>
          <p:cNvPr id="13" name="Rounded Rectangle 12"/>
          <p:cNvSpPr/>
          <p:nvPr/>
        </p:nvSpPr>
        <p:spPr>
          <a:xfrm>
            <a:off x="502920" y="1371600"/>
            <a:ext cx="5486400" cy="1600200"/>
          </a:xfrm>
          <a:prstGeom prst="roundRect">
            <a:avLst>
              <a:gd name="adj" fmla="val 6000"/>
            </a:avLst>
          </a:prstGeom>
          <a:solidFill>
            <a:srgbClr val="1E293B"/>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1481328"/>
            <a:ext cx="5157216" cy="1380744"/>
          </a:xfrm>
          <a:prstGeom prst="rect">
            <a:avLst/>
          </a:prstGeom>
          <a:noFill/>
        </p:spPr>
        <p:txBody>
          <a:bodyPr wrap="square">
            <a:spAutoFit/>
          </a:bodyPr>
          <a:lstStyle/>
          <a:p>
            <a:pPr>
              <a:lnSpc>
                <a:spcPct val="112000"/>
              </a:lnSpc>
              <a:defRPr sz="1150">
                <a:solidFill>
                  <a:srgbClr val="FFFFFF"/>
                </a:solidFill>
                <a:latin typeface="Consolas"/>
              </a:defRPr>
            </a:pPr>
            <a:r>
              <a:t>test("Thiếu mật khẩu → không hợp lệ", () =&gt; {</a:t>
            </a:r>
          </a:p>
          <a:p>
            <a:pPr>
              <a:lnSpc>
                <a:spcPct val="112000"/>
              </a:lnSpc>
              <a:defRPr sz="1150">
                <a:solidFill>
                  <a:srgbClr val="FFFFFF"/>
                </a:solidFill>
                <a:latin typeface="Consolas"/>
              </a:defRPr>
            </a:pPr>
            <a:r>
              <a:t>  expect(kiemTraThongTinDangNhap(</a:t>
            </a:r>
          </a:p>
          <a:p>
            <a:pPr>
              <a:lnSpc>
                <a:spcPct val="112000"/>
              </a:lnSpc>
              <a:defRPr sz="1150">
                <a:solidFill>
                  <a:srgbClr val="FFFFFF"/>
                </a:solidFill>
                <a:latin typeface="Consolas"/>
              </a:defRPr>
            </a:pPr>
            <a:r>
              <a:t>    "sv@example.com", "")).toBe(false);</a:t>
            </a:r>
          </a:p>
          <a:p>
            <a:pPr>
              <a:lnSpc>
                <a:spcPct val="112000"/>
              </a:lnSpc>
              <a:defRPr sz="1150">
                <a:solidFill>
                  <a:srgbClr val="FFFFFF"/>
                </a:solidFill>
                <a:latin typeface="Consolas"/>
              </a:defRPr>
            </a:pPr>
            <a:r>
              <a:t>});</a:t>
            </a:r>
          </a:p>
        </p:txBody>
      </p:sp>
      <p:sp>
        <p:nvSpPr>
          <p:cNvPr id="15" name="TextBox 14"/>
          <p:cNvSpPr txBox="1"/>
          <p:nvPr/>
        </p:nvSpPr>
        <p:spPr>
          <a:xfrm>
            <a:off x="6217920" y="1371600"/>
            <a:ext cx="5486400" cy="320040"/>
          </a:xfrm>
          <a:prstGeom prst="rect">
            <a:avLst/>
          </a:prstGeom>
          <a:noFill/>
        </p:spPr>
        <p:txBody>
          <a:bodyPr wrap="square">
            <a:spAutoFit/>
          </a:bodyPr>
          <a:lstStyle/>
          <a:p>
            <a:pPr algn="l">
              <a:lnSpc>
                <a:spcPct val="108000"/>
              </a:lnSpc>
              <a:defRPr sz="1500" b="1" i="0">
                <a:solidFill>
                  <a:srgbClr val="16A34A"/>
                </a:solidFill>
                <a:latin typeface="Calibri"/>
              </a:defRPr>
            </a:pPr>
            <a:r>
              <a:t>Giải nghĩa — Jest</a:t>
            </a:r>
          </a:p>
        </p:txBody>
      </p:sp>
      <p:sp>
        <p:nvSpPr>
          <p:cNvPr id="16" name="TextBox 15"/>
          <p:cNvSpPr txBox="1"/>
          <p:nvPr/>
        </p:nvSpPr>
        <p:spPr>
          <a:xfrm>
            <a:off x="6217920" y="1737360"/>
            <a:ext cx="5486400" cy="3657600"/>
          </a:xfrm>
          <a:prstGeom prst="rect">
            <a:avLst/>
          </a:prstGeom>
          <a:noFill/>
        </p:spPr>
        <p:txBody>
          <a:bodyPr wrap="square">
            <a:spAutoFit/>
          </a:bodyPr>
          <a:lstStyle/>
          <a:p>
            <a:pPr>
              <a:lnSpc>
                <a:spcPct val="112000"/>
              </a:lnSpc>
              <a:spcBef>
                <a:spcPts val="0"/>
              </a:spcBef>
              <a:defRPr sz="1350">
                <a:solidFill>
                  <a:srgbClr val="0F172A"/>
                </a:solidFill>
                <a:latin typeface="Calibri"/>
              </a:defRPr>
            </a:pPr>
            <a:r>
              <a:t>•  test() — khai báo một trường hợp kiểm thử</a:t>
            </a:r>
          </a:p>
          <a:p>
            <a:pPr>
              <a:lnSpc>
                <a:spcPct val="112000"/>
              </a:lnSpc>
              <a:spcBef>
                <a:spcPts val="300"/>
              </a:spcBef>
              <a:defRPr sz="1350">
                <a:solidFill>
                  <a:srgbClr val="0F172A"/>
                </a:solidFill>
                <a:latin typeface="Calibri"/>
              </a:defRPr>
            </a:pPr>
            <a:r>
              <a:t>•  expect() — xác định giá trị cần kiểm tra</a:t>
            </a:r>
          </a:p>
          <a:p>
            <a:pPr>
              <a:lnSpc>
                <a:spcPct val="112000"/>
              </a:lnSpc>
              <a:spcBef>
                <a:spcPts val="300"/>
              </a:spcBef>
              <a:defRPr sz="1350">
                <a:solidFill>
                  <a:srgbClr val="0F172A"/>
                </a:solidFill>
                <a:latin typeface="Calibri"/>
              </a:defRPr>
            </a:pPr>
            <a:r>
              <a:t>•  toBe(false) — mong đợi kết quả là false</a:t>
            </a:r>
          </a:p>
        </p:txBody>
      </p:sp>
      <p:sp>
        <p:nvSpPr>
          <p:cNvPr id="17" name="Rounded Rectangle 16"/>
          <p:cNvSpPr/>
          <p:nvPr/>
        </p:nvSpPr>
        <p:spPr>
          <a:xfrm>
            <a:off x="502920" y="3200400"/>
            <a:ext cx="5486400" cy="1417320"/>
          </a:xfrm>
          <a:prstGeom prst="roundRect">
            <a:avLst>
              <a:gd name="adj" fmla="val 6000"/>
            </a:avLst>
          </a:prstGeom>
          <a:solidFill>
            <a:srgbClr val="1E293B"/>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3310128"/>
            <a:ext cx="5157216" cy="1197864"/>
          </a:xfrm>
          <a:prstGeom prst="rect">
            <a:avLst/>
          </a:prstGeom>
          <a:noFill/>
        </p:spPr>
        <p:txBody>
          <a:bodyPr wrap="square">
            <a:spAutoFit/>
          </a:bodyPr>
          <a:lstStyle/>
          <a:p>
            <a:pPr>
              <a:lnSpc>
                <a:spcPct val="112000"/>
              </a:lnSpc>
              <a:defRPr sz="1150">
                <a:solidFill>
                  <a:srgbClr val="FFFFFF"/>
                </a:solidFill>
                <a:latin typeface="Consolas"/>
              </a:defRPr>
            </a:pPr>
            <a:r>
              <a:t>await request(app)</a:t>
            </a:r>
          </a:p>
          <a:p>
            <a:pPr>
              <a:lnSpc>
                <a:spcPct val="112000"/>
              </a:lnSpc>
              <a:defRPr sz="1150">
                <a:solidFill>
                  <a:srgbClr val="FFFFFF"/>
                </a:solidFill>
                <a:latin typeface="Consolas"/>
              </a:defRPr>
            </a:pPr>
            <a:r>
              <a:t>  .post("/api/auth/login")</a:t>
            </a:r>
          </a:p>
          <a:p>
            <a:pPr>
              <a:lnSpc>
                <a:spcPct val="112000"/>
              </a:lnSpc>
              <a:defRPr sz="1150">
                <a:solidFill>
                  <a:srgbClr val="FFFFFF"/>
                </a:solidFill>
                <a:latin typeface="Consolas"/>
              </a:defRPr>
            </a:pPr>
            <a:r>
              <a:t>  .send({ email: "sv@example.com",</a:t>
            </a:r>
          </a:p>
          <a:p>
            <a:pPr>
              <a:lnSpc>
                <a:spcPct val="112000"/>
              </a:lnSpc>
              <a:defRPr sz="1150">
                <a:solidFill>
                  <a:srgbClr val="FFFFFF"/>
                </a:solidFill>
                <a:latin typeface="Consolas"/>
              </a:defRPr>
            </a:pPr>
            <a:r>
              <a:t>          password: "sai" })</a:t>
            </a:r>
          </a:p>
          <a:p>
            <a:pPr>
              <a:lnSpc>
                <a:spcPct val="112000"/>
              </a:lnSpc>
              <a:defRPr sz="1150">
                <a:solidFill>
                  <a:srgbClr val="FFFFFF"/>
                </a:solidFill>
                <a:latin typeface="Consolas"/>
              </a:defRPr>
            </a:pPr>
            <a:r>
              <a:t>  .expect(401);</a:t>
            </a:r>
          </a:p>
        </p:txBody>
      </p:sp>
      <p:sp>
        <p:nvSpPr>
          <p:cNvPr id="19" name="TextBox 18"/>
          <p:cNvSpPr txBox="1"/>
          <p:nvPr/>
        </p:nvSpPr>
        <p:spPr>
          <a:xfrm>
            <a:off x="6217920" y="3200400"/>
            <a:ext cx="5486400" cy="320040"/>
          </a:xfrm>
          <a:prstGeom prst="rect">
            <a:avLst/>
          </a:prstGeom>
          <a:noFill/>
        </p:spPr>
        <p:txBody>
          <a:bodyPr wrap="square">
            <a:spAutoFit/>
          </a:bodyPr>
          <a:lstStyle/>
          <a:p>
            <a:pPr algn="l">
              <a:lnSpc>
                <a:spcPct val="108000"/>
              </a:lnSpc>
              <a:defRPr sz="1500" b="1" i="0">
                <a:solidFill>
                  <a:srgbClr val="16A34A"/>
                </a:solidFill>
                <a:latin typeface="Calibri"/>
              </a:defRPr>
            </a:pPr>
            <a:r>
              <a:t>Giải nghĩa — Supertest</a:t>
            </a:r>
          </a:p>
        </p:txBody>
      </p:sp>
      <p:sp>
        <p:nvSpPr>
          <p:cNvPr id="20" name="TextBox 19"/>
          <p:cNvSpPr txBox="1"/>
          <p:nvPr/>
        </p:nvSpPr>
        <p:spPr>
          <a:xfrm>
            <a:off x="6217920" y="3566160"/>
            <a:ext cx="5486400" cy="3657600"/>
          </a:xfrm>
          <a:prstGeom prst="rect">
            <a:avLst/>
          </a:prstGeom>
          <a:noFill/>
        </p:spPr>
        <p:txBody>
          <a:bodyPr wrap="square">
            <a:spAutoFit/>
          </a:bodyPr>
          <a:lstStyle/>
          <a:p>
            <a:pPr>
              <a:lnSpc>
                <a:spcPct val="112000"/>
              </a:lnSpc>
              <a:spcBef>
                <a:spcPts val="0"/>
              </a:spcBef>
              <a:defRPr sz="1350">
                <a:solidFill>
                  <a:srgbClr val="0F172A"/>
                </a:solidFill>
                <a:latin typeface="Calibri"/>
              </a:defRPr>
            </a:pPr>
            <a:r>
              <a:t>•  .post() — gửi request POST</a:t>
            </a:r>
          </a:p>
          <a:p>
            <a:pPr>
              <a:lnSpc>
                <a:spcPct val="112000"/>
              </a:lnSpc>
              <a:spcBef>
                <a:spcPts val="300"/>
              </a:spcBef>
              <a:defRPr sz="1350">
                <a:solidFill>
                  <a:srgbClr val="0F172A"/>
                </a:solidFill>
                <a:latin typeface="Calibri"/>
              </a:defRPr>
            </a:pPr>
            <a:r>
              <a:t>•  .send() — gửi dữ liệu</a:t>
            </a:r>
          </a:p>
          <a:p>
            <a:pPr>
              <a:lnSpc>
                <a:spcPct val="112000"/>
              </a:lnSpc>
              <a:spcBef>
                <a:spcPts val="300"/>
              </a:spcBef>
              <a:defRPr sz="1350">
                <a:solidFill>
                  <a:srgbClr val="0F172A"/>
                </a:solidFill>
                <a:latin typeface="Calibri"/>
              </a:defRPr>
            </a:pPr>
            <a:r>
              <a:t>•  .expect(401) — mong đợi HTTP 401</a:t>
            </a:r>
          </a:p>
        </p:txBody>
      </p:sp>
      <p:sp>
        <p:nvSpPr>
          <p:cNvPr id="21" name="TextBox 20"/>
          <p:cNvSpPr txBox="1"/>
          <p:nvPr/>
        </p:nvSpPr>
        <p:spPr>
          <a:xfrm>
            <a:off x="502920" y="4773168"/>
            <a:ext cx="5486400" cy="320040"/>
          </a:xfrm>
          <a:prstGeom prst="rect">
            <a:avLst/>
          </a:prstGeom>
          <a:noFill/>
        </p:spPr>
        <p:txBody>
          <a:bodyPr wrap="square">
            <a:spAutoFit/>
          </a:bodyPr>
          <a:lstStyle/>
          <a:p>
            <a:pPr algn="l">
              <a:lnSpc>
                <a:spcPct val="108000"/>
              </a:lnSpc>
              <a:defRPr sz="1150" b="0" i="1">
                <a:solidFill>
                  <a:srgbClr val="475569"/>
                </a:solidFill>
                <a:latin typeface="Calibri"/>
              </a:defRPr>
            </a:pPr>
            <a:r>
              <a:t>Trích đoạn minh họa — không phải toàn bộ file test.</a:t>
            </a:r>
          </a:p>
        </p:txBody>
      </p:sp>
      <p:sp>
        <p:nvSpPr>
          <p:cNvPr id="22" name="Rounded Rectangle 21"/>
          <p:cNvSpPr/>
          <p:nvPr/>
        </p:nvSpPr>
        <p:spPr>
          <a:xfrm>
            <a:off x="6217920" y="4773168"/>
            <a:ext cx="5486400" cy="868680"/>
          </a:xfrm>
          <a:prstGeom prst="roundRect">
            <a:avLst>
              <a:gd name="adj" fmla="val 6000"/>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4846320"/>
            <a:ext cx="5120640" cy="274320"/>
          </a:xfrm>
          <a:prstGeom prst="rect">
            <a:avLst/>
          </a:prstGeom>
          <a:noFill/>
        </p:spPr>
        <p:txBody>
          <a:bodyPr wrap="square">
            <a:spAutoFit/>
          </a:bodyPr>
          <a:lstStyle/>
          <a:p>
            <a:pPr algn="l">
              <a:lnSpc>
                <a:spcPct val="108000"/>
              </a:lnSpc>
              <a:defRPr sz="1200" b="1" i="0">
                <a:solidFill>
                  <a:srgbClr val="92400E"/>
                </a:solidFill>
                <a:latin typeface="Calibri"/>
              </a:defRPr>
            </a:pPr>
            <a:r>
              <a:t>Điểm dừng — thảo luận nhanh</a:t>
            </a:r>
          </a:p>
        </p:txBody>
      </p:sp>
      <p:sp>
        <p:nvSpPr>
          <p:cNvPr id="24" name="TextBox 23"/>
          <p:cNvSpPr txBox="1"/>
          <p:nvPr/>
        </p:nvSpPr>
        <p:spPr>
          <a:xfrm>
            <a:off x="6400800" y="5120640"/>
            <a:ext cx="5120640" cy="484632"/>
          </a:xfrm>
          <a:prstGeom prst="rect">
            <a:avLst/>
          </a:prstGeom>
          <a:noFill/>
        </p:spPr>
        <p:txBody>
          <a:bodyPr wrap="square">
            <a:spAutoFit/>
          </a:bodyPr>
          <a:lstStyle/>
          <a:p>
            <a:pPr algn="l">
              <a:lnSpc>
                <a:spcPct val="108000"/>
              </a:lnSpc>
              <a:defRPr sz="1350" b="1" i="0">
                <a:solidFill>
                  <a:srgbClr val="0F172A"/>
                </a:solidFill>
                <a:latin typeface="Calibri"/>
              </a:defRPr>
            </a:pPr>
            <a:r>
              <a:t>Bài test kỳ vọng 401. Nếu API trả 401 thì Pass hay Fail? Nếu trả 200 và cấp JWT thì sao?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16A34A"/>
          </a:solidFill>
          <a:ln w="9525">
            <a:solidFill>
              <a:srgbClr val="16A34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16A34A"/>
                </a:solidFill>
                <a:latin typeface="Calibri"/>
              </a:defRPr>
            </a:pPr>
            <a:r>
              <a:t>Phần B — Unit Testing với AI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Quy trình AI hỗ trợ tạo Unit Test</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08/18</a:t>
            </a:r>
          </a:p>
        </p:txBody>
      </p:sp>
      <p:sp>
        <p:nvSpPr>
          <p:cNvPr id="13" name="Rounded Rectangle 12"/>
          <p:cNvSpPr/>
          <p:nvPr/>
        </p:nvSpPr>
        <p:spPr>
          <a:xfrm>
            <a:off x="502920"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Xác định chức năng</a:t>
            </a:r>
          </a:p>
        </p:txBody>
      </p:sp>
      <p:sp>
        <p:nvSpPr>
          <p:cNvPr id="14" name="TextBox 13"/>
          <p:cNvSpPr txBox="1"/>
          <p:nvPr/>
        </p:nvSpPr>
        <p:spPr>
          <a:xfrm>
            <a:off x="2185416" y="1563624"/>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15" name="Rounded Rectangle 14"/>
          <p:cNvSpPr/>
          <p:nvPr/>
        </p:nvSpPr>
        <p:spPr>
          <a:xfrm>
            <a:off x="2459736"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Mô tả Test Case</a:t>
            </a:r>
          </a:p>
        </p:txBody>
      </p:sp>
      <p:sp>
        <p:nvSpPr>
          <p:cNvPr id="16" name="TextBox 15"/>
          <p:cNvSpPr txBox="1"/>
          <p:nvPr/>
        </p:nvSpPr>
        <p:spPr>
          <a:xfrm>
            <a:off x="4142232" y="1563624"/>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17" name="Rounded Rectangle 16"/>
          <p:cNvSpPr/>
          <p:nvPr/>
        </p:nvSpPr>
        <p:spPr>
          <a:xfrm>
            <a:off x="4416552"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AI tạo code</a:t>
            </a:r>
          </a:p>
        </p:txBody>
      </p:sp>
      <p:sp>
        <p:nvSpPr>
          <p:cNvPr id="18" name="TextBox 17"/>
          <p:cNvSpPr txBox="1"/>
          <p:nvPr/>
        </p:nvSpPr>
        <p:spPr>
          <a:xfrm>
            <a:off x="6099048" y="1563624"/>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19" name="Rounded Rectangle 18"/>
          <p:cNvSpPr/>
          <p:nvPr/>
        </p:nvSpPr>
        <p:spPr>
          <a:xfrm>
            <a:off x="6373368"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Review</a:t>
            </a:r>
          </a:p>
        </p:txBody>
      </p:sp>
      <p:sp>
        <p:nvSpPr>
          <p:cNvPr id="20" name="TextBox 19"/>
          <p:cNvSpPr txBox="1"/>
          <p:nvPr/>
        </p:nvSpPr>
        <p:spPr>
          <a:xfrm>
            <a:off x="8055863" y="1563624"/>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21" name="Rounded Rectangle 20"/>
          <p:cNvSpPr/>
          <p:nvPr/>
        </p:nvSpPr>
        <p:spPr>
          <a:xfrm>
            <a:off x="8330184"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Chạy Test</a:t>
            </a:r>
          </a:p>
        </p:txBody>
      </p:sp>
      <p:sp>
        <p:nvSpPr>
          <p:cNvPr id="22" name="TextBox 21"/>
          <p:cNvSpPr txBox="1"/>
          <p:nvPr/>
        </p:nvSpPr>
        <p:spPr>
          <a:xfrm>
            <a:off x="10012680" y="1563624"/>
            <a:ext cx="274320" cy="365760"/>
          </a:xfrm>
          <a:prstGeom prst="rect">
            <a:avLst/>
          </a:prstGeom>
          <a:noFill/>
        </p:spPr>
        <p:txBody>
          <a:bodyPr wrap="square">
            <a:spAutoFit/>
          </a:bodyPr>
          <a:lstStyle/>
          <a:p>
            <a:pPr algn="ctr">
              <a:lnSpc>
                <a:spcPct val="108000"/>
              </a:lnSpc>
              <a:defRPr sz="2000" b="1" i="0">
                <a:solidFill>
                  <a:srgbClr val="16A34A"/>
                </a:solidFill>
                <a:latin typeface="Calibri"/>
              </a:defRPr>
            </a:pPr>
            <a:r>
              <a:t>›</a:t>
            </a:r>
          </a:p>
        </p:txBody>
      </p:sp>
      <p:sp>
        <p:nvSpPr>
          <p:cNvPr id="23" name="Rounded Rectangle 22"/>
          <p:cNvSpPr/>
          <p:nvPr/>
        </p:nvSpPr>
        <p:spPr>
          <a:xfrm>
            <a:off x="10287000" y="1417320"/>
            <a:ext cx="1664208" cy="685800"/>
          </a:xfrm>
          <a:prstGeom prst="roundRect">
            <a:avLst>
              <a:gd name="adj" fmla="val 6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F172A"/>
                </a:solidFill>
                <a:latin typeface="Calibri"/>
              </a:defRPr>
            </a:pPr>
            <a:r>
              <a:t>Phân tích lỗi</a:t>
            </a:r>
          </a:p>
        </p:txBody>
      </p:sp>
      <p:sp>
        <p:nvSpPr>
          <p:cNvPr id="24" name="Rounded Rectangle 23"/>
          <p:cNvSpPr/>
          <p:nvPr/>
        </p:nvSpPr>
        <p:spPr>
          <a:xfrm>
            <a:off x="502920" y="2377440"/>
            <a:ext cx="11183112" cy="9601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2514600"/>
            <a:ext cx="10698480" cy="320040"/>
          </a:xfrm>
          <a:prstGeom prst="rect">
            <a:avLst/>
          </a:prstGeom>
          <a:noFill/>
        </p:spPr>
        <p:txBody>
          <a:bodyPr wrap="square">
            <a:spAutoFit/>
          </a:bodyPr>
          <a:lstStyle/>
          <a:p>
            <a:pPr algn="l">
              <a:lnSpc>
                <a:spcPct val="108000"/>
              </a:lnSpc>
              <a:defRPr sz="1500" b="1" i="0">
                <a:solidFill>
                  <a:srgbClr val="16A34A"/>
                </a:solidFill>
                <a:latin typeface="Calibri"/>
              </a:defRPr>
            </a:pPr>
            <a:r>
              <a:t>Mock là gì?</a:t>
            </a:r>
          </a:p>
        </p:txBody>
      </p:sp>
      <p:sp>
        <p:nvSpPr>
          <p:cNvPr id="26" name="TextBox 25"/>
          <p:cNvSpPr txBox="1"/>
          <p:nvPr/>
        </p:nvSpPr>
        <p:spPr>
          <a:xfrm>
            <a:off x="731520" y="2852928"/>
            <a:ext cx="10698480" cy="411480"/>
          </a:xfrm>
          <a:prstGeom prst="rect">
            <a:avLst/>
          </a:prstGeom>
          <a:noFill/>
        </p:spPr>
        <p:txBody>
          <a:bodyPr wrap="square">
            <a:spAutoFit/>
          </a:bodyPr>
          <a:lstStyle/>
          <a:p>
            <a:pPr algn="l">
              <a:lnSpc>
                <a:spcPct val="108000"/>
              </a:lnSpc>
              <a:defRPr sz="1400" b="0" i="0">
                <a:solidFill>
                  <a:srgbClr val="0F172A"/>
                </a:solidFill>
                <a:latin typeface="Calibri"/>
              </a:defRPr>
            </a:pPr>
            <a:r>
              <a:t>Thay thế tạm thời một thành phần phụ thuộc (ví dụ truy vấn Database) bằng dữ liệu giả lập có kiểm soát, để kiểm thử riêng logic cần quan tâm.</a:t>
            </a:r>
          </a:p>
        </p:txBody>
      </p:sp>
      <p:graphicFrame>
        <p:nvGraphicFramePr>
          <p:cNvPr id="27" name="Table 26"/>
          <p:cNvGraphicFramePr>
            <a:graphicFrameLocks noGrp="1"/>
          </p:cNvGraphicFramePr>
          <p:nvPr/>
        </p:nvGraphicFramePr>
        <p:xfrm>
          <a:off x="502920" y="3566160"/>
          <a:ext cx="11183112" cy="2331720"/>
        </p:xfrm>
        <a:graphic>
          <a:graphicData uri="http://schemas.openxmlformats.org/drawingml/2006/table">
            <a:tbl>
              <a:tblPr firstRow="1" bandRow="1">
                <a:tableStyleId>{5C22544A-7EE6-4342-B048-85BDC9FD1C3A}</a:tableStyleId>
              </a:tblPr>
              <a:tblGrid>
                <a:gridCol w="557784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tblGrid>
              <a:tr h="388620">
                <a:tc>
                  <a:txBody>
                    <a:bodyPr/>
                    <a:lstStyle/>
                    <a:p>
                      <a:pPr>
                        <a:defRPr sz="1300" b="1">
                          <a:solidFill>
                            <a:srgbClr val="FFFFFF"/>
                          </a:solidFill>
                          <a:latin typeface="Calibri"/>
                        </a:defRPr>
                      </a:pPr>
                      <a:r>
                        <a:t>Tình huống (Login)</a:t>
                      </a:r>
                    </a:p>
                  </a:txBody>
                  <a:tcPr>
                    <a:solidFill>
                      <a:srgbClr val="16A34A"/>
                    </a:solidFill>
                  </a:tcPr>
                </a:tc>
                <a:tc>
                  <a:txBody>
                    <a:bodyPr/>
                    <a:lstStyle/>
                    <a:p>
                      <a:pPr>
                        <a:defRPr sz="1300" b="1">
                          <a:solidFill>
                            <a:srgbClr val="FFFFFF"/>
                          </a:solidFill>
                          <a:latin typeface="Calibri"/>
                        </a:defRPr>
                      </a:pPr>
                      <a:r>
                        <a:t>Kết quả mong đợi</a:t>
                      </a:r>
                    </a:p>
                  </a:txBody>
                  <a:tcPr>
                    <a:solidFill>
                      <a:srgbClr val="16A34A"/>
                    </a:solidFill>
                  </a:tcPr>
                </a:tc>
                <a:extLst>
                  <a:ext uri="{0D108BD9-81ED-4DB2-BD59-A6C34878D82A}">
                    <a16:rowId xmlns:a16="http://schemas.microsoft.com/office/drawing/2014/main" val="10000"/>
                  </a:ext>
                </a:extLst>
              </a:tr>
              <a:tr h="388620">
                <a:tc>
                  <a:txBody>
                    <a:bodyPr/>
                    <a:lstStyle/>
                    <a:p>
                      <a:pPr>
                        <a:defRPr sz="1300" b="0">
                          <a:solidFill>
                            <a:srgbClr val="0F172A"/>
                          </a:solidFill>
                          <a:latin typeface="Calibri"/>
                        </a:defRPr>
                      </a:pPr>
                      <a:r>
                        <a:t>Tài khoản và mật khẩu đúng</a:t>
                      </a:r>
                    </a:p>
                  </a:txBody>
                  <a:tcPr>
                    <a:solidFill>
                      <a:srgbClr val="FFFFFF"/>
                    </a:solidFill>
                  </a:tcPr>
                </a:tc>
                <a:tc>
                  <a:txBody>
                    <a:bodyPr/>
                    <a:lstStyle/>
                    <a:p>
                      <a:pPr>
                        <a:defRPr sz="1300" b="0">
                          <a:solidFill>
                            <a:srgbClr val="0F172A"/>
                          </a:solidFill>
                          <a:latin typeface="Calibri"/>
                        </a:defRPr>
                      </a:pPr>
                      <a:r>
                        <a:t>Đăng nhập thành công</a:t>
                      </a:r>
                    </a:p>
                  </a:txBody>
                  <a:tcPr>
                    <a:solidFill>
                      <a:srgbClr val="FFFFFF"/>
                    </a:solidFill>
                  </a:tcPr>
                </a:tc>
                <a:extLst>
                  <a:ext uri="{0D108BD9-81ED-4DB2-BD59-A6C34878D82A}">
                    <a16:rowId xmlns:a16="http://schemas.microsoft.com/office/drawing/2014/main" val="10001"/>
                  </a:ext>
                </a:extLst>
              </a:tr>
              <a:tr h="388620">
                <a:tc>
                  <a:txBody>
                    <a:bodyPr/>
                    <a:lstStyle/>
                    <a:p>
                      <a:pPr>
                        <a:defRPr sz="1300" b="0">
                          <a:solidFill>
                            <a:srgbClr val="0F172A"/>
                          </a:solidFill>
                          <a:latin typeface="Calibri"/>
                        </a:defRPr>
                      </a:pPr>
                      <a:r>
                        <a:t>Sai mật khẩu</a:t>
                      </a:r>
                    </a:p>
                  </a:txBody>
                  <a:tcPr>
                    <a:solidFill>
                      <a:srgbClr val="FFFFFF"/>
                    </a:solidFill>
                  </a:tcPr>
                </a:tc>
                <a:tc>
                  <a:txBody>
                    <a:bodyPr/>
                    <a:lstStyle/>
                    <a:p>
                      <a:pPr>
                        <a:defRPr sz="1300" b="0">
                          <a:solidFill>
                            <a:srgbClr val="0F172A"/>
                          </a:solidFill>
                          <a:latin typeface="Calibri"/>
                        </a:defRPr>
                      </a:pPr>
                      <a:r>
                        <a:t>Từ chối đăng nhập</a:t>
                      </a:r>
                    </a:p>
                  </a:txBody>
                  <a:tcPr>
                    <a:solidFill>
                      <a:srgbClr val="FFFFFF"/>
                    </a:solidFill>
                  </a:tcPr>
                </a:tc>
                <a:extLst>
                  <a:ext uri="{0D108BD9-81ED-4DB2-BD59-A6C34878D82A}">
                    <a16:rowId xmlns:a16="http://schemas.microsoft.com/office/drawing/2014/main" val="10002"/>
                  </a:ext>
                </a:extLst>
              </a:tr>
              <a:tr h="388620">
                <a:tc>
                  <a:txBody>
                    <a:bodyPr/>
                    <a:lstStyle/>
                    <a:p>
                      <a:pPr>
                        <a:defRPr sz="1300" b="0">
                          <a:solidFill>
                            <a:srgbClr val="0F172A"/>
                          </a:solidFill>
                          <a:latin typeface="Calibri"/>
                        </a:defRPr>
                      </a:pPr>
                      <a:r>
                        <a:t>Tài khoản không tồn tại</a:t>
                      </a:r>
                    </a:p>
                  </a:txBody>
                  <a:tcPr>
                    <a:solidFill>
                      <a:srgbClr val="FFFFFF"/>
                    </a:solidFill>
                  </a:tcPr>
                </a:tc>
                <a:tc>
                  <a:txBody>
                    <a:bodyPr/>
                    <a:lstStyle/>
                    <a:p>
                      <a:pPr>
                        <a:defRPr sz="1300" b="0">
                          <a:solidFill>
                            <a:srgbClr val="0F172A"/>
                          </a:solidFill>
                          <a:latin typeface="Calibri"/>
                        </a:defRPr>
                      </a:pPr>
                      <a:r>
                        <a:t>Từ chối đăng nhập</a:t>
                      </a:r>
                    </a:p>
                  </a:txBody>
                  <a:tcPr>
                    <a:solidFill>
                      <a:srgbClr val="FFFFFF"/>
                    </a:solidFill>
                  </a:tcPr>
                </a:tc>
                <a:extLst>
                  <a:ext uri="{0D108BD9-81ED-4DB2-BD59-A6C34878D82A}">
                    <a16:rowId xmlns:a16="http://schemas.microsoft.com/office/drawing/2014/main" val="10003"/>
                  </a:ext>
                </a:extLst>
              </a:tr>
              <a:tr h="388620">
                <a:tc>
                  <a:txBody>
                    <a:bodyPr/>
                    <a:lstStyle/>
                    <a:p>
                      <a:pPr>
                        <a:defRPr sz="1300" b="0">
                          <a:solidFill>
                            <a:srgbClr val="0F172A"/>
                          </a:solidFill>
                          <a:latin typeface="Calibri"/>
                        </a:defRPr>
                      </a:pPr>
                      <a:r>
                        <a:t>Thiếu dữ liệu</a:t>
                      </a:r>
                    </a:p>
                  </a:txBody>
                  <a:tcPr>
                    <a:solidFill>
                      <a:srgbClr val="FFFFFF"/>
                    </a:solidFill>
                  </a:tcPr>
                </a:tc>
                <a:tc>
                  <a:txBody>
                    <a:bodyPr/>
                    <a:lstStyle/>
                    <a:p>
                      <a:pPr>
                        <a:defRPr sz="1300" b="0">
                          <a:solidFill>
                            <a:srgbClr val="0F172A"/>
                          </a:solidFill>
                          <a:latin typeface="Calibri"/>
                        </a:defRPr>
                      </a:pPr>
                      <a:r>
                        <a:t>Lỗi Validation</a:t>
                      </a:r>
                    </a:p>
                  </a:txBody>
                  <a:tcPr>
                    <a:solidFill>
                      <a:srgbClr val="FFFFFF"/>
                    </a:solidFill>
                  </a:tcPr>
                </a:tc>
                <a:extLst>
                  <a:ext uri="{0D108BD9-81ED-4DB2-BD59-A6C34878D82A}">
                    <a16:rowId xmlns:a16="http://schemas.microsoft.com/office/drawing/2014/main" val="10004"/>
                  </a:ext>
                </a:extLst>
              </a:tr>
              <a:tr h="388620">
                <a:tc>
                  <a:txBody>
                    <a:bodyPr/>
                    <a:lstStyle/>
                    <a:p>
                      <a:pPr>
                        <a:defRPr sz="1300" b="0">
                          <a:solidFill>
                            <a:srgbClr val="0F172A"/>
                          </a:solidFill>
                          <a:latin typeface="Calibri"/>
                        </a:defRPr>
                      </a:pPr>
                      <a:r>
                        <a:t>Database lỗi</a:t>
                      </a:r>
                    </a:p>
                  </a:txBody>
                  <a:tcPr>
                    <a:solidFill>
                      <a:srgbClr val="FFFFFF"/>
                    </a:solidFill>
                  </a:tcPr>
                </a:tc>
                <a:tc>
                  <a:txBody>
                    <a:bodyPr/>
                    <a:lstStyle/>
                    <a:p>
                      <a:pPr>
                        <a:defRPr sz="1300" b="0">
                          <a:solidFill>
                            <a:srgbClr val="0F172A"/>
                          </a:solidFill>
                          <a:latin typeface="Calibri"/>
                        </a:defRPr>
                      </a:pPr>
                      <a:r>
                        <a:t>Xử lý lỗi phù hợp, không lộ dữ liệu nội bộ</a:t>
                      </a:r>
                    </a:p>
                  </a:txBody>
                  <a:tcPr>
                    <a:solidFill>
                      <a:srgbClr val="FFFFFF"/>
                    </a:solidFill>
                  </a:tcPr>
                </a:tc>
                <a:extLst>
                  <a:ext uri="{0D108BD9-81ED-4DB2-BD59-A6C34878D82A}">
                    <a16:rowId xmlns:a16="http://schemas.microsoft.com/office/drawing/2014/main" val="10005"/>
                  </a:ext>
                </a:extLst>
              </a:tr>
            </a:tbl>
          </a:graphicData>
        </a:graphic>
      </p:graphicFrame>
      <p:sp>
        <p:nvSpPr>
          <p:cNvPr id="28" name="TextBox 27"/>
          <p:cNvSpPr txBox="1"/>
          <p:nvPr/>
        </p:nvSpPr>
        <p:spPr>
          <a:xfrm>
            <a:off x="502920" y="6035040"/>
            <a:ext cx="11183112" cy="365760"/>
          </a:xfrm>
          <a:prstGeom prst="rect">
            <a:avLst/>
          </a:prstGeom>
          <a:noFill/>
        </p:spPr>
        <p:txBody>
          <a:bodyPr wrap="square">
            <a:spAutoFit/>
          </a:bodyPr>
          <a:lstStyle/>
          <a:p>
            <a:pPr algn="l">
              <a:lnSpc>
                <a:spcPct val="108000"/>
              </a:lnSpc>
              <a:defRPr sz="1400" b="1" i="0">
                <a:solidFill>
                  <a:srgbClr val="16A34A"/>
                </a:solidFill>
                <a:latin typeface="Calibri"/>
              </a:defRPr>
            </a:pPr>
            <a:r>
              <a:t>AI có thể tạo rất nhiều bài test — con người quyết định tình huống nào thực sự cần kiểm tra.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EA580C"/>
                </a:solidFill>
                <a:latin typeface="Calibri"/>
              </a:defRPr>
            </a:pPr>
            <a:r>
              <a:t>Phần C — Bảo mật &amp; Tối ưu API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API Security là gì? Cần bảo vệ điều gì?</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09/18</a:t>
            </a:r>
          </a:p>
        </p:txBody>
      </p:sp>
      <p:sp>
        <p:nvSpPr>
          <p:cNvPr id="13" name="Rounded Rectangle 12"/>
          <p:cNvSpPr/>
          <p:nvPr/>
        </p:nvSpPr>
        <p:spPr>
          <a:xfrm>
            <a:off x="502920" y="1417320"/>
            <a:ext cx="6949440" cy="18288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72768"/>
            <a:ext cx="6492240" cy="365760"/>
          </a:xfrm>
          <a:prstGeom prst="rect">
            <a:avLst/>
          </a:prstGeom>
          <a:noFill/>
        </p:spPr>
        <p:txBody>
          <a:bodyPr wrap="square">
            <a:spAutoFit/>
          </a:bodyPr>
          <a:lstStyle/>
          <a:p>
            <a:pPr algn="l">
              <a:lnSpc>
                <a:spcPct val="108000"/>
              </a:lnSpc>
              <a:defRPr sz="1700" b="1" i="0">
                <a:solidFill>
                  <a:srgbClr val="EA580C"/>
                </a:solidFill>
                <a:latin typeface="Calibri"/>
              </a:defRPr>
            </a:pPr>
            <a:r>
              <a:t>API Security</a:t>
            </a:r>
          </a:p>
        </p:txBody>
      </p:sp>
      <p:sp>
        <p:nvSpPr>
          <p:cNvPr id="15" name="TextBox 14"/>
          <p:cNvSpPr txBox="1"/>
          <p:nvPr/>
        </p:nvSpPr>
        <p:spPr>
          <a:xfrm>
            <a:off x="731520" y="1993392"/>
            <a:ext cx="6492240" cy="1097280"/>
          </a:xfrm>
          <a:prstGeom prst="rect">
            <a:avLst/>
          </a:prstGeom>
          <a:noFill/>
        </p:spPr>
        <p:txBody>
          <a:bodyPr wrap="square">
            <a:spAutoFit/>
          </a:bodyPr>
          <a:lstStyle/>
          <a:p>
            <a:pPr algn="l">
              <a:lnSpc>
                <a:spcPct val="108000"/>
              </a:lnSpc>
              <a:defRPr sz="1500" b="0" i="0">
                <a:solidFill>
                  <a:srgbClr val="0F172A"/>
                </a:solidFill>
                <a:latin typeface="Calibri"/>
              </a:defRPr>
            </a:pPr>
            <a:r>
              <a:t>Tập hợp biện pháp bảo vệ API khỏi truy cập trái phép, dữ liệu độc hại và những hành vi có thể gây ảnh hưởng hệ thống.</a:t>
            </a:r>
          </a:p>
        </p:txBody>
      </p:sp>
      <p:sp>
        <p:nvSpPr>
          <p:cNvPr id="16" name="Rounded Rectangle 15"/>
          <p:cNvSpPr/>
          <p:nvPr/>
        </p:nvSpPr>
        <p:spPr>
          <a:xfrm>
            <a:off x="502920" y="3474720"/>
            <a:ext cx="6949440" cy="105156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630168"/>
            <a:ext cx="6492240" cy="731520"/>
          </a:xfrm>
          <a:prstGeom prst="rect">
            <a:avLst/>
          </a:prstGeom>
          <a:noFill/>
        </p:spPr>
        <p:txBody>
          <a:bodyPr wrap="square">
            <a:spAutoFit/>
          </a:bodyPr>
          <a:lstStyle/>
          <a:p>
            <a:pPr algn="l">
              <a:lnSpc>
                <a:spcPct val="108000"/>
              </a:lnSpc>
              <a:defRPr sz="1500" b="1" i="0">
                <a:solidFill>
                  <a:srgbClr val="0F172A"/>
                </a:solidFill>
                <a:latin typeface="Calibri"/>
              </a:defRPr>
            </a:pPr>
            <a:r>
              <a:t>CIA — Confidentiality · Integrity · Availability: giữ bí mật, giữ toàn vẹn, giữ sẵn sàng.</a:t>
            </a:r>
          </a:p>
        </p:txBody>
      </p:sp>
      <p:sp>
        <p:nvSpPr>
          <p:cNvPr id="18" name="Rounded Rectangle 17"/>
          <p:cNvSpPr/>
          <p:nvPr/>
        </p:nvSpPr>
        <p:spPr>
          <a:xfrm>
            <a:off x="502920" y="4754880"/>
            <a:ext cx="6949440" cy="11887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910328"/>
            <a:ext cx="6492240" cy="365760"/>
          </a:xfrm>
          <a:prstGeom prst="rect">
            <a:avLst/>
          </a:prstGeom>
          <a:noFill/>
        </p:spPr>
        <p:txBody>
          <a:bodyPr wrap="square">
            <a:spAutoFit/>
          </a:bodyPr>
          <a:lstStyle/>
          <a:p>
            <a:pPr algn="l">
              <a:lnSpc>
                <a:spcPct val="108000"/>
              </a:lnSpc>
              <a:defRPr sz="1500" b="1" i="0">
                <a:solidFill>
                  <a:srgbClr val="EA580C"/>
                </a:solidFill>
                <a:latin typeface="Calibri"/>
              </a:defRPr>
            </a:pPr>
            <a:r>
              <a:t>Đã học nhưng chưa đủ</a:t>
            </a:r>
          </a:p>
        </p:txBody>
      </p:sp>
      <p:sp>
        <p:nvSpPr>
          <p:cNvPr id="20" name="TextBox 19"/>
          <p:cNvSpPr txBox="1"/>
          <p:nvPr/>
        </p:nvSpPr>
        <p:spPr>
          <a:xfrm>
            <a:off x="731520" y="5303520"/>
            <a:ext cx="6492240" cy="548640"/>
          </a:xfrm>
          <a:prstGeom prst="rect">
            <a:avLst/>
          </a:prstGeom>
          <a:noFill/>
        </p:spPr>
        <p:txBody>
          <a:bodyPr wrap="square">
            <a:spAutoFit/>
          </a:bodyPr>
          <a:lstStyle/>
          <a:p>
            <a:pPr algn="l">
              <a:lnSpc>
                <a:spcPct val="108000"/>
              </a:lnSpc>
              <a:defRPr sz="1400" b="0" i="0">
                <a:solidFill>
                  <a:srgbClr val="0F172A"/>
                </a:solidFill>
                <a:latin typeface="Calibri"/>
              </a:defRPr>
            </a:pPr>
            <a:r>
              <a:t>JWT xác thực · Middleware phân quyền · Zod kiểm tra đầu vào — chưa phải toàn bộ hệ thống bảo mật.</a:t>
            </a:r>
          </a:p>
        </p:txBody>
      </p:sp>
      <p:sp>
        <p:nvSpPr>
          <p:cNvPr id="21" name="Rounded Rectangle 20"/>
          <p:cNvSpPr/>
          <p:nvPr/>
        </p:nvSpPr>
        <p:spPr>
          <a:xfrm>
            <a:off x="7726679" y="1417320"/>
            <a:ext cx="3959352" cy="45262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79" y="1572768"/>
            <a:ext cx="3474720" cy="365760"/>
          </a:xfrm>
          <a:prstGeom prst="rect">
            <a:avLst/>
          </a:prstGeom>
          <a:noFill/>
        </p:spPr>
        <p:txBody>
          <a:bodyPr wrap="square">
            <a:spAutoFit/>
          </a:bodyPr>
          <a:lstStyle/>
          <a:p>
            <a:pPr algn="l">
              <a:lnSpc>
                <a:spcPct val="108000"/>
              </a:lnSpc>
              <a:defRPr sz="1500" b="1" i="0">
                <a:solidFill>
                  <a:srgbClr val="EA580C"/>
                </a:solidFill>
                <a:latin typeface="Calibri"/>
              </a:defRPr>
            </a:pPr>
            <a:r>
              <a:t>Một API, nhiều lớp bảo vệ</a:t>
            </a:r>
          </a:p>
        </p:txBody>
      </p:sp>
      <p:sp>
        <p:nvSpPr>
          <p:cNvPr id="23" name="TextBox 22"/>
          <p:cNvSpPr txBox="1"/>
          <p:nvPr/>
        </p:nvSpPr>
        <p:spPr>
          <a:xfrm>
            <a:off x="7955279" y="2057400"/>
            <a:ext cx="3474720" cy="3657600"/>
          </a:xfrm>
          <a:prstGeom prst="rect">
            <a:avLst/>
          </a:prstGeom>
          <a:noFill/>
        </p:spPr>
        <p:txBody>
          <a:bodyPr wrap="square">
            <a:spAutoFit/>
          </a:bodyPr>
          <a:lstStyle/>
          <a:p>
            <a:pPr>
              <a:lnSpc>
                <a:spcPct val="112000"/>
              </a:lnSpc>
              <a:spcBef>
                <a:spcPts val="0"/>
              </a:spcBef>
              <a:defRPr sz="1400">
                <a:solidFill>
                  <a:srgbClr val="0F172A"/>
                </a:solidFill>
                <a:latin typeface="Calibri"/>
              </a:defRPr>
            </a:pPr>
            <a:r>
              <a:t>•  Lớp ngoài: giới hạn truy cập</a:t>
            </a:r>
          </a:p>
          <a:p>
            <a:pPr>
              <a:lnSpc>
                <a:spcPct val="112000"/>
              </a:lnSpc>
              <a:spcBef>
                <a:spcPts val="600"/>
              </a:spcBef>
              <a:defRPr sz="1400">
                <a:solidFill>
                  <a:srgbClr val="0F172A"/>
                </a:solidFill>
                <a:latin typeface="Calibri"/>
              </a:defRPr>
            </a:pPr>
            <a:r>
              <a:t>•  Lớp giữa: kiểm tra danh tính &amp; quyền</a:t>
            </a:r>
          </a:p>
          <a:p>
            <a:pPr>
              <a:lnSpc>
                <a:spcPct val="112000"/>
              </a:lnSpc>
              <a:spcBef>
                <a:spcPts val="600"/>
              </a:spcBef>
              <a:defRPr sz="1400">
                <a:solidFill>
                  <a:srgbClr val="0F172A"/>
                </a:solidFill>
                <a:latin typeface="Calibri"/>
              </a:defRPr>
            </a:pPr>
            <a:r>
              <a:t>•  Lớp trong: bảo vệ dữ liệu</a:t>
            </a:r>
          </a:p>
          <a:p>
            <a:pPr>
              <a:lnSpc>
                <a:spcPct val="112000"/>
              </a:lnSpc>
              <a:spcBef>
                <a:spcPts val="600"/>
              </a:spcBef>
              <a:defRPr sz="1400">
                <a:solidFill>
                  <a:srgbClr val="0F172A"/>
                </a:solidFill>
                <a:latin typeface="Calibri"/>
              </a:defRPr>
            </a:pPr>
            <a:r>
              <a:t>•  API Login ở trung tâm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EA580C"/>
                </a:solidFill>
                <a:latin typeface="Calibri"/>
              </a:defRPr>
            </a:pPr>
            <a:r>
              <a:t>Phần C — Bảo mật &amp; Tối ưu API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Hai lỗ hổng thường gặp: SQL Injection và XSS</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10/18</a:t>
            </a:r>
          </a:p>
        </p:txBody>
      </p:sp>
      <p:sp>
        <p:nvSpPr>
          <p:cNvPr id="13" name="Rounded Rectangle 12"/>
          <p:cNvSpPr/>
          <p:nvPr/>
        </p:nvSpPr>
        <p:spPr>
          <a:xfrm>
            <a:off x="502920" y="1371600"/>
            <a:ext cx="5486400" cy="3291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08760"/>
            <a:ext cx="5029200" cy="365760"/>
          </a:xfrm>
          <a:prstGeom prst="rect">
            <a:avLst/>
          </a:prstGeom>
          <a:noFill/>
        </p:spPr>
        <p:txBody>
          <a:bodyPr wrap="square">
            <a:spAutoFit/>
          </a:bodyPr>
          <a:lstStyle/>
          <a:p>
            <a:pPr algn="l">
              <a:lnSpc>
                <a:spcPct val="108000"/>
              </a:lnSpc>
              <a:defRPr sz="1500" b="1" i="0">
                <a:solidFill>
                  <a:srgbClr val="EA580C"/>
                </a:solidFill>
                <a:latin typeface="Calibri"/>
              </a:defRPr>
            </a:pPr>
            <a:r>
              <a:t>SQL Injection — tấn công truy vấn Database</a:t>
            </a:r>
          </a:p>
        </p:txBody>
      </p:sp>
      <p:sp>
        <p:nvSpPr>
          <p:cNvPr id="15" name="TextBox 14"/>
          <p:cNvSpPr txBox="1"/>
          <p:nvPr/>
        </p:nvSpPr>
        <p:spPr>
          <a:xfrm>
            <a:off x="731520" y="1920240"/>
            <a:ext cx="5029200" cy="822960"/>
          </a:xfrm>
          <a:prstGeom prst="rect">
            <a:avLst/>
          </a:prstGeom>
          <a:noFill/>
        </p:spPr>
        <p:txBody>
          <a:bodyPr wrap="square">
            <a:spAutoFit/>
          </a:bodyPr>
          <a:lstStyle/>
          <a:p>
            <a:pPr algn="l">
              <a:lnSpc>
                <a:spcPct val="108000"/>
              </a:lnSpc>
              <a:defRPr sz="1350" b="0" i="0">
                <a:solidFill>
                  <a:srgbClr val="0F172A"/>
                </a:solidFill>
                <a:latin typeface="Calibri"/>
              </a:defRPr>
            </a:pPr>
            <a:r>
              <a:t>Dữ liệu không đáng tin cậy làm thay đổi ý nghĩa câu truy vấn SQL khi bị đưa vào cách xây dựng câu lệnh.</a:t>
            </a:r>
          </a:p>
        </p:txBody>
      </p:sp>
      <p:sp>
        <p:nvSpPr>
          <p:cNvPr id="16" name="Rounded Rectangle 15"/>
          <p:cNvSpPr/>
          <p:nvPr/>
        </p:nvSpPr>
        <p:spPr>
          <a:xfrm>
            <a:off x="731520" y="2788920"/>
            <a:ext cx="5029200" cy="685800"/>
          </a:xfrm>
          <a:prstGeom prst="roundRect">
            <a:avLst>
              <a:gd name="adj" fmla="val 6000"/>
            </a:avLst>
          </a:prstGeom>
          <a:solidFill>
            <a:srgbClr val="1E293B"/>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2898648"/>
            <a:ext cx="4700016" cy="466344"/>
          </a:xfrm>
          <a:prstGeom prst="rect">
            <a:avLst/>
          </a:prstGeom>
          <a:noFill/>
        </p:spPr>
        <p:txBody>
          <a:bodyPr wrap="square">
            <a:spAutoFit/>
          </a:bodyPr>
          <a:lstStyle/>
          <a:p>
            <a:pPr>
              <a:lnSpc>
                <a:spcPct val="112000"/>
              </a:lnSpc>
              <a:defRPr sz="1100">
                <a:solidFill>
                  <a:srgbClr val="FFFFFF"/>
                </a:solidFill>
                <a:latin typeface="Consolas"/>
              </a:defRPr>
            </a:pPr>
            <a:r>
              <a:t>const sql = "SELECT * FROM Users</a:t>
            </a:r>
          </a:p>
          <a:p>
            <a:pPr>
              <a:lnSpc>
                <a:spcPct val="112000"/>
              </a:lnSpc>
              <a:defRPr sz="1100">
                <a:solidFill>
                  <a:srgbClr val="FFFFFF"/>
                </a:solidFill>
                <a:latin typeface="Consolas"/>
              </a:defRPr>
            </a:pPr>
            <a:r>
              <a:t>  WHERE email = '" + email + "'";</a:t>
            </a:r>
          </a:p>
        </p:txBody>
      </p:sp>
      <p:sp>
        <p:nvSpPr>
          <p:cNvPr id="18" name="TextBox 17"/>
          <p:cNvSpPr txBox="1"/>
          <p:nvPr/>
        </p:nvSpPr>
        <p:spPr>
          <a:xfrm>
            <a:off x="731520" y="3611880"/>
            <a:ext cx="5029200" cy="960120"/>
          </a:xfrm>
          <a:prstGeom prst="rect">
            <a:avLst/>
          </a:prstGeom>
          <a:noFill/>
        </p:spPr>
        <p:txBody>
          <a:bodyPr wrap="square">
            <a:spAutoFit/>
          </a:bodyPr>
          <a:lstStyle/>
          <a:p>
            <a:pPr algn="l">
              <a:lnSpc>
                <a:spcPct val="108000"/>
              </a:lnSpc>
              <a:defRPr sz="1250" b="0" i="0">
                <a:solidFill>
                  <a:srgbClr val="0F172A"/>
                </a:solidFill>
                <a:latin typeface="Calibri"/>
              </a:defRPr>
            </a:pPr>
            <a:r>
              <a:t>ORM đúng cách CHỈ GIẢM ĐÁNG KỂ nguy cơ (tham số hoá). Raw query sequelize.query / literal ghép dữ liệu vẫn có lỗ hổng. Giải pháp: truy vấn tham số hoá, ORM đúng cách, phân quyền Database.</a:t>
            </a:r>
          </a:p>
        </p:txBody>
      </p:sp>
      <p:sp>
        <p:nvSpPr>
          <p:cNvPr id="19" name="Rounded Rectangle 18"/>
          <p:cNvSpPr/>
          <p:nvPr/>
        </p:nvSpPr>
        <p:spPr>
          <a:xfrm>
            <a:off x="6199632" y="1371600"/>
            <a:ext cx="5486400" cy="3291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8232" y="1508760"/>
            <a:ext cx="5029200" cy="365760"/>
          </a:xfrm>
          <a:prstGeom prst="rect">
            <a:avLst/>
          </a:prstGeom>
          <a:noFill/>
        </p:spPr>
        <p:txBody>
          <a:bodyPr wrap="square">
            <a:spAutoFit/>
          </a:bodyPr>
          <a:lstStyle/>
          <a:p>
            <a:pPr algn="l">
              <a:lnSpc>
                <a:spcPct val="108000"/>
              </a:lnSpc>
              <a:defRPr sz="1500" b="1" i="0">
                <a:solidFill>
                  <a:srgbClr val="EA580C"/>
                </a:solidFill>
                <a:latin typeface="Calibri"/>
              </a:defRPr>
            </a:pPr>
            <a:r>
              <a:t>XSS — tấn công cách trình duyệt xử lý nội dung</a:t>
            </a:r>
          </a:p>
        </p:txBody>
      </p:sp>
      <p:sp>
        <p:nvSpPr>
          <p:cNvPr id="21" name="TextBox 20"/>
          <p:cNvSpPr txBox="1"/>
          <p:nvPr/>
        </p:nvSpPr>
        <p:spPr>
          <a:xfrm>
            <a:off x="6428232" y="1920240"/>
            <a:ext cx="5029200" cy="822960"/>
          </a:xfrm>
          <a:prstGeom prst="rect">
            <a:avLst/>
          </a:prstGeom>
          <a:noFill/>
        </p:spPr>
        <p:txBody>
          <a:bodyPr wrap="square">
            <a:spAutoFit/>
          </a:bodyPr>
          <a:lstStyle/>
          <a:p>
            <a:pPr algn="l">
              <a:lnSpc>
                <a:spcPct val="108000"/>
              </a:lnSpc>
              <a:defRPr sz="1350" b="0" i="0">
                <a:solidFill>
                  <a:srgbClr val="0F172A"/>
                </a:solidFill>
                <a:latin typeface="Calibri"/>
              </a:defRPr>
            </a:pPr>
            <a:r>
              <a:t>Dữ liệu không đáng tin cậy bị trình duyệt diễn giải như mã có thể thực thi.</a:t>
            </a:r>
          </a:p>
        </p:txBody>
      </p:sp>
      <p:sp>
        <p:nvSpPr>
          <p:cNvPr id="22" name="TextBox 21"/>
          <p:cNvSpPr txBox="1"/>
          <p:nvPr/>
        </p:nvSpPr>
        <p:spPr>
          <a:xfrm>
            <a:off x="6428232" y="2788920"/>
            <a:ext cx="5029200" cy="822960"/>
          </a:xfrm>
          <a:prstGeom prst="rect">
            <a:avLst/>
          </a:prstGeom>
          <a:noFill/>
        </p:spPr>
        <p:txBody>
          <a:bodyPr wrap="square">
            <a:spAutoFit/>
          </a:bodyPr>
          <a:lstStyle/>
          <a:p>
            <a:pPr algn="l">
              <a:lnSpc>
                <a:spcPct val="108000"/>
              </a:lnSpc>
              <a:defRPr sz="1350" b="0" i="0">
                <a:solidFill>
                  <a:srgbClr val="0F172A"/>
                </a:solidFill>
                <a:latin typeface="Calibri"/>
              </a:defRPr>
            </a:pPr>
            <a:r>
              <a:t>React mặc định escape dữ liệu khi hiển thị. Nguy cơ nằm ở chèn HTML không an toàn — điển hình: dangerouslySetInnerHTML.</a:t>
            </a:r>
          </a:p>
        </p:txBody>
      </p:sp>
      <p:sp>
        <p:nvSpPr>
          <p:cNvPr id="23" name="TextBox 22"/>
          <p:cNvSpPr txBox="1"/>
          <p:nvPr/>
        </p:nvSpPr>
        <p:spPr>
          <a:xfrm>
            <a:off x="6428232" y="3657600"/>
            <a:ext cx="5029200" cy="960120"/>
          </a:xfrm>
          <a:prstGeom prst="rect">
            <a:avLst/>
          </a:prstGeom>
          <a:noFill/>
        </p:spPr>
        <p:txBody>
          <a:bodyPr wrap="square">
            <a:spAutoFit/>
          </a:bodyPr>
          <a:lstStyle/>
          <a:p>
            <a:pPr algn="l">
              <a:lnSpc>
                <a:spcPct val="108000"/>
              </a:lnSpc>
              <a:defRPr sz="1250" b="0" i="0">
                <a:solidFill>
                  <a:srgbClr val="0F172A"/>
                </a:solidFill>
                <a:latin typeface="Calibri"/>
              </a:defRPr>
            </a:pPr>
            <a:r>
              <a:t>Giải pháp: mã hoá đầu ra đúng ngữ cảnh, tránh chèn HTML nguy hiểm, dùng cơ chế bảo vệ của framework.</a:t>
            </a:r>
          </a:p>
        </p:txBody>
      </p:sp>
      <p:sp>
        <p:nvSpPr>
          <p:cNvPr id="24" name="Rounded Rectangle 23"/>
          <p:cNvSpPr/>
          <p:nvPr/>
        </p:nvSpPr>
        <p:spPr>
          <a:xfrm>
            <a:off x="502920" y="4846320"/>
            <a:ext cx="11183112" cy="868680"/>
          </a:xfrm>
          <a:prstGeom prst="roundRect">
            <a:avLst>
              <a:gd name="adj" fmla="val 6000"/>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919472"/>
            <a:ext cx="10817352" cy="274320"/>
          </a:xfrm>
          <a:prstGeom prst="rect">
            <a:avLst/>
          </a:prstGeom>
          <a:noFill/>
        </p:spPr>
        <p:txBody>
          <a:bodyPr wrap="square">
            <a:spAutoFit/>
          </a:bodyPr>
          <a:lstStyle/>
          <a:p>
            <a:pPr algn="l">
              <a:lnSpc>
                <a:spcPct val="108000"/>
              </a:lnSpc>
              <a:defRPr sz="1200" b="1" i="0">
                <a:solidFill>
                  <a:srgbClr val="92400E"/>
                </a:solidFill>
                <a:latin typeface="Calibri"/>
              </a:defRPr>
            </a:pPr>
            <a:r>
              <a:t>Điểm dừng — thảo luận nhanh</a:t>
            </a:r>
          </a:p>
        </p:txBody>
      </p:sp>
      <p:sp>
        <p:nvSpPr>
          <p:cNvPr id="26" name="TextBox 25"/>
          <p:cNvSpPr txBox="1"/>
          <p:nvPr/>
        </p:nvSpPr>
        <p:spPr>
          <a:xfrm>
            <a:off x="685800" y="5193792"/>
            <a:ext cx="10817352" cy="484632"/>
          </a:xfrm>
          <a:prstGeom prst="rect">
            <a:avLst/>
          </a:prstGeom>
          <a:noFill/>
        </p:spPr>
        <p:txBody>
          <a:bodyPr wrap="square">
            <a:spAutoFit/>
          </a:bodyPr>
          <a:lstStyle/>
          <a:p>
            <a:pPr algn="l">
              <a:lnSpc>
                <a:spcPct val="108000"/>
              </a:lnSpc>
              <a:defRPr sz="1350" b="1" i="0">
                <a:solidFill>
                  <a:srgbClr val="0F172A"/>
                </a:solidFill>
                <a:latin typeface="Calibri"/>
              </a:defRPr>
            </a:pPr>
            <a:r>
              <a:t>Chỉ ra đúng dòng code có lỗ hổng — thuộc SQL Injection hay XSS?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EA580C"/>
                </a:solidFill>
                <a:latin typeface="Calibri"/>
              </a:defRPr>
            </a:pPr>
            <a:r>
              <a:t>Phần C — Bảo mật &amp; Tối ưu API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Bảo vệ API theo nhiều lớp — Defense in Depth</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11/18</a:t>
            </a:r>
          </a:p>
        </p:txBody>
      </p:sp>
      <p:sp>
        <p:nvSpPr>
          <p:cNvPr id="13" name="Rounded Rectangle 12"/>
          <p:cNvSpPr/>
          <p:nvPr/>
        </p:nvSpPr>
        <p:spPr>
          <a:xfrm>
            <a:off x="502920"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Client</a:t>
            </a:r>
          </a:p>
        </p:txBody>
      </p:sp>
      <p:sp>
        <p:nvSpPr>
          <p:cNvPr id="14" name="TextBox 13"/>
          <p:cNvSpPr txBox="1"/>
          <p:nvPr/>
        </p:nvSpPr>
        <p:spPr>
          <a:xfrm>
            <a:off x="1938528"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15" name="Rounded Rectangle 14"/>
          <p:cNvSpPr/>
          <p:nvPr/>
        </p:nvSpPr>
        <p:spPr>
          <a:xfrm>
            <a:off x="2121408"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Rate Limit</a:t>
            </a:r>
          </a:p>
        </p:txBody>
      </p:sp>
      <p:sp>
        <p:nvSpPr>
          <p:cNvPr id="16" name="TextBox 15"/>
          <p:cNvSpPr txBox="1"/>
          <p:nvPr/>
        </p:nvSpPr>
        <p:spPr>
          <a:xfrm>
            <a:off x="3557016"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17" name="Rounded Rectangle 16"/>
          <p:cNvSpPr/>
          <p:nvPr/>
        </p:nvSpPr>
        <p:spPr>
          <a:xfrm>
            <a:off x="3739896"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Validation (Zod)</a:t>
            </a:r>
          </a:p>
        </p:txBody>
      </p:sp>
      <p:sp>
        <p:nvSpPr>
          <p:cNvPr id="18" name="TextBox 17"/>
          <p:cNvSpPr txBox="1"/>
          <p:nvPr/>
        </p:nvSpPr>
        <p:spPr>
          <a:xfrm>
            <a:off x="5175503"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19" name="Rounded Rectangle 18"/>
          <p:cNvSpPr/>
          <p:nvPr/>
        </p:nvSpPr>
        <p:spPr>
          <a:xfrm>
            <a:off x="5358384"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Auth (JWT)</a:t>
            </a:r>
          </a:p>
        </p:txBody>
      </p:sp>
      <p:sp>
        <p:nvSpPr>
          <p:cNvPr id="20" name="TextBox 19"/>
          <p:cNvSpPr txBox="1"/>
          <p:nvPr/>
        </p:nvSpPr>
        <p:spPr>
          <a:xfrm>
            <a:off x="6793992"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21" name="Rounded Rectangle 20"/>
          <p:cNvSpPr/>
          <p:nvPr/>
        </p:nvSpPr>
        <p:spPr>
          <a:xfrm>
            <a:off x="6976872"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Author. (RBAC)</a:t>
            </a:r>
          </a:p>
        </p:txBody>
      </p:sp>
      <p:sp>
        <p:nvSpPr>
          <p:cNvPr id="22" name="TextBox 21"/>
          <p:cNvSpPr txBox="1"/>
          <p:nvPr/>
        </p:nvSpPr>
        <p:spPr>
          <a:xfrm>
            <a:off x="8412480"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23" name="Rounded Rectangle 22"/>
          <p:cNvSpPr/>
          <p:nvPr/>
        </p:nvSpPr>
        <p:spPr>
          <a:xfrm>
            <a:off x="8595360"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Service</a:t>
            </a:r>
          </a:p>
        </p:txBody>
      </p:sp>
      <p:sp>
        <p:nvSpPr>
          <p:cNvPr id="24" name="TextBox 23"/>
          <p:cNvSpPr txBox="1"/>
          <p:nvPr/>
        </p:nvSpPr>
        <p:spPr>
          <a:xfrm>
            <a:off x="10030968" y="170078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25" name="Rounded Rectangle 24"/>
          <p:cNvSpPr/>
          <p:nvPr/>
        </p:nvSpPr>
        <p:spPr>
          <a:xfrm>
            <a:off x="10213848" y="1554480"/>
            <a:ext cx="1417320" cy="77724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latin typeface="Calibri"/>
              </a:defRPr>
            </a:pPr>
            <a:r>
              <a:t>Database</a:t>
            </a:r>
          </a:p>
        </p:txBody>
      </p:sp>
      <p:sp>
        <p:nvSpPr>
          <p:cNvPr id="26" name="Rounded Rectangle 25"/>
          <p:cNvSpPr/>
          <p:nvPr/>
        </p:nvSpPr>
        <p:spPr>
          <a:xfrm>
            <a:off x="502920" y="2697480"/>
            <a:ext cx="11183112" cy="137160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2852928"/>
            <a:ext cx="10607040" cy="365760"/>
          </a:xfrm>
          <a:prstGeom prst="rect">
            <a:avLst/>
          </a:prstGeom>
          <a:noFill/>
        </p:spPr>
        <p:txBody>
          <a:bodyPr wrap="square">
            <a:spAutoFit/>
          </a:bodyPr>
          <a:lstStyle/>
          <a:p>
            <a:pPr algn="l">
              <a:lnSpc>
                <a:spcPct val="108000"/>
              </a:lnSpc>
              <a:defRPr sz="1600" b="1" i="0">
                <a:solidFill>
                  <a:srgbClr val="EA580C"/>
                </a:solidFill>
                <a:latin typeface="Calibri"/>
              </a:defRPr>
            </a:pPr>
            <a:r>
              <a:t>Lớp bao quanh toàn bộ luồng</a:t>
            </a:r>
          </a:p>
        </p:txBody>
      </p:sp>
      <p:sp>
        <p:nvSpPr>
          <p:cNvPr id="28" name="TextBox 27"/>
          <p:cNvSpPr txBox="1"/>
          <p:nvPr/>
        </p:nvSpPr>
        <p:spPr>
          <a:xfrm>
            <a:off x="777240" y="3291840"/>
            <a:ext cx="10607040" cy="640080"/>
          </a:xfrm>
          <a:prstGeom prst="rect">
            <a:avLst/>
          </a:prstGeom>
          <a:noFill/>
        </p:spPr>
        <p:txBody>
          <a:bodyPr wrap="square">
            <a:spAutoFit/>
          </a:bodyPr>
          <a:lstStyle/>
          <a:p>
            <a:pPr algn="l">
              <a:lnSpc>
                <a:spcPct val="108000"/>
              </a:lnSpc>
              <a:defRPr sz="1500" b="0" i="0">
                <a:solidFill>
                  <a:srgbClr val="0F172A"/>
                </a:solidFill>
                <a:latin typeface="Calibri"/>
              </a:defRPr>
            </a:pPr>
            <a:r>
              <a:t>Helmet — thiết lập Header bảo mật  •  Error Handler — xử lý lỗi tập trung, không lộ dữ liệu nội bộ</a:t>
            </a:r>
          </a:p>
        </p:txBody>
      </p:sp>
      <p:sp>
        <p:nvSpPr>
          <p:cNvPr id="29" name="TextBox 28"/>
          <p:cNvSpPr txBox="1"/>
          <p:nvPr/>
        </p:nvSpPr>
        <p:spPr>
          <a:xfrm>
            <a:off x="502920" y="4343400"/>
            <a:ext cx="11183112" cy="3657600"/>
          </a:xfrm>
          <a:prstGeom prst="rect">
            <a:avLst/>
          </a:prstGeom>
          <a:noFill/>
        </p:spPr>
        <p:txBody>
          <a:bodyPr wrap="square">
            <a:spAutoFit/>
          </a:bodyPr>
          <a:lstStyle/>
          <a:p>
            <a:pPr>
              <a:lnSpc>
                <a:spcPct val="112000"/>
              </a:lnSpc>
              <a:spcBef>
                <a:spcPts val="0"/>
              </a:spcBef>
              <a:defRPr sz="1600">
                <a:solidFill>
                  <a:srgbClr val="0F172A"/>
                </a:solidFill>
                <a:latin typeface="Calibri"/>
              </a:defRPr>
            </a:pPr>
            <a:r>
              <a:t>•  Mỗi lớp có trách nhiệm riêng và không thay thế được nhau.</a:t>
            </a:r>
          </a:p>
          <a:p>
            <a:pPr>
              <a:lnSpc>
                <a:spcPct val="112000"/>
              </a:lnSpc>
              <a:spcBef>
                <a:spcPts val="600"/>
              </a:spcBef>
              <a:defRPr sz="1600">
                <a:solidFill>
                  <a:srgbClr val="0F172A"/>
                </a:solidFill>
                <a:latin typeface="Calibri"/>
              </a:defRPr>
            </a:pPr>
            <a:r>
              <a:t>•  Không có một thư viện duy nhất nào làm cho Backend an toàn tuyệt đối.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EA580C"/>
                </a:solidFill>
                <a:latin typeface="Calibri"/>
              </a:defRPr>
            </a:pPr>
            <a:r>
              <a:t>Phần C — Bảo mật &amp; Tối ưu API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Helmet và Rate Limiting hoạt động như thế nào?</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12/18</a:t>
            </a:r>
          </a:p>
        </p:txBody>
      </p:sp>
      <p:sp>
        <p:nvSpPr>
          <p:cNvPr id="13" name="Rounded Rectangle 12"/>
          <p:cNvSpPr/>
          <p:nvPr/>
        </p:nvSpPr>
        <p:spPr>
          <a:xfrm>
            <a:off x="502920" y="1417320"/>
            <a:ext cx="5669280" cy="2103120"/>
          </a:xfrm>
          <a:prstGeom prst="roundRect">
            <a:avLst>
              <a:gd name="adj" fmla="val 6000"/>
            </a:avLst>
          </a:prstGeom>
          <a:solidFill>
            <a:srgbClr val="1E293B"/>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1527048"/>
            <a:ext cx="5340096" cy="1883663"/>
          </a:xfrm>
          <a:prstGeom prst="rect">
            <a:avLst/>
          </a:prstGeom>
          <a:noFill/>
        </p:spPr>
        <p:txBody>
          <a:bodyPr wrap="square">
            <a:spAutoFit/>
          </a:bodyPr>
          <a:lstStyle/>
          <a:p>
            <a:pPr>
              <a:lnSpc>
                <a:spcPct val="112000"/>
              </a:lnSpc>
              <a:defRPr sz="1300">
                <a:solidFill>
                  <a:srgbClr val="FFFFFF"/>
                </a:solidFill>
                <a:latin typeface="Consolas"/>
              </a:defRPr>
            </a:pPr>
            <a:r>
              <a:t>app.use(helmet());</a:t>
            </a:r>
          </a:p>
          <a:p>
            <a:pPr>
              <a:lnSpc>
                <a:spcPct val="112000"/>
              </a:lnSpc>
              <a:defRPr sz="1300">
                <a:solidFill>
                  <a:srgbClr val="FFFFFF"/>
                </a:solidFill>
                <a:latin typeface="Consolas"/>
              </a:defRPr>
            </a:pPr>
            <a:endParaRPr/>
          </a:p>
          <a:p>
            <a:pPr>
              <a:lnSpc>
                <a:spcPct val="112000"/>
              </a:lnSpc>
              <a:defRPr sz="1300">
                <a:solidFill>
                  <a:srgbClr val="FFFFFF"/>
                </a:solidFill>
                <a:latin typeface="Consolas"/>
              </a:defRPr>
            </a:pPr>
            <a:r>
              <a:t>app.use("/api/auth/login",</a:t>
            </a:r>
          </a:p>
          <a:p>
            <a:pPr>
              <a:lnSpc>
                <a:spcPct val="112000"/>
              </a:lnSpc>
              <a:defRPr sz="1300">
                <a:solidFill>
                  <a:srgbClr val="FFFFFF"/>
                </a:solidFill>
                <a:latin typeface="Consolas"/>
              </a:defRPr>
            </a:pPr>
            <a:r>
              <a:t>  rateLimit({</a:t>
            </a:r>
          </a:p>
          <a:p>
            <a:pPr>
              <a:lnSpc>
                <a:spcPct val="112000"/>
              </a:lnSpc>
              <a:defRPr sz="1300">
                <a:solidFill>
                  <a:srgbClr val="FFFFFF"/>
                </a:solidFill>
                <a:latin typeface="Consolas"/>
              </a:defRPr>
            </a:pPr>
            <a:r>
              <a:t>    windowMs: 60_000,</a:t>
            </a:r>
          </a:p>
          <a:p>
            <a:pPr>
              <a:lnSpc>
                <a:spcPct val="112000"/>
              </a:lnSpc>
              <a:defRPr sz="1300">
                <a:solidFill>
                  <a:srgbClr val="FFFFFF"/>
                </a:solidFill>
                <a:latin typeface="Consolas"/>
              </a:defRPr>
            </a:pPr>
            <a:r>
              <a:t>    limit: 5</a:t>
            </a:r>
          </a:p>
          <a:p>
            <a:pPr>
              <a:lnSpc>
                <a:spcPct val="112000"/>
              </a:lnSpc>
              <a:defRPr sz="1300">
                <a:solidFill>
                  <a:srgbClr val="FFFFFF"/>
                </a:solidFill>
                <a:latin typeface="Consolas"/>
              </a:defRPr>
            </a:pPr>
            <a:r>
              <a:t>  }));</a:t>
            </a:r>
          </a:p>
        </p:txBody>
      </p:sp>
      <p:sp>
        <p:nvSpPr>
          <p:cNvPr id="15" name="TextBox 14"/>
          <p:cNvSpPr txBox="1"/>
          <p:nvPr/>
        </p:nvSpPr>
        <p:spPr>
          <a:xfrm>
            <a:off x="502920" y="3703320"/>
            <a:ext cx="5669280" cy="320040"/>
          </a:xfrm>
          <a:prstGeom prst="rect">
            <a:avLst/>
          </a:prstGeom>
          <a:noFill/>
        </p:spPr>
        <p:txBody>
          <a:bodyPr wrap="square">
            <a:spAutoFit/>
          </a:bodyPr>
          <a:lstStyle/>
          <a:p>
            <a:pPr algn="l">
              <a:lnSpc>
                <a:spcPct val="108000"/>
              </a:lnSpc>
              <a:defRPr sz="1150" b="0" i="1">
                <a:solidFill>
                  <a:srgbClr val="475569"/>
                </a:solidFill>
                <a:latin typeface="Calibri"/>
              </a:defRPr>
            </a:pPr>
            <a:r>
              <a:t>Đã lược bỏ phần import.</a:t>
            </a:r>
          </a:p>
        </p:txBody>
      </p:sp>
      <p:sp>
        <p:nvSpPr>
          <p:cNvPr id="16" name="TextBox 15"/>
          <p:cNvSpPr txBox="1"/>
          <p:nvPr/>
        </p:nvSpPr>
        <p:spPr>
          <a:xfrm>
            <a:off x="6400800" y="1417320"/>
            <a:ext cx="5303520" cy="3657600"/>
          </a:xfrm>
          <a:prstGeom prst="rect">
            <a:avLst/>
          </a:prstGeom>
          <a:noFill/>
        </p:spPr>
        <p:txBody>
          <a:bodyPr wrap="square">
            <a:spAutoFit/>
          </a:bodyPr>
          <a:lstStyle/>
          <a:p>
            <a:pPr>
              <a:lnSpc>
                <a:spcPct val="112000"/>
              </a:lnSpc>
              <a:spcBef>
                <a:spcPts val="0"/>
              </a:spcBef>
              <a:defRPr sz="1400">
                <a:solidFill>
                  <a:srgbClr val="0F172A"/>
                </a:solidFill>
                <a:latin typeface="Calibri"/>
              </a:defRPr>
            </a:pPr>
            <a:r>
              <a:t>•  helmet() — áp dụng middleware bảo mật Header</a:t>
            </a:r>
          </a:p>
          <a:p>
            <a:pPr>
              <a:lnSpc>
                <a:spcPct val="112000"/>
              </a:lnSpc>
              <a:spcBef>
                <a:spcPts val="800"/>
              </a:spcBef>
              <a:defRPr sz="1400">
                <a:solidFill>
                  <a:srgbClr val="0F172A"/>
                </a:solidFill>
                <a:latin typeface="Calibri"/>
              </a:defRPr>
            </a:pPr>
            <a:r>
              <a:t>•  windowMs — khoảng thời gian tính giới hạn (60 giây trong ví dụ)</a:t>
            </a:r>
          </a:p>
          <a:p>
            <a:pPr>
              <a:lnSpc>
                <a:spcPct val="112000"/>
              </a:lnSpc>
              <a:spcBef>
                <a:spcPts val="800"/>
              </a:spcBef>
              <a:defRPr sz="1400">
                <a:solidFill>
                  <a:srgbClr val="0F172A"/>
                </a:solidFill>
                <a:latin typeface="Calibri"/>
              </a:defRPr>
            </a:pPr>
            <a:r>
              <a:t>•  limit — số request tối đa trong cửa sổ đó</a:t>
            </a:r>
          </a:p>
          <a:p>
            <a:pPr>
              <a:lnSpc>
                <a:spcPct val="112000"/>
              </a:lnSpc>
              <a:spcBef>
                <a:spcPts val="800"/>
              </a:spcBef>
              <a:defRPr sz="1400">
                <a:solidFill>
                  <a:srgbClr val="0F172A"/>
                </a:solidFill>
                <a:latin typeface="Calibri"/>
              </a:defRPr>
            </a:pPr>
            <a:r>
              <a:t>•  429 Too Many Requests — trạng thái khi vượt giới hạn</a:t>
            </a:r>
          </a:p>
        </p:txBody>
      </p:sp>
      <p:sp>
        <p:nvSpPr>
          <p:cNvPr id="17" name="Rounded Rectangle 16"/>
          <p:cNvSpPr/>
          <p:nvPr/>
        </p:nvSpPr>
        <p:spPr>
          <a:xfrm>
            <a:off x="6400800" y="3977639"/>
            <a:ext cx="5303520" cy="1234440"/>
          </a:xfrm>
          <a:prstGeom prst="roundRect">
            <a:avLst>
              <a:gd name="adj" fmla="val 6000"/>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9400" y="4133087"/>
            <a:ext cx="4846320" cy="365760"/>
          </a:xfrm>
          <a:prstGeom prst="rect">
            <a:avLst/>
          </a:prstGeom>
          <a:noFill/>
        </p:spPr>
        <p:txBody>
          <a:bodyPr wrap="square">
            <a:spAutoFit/>
          </a:bodyPr>
          <a:lstStyle/>
          <a:p>
            <a:pPr algn="l">
              <a:lnSpc>
                <a:spcPct val="108000"/>
              </a:lnSpc>
              <a:defRPr sz="1450" b="1" i="0">
                <a:solidFill>
                  <a:srgbClr val="92400E"/>
                </a:solidFill>
                <a:latin typeface="Calibri"/>
              </a:defRPr>
            </a:pPr>
            <a:r>
              <a:t>Phân biệt phạm vi — rất quan trọng</a:t>
            </a:r>
          </a:p>
        </p:txBody>
      </p:sp>
      <p:sp>
        <p:nvSpPr>
          <p:cNvPr id="19" name="TextBox 18"/>
          <p:cNvSpPr txBox="1"/>
          <p:nvPr/>
        </p:nvSpPr>
        <p:spPr>
          <a:xfrm>
            <a:off x="6629400" y="4526280"/>
            <a:ext cx="4846320" cy="594360"/>
          </a:xfrm>
          <a:prstGeom prst="rect">
            <a:avLst/>
          </a:prstGeom>
          <a:noFill/>
        </p:spPr>
        <p:txBody>
          <a:bodyPr wrap="square">
            <a:spAutoFit/>
          </a:bodyPr>
          <a:lstStyle/>
          <a:p>
            <a:pPr algn="l">
              <a:lnSpc>
                <a:spcPct val="108000"/>
              </a:lnSpc>
              <a:defRPr sz="1400" b="1" i="0">
                <a:solidFill>
                  <a:srgbClr val="0F172A"/>
                </a:solidFill>
                <a:latin typeface="Calibri"/>
              </a:defRPr>
            </a:pPr>
            <a:r>
              <a:t>Helmet: toàn ứng dụng Express  •  Rate Limit: riêng API Login trong ví dụ</a:t>
            </a:r>
          </a:p>
        </p:txBody>
      </p:sp>
      <p:sp>
        <p:nvSpPr>
          <p:cNvPr id="20" name="Rounded Rectangle 19"/>
          <p:cNvSpPr/>
          <p:nvPr/>
        </p:nvSpPr>
        <p:spPr>
          <a:xfrm>
            <a:off x="502920" y="4160520"/>
            <a:ext cx="5669280" cy="105156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315968"/>
            <a:ext cx="5212080" cy="777240"/>
          </a:xfrm>
          <a:prstGeom prst="rect">
            <a:avLst/>
          </a:prstGeom>
          <a:noFill/>
        </p:spPr>
        <p:txBody>
          <a:bodyPr wrap="square">
            <a:spAutoFit/>
          </a:bodyPr>
          <a:lstStyle/>
          <a:p>
            <a:pPr algn="l">
              <a:lnSpc>
                <a:spcPct val="108000"/>
              </a:lnSpc>
              <a:defRPr sz="1350" b="0" i="0">
                <a:solidFill>
                  <a:srgbClr val="0F172A"/>
                </a:solidFill>
                <a:latin typeface="Calibri"/>
              </a:defRPr>
            </a:pPr>
            <a:r>
              <a:t>Helmet thiết lập các HTTP Response Header bảo mật, chẳng hạn Content-Security-Policy trong cấu hình phù hợp.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EA580C"/>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EA580C"/>
                </a:solidFill>
                <a:latin typeface="Calibri"/>
              </a:defRPr>
            </a:pPr>
            <a:r>
              <a:t>Phần C — Bảo mật &amp; Tối ưu API</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Tối ưu hóa API là gì? AI hỗ trợ thế nào?</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13/18</a:t>
            </a:r>
          </a:p>
        </p:txBody>
      </p:sp>
      <p:sp>
        <p:nvSpPr>
          <p:cNvPr id="13" name="TextBox 12"/>
          <p:cNvSpPr txBox="1"/>
          <p:nvPr/>
        </p:nvSpPr>
        <p:spPr>
          <a:xfrm>
            <a:off x="502920" y="1371600"/>
            <a:ext cx="11183112" cy="640080"/>
          </a:xfrm>
          <a:prstGeom prst="rect">
            <a:avLst/>
          </a:prstGeom>
          <a:noFill/>
        </p:spPr>
        <p:txBody>
          <a:bodyPr wrap="square">
            <a:spAutoFit/>
          </a:bodyPr>
          <a:lstStyle/>
          <a:p>
            <a:pPr algn="l">
              <a:lnSpc>
                <a:spcPct val="108000"/>
              </a:lnSpc>
              <a:defRPr sz="1600" b="0" i="0">
                <a:solidFill>
                  <a:srgbClr val="0F172A"/>
                </a:solidFill>
                <a:latin typeface="Calibri"/>
              </a:defRPr>
            </a:pPr>
            <a:r>
              <a:t>Cải thiện tốc độ xử lý, mức sử dụng tài nguyên và khả năng đáp ứng của API — mà vẫn bảo đảm tính đúng đắn.</a:t>
            </a:r>
          </a:p>
        </p:txBody>
      </p:sp>
      <p:sp>
        <p:nvSpPr>
          <p:cNvPr id="14" name="Rounded Rectangle 13"/>
          <p:cNvSpPr/>
          <p:nvPr/>
        </p:nvSpPr>
        <p:spPr>
          <a:xfrm>
            <a:off x="502920" y="2148840"/>
            <a:ext cx="2011680" cy="73152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Đo thời gian</a:t>
            </a:r>
          </a:p>
        </p:txBody>
      </p:sp>
      <p:sp>
        <p:nvSpPr>
          <p:cNvPr id="15" name="TextBox 14"/>
          <p:cNvSpPr txBox="1"/>
          <p:nvPr/>
        </p:nvSpPr>
        <p:spPr>
          <a:xfrm>
            <a:off x="2532888" y="229514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16" name="Rounded Rectangle 15"/>
          <p:cNvSpPr/>
          <p:nvPr/>
        </p:nvSpPr>
        <p:spPr>
          <a:xfrm>
            <a:off x="2807208" y="2148840"/>
            <a:ext cx="2011680" cy="73152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Xác định nút thắt</a:t>
            </a:r>
          </a:p>
        </p:txBody>
      </p:sp>
      <p:sp>
        <p:nvSpPr>
          <p:cNvPr id="17" name="TextBox 16"/>
          <p:cNvSpPr txBox="1"/>
          <p:nvPr/>
        </p:nvSpPr>
        <p:spPr>
          <a:xfrm>
            <a:off x="4837176" y="229514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18" name="Rounded Rectangle 17"/>
          <p:cNvSpPr/>
          <p:nvPr/>
        </p:nvSpPr>
        <p:spPr>
          <a:xfrm>
            <a:off x="5111496" y="2148840"/>
            <a:ext cx="2011680" cy="73152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AI đề xuất</a:t>
            </a:r>
          </a:p>
        </p:txBody>
      </p:sp>
      <p:sp>
        <p:nvSpPr>
          <p:cNvPr id="19" name="TextBox 18"/>
          <p:cNvSpPr txBox="1"/>
          <p:nvPr/>
        </p:nvSpPr>
        <p:spPr>
          <a:xfrm>
            <a:off x="7141464" y="229514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20" name="Rounded Rectangle 19"/>
          <p:cNvSpPr/>
          <p:nvPr/>
        </p:nvSpPr>
        <p:spPr>
          <a:xfrm>
            <a:off x="7415784" y="2148840"/>
            <a:ext cx="2011680" cy="73152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Kiểm chứng</a:t>
            </a:r>
          </a:p>
        </p:txBody>
      </p:sp>
      <p:sp>
        <p:nvSpPr>
          <p:cNvPr id="21" name="TextBox 20"/>
          <p:cNvSpPr txBox="1"/>
          <p:nvPr/>
        </p:nvSpPr>
        <p:spPr>
          <a:xfrm>
            <a:off x="9445752" y="2295144"/>
            <a:ext cx="274320" cy="365760"/>
          </a:xfrm>
          <a:prstGeom prst="rect">
            <a:avLst/>
          </a:prstGeom>
          <a:noFill/>
        </p:spPr>
        <p:txBody>
          <a:bodyPr wrap="square">
            <a:spAutoFit/>
          </a:bodyPr>
          <a:lstStyle/>
          <a:p>
            <a:pPr algn="ctr">
              <a:lnSpc>
                <a:spcPct val="108000"/>
              </a:lnSpc>
              <a:defRPr sz="2000" b="1" i="0">
                <a:solidFill>
                  <a:srgbClr val="EA580C"/>
                </a:solidFill>
                <a:latin typeface="Calibri"/>
              </a:defRPr>
            </a:pPr>
            <a:r>
              <a:t>›</a:t>
            </a:r>
          </a:p>
        </p:txBody>
      </p:sp>
      <p:sp>
        <p:nvSpPr>
          <p:cNvPr id="22" name="Rounded Rectangle 21"/>
          <p:cNvSpPr/>
          <p:nvPr/>
        </p:nvSpPr>
        <p:spPr>
          <a:xfrm>
            <a:off x="9720072" y="2148840"/>
            <a:ext cx="2011680" cy="731520"/>
          </a:xfrm>
          <a:prstGeom prst="roundRect">
            <a:avLst>
              <a:gd name="adj" fmla="val 6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Đo lại</a:t>
            </a:r>
          </a:p>
        </p:txBody>
      </p:sp>
      <p:sp>
        <p:nvSpPr>
          <p:cNvPr id="23" name="Rounded Rectangle 22"/>
          <p:cNvSpPr/>
          <p:nvPr/>
        </p:nvSpPr>
        <p:spPr>
          <a:xfrm>
            <a:off x="502920" y="3200400"/>
            <a:ext cx="5486400" cy="20116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337560"/>
            <a:ext cx="5029200" cy="365760"/>
          </a:xfrm>
          <a:prstGeom prst="rect">
            <a:avLst/>
          </a:prstGeom>
          <a:noFill/>
        </p:spPr>
        <p:txBody>
          <a:bodyPr wrap="square">
            <a:spAutoFit/>
          </a:bodyPr>
          <a:lstStyle/>
          <a:p>
            <a:pPr algn="l">
              <a:lnSpc>
                <a:spcPct val="108000"/>
              </a:lnSpc>
              <a:defRPr sz="1500" b="1" i="0">
                <a:solidFill>
                  <a:srgbClr val="EA580C"/>
                </a:solidFill>
                <a:latin typeface="Calibri"/>
              </a:defRPr>
            </a:pPr>
            <a:r>
              <a:t>Nhắc lại — đã học, không dạy mới</a:t>
            </a:r>
          </a:p>
        </p:txBody>
      </p:sp>
      <p:sp>
        <p:nvSpPr>
          <p:cNvPr id="25" name="TextBox 24"/>
          <p:cNvSpPr txBox="1"/>
          <p:nvPr/>
        </p:nvSpPr>
        <p:spPr>
          <a:xfrm>
            <a:off x="731520" y="3749039"/>
            <a:ext cx="5029200" cy="3657600"/>
          </a:xfrm>
          <a:prstGeom prst="rect">
            <a:avLst/>
          </a:prstGeom>
          <a:noFill/>
        </p:spPr>
        <p:txBody>
          <a:bodyPr wrap="square">
            <a:spAutoFit/>
          </a:bodyPr>
          <a:lstStyle/>
          <a:p>
            <a:pPr>
              <a:lnSpc>
                <a:spcPct val="112000"/>
              </a:lnSpc>
              <a:spcBef>
                <a:spcPts val="0"/>
              </a:spcBef>
              <a:defRPr sz="1450">
                <a:solidFill>
                  <a:srgbClr val="0F172A"/>
                </a:solidFill>
                <a:latin typeface="Calibri"/>
              </a:defRPr>
            </a:pPr>
            <a:r>
              <a:t>•  Pagination</a:t>
            </a:r>
          </a:p>
          <a:p>
            <a:pPr>
              <a:lnSpc>
                <a:spcPct val="112000"/>
              </a:lnSpc>
              <a:spcBef>
                <a:spcPts val="600"/>
              </a:spcBef>
              <a:defRPr sz="1450">
                <a:solidFill>
                  <a:srgbClr val="0F172A"/>
                </a:solidFill>
                <a:latin typeface="Calibri"/>
              </a:defRPr>
            </a:pPr>
            <a:r>
              <a:t>•  Chỉ chọn trường cần dùng</a:t>
            </a:r>
          </a:p>
        </p:txBody>
      </p:sp>
      <p:sp>
        <p:nvSpPr>
          <p:cNvPr id="26" name="Rounded Rectangle 25"/>
          <p:cNvSpPr/>
          <p:nvPr/>
        </p:nvSpPr>
        <p:spPr>
          <a:xfrm>
            <a:off x="6199632" y="3200400"/>
            <a:ext cx="5486400" cy="201168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28232" y="3337560"/>
            <a:ext cx="5029200" cy="365760"/>
          </a:xfrm>
          <a:prstGeom prst="rect">
            <a:avLst/>
          </a:prstGeom>
          <a:noFill/>
        </p:spPr>
        <p:txBody>
          <a:bodyPr wrap="square">
            <a:spAutoFit/>
          </a:bodyPr>
          <a:lstStyle/>
          <a:p>
            <a:pPr algn="l">
              <a:lnSpc>
                <a:spcPct val="108000"/>
              </a:lnSpc>
              <a:defRPr sz="1500" b="1" i="0">
                <a:solidFill>
                  <a:srgbClr val="EA580C"/>
                </a:solidFill>
                <a:latin typeface="Calibri"/>
              </a:defRPr>
            </a:pPr>
            <a:r>
              <a:t>Chỉ ở mức nhận diện</a:t>
            </a:r>
          </a:p>
        </p:txBody>
      </p:sp>
      <p:sp>
        <p:nvSpPr>
          <p:cNvPr id="28" name="TextBox 27"/>
          <p:cNvSpPr txBox="1"/>
          <p:nvPr/>
        </p:nvSpPr>
        <p:spPr>
          <a:xfrm>
            <a:off x="6428232" y="3749039"/>
            <a:ext cx="5029200" cy="3657600"/>
          </a:xfrm>
          <a:prstGeom prst="rect">
            <a:avLst/>
          </a:prstGeom>
          <a:noFill/>
        </p:spPr>
        <p:txBody>
          <a:bodyPr wrap="square">
            <a:spAutoFit/>
          </a:bodyPr>
          <a:lstStyle/>
          <a:p>
            <a:pPr>
              <a:lnSpc>
                <a:spcPct val="112000"/>
              </a:lnSpc>
              <a:spcBef>
                <a:spcPts val="0"/>
              </a:spcBef>
              <a:defRPr sz="1450">
                <a:solidFill>
                  <a:srgbClr val="0F172A"/>
                </a:solidFill>
                <a:latin typeface="Calibri"/>
              </a:defRPr>
            </a:pPr>
            <a:r>
              <a:t>•  Index · Kế hoạch truy vấn</a:t>
            </a:r>
          </a:p>
          <a:p>
            <a:pPr>
              <a:lnSpc>
                <a:spcPct val="112000"/>
              </a:lnSpc>
              <a:spcBef>
                <a:spcPts val="600"/>
              </a:spcBef>
              <a:defRPr sz="1450">
                <a:solidFill>
                  <a:srgbClr val="0F172A"/>
                </a:solidFill>
                <a:latin typeface="Calibri"/>
              </a:defRPr>
            </a:pPr>
            <a:r>
              <a:t>•  N+1 Query · JOIN / include</a:t>
            </a:r>
          </a:p>
        </p:txBody>
      </p:sp>
      <p:sp>
        <p:nvSpPr>
          <p:cNvPr id="29" name="TextBox 28"/>
          <p:cNvSpPr txBox="1"/>
          <p:nvPr/>
        </p:nvSpPr>
        <p:spPr>
          <a:xfrm>
            <a:off x="502920" y="5486400"/>
            <a:ext cx="11183112" cy="548640"/>
          </a:xfrm>
          <a:prstGeom prst="rect">
            <a:avLst/>
          </a:prstGeom>
          <a:noFill/>
        </p:spPr>
        <p:txBody>
          <a:bodyPr wrap="square">
            <a:spAutoFit/>
          </a:bodyPr>
          <a:lstStyle/>
          <a:p>
            <a:pPr algn="l">
              <a:lnSpc>
                <a:spcPct val="108000"/>
              </a:lnSpc>
              <a:defRPr sz="1500" b="1" i="0">
                <a:solidFill>
                  <a:srgbClr val="EA580C"/>
                </a:solidFill>
                <a:latin typeface="Calibri"/>
              </a:defRPr>
            </a:pPr>
            <a:r>
              <a:t>Bảo mật giúp API đáng tin cậy hơn — tối ưu giúp API phục vụ hiệu quả hơn. Cả hai đều phải được kiểm chứng.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2563EB"/>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2563EB"/>
                </a:solidFill>
                <a:latin typeface="Calibri"/>
              </a:defRPr>
            </a:pPr>
            <a:r>
              <a:t>Phần D — Docker &amp; Deployment</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Vì sao chạy được trên máy tôi nhưng máy khác lại lỗi?</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14/18</a:t>
            </a:r>
          </a:p>
        </p:txBody>
      </p:sp>
      <p:sp>
        <p:nvSpPr>
          <p:cNvPr id="13" name="Rounded Rectangle 12"/>
          <p:cNvSpPr/>
          <p:nvPr/>
        </p:nvSpPr>
        <p:spPr>
          <a:xfrm>
            <a:off x="502920" y="1371600"/>
            <a:ext cx="6675120" cy="53035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481328"/>
            <a:ext cx="6217920" cy="365760"/>
          </a:xfrm>
          <a:prstGeom prst="rect">
            <a:avLst/>
          </a:prstGeom>
          <a:noFill/>
        </p:spPr>
        <p:txBody>
          <a:bodyPr wrap="square">
            <a:spAutoFit/>
          </a:bodyPr>
          <a:lstStyle/>
          <a:p>
            <a:pPr algn="l">
              <a:lnSpc>
                <a:spcPct val="108000"/>
              </a:lnSpc>
              <a:defRPr sz="1450" b="0" i="0">
                <a:solidFill>
                  <a:srgbClr val="0F172A"/>
                </a:solidFill>
                <a:latin typeface="Calibri"/>
              </a:defRPr>
            </a:pPr>
            <a:r>
              <a:t>1.  Phiên bản Node.js khác nhau</a:t>
            </a:r>
          </a:p>
        </p:txBody>
      </p:sp>
      <p:sp>
        <p:nvSpPr>
          <p:cNvPr id="15" name="Rounded Rectangle 14"/>
          <p:cNvSpPr/>
          <p:nvPr/>
        </p:nvSpPr>
        <p:spPr>
          <a:xfrm>
            <a:off x="502920" y="2029967"/>
            <a:ext cx="6675120" cy="53035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139696"/>
            <a:ext cx="6217920" cy="365760"/>
          </a:xfrm>
          <a:prstGeom prst="rect">
            <a:avLst/>
          </a:prstGeom>
          <a:noFill/>
        </p:spPr>
        <p:txBody>
          <a:bodyPr wrap="square">
            <a:spAutoFit/>
          </a:bodyPr>
          <a:lstStyle/>
          <a:p>
            <a:pPr algn="l">
              <a:lnSpc>
                <a:spcPct val="108000"/>
              </a:lnSpc>
              <a:defRPr sz="1450" b="0" i="0">
                <a:solidFill>
                  <a:srgbClr val="0F172A"/>
                </a:solidFill>
                <a:latin typeface="Calibri"/>
              </a:defRPr>
            </a:pPr>
            <a:r>
              <a:t>2.  Thiếu thư viện hoặc cấu hình</a:t>
            </a:r>
          </a:p>
        </p:txBody>
      </p:sp>
      <p:sp>
        <p:nvSpPr>
          <p:cNvPr id="17" name="Rounded Rectangle 16"/>
          <p:cNvSpPr/>
          <p:nvPr/>
        </p:nvSpPr>
        <p:spPr>
          <a:xfrm>
            <a:off x="502920" y="2688336"/>
            <a:ext cx="6675120" cy="53035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798064"/>
            <a:ext cx="6217920" cy="365760"/>
          </a:xfrm>
          <a:prstGeom prst="rect">
            <a:avLst/>
          </a:prstGeom>
          <a:noFill/>
        </p:spPr>
        <p:txBody>
          <a:bodyPr wrap="square">
            <a:spAutoFit/>
          </a:bodyPr>
          <a:lstStyle/>
          <a:p>
            <a:pPr algn="l">
              <a:lnSpc>
                <a:spcPct val="108000"/>
              </a:lnSpc>
              <a:defRPr sz="1450" b="0" i="0">
                <a:solidFill>
                  <a:srgbClr val="0F172A"/>
                </a:solidFill>
                <a:latin typeface="Calibri"/>
              </a:defRPr>
            </a:pPr>
            <a:r>
              <a:t>3.  Biến môi trường không đầy đủ</a:t>
            </a:r>
          </a:p>
        </p:txBody>
      </p:sp>
      <p:sp>
        <p:nvSpPr>
          <p:cNvPr id="19" name="Rounded Rectangle 18"/>
          <p:cNvSpPr/>
          <p:nvPr/>
        </p:nvSpPr>
        <p:spPr>
          <a:xfrm>
            <a:off x="502920" y="3346704"/>
            <a:ext cx="6675120" cy="53035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56432"/>
            <a:ext cx="6217920" cy="365760"/>
          </a:xfrm>
          <a:prstGeom prst="rect">
            <a:avLst/>
          </a:prstGeom>
          <a:noFill/>
        </p:spPr>
        <p:txBody>
          <a:bodyPr wrap="square">
            <a:spAutoFit/>
          </a:bodyPr>
          <a:lstStyle/>
          <a:p>
            <a:pPr algn="l">
              <a:lnSpc>
                <a:spcPct val="108000"/>
              </a:lnSpc>
              <a:defRPr sz="1450" b="0" i="0">
                <a:solidFill>
                  <a:srgbClr val="0F172A"/>
                </a:solidFill>
                <a:latin typeface="Calibri"/>
              </a:defRPr>
            </a:pPr>
            <a:r>
              <a:t>4.  Khác hệ điều hành hoặc thư viện hệ thống</a:t>
            </a:r>
          </a:p>
        </p:txBody>
      </p:sp>
      <p:sp>
        <p:nvSpPr>
          <p:cNvPr id="21" name="Rounded Rectangle 20"/>
          <p:cNvSpPr/>
          <p:nvPr/>
        </p:nvSpPr>
        <p:spPr>
          <a:xfrm>
            <a:off x="502920" y="4005072"/>
            <a:ext cx="6675120" cy="530352"/>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114800"/>
            <a:ext cx="6217920" cy="365760"/>
          </a:xfrm>
          <a:prstGeom prst="rect">
            <a:avLst/>
          </a:prstGeom>
          <a:noFill/>
        </p:spPr>
        <p:txBody>
          <a:bodyPr wrap="square">
            <a:spAutoFit/>
          </a:bodyPr>
          <a:lstStyle/>
          <a:p>
            <a:pPr algn="l">
              <a:lnSpc>
                <a:spcPct val="108000"/>
              </a:lnSpc>
              <a:defRPr sz="1450" b="0" i="0">
                <a:solidFill>
                  <a:srgbClr val="0F172A"/>
                </a:solidFill>
                <a:latin typeface="Calibri"/>
              </a:defRPr>
            </a:pPr>
            <a:r>
              <a:t>5.  SQL Server không truy cập được</a:t>
            </a:r>
          </a:p>
        </p:txBody>
      </p:sp>
      <p:sp>
        <p:nvSpPr>
          <p:cNvPr id="23" name="Rounded Rectangle 22"/>
          <p:cNvSpPr/>
          <p:nvPr/>
        </p:nvSpPr>
        <p:spPr>
          <a:xfrm>
            <a:off x="7452360" y="1371600"/>
            <a:ext cx="4233672" cy="196596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0" y="1508760"/>
            <a:ext cx="3749039" cy="365760"/>
          </a:xfrm>
          <a:prstGeom prst="rect">
            <a:avLst/>
          </a:prstGeom>
          <a:noFill/>
        </p:spPr>
        <p:txBody>
          <a:bodyPr wrap="square">
            <a:spAutoFit/>
          </a:bodyPr>
          <a:lstStyle/>
          <a:p>
            <a:pPr algn="l">
              <a:lnSpc>
                <a:spcPct val="108000"/>
              </a:lnSpc>
              <a:defRPr sz="1600" b="1" i="0">
                <a:solidFill>
                  <a:srgbClr val="2563EB"/>
                </a:solidFill>
                <a:latin typeface="Calibri"/>
              </a:defRPr>
            </a:pPr>
            <a:r>
              <a:t>Containerization</a:t>
            </a:r>
          </a:p>
        </p:txBody>
      </p:sp>
      <p:sp>
        <p:nvSpPr>
          <p:cNvPr id="25" name="TextBox 24"/>
          <p:cNvSpPr txBox="1"/>
          <p:nvPr/>
        </p:nvSpPr>
        <p:spPr>
          <a:xfrm>
            <a:off x="7680960" y="1920240"/>
            <a:ext cx="3749039" cy="1188720"/>
          </a:xfrm>
          <a:prstGeom prst="rect">
            <a:avLst/>
          </a:prstGeom>
          <a:noFill/>
        </p:spPr>
        <p:txBody>
          <a:bodyPr wrap="square">
            <a:spAutoFit/>
          </a:bodyPr>
          <a:lstStyle/>
          <a:p>
            <a:pPr algn="l">
              <a:lnSpc>
                <a:spcPct val="108000"/>
              </a:lnSpc>
              <a:defRPr sz="1400" b="0" i="0">
                <a:solidFill>
                  <a:srgbClr val="0F172A"/>
                </a:solidFill>
                <a:latin typeface="Calibri"/>
              </a:defRPr>
            </a:pPr>
            <a:r>
              <a:t>Đóng gói ứng dụng cùng runtime và các thành phần cần thiết vào môi trường container.</a:t>
            </a:r>
          </a:p>
        </p:txBody>
      </p:sp>
      <p:sp>
        <p:nvSpPr>
          <p:cNvPr id="26" name="Rounded Rectangle 25"/>
          <p:cNvSpPr/>
          <p:nvPr/>
        </p:nvSpPr>
        <p:spPr>
          <a:xfrm>
            <a:off x="7452360" y="3566160"/>
            <a:ext cx="4233672" cy="13716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0" y="3703320"/>
            <a:ext cx="3749039" cy="365760"/>
          </a:xfrm>
          <a:prstGeom prst="rect">
            <a:avLst/>
          </a:prstGeom>
          <a:noFill/>
        </p:spPr>
        <p:txBody>
          <a:bodyPr wrap="square">
            <a:spAutoFit/>
          </a:bodyPr>
          <a:lstStyle/>
          <a:p>
            <a:pPr algn="l">
              <a:lnSpc>
                <a:spcPct val="108000"/>
              </a:lnSpc>
              <a:defRPr sz="1600" b="1" i="0">
                <a:solidFill>
                  <a:srgbClr val="2563EB"/>
                </a:solidFill>
                <a:latin typeface="Calibri"/>
              </a:defRPr>
            </a:pPr>
            <a:r>
              <a:t>Docker</a:t>
            </a:r>
          </a:p>
        </p:txBody>
      </p:sp>
      <p:sp>
        <p:nvSpPr>
          <p:cNvPr id="28" name="TextBox 27"/>
          <p:cNvSpPr txBox="1"/>
          <p:nvPr/>
        </p:nvSpPr>
        <p:spPr>
          <a:xfrm>
            <a:off x="7680960" y="4114800"/>
            <a:ext cx="3749039" cy="731520"/>
          </a:xfrm>
          <a:prstGeom prst="rect">
            <a:avLst/>
          </a:prstGeom>
          <a:noFill/>
        </p:spPr>
        <p:txBody>
          <a:bodyPr wrap="square">
            <a:spAutoFit/>
          </a:bodyPr>
          <a:lstStyle/>
          <a:p>
            <a:pPr algn="l">
              <a:lnSpc>
                <a:spcPct val="108000"/>
              </a:lnSpc>
              <a:defRPr sz="1400" b="0" i="0">
                <a:solidFill>
                  <a:srgbClr val="0F172A"/>
                </a:solidFill>
                <a:latin typeface="Calibri"/>
              </a:defRPr>
            </a:pPr>
            <a:r>
              <a:t>Nền tảng giúp tạo Image và chạy Container.</a:t>
            </a:r>
          </a:p>
        </p:txBody>
      </p:sp>
      <p:sp>
        <p:nvSpPr>
          <p:cNvPr id="29" name="Rounded Rectangle 28"/>
          <p:cNvSpPr/>
          <p:nvPr/>
        </p:nvSpPr>
        <p:spPr>
          <a:xfrm>
            <a:off x="7452360" y="5166360"/>
            <a:ext cx="4233672" cy="914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80960" y="5303520"/>
            <a:ext cx="3749039" cy="685800"/>
          </a:xfrm>
          <a:prstGeom prst="rect">
            <a:avLst/>
          </a:prstGeom>
          <a:noFill/>
        </p:spPr>
        <p:txBody>
          <a:bodyPr wrap="square">
            <a:spAutoFit/>
          </a:bodyPr>
          <a:lstStyle/>
          <a:p>
            <a:pPr algn="l">
              <a:lnSpc>
                <a:spcPct val="108000"/>
              </a:lnSpc>
              <a:defRPr sz="1300" b="0" i="1">
                <a:solidFill>
                  <a:srgbClr val="0F172A"/>
                </a:solidFill>
                <a:latin typeface="Calibri"/>
              </a:defRPr>
            </a:pPr>
            <a:r>
              <a:t>Ví von: một bộ thiết bị và quy trình vận hành tiêu chuẩn — thay vì mỗi máy tự lắp đặt theo một cách khác nhau.</a:t>
            </a:r>
          </a:p>
        </p:txBody>
      </p:sp>
      <p:sp>
        <p:nvSpPr>
          <p:cNvPr id="31" name="TextBox 30"/>
          <p:cNvSpPr txBox="1"/>
          <p:nvPr/>
        </p:nvSpPr>
        <p:spPr>
          <a:xfrm>
            <a:off x="502920" y="4892040"/>
            <a:ext cx="6675120" cy="1097280"/>
          </a:xfrm>
          <a:prstGeom prst="rect">
            <a:avLst/>
          </a:prstGeom>
          <a:noFill/>
        </p:spPr>
        <p:txBody>
          <a:bodyPr wrap="square">
            <a:spAutoFit/>
          </a:bodyPr>
          <a:lstStyle/>
          <a:p>
            <a:pPr algn="l">
              <a:lnSpc>
                <a:spcPct val="108000"/>
              </a:lnSpc>
              <a:defRPr sz="1600" b="1" i="0">
                <a:solidFill>
                  <a:srgbClr val="2563EB"/>
                </a:solidFill>
                <a:latin typeface="Calibri"/>
              </a:defRPr>
            </a:pPr>
            <a:r>
              <a:t>Cùng một code — khác môi trường, khác kết quả. Đó là vấn đề Containerization giải quyết.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2563EB"/>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DOCKER</a:t>
            </a:r>
          </a:p>
        </p:txBody>
      </p:sp>
      <p:sp>
        <p:nvSpPr>
          <p:cNvPr id="8" name="Rounded Rectangle 7"/>
          <p:cNvSpPr/>
          <p:nvPr/>
        </p:nvSpPr>
        <p:spPr>
          <a:xfrm>
            <a:off x="10945368"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2563EB"/>
                </a:solidFill>
                <a:latin typeface="Calibri"/>
              </a:defRPr>
            </a:pPr>
            <a:r>
              <a:t>Phần D — Docker &amp; Deployment</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Dockerfile, Image, Container và Docker Compose</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15/18</a:t>
            </a:r>
          </a:p>
        </p:txBody>
      </p:sp>
      <p:graphicFrame>
        <p:nvGraphicFramePr>
          <p:cNvPr id="13" name="Table 12"/>
          <p:cNvGraphicFramePr>
            <a:graphicFrameLocks noGrp="1"/>
          </p:cNvGraphicFramePr>
          <p:nvPr/>
        </p:nvGraphicFramePr>
        <p:xfrm>
          <a:off x="502920" y="1371600"/>
          <a:ext cx="6035040" cy="23774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475488">
                <a:tc>
                  <a:txBody>
                    <a:bodyPr/>
                    <a:lstStyle/>
                    <a:p>
                      <a:pPr>
                        <a:defRPr sz="1250" b="1">
                          <a:solidFill>
                            <a:srgbClr val="FFFFFF"/>
                          </a:solidFill>
                          <a:latin typeface="Calibri"/>
                        </a:defRPr>
                      </a:pPr>
                      <a:r>
                        <a:t>Thuật ngữ</a:t>
                      </a:r>
                    </a:p>
                  </a:txBody>
                  <a:tcPr>
                    <a:solidFill>
                      <a:srgbClr val="2563EB"/>
                    </a:solidFill>
                  </a:tcPr>
                </a:tc>
                <a:tc>
                  <a:txBody>
                    <a:bodyPr/>
                    <a:lstStyle/>
                    <a:p>
                      <a:pPr>
                        <a:defRPr sz="1250" b="1">
                          <a:solidFill>
                            <a:srgbClr val="FFFFFF"/>
                          </a:solidFill>
                          <a:latin typeface="Calibri"/>
                        </a:defRPr>
                      </a:pPr>
                      <a:r>
                        <a:t>Ý nghĩa</a:t>
                      </a:r>
                    </a:p>
                  </a:txBody>
                  <a:tcPr>
                    <a:solidFill>
                      <a:srgbClr val="2563EB"/>
                    </a:solidFill>
                  </a:tcPr>
                </a:tc>
                <a:extLst>
                  <a:ext uri="{0D108BD9-81ED-4DB2-BD59-A6C34878D82A}">
                    <a16:rowId xmlns:a16="http://schemas.microsoft.com/office/drawing/2014/main" val="10000"/>
                  </a:ext>
                </a:extLst>
              </a:tr>
              <a:tr h="475488">
                <a:tc>
                  <a:txBody>
                    <a:bodyPr/>
                    <a:lstStyle/>
                    <a:p>
                      <a:pPr>
                        <a:defRPr sz="1250" b="1">
                          <a:solidFill>
                            <a:srgbClr val="0F172A"/>
                          </a:solidFill>
                          <a:latin typeface="Calibri"/>
                        </a:defRPr>
                      </a:pPr>
                      <a:r>
                        <a:t>Dockerfile</a:t>
                      </a:r>
                    </a:p>
                  </a:txBody>
                  <a:tcPr>
                    <a:solidFill>
                      <a:srgbClr val="FFFFFF"/>
                    </a:solidFill>
                  </a:tcPr>
                </a:tc>
                <a:tc>
                  <a:txBody>
                    <a:bodyPr/>
                    <a:lstStyle/>
                    <a:p>
                      <a:pPr>
                        <a:defRPr sz="1250" b="0">
                          <a:solidFill>
                            <a:srgbClr val="0F172A"/>
                          </a:solidFill>
                          <a:latin typeface="Calibri"/>
                        </a:defRPr>
                      </a:pPr>
                      <a:r>
                        <a:t>File chứa chỉ dẫn để build Image</a:t>
                      </a:r>
                    </a:p>
                  </a:txBody>
                  <a:tcPr>
                    <a:solidFill>
                      <a:srgbClr val="FFFFFF"/>
                    </a:solidFill>
                  </a:tcPr>
                </a:tc>
                <a:extLst>
                  <a:ext uri="{0D108BD9-81ED-4DB2-BD59-A6C34878D82A}">
                    <a16:rowId xmlns:a16="http://schemas.microsoft.com/office/drawing/2014/main" val="10001"/>
                  </a:ext>
                </a:extLst>
              </a:tr>
              <a:tr h="475488">
                <a:tc>
                  <a:txBody>
                    <a:bodyPr/>
                    <a:lstStyle/>
                    <a:p>
                      <a:pPr>
                        <a:defRPr sz="1250" b="1">
                          <a:solidFill>
                            <a:srgbClr val="0F172A"/>
                          </a:solidFill>
                          <a:latin typeface="Calibri"/>
                        </a:defRPr>
                      </a:pPr>
                      <a:r>
                        <a:t>Docker Image</a:t>
                      </a:r>
                    </a:p>
                  </a:txBody>
                  <a:tcPr>
                    <a:solidFill>
                      <a:srgbClr val="FFFFFF"/>
                    </a:solidFill>
                  </a:tcPr>
                </a:tc>
                <a:tc>
                  <a:txBody>
                    <a:bodyPr/>
                    <a:lstStyle/>
                    <a:p>
                      <a:pPr>
                        <a:defRPr sz="1250" b="0">
                          <a:solidFill>
                            <a:srgbClr val="0F172A"/>
                          </a:solidFill>
                          <a:latin typeface="Calibri"/>
                        </a:defRPr>
                      </a:pPr>
                      <a:r>
                        <a:t>Bản đóng gói ứng dụng và các thành phần cần thiết</a:t>
                      </a:r>
                    </a:p>
                  </a:txBody>
                  <a:tcPr>
                    <a:solidFill>
                      <a:srgbClr val="FFFFFF"/>
                    </a:solidFill>
                  </a:tcPr>
                </a:tc>
                <a:extLst>
                  <a:ext uri="{0D108BD9-81ED-4DB2-BD59-A6C34878D82A}">
                    <a16:rowId xmlns:a16="http://schemas.microsoft.com/office/drawing/2014/main" val="10002"/>
                  </a:ext>
                </a:extLst>
              </a:tr>
              <a:tr h="475488">
                <a:tc>
                  <a:txBody>
                    <a:bodyPr/>
                    <a:lstStyle/>
                    <a:p>
                      <a:pPr>
                        <a:defRPr sz="1250" b="1">
                          <a:solidFill>
                            <a:srgbClr val="0F172A"/>
                          </a:solidFill>
                          <a:latin typeface="Calibri"/>
                        </a:defRPr>
                      </a:pPr>
                      <a:r>
                        <a:t>Docker Container</a:t>
                      </a:r>
                    </a:p>
                  </a:txBody>
                  <a:tcPr>
                    <a:solidFill>
                      <a:srgbClr val="FFFFFF"/>
                    </a:solidFill>
                  </a:tcPr>
                </a:tc>
                <a:tc>
                  <a:txBody>
                    <a:bodyPr/>
                    <a:lstStyle/>
                    <a:p>
                      <a:pPr>
                        <a:defRPr sz="1250" b="0">
                          <a:solidFill>
                            <a:srgbClr val="0F172A"/>
                          </a:solidFill>
                          <a:latin typeface="Calibri"/>
                        </a:defRPr>
                      </a:pPr>
                      <a:r>
                        <a:t>Instance đang chạy từ Image</a:t>
                      </a:r>
                    </a:p>
                  </a:txBody>
                  <a:tcPr>
                    <a:solidFill>
                      <a:srgbClr val="FFFFFF"/>
                    </a:solidFill>
                  </a:tcPr>
                </a:tc>
                <a:extLst>
                  <a:ext uri="{0D108BD9-81ED-4DB2-BD59-A6C34878D82A}">
                    <a16:rowId xmlns:a16="http://schemas.microsoft.com/office/drawing/2014/main" val="10003"/>
                  </a:ext>
                </a:extLst>
              </a:tr>
              <a:tr h="475488">
                <a:tc>
                  <a:txBody>
                    <a:bodyPr/>
                    <a:lstStyle/>
                    <a:p>
                      <a:pPr>
                        <a:defRPr sz="1250" b="1">
                          <a:solidFill>
                            <a:srgbClr val="0F172A"/>
                          </a:solidFill>
                          <a:latin typeface="Calibri"/>
                        </a:defRPr>
                      </a:pPr>
                      <a:r>
                        <a:t>Docker Compose</a:t>
                      </a:r>
                    </a:p>
                  </a:txBody>
                  <a:tcPr>
                    <a:solidFill>
                      <a:srgbClr val="FFFFFF"/>
                    </a:solidFill>
                  </a:tcPr>
                </a:tc>
                <a:tc>
                  <a:txBody>
                    <a:bodyPr/>
                    <a:lstStyle/>
                    <a:p>
                      <a:pPr>
                        <a:defRPr sz="1250" b="0">
                          <a:solidFill>
                            <a:srgbClr val="0F172A"/>
                          </a:solidFill>
                          <a:latin typeface="Calibri"/>
                        </a:defRPr>
                      </a:pPr>
                      <a:r>
                        <a:t>Công cụ định nghĩa và quản lý ứng dụng nhiều container</a:t>
                      </a:r>
                    </a:p>
                  </a:txBody>
                  <a:tcPr>
                    <a:solidFill>
                      <a:srgbClr val="FFFFFF"/>
                    </a:solidFill>
                  </a:tcPr>
                </a:tc>
                <a:extLst>
                  <a:ext uri="{0D108BD9-81ED-4DB2-BD59-A6C34878D82A}">
                    <a16:rowId xmlns:a16="http://schemas.microsoft.com/office/drawing/2014/main" val="10004"/>
                  </a:ext>
                </a:extLst>
              </a:tr>
            </a:tbl>
          </a:graphicData>
        </a:graphic>
      </p:graphicFrame>
      <p:sp>
        <p:nvSpPr>
          <p:cNvPr id="14" name="Rounded Rectangle 13"/>
          <p:cNvSpPr/>
          <p:nvPr/>
        </p:nvSpPr>
        <p:spPr>
          <a:xfrm>
            <a:off x="6812280" y="1371600"/>
            <a:ext cx="4873752" cy="2377440"/>
          </a:xfrm>
          <a:prstGeom prst="roundRect">
            <a:avLst>
              <a:gd name="adj" fmla="val 6000"/>
            </a:avLst>
          </a:prstGeom>
          <a:solidFill>
            <a:srgbClr val="1E293B"/>
          </a:solid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76872" y="1481328"/>
            <a:ext cx="4544568" cy="2157984"/>
          </a:xfrm>
          <a:prstGeom prst="rect">
            <a:avLst/>
          </a:prstGeom>
          <a:noFill/>
        </p:spPr>
        <p:txBody>
          <a:bodyPr wrap="square">
            <a:spAutoFit/>
          </a:bodyPr>
          <a:lstStyle/>
          <a:p>
            <a:pPr>
              <a:lnSpc>
                <a:spcPct val="112000"/>
              </a:lnSpc>
              <a:defRPr sz="1200">
                <a:solidFill>
                  <a:srgbClr val="FFFFFF"/>
                </a:solidFill>
                <a:latin typeface="Consolas"/>
              </a:defRPr>
            </a:pPr>
            <a:r>
              <a:t>FROM node:...</a:t>
            </a:r>
          </a:p>
          <a:p>
            <a:pPr>
              <a:lnSpc>
                <a:spcPct val="112000"/>
              </a:lnSpc>
              <a:defRPr sz="1200">
                <a:solidFill>
                  <a:srgbClr val="FFFFFF"/>
                </a:solidFill>
                <a:latin typeface="Consolas"/>
              </a:defRPr>
            </a:pPr>
            <a:r>
              <a:t>WORKDIR /app</a:t>
            </a:r>
          </a:p>
          <a:p>
            <a:pPr>
              <a:lnSpc>
                <a:spcPct val="112000"/>
              </a:lnSpc>
              <a:defRPr sz="1200">
                <a:solidFill>
                  <a:srgbClr val="FFFFFF"/>
                </a:solidFill>
                <a:latin typeface="Consolas"/>
              </a:defRPr>
            </a:pPr>
            <a:r>
              <a:t>COPY . .</a:t>
            </a:r>
          </a:p>
          <a:p>
            <a:pPr>
              <a:lnSpc>
                <a:spcPct val="112000"/>
              </a:lnSpc>
              <a:defRPr sz="1200">
                <a:solidFill>
                  <a:srgbClr val="FFFFFF"/>
                </a:solidFill>
                <a:latin typeface="Consolas"/>
              </a:defRPr>
            </a:pPr>
            <a:r>
              <a:t>RUN pnpm install</a:t>
            </a:r>
          </a:p>
          <a:p>
            <a:pPr>
              <a:lnSpc>
                <a:spcPct val="112000"/>
              </a:lnSpc>
              <a:defRPr sz="1200">
                <a:solidFill>
                  <a:srgbClr val="FFFFFF"/>
                </a:solidFill>
                <a:latin typeface="Consolas"/>
              </a:defRPr>
            </a:pPr>
            <a:r>
              <a:t>EXPOSE 3000</a:t>
            </a:r>
          </a:p>
          <a:p>
            <a:pPr>
              <a:lnSpc>
                <a:spcPct val="112000"/>
              </a:lnSpc>
              <a:defRPr sz="1200">
                <a:solidFill>
                  <a:srgbClr val="FFFFFF"/>
                </a:solidFill>
                <a:latin typeface="Consolas"/>
              </a:defRPr>
            </a:pPr>
            <a:r>
              <a:t>CMD ["node", "dist/index.js"]</a:t>
            </a:r>
          </a:p>
        </p:txBody>
      </p:sp>
      <p:sp>
        <p:nvSpPr>
          <p:cNvPr id="16" name="TextBox 15"/>
          <p:cNvSpPr txBox="1"/>
          <p:nvPr/>
        </p:nvSpPr>
        <p:spPr>
          <a:xfrm>
            <a:off x="6812280" y="3886200"/>
            <a:ext cx="4873752" cy="320040"/>
          </a:xfrm>
          <a:prstGeom prst="rect">
            <a:avLst/>
          </a:prstGeom>
          <a:noFill/>
        </p:spPr>
        <p:txBody>
          <a:bodyPr wrap="square">
            <a:spAutoFit/>
          </a:bodyPr>
          <a:lstStyle/>
          <a:p>
            <a:pPr algn="l">
              <a:lnSpc>
                <a:spcPct val="108000"/>
              </a:lnSpc>
              <a:defRPr sz="1150" b="0" i="1">
                <a:solidFill>
                  <a:srgbClr val="475569"/>
                </a:solidFill>
                <a:latin typeface="Calibri"/>
              </a:defRPr>
            </a:pPr>
            <a:r>
              <a:t>Dockerfile rút gọn — chỉ để nhận diện từ khoá.</a:t>
            </a:r>
          </a:p>
        </p:txBody>
      </p:sp>
      <p:sp>
        <p:nvSpPr>
          <p:cNvPr id="17" name="TextBox 16"/>
          <p:cNvSpPr txBox="1"/>
          <p:nvPr/>
        </p:nvSpPr>
        <p:spPr>
          <a:xfrm>
            <a:off x="502920" y="3977639"/>
            <a:ext cx="6035040" cy="3657600"/>
          </a:xfrm>
          <a:prstGeom prst="rect">
            <a:avLst/>
          </a:prstGeom>
          <a:noFill/>
        </p:spPr>
        <p:txBody>
          <a:bodyPr wrap="square">
            <a:spAutoFit/>
          </a:bodyPr>
          <a:lstStyle/>
          <a:p>
            <a:pPr>
              <a:lnSpc>
                <a:spcPct val="112000"/>
              </a:lnSpc>
              <a:spcBef>
                <a:spcPts val="0"/>
              </a:spcBef>
              <a:defRPr sz="1350">
                <a:solidFill>
                  <a:srgbClr val="0F172A"/>
                </a:solidFill>
                <a:latin typeface="Calibri"/>
              </a:defRPr>
            </a:pPr>
            <a:r>
              <a:t>•  FROM / WORKDIR / COPY / RUN / EXPOSE / CMD — hiểu ý nghĩa, chưa cần thuộc cú pháp.</a:t>
            </a:r>
          </a:p>
          <a:p>
            <a:pPr>
              <a:lnSpc>
                <a:spcPct val="112000"/>
              </a:lnSpc>
              <a:spcBef>
                <a:spcPts val="600"/>
              </a:spcBef>
              <a:defRPr sz="1350">
                <a:solidFill>
                  <a:srgbClr val="0F172A"/>
                </a:solidFill>
                <a:latin typeface="Calibri"/>
              </a:defRPr>
            </a:pPr>
            <a:r>
              <a:t>•  Docker Compose: Backend và SQL Server là hai service riêng, khi hạ tầng và tài nguyên cho phép.</a:t>
            </a:r>
          </a:p>
        </p:txBody>
      </p:sp>
      <p:sp>
        <p:nvSpPr>
          <p:cNvPr id="18" name="Rounded Rectangle 17"/>
          <p:cNvSpPr/>
          <p:nvPr/>
        </p:nvSpPr>
        <p:spPr>
          <a:xfrm>
            <a:off x="6812280" y="4297680"/>
            <a:ext cx="4873752" cy="1143000"/>
          </a:xfrm>
          <a:prstGeom prst="roundRect">
            <a:avLst>
              <a:gd name="adj" fmla="val 6000"/>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95160" y="4370832"/>
            <a:ext cx="4507992" cy="274320"/>
          </a:xfrm>
          <a:prstGeom prst="rect">
            <a:avLst/>
          </a:prstGeom>
          <a:noFill/>
        </p:spPr>
        <p:txBody>
          <a:bodyPr wrap="square">
            <a:spAutoFit/>
          </a:bodyPr>
          <a:lstStyle/>
          <a:p>
            <a:pPr algn="l">
              <a:lnSpc>
                <a:spcPct val="108000"/>
              </a:lnSpc>
              <a:defRPr sz="1200" b="1" i="0">
                <a:solidFill>
                  <a:srgbClr val="92400E"/>
                </a:solidFill>
                <a:latin typeface="Calibri"/>
              </a:defRPr>
            </a:pPr>
            <a:r>
              <a:t>Điểm dừng — thảo luận nhanh</a:t>
            </a:r>
          </a:p>
        </p:txBody>
      </p:sp>
      <p:sp>
        <p:nvSpPr>
          <p:cNvPr id="20" name="TextBox 19"/>
          <p:cNvSpPr txBox="1"/>
          <p:nvPr/>
        </p:nvSpPr>
        <p:spPr>
          <a:xfrm>
            <a:off x="6995160" y="4645152"/>
            <a:ext cx="4507992" cy="758952"/>
          </a:xfrm>
          <a:prstGeom prst="rect">
            <a:avLst/>
          </a:prstGeom>
          <a:noFill/>
        </p:spPr>
        <p:txBody>
          <a:bodyPr wrap="square">
            <a:spAutoFit/>
          </a:bodyPr>
          <a:lstStyle/>
          <a:p>
            <a:pPr algn="l">
              <a:lnSpc>
                <a:spcPct val="108000"/>
              </a:lnSpc>
              <a:defRPr sz="1350" b="1" i="0">
                <a:solidFill>
                  <a:srgbClr val="0F172A"/>
                </a:solidFill>
                <a:latin typeface="Calibri"/>
              </a:defRPr>
            </a:pPr>
            <a:r>
              <a:t>Bản đóng gói vài trăm MB chưa chạy là Image hay Container? Bản đang chạy xử lý Login thì sao?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2563EB"/>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2563EB"/>
                </a:solidFill>
                <a:latin typeface="Calibri"/>
              </a:defRPr>
            </a:pPr>
            <a:r>
              <a:t>Phần D — Docker &amp; Deployment</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Từ Source Code đến Deployment — 3 cấp độ</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16/18</a:t>
            </a:r>
          </a:p>
        </p:txBody>
      </p:sp>
      <p:sp>
        <p:nvSpPr>
          <p:cNvPr id="13" name="Rounded Rectangle 12"/>
          <p:cNvSpPr/>
          <p:nvPr/>
        </p:nvSpPr>
        <p:spPr>
          <a:xfrm>
            <a:off x="502920" y="1353312"/>
            <a:ext cx="3611880" cy="141732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1463040"/>
            <a:ext cx="3200400" cy="365760"/>
          </a:xfrm>
          <a:prstGeom prst="rect">
            <a:avLst/>
          </a:prstGeom>
          <a:noFill/>
        </p:spPr>
        <p:txBody>
          <a:bodyPr wrap="square">
            <a:spAutoFit/>
          </a:bodyPr>
          <a:lstStyle/>
          <a:p>
            <a:pPr algn="l">
              <a:lnSpc>
                <a:spcPct val="108000"/>
              </a:lnSpc>
              <a:defRPr sz="1400" b="1" i="0">
                <a:solidFill>
                  <a:srgbClr val="2563EB"/>
                </a:solidFill>
                <a:latin typeface="Calibri"/>
              </a:defRPr>
            </a:pPr>
            <a:r>
              <a:t>Cấp 1 — Development</a:t>
            </a:r>
          </a:p>
        </p:txBody>
      </p:sp>
      <p:sp>
        <p:nvSpPr>
          <p:cNvPr id="15" name="TextBox 14"/>
          <p:cNvSpPr txBox="1"/>
          <p:nvPr/>
        </p:nvSpPr>
        <p:spPr>
          <a:xfrm>
            <a:off x="704088" y="1847088"/>
            <a:ext cx="3200400" cy="822960"/>
          </a:xfrm>
          <a:prstGeom prst="rect">
            <a:avLst/>
          </a:prstGeom>
          <a:noFill/>
        </p:spPr>
        <p:txBody>
          <a:bodyPr wrap="square">
            <a:spAutoFit/>
          </a:bodyPr>
          <a:lstStyle/>
          <a:p>
            <a:pPr algn="l">
              <a:lnSpc>
                <a:spcPct val="108000"/>
              </a:lnSpc>
              <a:defRPr sz="1250" b="0" i="0">
                <a:solidFill>
                  <a:srgbClr val="0F172A"/>
                </a:solidFill>
                <a:latin typeface="Calibri"/>
              </a:defRPr>
            </a:pPr>
            <a:r>
              <a:t>Node.js và SQL Server cùng chạy trên máy của sinh viên. Môi trường hiện tại của lớp.</a:t>
            </a:r>
          </a:p>
        </p:txBody>
      </p:sp>
      <p:sp>
        <p:nvSpPr>
          <p:cNvPr id="16" name="Rounded Rectangle 15"/>
          <p:cNvSpPr/>
          <p:nvPr/>
        </p:nvSpPr>
        <p:spPr>
          <a:xfrm>
            <a:off x="4325112" y="1353312"/>
            <a:ext cx="3611880" cy="141732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79" y="1463040"/>
            <a:ext cx="3200400" cy="365760"/>
          </a:xfrm>
          <a:prstGeom prst="rect">
            <a:avLst/>
          </a:prstGeom>
          <a:noFill/>
        </p:spPr>
        <p:txBody>
          <a:bodyPr wrap="square">
            <a:spAutoFit/>
          </a:bodyPr>
          <a:lstStyle/>
          <a:p>
            <a:pPr algn="l">
              <a:lnSpc>
                <a:spcPct val="108000"/>
              </a:lnSpc>
              <a:defRPr sz="1400" b="1" i="0">
                <a:solidFill>
                  <a:srgbClr val="2563EB"/>
                </a:solidFill>
                <a:latin typeface="Calibri"/>
              </a:defRPr>
            </a:pPr>
            <a:r>
              <a:t>Cấp 2 — Containerization</a:t>
            </a:r>
          </a:p>
        </p:txBody>
      </p:sp>
      <p:sp>
        <p:nvSpPr>
          <p:cNvPr id="18" name="TextBox 17"/>
          <p:cNvSpPr txBox="1"/>
          <p:nvPr/>
        </p:nvSpPr>
        <p:spPr>
          <a:xfrm>
            <a:off x="4526279" y="1847088"/>
            <a:ext cx="3200400" cy="822960"/>
          </a:xfrm>
          <a:prstGeom prst="rect">
            <a:avLst/>
          </a:prstGeom>
          <a:noFill/>
        </p:spPr>
        <p:txBody>
          <a:bodyPr wrap="square">
            <a:spAutoFit/>
          </a:bodyPr>
          <a:lstStyle/>
          <a:p>
            <a:pPr algn="l">
              <a:lnSpc>
                <a:spcPct val="108000"/>
              </a:lnSpc>
              <a:defRPr sz="1250" b="0" i="0">
                <a:solidFill>
                  <a:srgbClr val="0F172A"/>
                </a:solidFill>
                <a:latin typeface="Calibri"/>
              </a:defRPr>
            </a:pPr>
            <a:r>
              <a:t>Backend chạy trong Docker Container, kết nối tới SQL Server qua mạng phù hợp.</a:t>
            </a:r>
          </a:p>
        </p:txBody>
      </p:sp>
      <p:sp>
        <p:nvSpPr>
          <p:cNvPr id="19" name="Rounded Rectangle 18"/>
          <p:cNvSpPr/>
          <p:nvPr/>
        </p:nvSpPr>
        <p:spPr>
          <a:xfrm>
            <a:off x="8147304" y="1353312"/>
            <a:ext cx="3611880" cy="1417320"/>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48472" y="1463040"/>
            <a:ext cx="3200400" cy="365760"/>
          </a:xfrm>
          <a:prstGeom prst="rect">
            <a:avLst/>
          </a:prstGeom>
          <a:noFill/>
        </p:spPr>
        <p:txBody>
          <a:bodyPr wrap="square">
            <a:spAutoFit/>
          </a:bodyPr>
          <a:lstStyle/>
          <a:p>
            <a:pPr algn="l">
              <a:lnSpc>
                <a:spcPct val="108000"/>
              </a:lnSpc>
              <a:defRPr sz="1400" b="1" i="0">
                <a:solidFill>
                  <a:srgbClr val="2563EB"/>
                </a:solidFill>
                <a:latin typeface="Calibri"/>
              </a:defRPr>
            </a:pPr>
            <a:r>
              <a:t>Cấp 3 — Deployment</a:t>
            </a:r>
          </a:p>
        </p:txBody>
      </p:sp>
      <p:sp>
        <p:nvSpPr>
          <p:cNvPr id="21" name="TextBox 20"/>
          <p:cNvSpPr txBox="1"/>
          <p:nvPr/>
        </p:nvSpPr>
        <p:spPr>
          <a:xfrm>
            <a:off x="8348472" y="1847088"/>
            <a:ext cx="3200400" cy="822960"/>
          </a:xfrm>
          <a:prstGeom prst="rect">
            <a:avLst/>
          </a:prstGeom>
          <a:noFill/>
        </p:spPr>
        <p:txBody>
          <a:bodyPr wrap="square">
            <a:spAutoFit/>
          </a:bodyPr>
          <a:lstStyle/>
          <a:p>
            <a:pPr algn="l">
              <a:lnSpc>
                <a:spcPct val="108000"/>
              </a:lnSpc>
              <a:defRPr sz="1250" b="0" i="0">
                <a:solidFill>
                  <a:srgbClr val="0F172A"/>
                </a:solidFill>
                <a:latin typeface="Calibri"/>
              </a:defRPr>
            </a:pPr>
            <a:r>
              <a:t>Backend chạy trên hosting hoặc VPS; SQL Server triển khai và kết nối riêng.</a:t>
            </a:r>
          </a:p>
        </p:txBody>
      </p:sp>
      <p:sp>
        <p:nvSpPr>
          <p:cNvPr id="22" name="Rounded Rectangle 21"/>
          <p:cNvSpPr/>
          <p:nvPr/>
        </p:nvSpPr>
        <p:spPr>
          <a:xfrm>
            <a:off x="502920" y="2971800"/>
            <a:ext cx="2514600" cy="566928"/>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SOURCE</a:t>
            </a:r>
          </a:p>
        </p:txBody>
      </p:sp>
      <p:sp>
        <p:nvSpPr>
          <p:cNvPr id="23" name="TextBox 22"/>
          <p:cNvSpPr txBox="1"/>
          <p:nvPr/>
        </p:nvSpPr>
        <p:spPr>
          <a:xfrm>
            <a:off x="3035808" y="311810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24" name="Rounded Rectangle 23"/>
          <p:cNvSpPr/>
          <p:nvPr/>
        </p:nvSpPr>
        <p:spPr>
          <a:xfrm>
            <a:off x="3310128" y="2971800"/>
            <a:ext cx="2514600" cy="566928"/>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GITHUB</a:t>
            </a:r>
          </a:p>
        </p:txBody>
      </p:sp>
      <p:sp>
        <p:nvSpPr>
          <p:cNvPr id="25" name="TextBox 24"/>
          <p:cNvSpPr txBox="1"/>
          <p:nvPr/>
        </p:nvSpPr>
        <p:spPr>
          <a:xfrm>
            <a:off x="5843016" y="311810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26" name="Rounded Rectangle 25"/>
          <p:cNvSpPr/>
          <p:nvPr/>
        </p:nvSpPr>
        <p:spPr>
          <a:xfrm>
            <a:off x="6117336" y="2971800"/>
            <a:ext cx="2514600" cy="566928"/>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HOSTING</a:t>
            </a:r>
          </a:p>
        </p:txBody>
      </p:sp>
      <p:sp>
        <p:nvSpPr>
          <p:cNvPr id="27" name="TextBox 26"/>
          <p:cNvSpPr txBox="1"/>
          <p:nvPr/>
        </p:nvSpPr>
        <p:spPr>
          <a:xfrm>
            <a:off x="8650224" y="3118104"/>
            <a:ext cx="274320" cy="365760"/>
          </a:xfrm>
          <a:prstGeom prst="rect">
            <a:avLst/>
          </a:prstGeom>
          <a:noFill/>
        </p:spPr>
        <p:txBody>
          <a:bodyPr wrap="square">
            <a:spAutoFit/>
          </a:bodyPr>
          <a:lstStyle/>
          <a:p>
            <a:pPr algn="ctr">
              <a:lnSpc>
                <a:spcPct val="108000"/>
              </a:lnSpc>
              <a:defRPr sz="2000" b="1" i="0">
                <a:solidFill>
                  <a:srgbClr val="2563EB"/>
                </a:solidFill>
                <a:latin typeface="Calibri"/>
              </a:defRPr>
            </a:pPr>
            <a:r>
              <a:t>›</a:t>
            </a:r>
          </a:p>
        </p:txBody>
      </p:sp>
      <p:sp>
        <p:nvSpPr>
          <p:cNvPr id="28" name="Rounded Rectangle 27"/>
          <p:cNvSpPr/>
          <p:nvPr/>
        </p:nvSpPr>
        <p:spPr>
          <a:xfrm>
            <a:off x="8924544" y="2971800"/>
            <a:ext cx="2514600" cy="566928"/>
          </a:xfrm>
          <a:prstGeom prst="roundRect">
            <a:avLst>
              <a:gd name="adj" fmla="val 6000"/>
            </a:avLst>
          </a:prstGeom>
          <a:solidFill>
            <a:srgbClr val="DBEA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F172A"/>
                </a:solidFill>
                <a:latin typeface="Calibri"/>
              </a:defRPr>
            </a:pPr>
            <a:r>
              <a:t>API</a:t>
            </a:r>
          </a:p>
        </p:txBody>
      </p:sp>
      <p:sp>
        <p:nvSpPr>
          <p:cNvPr id="29" name="TextBox 28"/>
          <p:cNvSpPr txBox="1"/>
          <p:nvPr/>
        </p:nvSpPr>
        <p:spPr>
          <a:xfrm>
            <a:off x="502920" y="3703320"/>
            <a:ext cx="6949440" cy="365760"/>
          </a:xfrm>
          <a:prstGeom prst="rect">
            <a:avLst/>
          </a:prstGeom>
          <a:noFill/>
        </p:spPr>
        <p:txBody>
          <a:bodyPr wrap="square">
            <a:spAutoFit/>
          </a:bodyPr>
          <a:lstStyle/>
          <a:p>
            <a:pPr algn="l">
              <a:lnSpc>
                <a:spcPct val="108000"/>
              </a:lnSpc>
              <a:defRPr sz="1350" b="1" i="0">
                <a:solidFill>
                  <a:srgbClr val="0F172A"/>
                </a:solidFill>
                <a:latin typeface="Calibri"/>
              </a:defRPr>
            </a:pPr>
            <a:r>
              <a:t>Client → Backend Container → Sequelize / Tedious → SQL Server</a:t>
            </a:r>
          </a:p>
        </p:txBody>
      </p:sp>
      <p:sp>
        <p:nvSpPr>
          <p:cNvPr id="30" name="Rounded Rectangle 29"/>
          <p:cNvSpPr/>
          <p:nvPr/>
        </p:nvSpPr>
        <p:spPr>
          <a:xfrm>
            <a:off x="502920" y="4114800"/>
            <a:ext cx="6949440" cy="1051560"/>
          </a:xfrm>
          <a:prstGeom prst="roundRect">
            <a:avLst>
              <a:gd name="adj" fmla="val 6000"/>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4224528"/>
            <a:ext cx="6583680" cy="868680"/>
          </a:xfrm>
          <a:prstGeom prst="rect">
            <a:avLst/>
          </a:prstGeom>
          <a:noFill/>
        </p:spPr>
        <p:txBody>
          <a:bodyPr wrap="square">
            <a:spAutoFit/>
          </a:bodyPr>
          <a:lstStyle/>
          <a:p>
            <a:pPr algn="l">
              <a:lnSpc>
                <a:spcPct val="108000"/>
              </a:lnSpc>
              <a:defRPr sz="1350" b="1" i="0">
                <a:solidFill>
                  <a:srgbClr val="92400E"/>
                </a:solidFill>
                <a:latin typeface="Calibri"/>
              </a:defRPr>
            </a:pPr>
            <a:r>
              <a:t>Cảnh báo: localhost bên trong Container không phải máy Windows đang chạy Docker, cũng không phải SQL Server bên ngoài.</a:t>
            </a:r>
          </a:p>
        </p:txBody>
      </p:sp>
      <p:sp>
        <p:nvSpPr>
          <p:cNvPr id="32" name="Rounded Rectangle 31"/>
          <p:cNvSpPr/>
          <p:nvPr/>
        </p:nvSpPr>
        <p:spPr>
          <a:xfrm>
            <a:off x="7726679" y="3703320"/>
            <a:ext cx="3959352" cy="23774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36992" y="3822191"/>
            <a:ext cx="3566160" cy="320040"/>
          </a:xfrm>
          <a:prstGeom prst="rect">
            <a:avLst/>
          </a:prstGeom>
          <a:noFill/>
        </p:spPr>
        <p:txBody>
          <a:bodyPr wrap="square">
            <a:spAutoFit/>
          </a:bodyPr>
          <a:lstStyle/>
          <a:p>
            <a:pPr algn="l">
              <a:lnSpc>
                <a:spcPct val="108000"/>
              </a:lnSpc>
              <a:defRPr sz="1400" b="1" i="0">
                <a:solidFill>
                  <a:srgbClr val="2563EB"/>
                </a:solidFill>
                <a:latin typeface="Calibri"/>
              </a:defRPr>
            </a:pPr>
            <a:r>
              <a:t>Khái niệm Cấp 2–3</a:t>
            </a:r>
          </a:p>
        </p:txBody>
      </p:sp>
      <p:sp>
        <p:nvSpPr>
          <p:cNvPr id="34" name="TextBox 33"/>
          <p:cNvSpPr txBox="1"/>
          <p:nvPr/>
        </p:nvSpPr>
        <p:spPr>
          <a:xfrm>
            <a:off x="7936992" y="4160520"/>
            <a:ext cx="3566160" cy="3657600"/>
          </a:xfrm>
          <a:prstGeom prst="rect">
            <a:avLst/>
          </a:prstGeom>
          <a:noFill/>
        </p:spPr>
        <p:txBody>
          <a:bodyPr wrap="square">
            <a:spAutoFit/>
          </a:bodyPr>
          <a:lstStyle/>
          <a:p>
            <a:pPr>
              <a:lnSpc>
                <a:spcPct val="112000"/>
              </a:lnSpc>
              <a:spcBef>
                <a:spcPts val="0"/>
              </a:spcBef>
              <a:defRPr sz="1200">
                <a:solidFill>
                  <a:srgbClr val="0F172A"/>
                </a:solidFill>
                <a:latin typeface="Calibri"/>
              </a:defRPr>
            </a:pPr>
            <a:r>
              <a:t>•  Build — biên dịch TypeScript → JavaScript</a:t>
            </a:r>
          </a:p>
          <a:p>
            <a:pPr>
              <a:lnSpc>
                <a:spcPct val="112000"/>
              </a:lnSpc>
              <a:spcBef>
                <a:spcPts val="200"/>
              </a:spcBef>
              <a:defRPr sz="1200">
                <a:solidFill>
                  <a:srgbClr val="0F172A"/>
                </a:solidFill>
                <a:latin typeface="Calibri"/>
              </a:defRPr>
            </a:pPr>
            <a:r>
              <a:t>•  Hosting — chạy liên tục, có địa chỉ truy cập</a:t>
            </a:r>
          </a:p>
          <a:p>
            <a:pPr>
              <a:lnSpc>
                <a:spcPct val="112000"/>
              </a:lnSpc>
              <a:spcBef>
                <a:spcPts val="200"/>
              </a:spcBef>
              <a:defRPr sz="1200">
                <a:solidFill>
                  <a:srgbClr val="0F172A"/>
                </a:solidFill>
                <a:latin typeface="Calibri"/>
              </a:defRPr>
            </a:pPr>
            <a:r>
              <a:t>•  Env Vars — PORT, DB, JWT_SECRET; không ghi cứng secret</a:t>
            </a:r>
          </a:p>
          <a:p>
            <a:pPr>
              <a:lnSpc>
                <a:spcPct val="112000"/>
              </a:lnSpc>
              <a:spcBef>
                <a:spcPts val="200"/>
              </a:spcBef>
              <a:defRPr sz="1200">
                <a:solidFill>
                  <a:srgbClr val="0F172A"/>
                </a:solidFill>
                <a:latin typeface="Calibri"/>
              </a:defRPr>
            </a:pPr>
            <a:r>
              <a:t>•  Port Mapping — kết nối Client tới Container</a:t>
            </a:r>
          </a:p>
        </p:txBody>
      </p:sp>
      <p:sp>
        <p:nvSpPr>
          <p:cNvPr id="35" name="TextBox 34"/>
          <p:cNvSpPr txBox="1"/>
          <p:nvPr/>
        </p:nvSpPr>
        <p:spPr>
          <a:xfrm>
            <a:off x="502920" y="5349240"/>
            <a:ext cx="6949440" cy="777240"/>
          </a:xfrm>
          <a:prstGeom prst="rect">
            <a:avLst/>
          </a:prstGeom>
          <a:noFill/>
        </p:spPr>
        <p:txBody>
          <a:bodyPr wrap="square">
            <a:spAutoFit/>
          </a:bodyPr>
          <a:lstStyle/>
          <a:p>
            <a:pPr algn="l">
              <a:lnSpc>
                <a:spcPct val="108000"/>
              </a:lnSpc>
              <a:defRPr sz="1250" b="0" i="0">
                <a:solidFill>
                  <a:srgbClr val="0F172A"/>
                </a:solidFill>
                <a:latin typeface="Calibri"/>
              </a:defRPr>
            </a:pPr>
            <a:r>
              <a:t>Lựa chọn Cấp 3: Render · Railway · VPS — phân biệt DB được quản lý sẵn với tự vận hành SQL Server Container (Railway có template kèm volume). Docker ≠ Deployment.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0920"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BACKEND</a:t>
            </a:r>
          </a:p>
        </p:txBody>
      </p:sp>
      <p:sp>
        <p:nvSpPr>
          <p:cNvPr id="5" name="Rounded Rectangle 4"/>
          <p:cNvSpPr/>
          <p:nvPr/>
        </p:nvSpPr>
        <p:spPr>
          <a:xfrm>
            <a:off x="8257032"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TEST</a:t>
            </a:r>
          </a:p>
        </p:txBody>
      </p:sp>
      <p:sp>
        <p:nvSpPr>
          <p:cNvPr id="6" name="Rounded Rectangle 5"/>
          <p:cNvSpPr/>
          <p:nvPr/>
        </p:nvSpPr>
        <p:spPr>
          <a:xfrm>
            <a:off x="9153144"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SECURE</a:t>
            </a:r>
          </a:p>
        </p:txBody>
      </p:sp>
      <p:sp>
        <p:nvSpPr>
          <p:cNvPr id="7" name="Rounded Rectangle 6"/>
          <p:cNvSpPr/>
          <p:nvPr/>
        </p:nvSpPr>
        <p:spPr>
          <a:xfrm>
            <a:off x="10049256" y="219456"/>
            <a:ext cx="804672" cy="274320"/>
          </a:xfrm>
          <a:prstGeom prst="round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475569"/>
                </a:solidFill>
                <a:latin typeface="Calibri"/>
              </a:defRPr>
            </a:pPr>
            <a:r>
              <a:t>DOCKER</a:t>
            </a:r>
          </a:p>
        </p:txBody>
      </p:sp>
      <p:sp>
        <p:nvSpPr>
          <p:cNvPr id="8" name="Rounded Rectangle 7"/>
          <p:cNvSpPr/>
          <p:nvPr/>
        </p:nvSpPr>
        <p:spPr>
          <a:xfrm>
            <a:off x="10945368" y="219456"/>
            <a:ext cx="804672" cy="274320"/>
          </a:xfrm>
          <a:prstGeom prst="roundRect">
            <a:avLst/>
          </a:prstGeom>
          <a:solidFill>
            <a:srgbClr val="7C3AED"/>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800" b="1">
                <a:solidFill>
                  <a:srgbClr val="FFFFFF"/>
                </a:solidFill>
                <a:latin typeface="Calibri"/>
              </a:defRPr>
            </a:pPr>
            <a:r>
              <a:t>DEPLOY</a:t>
            </a:r>
          </a:p>
        </p:txBody>
      </p:sp>
      <p:sp>
        <p:nvSpPr>
          <p:cNvPr id="9" name="TextBox 8"/>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7C3AED"/>
                </a:solidFill>
                <a:latin typeface="Calibri"/>
              </a:defRPr>
            </a:pPr>
            <a:r>
              <a:t>Phần E — Vibe Coding &amp; Tổng kết</a:t>
            </a:r>
          </a:p>
        </p:txBody>
      </p:sp>
      <p:sp>
        <p:nvSpPr>
          <p:cNvPr id="10" name="TextBox 9"/>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Vibe Coding đúng cách: AI viết code, con người kiểm soát</a:t>
            </a:r>
          </a:p>
        </p:txBody>
      </p:sp>
      <p:sp>
        <p:nvSpPr>
          <p:cNvPr id="12" name="TextBox 11"/>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17/18</a:t>
            </a:r>
          </a:p>
        </p:txBody>
      </p:sp>
      <p:graphicFrame>
        <p:nvGraphicFramePr>
          <p:cNvPr id="13" name="Table 12"/>
          <p:cNvGraphicFramePr>
            <a:graphicFrameLocks noGrp="1"/>
          </p:cNvGraphicFramePr>
          <p:nvPr/>
        </p:nvGraphicFramePr>
        <p:xfrm>
          <a:off x="502920" y="1371600"/>
          <a:ext cx="6766559" cy="26517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30352">
                <a:tc>
                  <a:txBody>
                    <a:bodyPr/>
                    <a:lstStyle/>
                    <a:p>
                      <a:pPr>
                        <a:defRPr sz="1250" b="1">
                          <a:solidFill>
                            <a:srgbClr val="FFFFFF"/>
                          </a:solidFill>
                          <a:latin typeface="Calibri"/>
                        </a:defRPr>
                      </a:pPr>
                      <a:r>
                        <a:t>CTCO</a:t>
                      </a:r>
                    </a:p>
                  </a:txBody>
                  <a:tcPr>
                    <a:solidFill>
                      <a:srgbClr val="7C3AED"/>
                    </a:solidFill>
                  </a:tcPr>
                </a:tc>
                <a:tc>
                  <a:txBody>
                    <a:bodyPr/>
                    <a:lstStyle/>
                    <a:p>
                      <a:pPr>
                        <a:defRPr sz="1250" b="1">
                          <a:solidFill>
                            <a:srgbClr val="FFFFFF"/>
                          </a:solidFill>
                          <a:latin typeface="Calibri"/>
                        </a:defRPr>
                      </a:pPr>
                      <a:r>
                        <a:t>Câu hỏi cần trả lời</a:t>
                      </a:r>
                    </a:p>
                  </a:txBody>
                  <a:tcPr>
                    <a:solidFill>
                      <a:srgbClr val="7C3AED"/>
                    </a:solidFill>
                  </a:tcPr>
                </a:tc>
                <a:tc>
                  <a:txBody>
                    <a:bodyPr/>
                    <a:lstStyle/>
                    <a:p>
                      <a:pPr>
                        <a:defRPr sz="1250" b="1">
                          <a:solidFill>
                            <a:srgbClr val="FFFFFF"/>
                          </a:solidFill>
                          <a:latin typeface="Calibri"/>
                        </a:defRPr>
                      </a:pPr>
                      <a:r>
                        <a:t>Khung prompt</a:t>
                      </a:r>
                    </a:p>
                  </a:txBody>
                  <a:tcPr>
                    <a:solidFill>
                      <a:srgbClr val="7C3AED"/>
                    </a:solidFill>
                  </a:tcPr>
                </a:tc>
                <a:extLst>
                  <a:ext uri="{0D108BD9-81ED-4DB2-BD59-A6C34878D82A}">
                    <a16:rowId xmlns:a16="http://schemas.microsoft.com/office/drawing/2014/main" val="10000"/>
                  </a:ext>
                </a:extLst>
              </a:tr>
              <a:tr h="530352">
                <a:tc>
                  <a:txBody>
                    <a:bodyPr/>
                    <a:lstStyle/>
                    <a:p>
                      <a:pPr>
                        <a:defRPr sz="1250" b="1">
                          <a:solidFill>
                            <a:srgbClr val="0F172A"/>
                          </a:solidFill>
                          <a:latin typeface="Calibri"/>
                        </a:defRPr>
                      </a:pPr>
                      <a:r>
                        <a:t>Context</a:t>
                      </a:r>
                    </a:p>
                  </a:txBody>
                  <a:tcPr>
                    <a:solidFill>
                      <a:srgbClr val="FFFFFF"/>
                    </a:solidFill>
                  </a:tcPr>
                </a:tc>
                <a:tc>
                  <a:txBody>
                    <a:bodyPr/>
                    <a:lstStyle/>
                    <a:p>
                      <a:pPr>
                        <a:defRPr sz="1250" b="0">
                          <a:solidFill>
                            <a:srgbClr val="0F172A"/>
                          </a:solidFill>
                          <a:latin typeface="Calibri"/>
                        </a:defRPr>
                      </a:pPr>
                      <a:r>
                        <a:t>Dự án dùng công nghệ gì, có những file nào?</a:t>
                      </a:r>
                    </a:p>
                  </a:txBody>
                  <a:tcPr>
                    <a:solidFill>
                      <a:srgbClr val="FFFFFF"/>
                    </a:solidFill>
                  </a:tcPr>
                </a:tc>
                <a:tc>
                  <a:txBody>
                    <a:bodyPr/>
                    <a:lstStyle/>
                    <a:p>
                      <a:pPr>
                        <a:defRPr sz="1250" b="0">
                          <a:solidFill>
                            <a:srgbClr val="0F172A"/>
                          </a:solidFill>
                          <a:latin typeface="Calibri"/>
                        </a:defRPr>
                      </a:pPr>
                      <a:r>
                        <a:t>……</a:t>
                      </a:r>
                    </a:p>
                  </a:txBody>
                  <a:tcPr>
                    <a:solidFill>
                      <a:srgbClr val="FFFFFF"/>
                    </a:solidFill>
                  </a:tcPr>
                </a:tc>
                <a:extLst>
                  <a:ext uri="{0D108BD9-81ED-4DB2-BD59-A6C34878D82A}">
                    <a16:rowId xmlns:a16="http://schemas.microsoft.com/office/drawing/2014/main" val="10001"/>
                  </a:ext>
                </a:extLst>
              </a:tr>
              <a:tr h="530352">
                <a:tc>
                  <a:txBody>
                    <a:bodyPr/>
                    <a:lstStyle/>
                    <a:p>
                      <a:pPr>
                        <a:defRPr sz="1250" b="1">
                          <a:solidFill>
                            <a:srgbClr val="0F172A"/>
                          </a:solidFill>
                          <a:latin typeface="Calibri"/>
                        </a:defRPr>
                      </a:pPr>
                      <a:r>
                        <a:t>Task</a:t>
                      </a:r>
                    </a:p>
                  </a:txBody>
                  <a:tcPr>
                    <a:solidFill>
                      <a:srgbClr val="FFFFFF"/>
                    </a:solidFill>
                  </a:tcPr>
                </a:tc>
                <a:tc>
                  <a:txBody>
                    <a:bodyPr/>
                    <a:lstStyle/>
                    <a:p>
                      <a:pPr>
                        <a:defRPr sz="1250" b="0">
                          <a:solidFill>
                            <a:srgbClr val="0F172A"/>
                          </a:solidFill>
                          <a:latin typeface="Calibri"/>
                        </a:defRPr>
                      </a:pPr>
                      <a:r>
                        <a:t>Cần thêm Testing, Security hay Docker?</a:t>
                      </a:r>
                    </a:p>
                  </a:txBody>
                  <a:tcPr>
                    <a:solidFill>
                      <a:srgbClr val="FFFFFF"/>
                    </a:solidFill>
                  </a:tcPr>
                </a:tc>
                <a:tc>
                  <a:txBody>
                    <a:bodyPr/>
                    <a:lstStyle/>
                    <a:p>
                      <a:pPr>
                        <a:defRPr sz="1250" b="0">
                          <a:solidFill>
                            <a:srgbClr val="0F172A"/>
                          </a:solidFill>
                          <a:latin typeface="Calibri"/>
                        </a:defRPr>
                      </a:pPr>
                      <a:r>
                        <a:t>……</a:t>
                      </a:r>
                    </a:p>
                  </a:txBody>
                  <a:tcPr>
                    <a:solidFill>
                      <a:srgbClr val="FFFFFF"/>
                    </a:solidFill>
                  </a:tcPr>
                </a:tc>
                <a:extLst>
                  <a:ext uri="{0D108BD9-81ED-4DB2-BD59-A6C34878D82A}">
                    <a16:rowId xmlns:a16="http://schemas.microsoft.com/office/drawing/2014/main" val="10002"/>
                  </a:ext>
                </a:extLst>
              </a:tr>
              <a:tr h="530352">
                <a:tc>
                  <a:txBody>
                    <a:bodyPr/>
                    <a:lstStyle/>
                    <a:p>
                      <a:pPr>
                        <a:defRPr sz="1250" b="1">
                          <a:solidFill>
                            <a:srgbClr val="0F172A"/>
                          </a:solidFill>
                          <a:latin typeface="Calibri"/>
                        </a:defRPr>
                      </a:pPr>
                      <a:r>
                        <a:t>Constraint</a:t>
                      </a:r>
                    </a:p>
                  </a:txBody>
                  <a:tcPr>
                    <a:solidFill>
                      <a:srgbClr val="FFFFFF"/>
                    </a:solidFill>
                  </a:tcPr>
                </a:tc>
                <a:tc>
                  <a:txBody>
                    <a:bodyPr/>
                    <a:lstStyle/>
                    <a:p>
                      <a:pPr>
                        <a:defRPr sz="1250" b="0">
                          <a:solidFill>
                            <a:srgbClr val="0F172A"/>
                          </a:solidFill>
                          <a:latin typeface="Calibri"/>
                        </a:defRPr>
                      </a:pPr>
                      <a:r>
                        <a:rPr dirty="0" err="1"/>
                        <a:t>Giữ</a:t>
                      </a:r>
                      <a:r>
                        <a:rPr dirty="0"/>
                        <a:t> </a:t>
                      </a:r>
                      <a:r>
                        <a:rPr dirty="0" err="1"/>
                        <a:t>nguyên</a:t>
                      </a:r>
                      <a:r>
                        <a:rPr dirty="0"/>
                        <a:t> </a:t>
                      </a:r>
                      <a:r>
                        <a:rPr dirty="0" err="1"/>
                        <a:t>cấu</a:t>
                      </a:r>
                      <a:r>
                        <a:rPr dirty="0"/>
                        <a:t> </a:t>
                      </a:r>
                      <a:r>
                        <a:rPr dirty="0" err="1"/>
                        <a:t>trúc</a:t>
                      </a:r>
                      <a:r>
                        <a:rPr dirty="0"/>
                        <a:t>, API </a:t>
                      </a:r>
                      <a:r>
                        <a:rPr dirty="0" err="1"/>
                        <a:t>và</a:t>
                      </a:r>
                      <a:r>
                        <a:rPr dirty="0"/>
                        <a:t> </a:t>
                      </a:r>
                      <a:r>
                        <a:rPr dirty="0" err="1"/>
                        <a:t>công</a:t>
                      </a:r>
                      <a:r>
                        <a:rPr dirty="0"/>
                        <a:t> </a:t>
                      </a:r>
                      <a:r>
                        <a:rPr dirty="0" err="1"/>
                        <a:t>nghệ</a:t>
                      </a:r>
                      <a:r>
                        <a:rPr dirty="0"/>
                        <a:t> </a:t>
                      </a:r>
                      <a:r>
                        <a:rPr dirty="0" err="1"/>
                        <a:t>nào</a:t>
                      </a:r>
                      <a:r>
                        <a:rPr dirty="0"/>
                        <a:t>?</a:t>
                      </a:r>
                    </a:p>
                  </a:txBody>
                  <a:tcPr>
                    <a:solidFill>
                      <a:srgbClr val="FFFFFF"/>
                    </a:solidFill>
                  </a:tcPr>
                </a:tc>
                <a:tc>
                  <a:txBody>
                    <a:bodyPr/>
                    <a:lstStyle/>
                    <a:p>
                      <a:pPr>
                        <a:defRPr sz="1250" b="0">
                          <a:solidFill>
                            <a:srgbClr val="0F172A"/>
                          </a:solidFill>
                          <a:latin typeface="Calibri"/>
                        </a:defRPr>
                      </a:pPr>
                      <a:r>
                        <a:t>……</a:t>
                      </a:r>
                    </a:p>
                  </a:txBody>
                  <a:tcPr>
                    <a:solidFill>
                      <a:srgbClr val="FFFFFF"/>
                    </a:solidFill>
                  </a:tcPr>
                </a:tc>
                <a:extLst>
                  <a:ext uri="{0D108BD9-81ED-4DB2-BD59-A6C34878D82A}">
                    <a16:rowId xmlns:a16="http://schemas.microsoft.com/office/drawing/2014/main" val="10003"/>
                  </a:ext>
                </a:extLst>
              </a:tr>
              <a:tr h="530352">
                <a:tc>
                  <a:txBody>
                    <a:bodyPr/>
                    <a:lstStyle/>
                    <a:p>
                      <a:pPr>
                        <a:defRPr sz="1250" b="1">
                          <a:solidFill>
                            <a:srgbClr val="0F172A"/>
                          </a:solidFill>
                          <a:latin typeface="Calibri"/>
                        </a:defRPr>
                      </a:pPr>
                      <a:r>
                        <a:t>Output</a:t>
                      </a:r>
                    </a:p>
                  </a:txBody>
                  <a:tcPr>
                    <a:solidFill>
                      <a:srgbClr val="FFFFFF"/>
                    </a:solidFill>
                  </a:tcPr>
                </a:tc>
                <a:tc>
                  <a:txBody>
                    <a:bodyPr/>
                    <a:lstStyle/>
                    <a:p>
                      <a:pPr>
                        <a:defRPr sz="1250" b="0">
                          <a:solidFill>
                            <a:srgbClr val="0F172A"/>
                          </a:solidFill>
                          <a:latin typeface="Calibri"/>
                        </a:defRPr>
                      </a:pPr>
                      <a:r>
                        <a:t>AI trả file, giải thích, tiêu chí kiểm chứng gì?</a:t>
                      </a:r>
                    </a:p>
                  </a:txBody>
                  <a:tcPr>
                    <a:solidFill>
                      <a:srgbClr val="FFFFFF"/>
                    </a:solidFill>
                  </a:tcPr>
                </a:tc>
                <a:tc>
                  <a:txBody>
                    <a:bodyPr/>
                    <a:lstStyle/>
                    <a:p>
                      <a:pPr>
                        <a:defRPr sz="1250" b="0">
                          <a:solidFill>
                            <a:srgbClr val="0F172A"/>
                          </a:solidFill>
                          <a:latin typeface="Calibri"/>
                        </a:defRPr>
                      </a:pPr>
                      <a:r>
                        <a:rPr dirty="0"/>
                        <a:t>……</a:t>
                      </a:r>
                    </a:p>
                  </a:txBody>
                  <a:tcPr>
                    <a:solidFill>
                      <a:srgbClr val="FFFFFF"/>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7543800" y="1371600"/>
            <a:ext cx="4142232" cy="365760"/>
          </a:xfrm>
          <a:prstGeom prst="rect">
            <a:avLst/>
          </a:prstGeom>
          <a:noFill/>
        </p:spPr>
        <p:txBody>
          <a:bodyPr wrap="square">
            <a:spAutoFit/>
          </a:bodyPr>
          <a:lstStyle/>
          <a:p>
            <a:pPr algn="l">
              <a:lnSpc>
                <a:spcPct val="108000"/>
              </a:lnSpc>
              <a:defRPr sz="1500" b="1" i="0">
                <a:solidFill>
                  <a:srgbClr val="7C3AED"/>
                </a:solidFill>
                <a:latin typeface="Calibri"/>
              </a:defRPr>
            </a:pPr>
            <a:r>
              <a:t>Quy trình kiểm soát code AI</a:t>
            </a:r>
          </a:p>
        </p:txBody>
      </p:sp>
      <p:sp>
        <p:nvSpPr>
          <p:cNvPr id="15" name="TextBox 14"/>
          <p:cNvSpPr txBox="1"/>
          <p:nvPr/>
        </p:nvSpPr>
        <p:spPr>
          <a:xfrm>
            <a:off x="7543800" y="1783080"/>
            <a:ext cx="4142232" cy="3657600"/>
          </a:xfrm>
          <a:prstGeom prst="rect">
            <a:avLst/>
          </a:prstGeom>
          <a:noFill/>
        </p:spPr>
        <p:txBody>
          <a:bodyPr wrap="square">
            <a:spAutoFit/>
          </a:bodyPr>
          <a:lstStyle/>
          <a:p>
            <a:pPr>
              <a:lnSpc>
                <a:spcPct val="112000"/>
              </a:lnSpc>
              <a:spcBef>
                <a:spcPts val="0"/>
              </a:spcBef>
              <a:defRPr sz="1350">
                <a:solidFill>
                  <a:srgbClr val="0F172A"/>
                </a:solidFill>
                <a:latin typeface="Calibri"/>
              </a:defRPr>
            </a:pPr>
            <a:r>
              <a:t>•  Hiểu yêu cầu → AI phân tích</a:t>
            </a:r>
          </a:p>
          <a:p>
            <a:pPr>
              <a:lnSpc>
                <a:spcPct val="112000"/>
              </a:lnSpc>
              <a:spcBef>
                <a:spcPts val="600"/>
              </a:spcBef>
              <a:defRPr sz="1350">
                <a:solidFill>
                  <a:srgbClr val="0F172A"/>
                </a:solidFill>
                <a:latin typeface="Calibri"/>
              </a:defRPr>
            </a:pPr>
            <a:r>
              <a:t>•  AI đề xuất code → Đọc file thay đổi</a:t>
            </a:r>
          </a:p>
          <a:p>
            <a:pPr>
              <a:lnSpc>
                <a:spcPct val="112000"/>
              </a:lnSpc>
              <a:spcBef>
                <a:spcPts val="600"/>
              </a:spcBef>
              <a:defRPr sz="1350">
                <a:solidFill>
                  <a:srgbClr val="0F172A"/>
                </a:solidFill>
                <a:latin typeface="Calibri"/>
              </a:defRPr>
            </a:pPr>
            <a:r>
              <a:t>•  Build / Test → Review → Hoàn thiện</a:t>
            </a:r>
          </a:p>
        </p:txBody>
      </p:sp>
      <p:sp>
        <p:nvSpPr>
          <p:cNvPr id="16" name="Rounded Rectangle 15"/>
          <p:cNvSpPr/>
          <p:nvPr/>
        </p:nvSpPr>
        <p:spPr>
          <a:xfrm>
            <a:off x="7543800" y="3246120"/>
            <a:ext cx="4142232" cy="137160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54112" y="3383280"/>
            <a:ext cx="3749039" cy="1097280"/>
          </a:xfrm>
          <a:prstGeom prst="rect">
            <a:avLst/>
          </a:prstGeom>
          <a:noFill/>
        </p:spPr>
        <p:txBody>
          <a:bodyPr wrap="square">
            <a:spAutoFit/>
          </a:bodyPr>
          <a:lstStyle/>
          <a:p>
            <a:pPr algn="l">
              <a:lnSpc>
                <a:spcPct val="108000"/>
              </a:lnSpc>
              <a:defRPr sz="1350" b="0" i="0">
                <a:solidFill>
                  <a:srgbClr val="0F172A"/>
                </a:solidFill>
                <a:latin typeface="Calibri"/>
              </a:defRPr>
            </a:pPr>
            <a:r>
              <a:t>Một khung prompt chung cho cả 3 việc: Testing, Security hoặc Docker — chỉ thay nội dung điền vào.</a:t>
            </a:r>
          </a:p>
        </p:txBody>
      </p:sp>
      <p:sp>
        <p:nvSpPr>
          <p:cNvPr id="18" name="Rounded Rectangle 17"/>
          <p:cNvSpPr/>
          <p:nvPr/>
        </p:nvSpPr>
        <p:spPr>
          <a:xfrm>
            <a:off x="630510" y="4782312"/>
            <a:ext cx="11183112" cy="10515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434840"/>
            <a:ext cx="10698480" cy="365760"/>
          </a:xfrm>
          <a:prstGeom prst="rect">
            <a:avLst/>
          </a:prstGeom>
          <a:noFill/>
        </p:spPr>
        <p:txBody>
          <a:bodyPr wrap="square">
            <a:spAutoFit/>
          </a:bodyPr>
          <a:lstStyle/>
          <a:p>
            <a:pPr algn="l">
              <a:lnSpc>
                <a:spcPct val="108000"/>
              </a:lnSpc>
              <a:defRPr sz="1500" b="1" i="0">
                <a:solidFill>
                  <a:srgbClr val="7C3AED"/>
                </a:solidFill>
                <a:latin typeface="Calibri"/>
              </a:defRPr>
            </a:pPr>
            <a:r>
              <a:t>Ràng buộc giữ nguyên</a:t>
            </a:r>
          </a:p>
        </p:txBody>
      </p:sp>
      <p:sp>
        <p:nvSpPr>
          <p:cNvPr id="20" name="TextBox 19"/>
          <p:cNvSpPr txBox="1"/>
          <p:nvPr/>
        </p:nvSpPr>
        <p:spPr>
          <a:xfrm>
            <a:off x="731520" y="4828032"/>
            <a:ext cx="10698480" cy="457200"/>
          </a:xfrm>
          <a:prstGeom prst="rect">
            <a:avLst/>
          </a:prstGeom>
          <a:noFill/>
        </p:spPr>
        <p:txBody>
          <a:bodyPr wrap="square">
            <a:spAutoFit/>
          </a:bodyPr>
          <a:lstStyle/>
          <a:p>
            <a:pPr algn="l">
              <a:lnSpc>
                <a:spcPct val="108000"/>
              </a:lnSpc>
              <a:defRPr sz="1400" b="0" i="0">
                <a:solidFill>
                  <a:srgbClr val="0F172A"/>
                </a:solidFill>
                <a:latin typeface="Calibri"/>
              </a:defRPr>
            </a:pPr>
            <a:r>
              <a:t>pnpm · TypeScript · ESM / NodeNext · SQL Server và các chức năng cũ — không tự ý để AI chuyển dự án sang công nghệ khác.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6400800" cy="548640"/>
          </a:xfrm>
          <a:prstGeom prst="rect">
            <a:avLst/>
          </a:prstGeom>
          <a:noFill/>
        </p:spPr>
        <p:txBody>
          <a:bodyPr wrap="square">
            <a:spAutoFit/>
          </a:bodyPr>
          <a:lstStyle/>
          <a:p>
            <a:pPr algn="l">
              <a:lnSpc>
                <a:spcPct val="108000"/>
              </a:lnSpc>
              <a:defRPr sz="1200" b="1" i="0">
                <a:solidFill>
                  <a:srgbClr val="7C3AED"/>
                </a:solidFill>
                <a:latin typeface="Calibri"/>
              </a:defRPr>
            </a:pPr>
            <a:r>
              <a:t>Phần E — Vibe Coding &amp; Tổng kết</a:t>
            </a:r>
          </a:p>
        </p:txBody>
      </p:sp>
      <p:sp>
        <p:nvSpPr>
          <p:cNvPr id="5" name="TextBox 4"/>
          <p:cNvSpPr txBox="1"/>
          <p:nvPr/>
        </p:nvSpPr>
        <p:spPr>
          <a:xfrm>
            <a:off x="502920" y="475488"/>
            <a:ext cx="11155680" cy="548640"/>
          </a:xfrm>
          <a:prstGeom prst="rect">
            <a:avLst/>
          </a:prstGeom>
          <a:noFill/>
        </p:spPr>
        <p:txBody>
          <a:bodyPr wrap="square">
            <a:spAutoFit/>
          </a:bodyPr>
          <a:lstStyle/>
          <a:p>
            <a:pPr algn="l">
              <a:lnSpc>
                <a:spcPct val="108000"/>
              </a:lnSpc>
              <a:defRPr sz="3000" b="1" i="0">
                <a:solidFill>
                  <a:srgbClr val="0F172A"/>
                </a:solidFill>
                <a:latin typeface="Calibri"/>
              </a:defRPr>
            </a:pPr>
            <a:r>
              <a:t>Tổng kết: 5 điều cần nhớ và checklist trước buổi báo cáo</a:t>
            </a:r>
          </a:p>
        </p:txBody>
      </p:sp>
      <p:sp>
        <p:nvSpPr>
          <p:cNvPr id="7" name="TextBox 6"/>
          <p:cNvSpPr txBox="1"/>
          <p:nvPr/>
        </p:nvSpPr>
        <p:spPr>
          <a:xfrm>
            <a:off x="10972800" y="6473952"/>
            <a:ext cx="731520" cy="548640"/>
          </a:xfrm>
          <a:prstGeom prst="rect">
            <a:avLst/>
          </a:prstGeom>
          <a:noFill/>
        </p:spPr>
        <p:txBody>
          <a:bodyPr wrap="square">
            <a:spAutoFit/>
          </a:bodyPr>
          <a:lstStyle/>
          <a:p>
            <a:pPr algn="r">
              <a:lnSpc>
                <a:spcPct val="108000"/>
              </a:lnSpc>
              <a:defRPr sz="1000" b="1" i="0">
                <a:solidFill>
                  <a:srgbClr val="475569"/>
                </a:solidFill>
                <a:latin typeface="Calibri"/>
              </a:defRPr>
            </a:pPr>
            <a:r>
              <a:t>18/18</a:t>
            </a:r>
          </a:p>
        </p:txBody>
      </p:sp>
      <p:sp>
        <p:nvSpPr>
          <p:cNvPr id="8" name="TextBox 7"/>
          <p:cNvSpPr txBox="1"/>
          <p:nvPr/>
        </p:nvSpPr>
        <p:spPr>
          <a:xfrm>
            <a:off x="502920" y="1353312"/>
            <a:ext cx="5760720" cy="3657600"/>
          </a:xfrm>
          <a:prstGeom prst="rect">
            <a:avLst/>
          </a:prstGeom>
          <a:noFill/>
        </p:spPr>
        <p:txBody>
          <a:bodyPr wrap="square">
            <a:spAutoFit/>
          </a:bodyPr>
          <a:lstStyle/>
          <a:p>
            <a:pPr>
              <a:lnSpc>
                <a:spcPct val="112000"/>
              </a:lnSpc>
              <a:spcBef>
                <a:spcPts val="0"/>
              </a:spcBef>
              <a:defRPr sz="1350">
                <a:solidFill>
                  <a:srgbClr val="0F172A"/>
                </a:solidFill>
                <a:latin typeface="Calibri"/>
              </a:defRPr>
            </a:pPr>
            <a:r>
              <a:t>•  1. Testing — kiểm tra chương trình có đúng yêu cầu hay không.</a:t>
            </a:r>
          </a:p>
          <a:p>
            <a:pPr>
              <a:lnSpc>
                <a:spcPct val="112000"/>
              </a:lnSpc>
              <a:spcBef>
                <a:spcPts val="400"/>
              </a:spcBef>
              <a:defRPr sz="1350">
                <a:solidFill>
                  <a:srgbClr val="0F172A"/>
                </a:solidFill>
                <a:latin typeface="Calibri"/>
              </a:defRPr>
            </a:pPr>
            <a:r>
              <a:t>•  2. Security — bảo vệ API và dữ liệu khỏi hành vi không an toàn.</a:t>
            </a:r>
          </a:p>
          <a:p>
            <a:pPr>
              <a:lnSpc>
                <a:spcPct val="112000"/>
              </a:lnSpc>
              <a:spcBef>
                <a:spcPts val="400"/>
              </a:spcBef>
              <a:defRPr sz="1350">
                <a:solidFill>
                  <a:srgbClr val="0F172A"/>
                </a:solidFill>
                <a:latin typeface="Calibri"/>
              </a:defRPr>
            </a:pPr>
            <a:r>
              <a:t>•  3. Optimization — cải thiện hiệu năng dựa trên đo lường.</a:t>
            </a:r>
          </a:p>
          <a:p>
            <a:pPr>
              <a:lnSpc>
                <a:spcPct val="112000"/>
              </a:lnSpc>
              <a:spcBef>
                <a:spcPts val="400"/>
              </a:spcBef>
              <a:defRPr sz="1350">
                <a:solidFill>
                  <a:srgbClr val="0F172A"/>
                </a:solidFill>
                <a:latin typeface="Calibri"/>
              </a:defRPr>
            </a:pPr>
            <a:r>
              <a:t>•  4. Docker &amp; Deployment — đóng gói và đưa vào môi trường vận hành.</a:t>
            </a:r>
          </a:p>
          <a:p>
            <a:pPr>
              <a:lnSpc>
                <a:spcPct val="112000"/>
              </a:lnSpc>
              <a:spcBef>
                <a:spcPts val="400"/>
              </a:spcBef>
              <a:defRPr sz="1350">
                <a:solidFill>
                  <a:srgbClr val="0F172A"/>
                </a:solidFill>
                <a:latin typeface="Calibri"/>
              </a:defRPr>
            </a:pPr>
            <a:r>
              <a:t>•  5. Vibe Coding — hiểu trước, yêu cầu AI đúng, đọc và kiểm chứng code sau.</a:t>
            </a:r>
          </a:p>
        </p:txBody>
      </p:sp>
      <p:graphicFrame>
        <p:nvGraphicFramePr>
          <p:cNvPr id="9" name="Table 8"/>
          <p:cNvGraphicFramePr>
            <a:graphicFrameLocks noGrp="1"/>
          </p:cNvGraphicFramePr>
          <p:nvPr/>
        </p:nvGraphicFramePr>
        <p:xfrm>
          <a:off x="6446520" y="1353312"/>
          <a:ext cx="5239512" cy="329184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tblGrid>
              <a:tr h="658368">
                <a:tc>
                  <a:txBody>
                    <a:bodyPr/>
                    <a:lstStyle/>
                    <a:p>
                      <a:pPr>
                        <a:defRPr sz="1150" b="1">
                          <a:solidFill>
                            <a:srgbClr val="FFFFFF"/>
                          </a:solidFill>
                          <a:latin typeface="Calibri"/>
                        </a:defRPr>
                      </a:pPr>
                      <a:r>
                        <a:t>☐  Checklist báo cáo đồ án</a:t>
                      </a:r>
                    </a:p>
                  </a:txBody>
                  <a:tcPr>
                    <a:solidFill>
                      <a:srgbClr val="7C3AED"/>
                    </a:solidFill>
                  </a:tcPr>
                </a:tc>
                <a:tc>
                  <a:txBody>
                    <a:bodyPr/>
                    <a:lstStyle/>
                    <a:p>
                      <a:pPr>
                        <a:defRPr sz="1150" b="1">
                          <a:solidFill>
                            <a:srgbClr val="FFFFFF"/>
                          </a:solidFill>
                          <a:latin typeface="Calibri"/>
                        </a:defRPr>
                      </a:pPr>
                      <a:r>
                        <a:t>Cách kiểm chứng</a:t>
                      </a:r>
                    </a:p>
                  </a:txBody>
                  <a:tcPr>
                    <a:solidFill>
                      <a:srgbClr val="7C3AED"/>
                    </a:solidFill>
                  </a:tcPr>
                </a:tc>
                <a:extLst>
                  <a:ext uri="{0D108BD9-81ED-4DB2-BD59-A6C34878D82A}">
                    <a16:rowId xmlns:a16="http://schemas.microsoft.com/office/drawing/2014/main" val="10000"/>
                  </a:ext>
                </a:extLst>
              </a:tr>
              <a:tr h="658368">
                <a:tc>
                  <a:txBody>
                    <a:bodyPr/>
                    <a:lstStyle/>
                    <a:p>
                      <a:pPr>
                        <a:defRPr sz="1150" b="0">
                          <a:solidFill>
                            <a:srgbClr val="0F172A"/>
                          </a:solidFill>
                          <a:latin typeface="Calibri"/>
                        </a:defRPr>
                      </a:pPr>
                      <a:r>
                        <a:t>☐ Sai mật khẩu: có test, trả 401, không cấp JWT</a:t>
                      </a:r>
                    </a:p>
                  </a:txBody>
                  <a:tcPr>
                    <a:solidFill>
                      <a:srgbClr val="FFFFFF"/>
                    </a:solidFill>
                  </a:tcPr>
                </a:tc>
                <a:tc>
                  <a:txBody>
                    <a:bodyPr/>
                    <a:lstStyle/>
                    <a:p>
                      <a:pPr>
                        <a:defRPr sz="1150" b="0">
                          <a:solidFill>
                            <a:srgbClr val="0F172A"/>
                          </a:solidFill>
                          <a:latin typeface="Calibri"/>
                        </a:defRPr>
                      </a:pPr>
                      <a:r>
                        <a:t>Chạy test Login</a:t>
                      </a:r>
                    </a:p>
                  </a:txBody>
                  <a:tcPr>
                    <a:solidFill>
                      <a:srgbClr val="FFFFFF"/>
                    </a:solidFill>
                  </a:tcPr>
                </a:tc>
                <a:extLst>
                  <a:ext uri="{0D108BD9-81ED-4DB2-BD59-A6C34878D82A}">
                    <a16:rowId xmlns:a16="http://schemas.microsoft.com/office/drawing/2014/main" val="10001"/>
                  </a:ext>
                </a:extLst>
              </a:tr>
              <a:tr h="658368">
                <a:tc>
                  <a:txBody>
                    <a:bodyPr/>
                    <a:lstStyle/>
                    <a:p>
                      <a:pPr>
                        <a:defRPr sz="1150" b="0">
                          <a:solidFill>
                            <a:srgbClr val="0F172A"/>
                          </a:solidFill>
                          <a:latin typeface="Calibri"/>
                        </a:defRPr>
                      </a:pPr>
                      <a:r>
                        <a:t>☐ Helmet cho toàn Express; Rate Limit cho API Login → 429</a:t>
                      </a:r>
                    </a:p>
                  </a:txBody>
                  <a:tcPr>
                    <a:solidFill>
                      <a:srgbClr val="FFFFFF"/>
                    </a:solidFill>
                  </a:tcPr>
                </a:tc>
                <a:tc>
                  <a:txBody>
                    <a:bodyPr/>
                    <a:lstStyle/>
                    <a:p>
                      <a:pPr>
                        <a:defRPr sz="1150" b="0">
                          <a:solidFill>
                            <a:srgbClr val="0F172A"/>
                          </a:solidFill>
                          <a:latin typeface="Calibri"/>
                        </a:defRPr>
                      </a:pPr>
                      <a:r>
                        <a:t>Kiểm tra code + gửi request liên tiếp</a:t>
                      </a:r>
                    </a:p>
                  </a:txBody>
                  <a:tcPr>
                    <a:solidFill>
                      <a:srgbClr val="FFFFFF"/>
                    </a:solidFill>
                  </a:tcPr>
                </a:tc>
                <a:extLst>
                  <a:ext uri="{0D108BD9-81ED-4DB2-BD59-A6C34878D82A}">
                    <a16:rowId xmlns:a16="http://schemas.microsoft.com/office/drawing/2014/main" val="10002"/>
                  </a:ext>
                </a:extLst>
              </a:tr>
              <a:tr h="658368">
                <a:tc>
                  <a:txBody>
                    <a:bodyPr/>
                    <a:lstStyle/>
                    <a:p>
                      <a:pPr>
                        <a:defRPr sz="1150" b="0">
                          <a:solidFill>
                            <a:srgbClr val="0F172A"/>
                          </a:solidFill>
                          <a:latin typeface="Calibri"/>
                        </a:defRPr>
                      </a:pPr>
                      <a:r>
                        <a:t>☐ .env không commit; không ghi cứng JWT_SECRET / mật khẩu DB</a:t>
                      </a:r>
                    </a:p>
                  </a:txBody>
                  <a:tcPr>
                    <a:solidFill>
                      <a:srgbClr val="FFFFFF"/>
                    </a:solidFill>
                  </a:tcPr>
                </a:tc>
                <a:tc>
                  <a:txBody>
                    <a:bodyPr/>
                    <a:lstStyle/>
                    <a:p>
                      <a:pPr>
                        <a:defRPr sz="1150" b="0">
                          <a:solidFill>
                            <a:srgbClr val="0F172A"/>
                          </a:solidFill>
                          <a:latin typeface="Calibri"/>
                        </a:defRPr>
                      </a:pPr>
                      <a:r>
                        <a:t>Kiểm tra Git và source</a:t>
                      </a:r>
                    </a:p>
                  </a:txBody>
                  <a:tcPr>
                    <a:solidFill>
                      <a:srgbClr val="FFFFFF"/>
                    </a:solidFill>
                  </a:tcPr>
                </a:tc>
                <a:extLst>
                  <a:ext uri="{0D108BD9-81ED-4DB2-BD59-A6C34878D82A}">
                    <a16:rowId xmlns:a16="http://schemas.microsoft.com/office/drawing/2014/main" val="10003"/>
                  </a:ext>
                </a:extLst>
              </a:tr>
              <a:tr h="658368">
                <a:tc>
                  <a:txBody>
                    <a:bodyPr/>
                    <a:lstStyle/>
                    <a:p>
                      <a:pPr>
                        <a:defRPr sz="1150" b="0">
                          <a:solidFill>
                            <a:srgbClr val="0F172A"/>
                          </a:solidFill>
                          <a:latin typeface="Calibri"/>
                        </a:defRPr>
                      </a:pPr>
                      <a:r>
                        <a:t>☐ Chạy được không phụ thuộc localhost máy cá nhân</a:t>
                      </a:r>
                    </a:p>
                  </a:txBody>
                  <a:tcPr>
                    <a:solidFill>
                      <a:srgbClr val="FFFFFF"/>
                    </a:solidFill>
                  </a:tcPr>
                </a:tc>
                <a:tc>
                  <a:txBody>
                    <a:bodyPr/>
                    <a:lstStyle/>
                    <a:p>
                      <a:pPr>
                        <a:defRPr sz="1150" b="0">
                          <a:solidFill>
                            <a:srgbClr val="0F172A"/>
                          </a:solidFill>
                          <a:latin typeface="Calibri"/>
                        </a:defRPr>
                      </a:pPr>
                      <a:r>
                        <a:t>Chạy thử ở môi trường khác</a:t>
                      </a:r>
                    </a:p>
                  </a:txBody>
                  <a:tcPr>
                    <a:solidFill>
                      <a:srgbClr val="FFFFFF"/>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502920" y="4983480"/>
            <a:ext cx="2011680" cy="64008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F172A"/>
                </a:solidFill>
                <a:latin typeface="Calibri"/>
              </a:defRPr>
            </a:pPr>
            <a:r>
              <a:t>BACKEND</a:t>
            </a:r>
          </a:p>
        </p:txBody>
      </p:sp>
      <p:sp>
        <p:nvSpPr>
          <p:cNvPr id="11" name="TextBox 10"/>
          <p:cNvSpPr txBox="1"/>
          <p:nvPr/>
        </p:nvSpPr>
        <p:spPr>
          <a:xfrm>
            <a:off x="2532888" y="5129784"/>
            <a:ext cx="274320" cy="365760"/>
          </a:xfrm>
          <a:prstGeom prst="rect">
            <a:avLst/>
          </a:prstGeom>
          <a:noFill/>
        </p:spPr>
        <p:txBody>
          <a:bodyPr wrap="square">
            <a:spAutoFit/>
          </a:bodyPr>
          <a:lstStyle/>
          <a:p>
            <a:pPr algn="ctr">
              <a:lnSpc>
                <a:spcPct val="108000"/>
              </a:lnSpc>
              <a:defRPr sz="2000" b="1" i="0">
                <a:solidFill>
                  <a:srgbClr val="7C3AED"/>
                </a:solidFill>
                <a:latin typeface="Calibri"/>
              </a:defRPr>
            </a:pPr>
            <a:r>
              <a:t>›</a:t>
            </a:r>
          </a:p>
        </p:txBody>
      </p:sp>
      <p:sp>
        <p:nvSpPr>
          <p:cNvPr id="12" name="Rounded Rectangle 11"/>
          <p:cNvSpPr/>
          <p:nvPr/>
        </p:nvSpPr>
        <p:spPr>
          <a:xfrm>
            <a:off x="2807208" y="4983480"/>
            <a:ext cx="2011680" cy="64008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F172A"/>
                </a:solidFill>
                <a:latin typeface="Calibri"/>
              </a:defRPr>
            </a:pPr>
            <a:r>
              <a:t>TEST</a:t>
            </a:r>
          </a:p>
        </p:txBody>
      </p:sp>
      <p:sp>
        <p:nvSpPr>
          <p:cNvPr id="13" name="TextBox 12"/>
          <p:cNvSpPr txBox="1"/>
          <p:nvPr/>
        </p:nvSpPr>
        <p:spPr>
          <a:xfrm>
            <a:off x="4837176" y="5129784"/>
            <a:ext cx="274320" cy="365760"/>
          </a:xfrm>
          <a:prstGeom prst="rect">
            <a:avLst/>
          </a:prstGeom>
          <a:noFill/>
        </p:spPr>
        <p:txBody>
          <a:bodyPr wrap="square">
            <a:spAutoFit/>
          </a:bodyPr>
          <a:lstStyle/>
          <a:p>
            <a:pPr algn="ctr">
              <a:lnSpc>
                <a:spcPct val="108000"/>
              </a:lnSpc>
              <a:defRPr sz="2000" b="1" i="0">
                <a:solidFill>
                  <a:srgbClr val="7C3AED"/>
                </a:solidFill>
                <a:latin typeface="Calibri"/>
              </a:defRPr>
            </a:pPr>
            <a:r>
              <a:t>›</a:t>
            </a:r>
          </a:p>
        </p:txBody>
      </p:sp>
      <p:sp>
        <p:nvSpPr>
          <p:cNvPr id="14" name="Rounded Rectangle 13"/>
          <p:cNvSpPr/>
          <p:nvPr/>
        </p:nvSpPr>
        <p:spPr>
          <a:xfrm>
            <a:off x="5111496" y="4983480"/>
            <a:ext cx="2011680" cy="64008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F172A"/>
                </a:solidFill>
                <a:latin typeface="Calibri"/>
              </a:defRPr>
            </a:pPr>
            <a:r>
              <a:t>SECURE</a:t>
            </a:r>
          </a:p>
        </p:txBody>
      </p:sp>
      <p:sp>
        <p:nvSpPr>
          <p:cNvPr id="15" name="TextBox 14"/>
          <p:cNvSpPr txBox="1"/>
          <p:nvPr/>
        </p:nvSpPr>
        <p:spPr>
          <a:xfrm>
            <a:off x="7141464" y="5129784"/>
            <a:ext cx="274320" cy="365760"/>
          </a:xfrm>
          <a:prstGeom prst="rect">
            <a:avLst/>
          </a:prstGeom>
          <a:noFill/>
        </p:spPr>
        <p:txBody>
          <a:bodyPr wrap="square">
            <a:spAutoFit/>
          </a:bodyPr>
          <a:lstStyle/>
          <a:p>
            <a:pPr algn="ctr">
              <a:lnSpc>
                <a:spcPct val="108000"/>
              </a:lnSpc>
              <a:defRPr sz="2000" b="1" i="0">
                <a:solidFill>
                  <a:srgbClr val="7C3AED"/>
                </a:solidFill>
                <a:latin typeface="Calibri"/>
              </a:defRPr>
            </a:pPr>
            <a:r>
              <a:t>›</a:t>
            </a:r>
          </a:p>
        </p:txBody>
      </p:sp>
      <p:sp>
        <p:nvSpPr>
          <p:cNvPr id="16" name="Rounded Rectangle 15"/>
          <p:cNvSpPr/>
          <p:nvPr/>
        </p:nvSpPr>
        <p:spPr>
          <a:xfrm>
            <a:off x="7415784" y="4983480"/>
            <a:ext cx="2011680" cy="64008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F172A"/>
                </a:solidFill>
                <a:latin typeface="Calibri"/>
              </a:defRPr>
            </a:pPr>
            <a:r>
              <a:t>DOCKER</a:t>
            </a:r>
          </a:p>
        </p:txBody>
      </p:sp>
      <p:sp>
        <p:nvSpPr>
          <p:cNvPr id="17" name="TextBox 16"/>
          <p:cNvSpPr txBox="1"/>
          <p:nvPr/>
        </p:nvSpPr>
        <p:spPr>
          <a:xfrm>
            <a:off x="9445752" y="5129784"/>
            <a:ext cx="274320" cy="365760"/>
          </a:xfrm>
          <a:prstGeom prst="rect">
            <a:avLst/>
          </a:prstGeom>
          <a:noFill/>
        </p:spPr>
        <p:txBody>
          <a:bodyPr wrap="square">
            <a:spAutoFit/>
          </a:bodyPr>
          <a:lstStyle/>
          <a:p>
            <a:pPr algn="ctr">
              <a:lnSpc>
                <a:spcPct val="108000"/>
              </a:lnSpc>
              <a:defRPr sz="2000" b="1" i="0">
                <a:solidFill>
                  <a:srgbClr val="7C3AED"/>
                </a:solidFill>
                <a:latin typeface="Calibri"/>
              </a:defRPr>
            </a:pPr>
            <a:r>
              <a:t>›</a:t>
            </a:r>
          </a:p>
        </p:txBody>
      </p:sp>
      <p:sp>
        <p:nvSpPr>
          <p:cNvPr id="18" name="Rounded Rectangle 17"/>
          <p:cNvSpPr/>
          <p:nvPr/>
        </p:nvSpPr>
        <p:spPr>
          <a:xfrm>
            <a:off x="9720072" y="4983480"/>
            <a:ext cx="2011680" cy="640080"/>
          </a:xfrm>
          <a:prstGeom prst="roundRect">
            <a:avLst>
              <a:gd name="adj" fmla="val 6000"/>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F172A"/>
                </a:solidFill>
                <a:latin typeface="Calibri"/>
              </a:defRPr>
            </a:pPr>
            <a:r>
              <a:t>DEPLOY</a:t>
            </a:r>
          </a:p>
        </p:txBody>
      </p:sp>
      <p:sp>
        <p:nvSpPr>
          <p:cNvPr id="19" name="TextBox 18"/>
          <p:cNvSpPr txBox="1"/>
          <p:nvPr/>
        </p:nvSpPr>
        <p:spPr>
          <a:xfrm>
            <a:off x="502920" y="5806440"/>
            <a:ext cx="11183112" cy="457200"/>
          </a:xfrm>
          <a:prstGeom prst="rect">
            <a:avLst/>
          </a:prstGeom>
          <a:noFill/>
        </p:spPr>
        <p:txBody>
          <a:bodyPr wrap="square">
            <a:spAutoFit/>
          </a:bodyPr>
          <a:lstStyle/>
          <a:p>
            <a:pPr algn="ctr">
              <a:lnSpc>
                <a:spcPct val="108000"/>
              </a:lnSpc>
              <a:defRPr sz="1600" b="1" i="0">
                <a:solidFill>
                  <a:srgbClr val="7C3AED"/>
                </a:solidFill>
                <a:latin typeface="Calibri"/>
              </a:defRPr>
            </a:pPr>
            <a:r>
              <a:t>Hiểu trước — yêu cầu AI đúng — kiểm chứng kết quả.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5231</Words>
  <Application>Microsoft Office PowerPoint</Application>
  <PresentationFormat>Widescreen</PresentationFormat>
  <Paragraphs>582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buổi cuối Lập trình Backend — 18 slide</dc:title>
  <dc:subject>Unit Testing với AI, Bảo mật &amp; Tối ưu API, Docker &amp; Deployment</dc:subject>
  <dc:creator/>
  <cp:keywords/>
  <dc:description>generated using python-pptx</dc:description>
  <cp:lastModifiedBy>le minh nhat</cp:lastModifiedBy>
  <cp:revision>3</cp:revision>
  <dcterms:created xsi:type="dcterms:W3CDTF">2013-01-27T09:14:16Z</dcterms:created>
  <dcterms:modified xsi:type="dcterms:W3CDTF">2026-10-22T09:37:52Z</dcterms:modified>
  <cp:category/>
</cp:coreProperties>
</file>